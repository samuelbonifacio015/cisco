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260" r:id="rId2"/>
    <p:sldId id="256" r:id="rId3"/>
    <p:sldId id="1261" r:id="rId4"/>
    <p:sldId id="1159" r:id="rId5"/>
    <p:sldId id="1257" r:id="rId6"/>
    <p:sldId id="1229" r:id="rId7"/>
    <p:sldId id="1254" r:id="rId8"/>
    <p:sldId id="1263" r:id="rId9"/>
    <p:sldId id="1264" r:id="rId10"/>
    <p:sldId id="1160" r:id="rId11"/>
    <p:sldId id="1240" r:id="rId12"/>
    <p:sldId id="1241" r:id="rId13"/>
    <p:sldId id="1265" r:id="rId14"/>
    <p:sldId id="1239" r:id="rId15"/>
    <p:sldId id="1243" r:id="rId16"/>
    <p:sldId id="1266" r:id="rId17"/>
    <p:sldId id="1244" r:id="rId18"/>
    <p:sldId id="1245" r:id="rId1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8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51128-1D1D-4EA7-B2E4-4E3BA92EA084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B3EDB-C83B-4925-90EC-E629551C03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564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614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4.2 - </a:t>
            </a:r>
            <a:r>
              <a:rPr lang="es-419" dirty="0" err="1"/>
              <a:t>Routing</a:t>
            </a:r>
            <a:r>
              <a:rPr lang="es-419" dirty="0"/>
              <a:t> entre redes VLAN con </a:t>
            </a:r>
            <a:r>
              <a:rPr lang="es-419" dirty="0" err="1"/>
              <a:t>router</a:t>
            </a:r>
            <a:r>
              <a:rPr lang="es-419" dirty="0"/>
              <a:t>-</a:t>
            </a:r>
            <a:r>
              <a:rPr lang="es-419" dirty="0" err="1"/>
              <a:t>on</a:t>
            </a:r>
            <a:r>
              <a:rPr lang="es-419" dirty="0"/>
              <a:t>-a-</a:t>
            </a:r>
            <a:r>
              <a:rPr lang="es-419" dirty="0" err="1"/>
              <a:t>stick</a:t>
            </a:r>
            <a:endParaRPr lang="es-419" dirty="0"/>
          </a:p>
          <a:p>
            <a:pPr rtl="0"/>
            <a:r>
              <a:rPr lang="es-419" dirty="0"/>
              <a:t>4.2.1 — Escenario de enrutador en un </a:t>
            </a:r>
            <a:r>
              <a:rPr lang="es-419" dirty="0" err="1"/>
              <a:t>stick</a:t>
            </a:r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5065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4.2 - </a:t>
            </a:r>
            <a:r>
              <a:rPr lang="es-419" dirty="0" err="1"/>
              <a:t>Routing</a:t>
            </a:r>
            <a:r>
              <a:rPr lang="es-419" dirty="0"/>
              <a:t> entre redes VLAN con </a:t>
            </a:r>
            <a:r>
              <a:rPr lang="es-419" dirty="0" err="1"/>
              <a:t>router</a:t>
            </a:r>
            <a:r>
              <a:rPr lang="es-419" dirty="0"/>
              <a:t>-</a:t>
            </a:r>
            <a:r>
              <a:rPr lang="es-419" dirty="0" err="1"/>
              <a:t>on</a:t>
            </a:r>
            <a:r>
              <a:rPr lang="es-419" dirty="0"/>
              <a:t>-a-</a:t>
            </a:r>
            <a:r>
              <a:rPr lang="es-419" dirty="0" err="1"/>
              <a:t>stick</a:t>
            </a:r>
            <a:endParaRPr lang="es-419" dirty="0"/>
          </a:p>
          <a:p>
            <a:pPr rtl="0"/>
            <a:r>
              <a:rPr lang="es-419" dirty="0"/>
              <a:t>4.2.1 — Escenario de enrutador en un </a:t>
            </a:r>
            <a:r>
              <a:rPr lang="es-419" dirty="0" err="1"/>
              <a:t>stick</a:t>
            </a:r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966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4.2 - </a:t>
            </a:r>
            <a:r>
              <a:rPr lang="es-419" dirty="0" err="1"/>
              <a:t>Routing</a:t>
            </a:r>
            <a:r>
              <a:rPr lang="es-419" dirty="0"/>
              <a:t> entre redes VLAN con </a:t>
            </a:r>
            <a:r>
              <a:rPr lang="es-419" dirty="0" err="1"/>
              <a:t>router</a:t>
            </a:r>
            <a:r>
              <a:rPr lang="es-419" dirty="0"/>
              <a:t>-</a:t>
            </a:r>
            <a:r>
              <a:rPr lang="es-419" dirty="0" err="1"/>
              <a:t>on</a:t>
            </a:r>
            <a:r>
              <a:rPr lang="es-419" dirty="0"/>
              <a:t>-a-</a:t>
            </a:r>
            <a:r>
              <a:rPr lang="es-419" dirty="0" err="1"/>
              <a:t>stick</a:t>
            </a:r>
            <a:endParaRPr lang="es-419" dirty="0"/>
          </a:p>
          <a:p>
            <a:pPr rtl="0"/>
            <a:r>
              <a:rPr lang="es-419" dirty="0"/>
              <a:t>4.2.1 — Escenario de enrutador en un </a:t>
            </a:r>
            <a:r>
              <a:rPr lang="es-419" dirty="0" err="1"/>
              <a:t>stick</a:t>
            </a:r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9767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4.2 - </a:t>
            </a:r>
            <a:r>
              <a:rPr lang="es-419" dirty="0" err="1"/>
              <a:t>Routing</a:t>
            </a:r>
            <a:r>
              <a:rPr lang="es-419" dirty="0"/>
              <a:t> entre redes VLAN con </a:t>
            </a:r>
            <a:r>
              <a:rPr lang="es-419" dirty="0" err="1"/>
              <a:t>router</a:t>
            </a:r>
            <a:r>
              <a:rPr lang="es-419" dirty="0"/>
              <a:t>-</a:t>
            </a:r>
            <a:r>
              <a:rPr lang="es-419" dirty="0" err="1"/>
              <a:t>on</a:t>
            </a:r>
            <a:r>
              <a:rPr lang="es-419" dirty="0"/>
              <a:t>-a-</a:t>
            </a:r>
            <a:r>
              <a:rPr lang="es-419" dirty="0" err="1"/>
              <a:t>stick</a:t>
            </a:r>
            <a:endParaRPr lang="es-419" dirty="0"/>
          </a:p>
          <a:p>
            <a:pPr rtl="0"/>
            <a:r>
              <a:rPr lang="es-419" dirty="0"/>
              <a:t>4.2.1 — Escenario de enrutador en un </a:t>
            </a:r>
            <a:r>
              <a:rPr lang="es-419" dirty="0" err="1"/>
              <a:t>stick</a:t>
            </a:r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35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4.2 - </a:t>
            </a:r>
            <a:r>
              <a:rPr lang="es-419" dirty="0" err="1"/>
              <a:t>Routing</a:t>
            </a:r>
            <a:r>
              <a:rPr lang="es-419" dirty="0"/>
              <a:t> entre redes VLAN con </a:t>
            </a:r>
            <a:r>
              <a:rPr lang="es-419" dirty="0" err="1"/>
              <a:t>router</a:t>
            </a:r>
            <a:r>
              <a:rPr lang="es-419" dirty="0"/>
              <a:t>-</a:t>
            </a:r>
            <a:r>
              <a:rPr lang="es-419" dirty="0" err="1"/>
              <a:t>on</a:t>
            </a:r>
            <a:r>
              <a:rPr lang="es-419" dirty="0"/>
              <a:t>-a-</a:t>
            </a:r>
            <a:r>
              <a:rPr lang="es-419" dirty="0" err="1"/>
              <a:t>stick</a:t>
            </a:r>
            <a:endParaRPr lang="es-419" dirty="0"/>
          </a:p>
          <a:p>
            <a:pPr rtl="0"/>
            <a:r>
              <a:rPr lang="es-419" dirty="0"/>
              <a:t>4.2.1 — Escenario de enrutador en un </a:t>
            </a:r>
            <a:r>
              <a:rPr lang="es-419" dirty="0" err="1"/>
              <a:t>stick</a:t>
            </a:r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0140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760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4.3 – Enrutamiento entre VLAN mediante conmutadores de capa 3</a:t>
            </a:r>
          </a:p>
          <a:p>
            <a:pPr rtl="0"/>
            <a:r>
              <a:rPr lang="es-419" dirty="0"/>
              <a:t>4.3.2 — Escenario de conmutador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5514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4.3 – Enrutamiento entre VLAN mediante conmutadores de capa 3</a:t>
            </a:r>
          </a:p>
          <a:p>
            <a:pPr rtl="0"/>
            <a:r>
              <a:rPr lang="es-419" dirty="0"/>
              <a:t>4.3.3 – </a:t>
            </a:r>
            <a:r>
              <a:rPr lang="es-419" dirty="0" err="1"/>
              <a:t>Configuracion</a:t>
            </a:r>
            <a:r>
              <a:rPr lang="es-419" dirty="0"/>
              <a:t> de </a:t>
            </a:r>
            <a:r>
              <a:rPr lang="es-419" dirty="0" err="1"/>
              <a:t>switch</a:t>
            </a:r>
            <a:r>
              <a:rPr lang="es-419" dirty="0"/>
              <a:t>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427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4.3 – Enrutamiento entre VLAN mediante conmutadores de capa 3</a:t>
            </a:r>
          </a:p>
          <a:p>
            <a:pPr rtl="0"/>
            <a:r>
              <a:rPr lang="es-419" dirty="0"/>
              <a:t>4.3.3 – </a:t>
            </a:r>
            <a:r>
              <a:rPr lang="es-419" dirty="0" err="1"/>
              <a:t>Configuracion</a:t>
            </a:r>
            <a:r>
              <a:rPr lang="es-419" dirty="0"/>
              <a:t> de </a:t>
            </a:r>
            <a:r>
              <a:rPr lang="es-419" dirty="0" err="1"/>
              <a:t>switch</a:t>
            </a:r>
            <a:r>
              <a:rPr lang="es-419" dirty="0"/>
              <a:t>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2335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4.3 – Enrutamiento entre VLAN mediante conmutadores de capa 3</a:t>
            </a:r>
          </a:p>
          <a:p>
            <a:pPr rtl="0"/>
            <a:r>
              <a:rPr lang="es-419" dirty="0"/>
              <a:t>4.3.1 – Inter-VLAN </a:t>
            </a:r>
            <a:r>
              <a:rPr lang="es-419" dirty="0" err="1"/>
              <a:t>Routing</a:t>
            </a:r>
            <a:r>
              <a:rPr lang="es-419" dirty="0"/>
              <a:t> en </a:t>
            </a:r>
            <a:r>
              <a:rPr lang="es-419" dirty="0" err="1"/>
              <a:t>Switch</a:t>
            </a:r>
            <a:r>
              <a:rPr lang="es-419" dirty="0"/>
              <a:t>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1115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4 – Inter-VLAN Routing</a:t>
            </a:r>
          </a:p>
          <a:p>
            <a:pPr rtl="0"/>
            <a:r>
              <a:rPr lang="es-419"/>
              <a:t>4.3 – Enrutamiento entre VLAN mediante conmutadores de capa 3</a:t>
            </a:r>
          </a:p>
          <a:p>
            <a:pPr rtl="0"/>
            <a:r>
              <a:rPr lang="es-419"/>
              <a:t>4.3.5 - Enrutamiento en un conmutador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715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48287" rIns="96600" bIns="48287" anchor="t" anchorCtr="0">
            <a:noAutofit/>
          </a:bodyPr>
          <a:lstStyle/>
          <a:p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1538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4.3 – Enrutamiento entre VLAN mediante conmutadores de capa 3</a:t>
            </a:r>
          </a:p>
          <a:p>
            <a:pPr rtl="0"/>
            <a:r>
              <a:rPr lang="es-419" dirty="0"/>
              <a:t>4.3.6 - Escenario de enrutamiento en un conmutador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0812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 dirty="0"/>
              <a:t>4 – Inter-VLAN </a:t>
            </a:r>
            <a:r>
              <a:rPr lang="es-419" dirty="0" err="1"/>
              <a:t>Routing</a:t>
            </a:r>
            <a:endParaRPr lang="es-419" dirty="0"/>
          </a:p>
          <a:p>
            <a:pPr rtl="0"/>
            <a:r>
              <a:rPr lang="es-419" dirty="0"/>
              <a:t>4.3 – Enrutamiento entre VLAN mediante conmutadores de capa 3</a:t>
            </a:r>
          </a:p>
          <a:p>
            <a:pPr rtl="0"/>
            <a:r>
              <a:rPr lang="es-419" dirty="0"/>
              <a:t>4.3.7 — Configuración de enrutamiento en un conmutador de capa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041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BFA45-FD0F-DD02-3CE8-F0097C803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02E0C2-A5CE-FF9F-D574-4661DFDBA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6E5190-34C3-F08D-03ED-00A04753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9A7D48-025C-163A-821D-37A92ADA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6736A1-B606-3DF1-4A23-B2297FDE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827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2BDA8-D209-9C93-E2A9-349EBB8F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E475F9-C9B1-48DA-077F-CC1559ED2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4B4ABA-1A2A-E19F-F440-C7B6EDA8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1E8B3C-7CF0-2C1E-A8B2-5C1AC3F9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A4ADF7-FC7B-9456-A7F1-89DEC4FD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771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62939-2162-A76E-BC3D-D260BAD1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56E1C0-74F5-64F3-7F7C-E8735340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6FEAD5-3F1E-26B3-5ACF-1F147C4E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571DB1-48F9-56B4-9DAF-66AECFB2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3B722-4B5E-C134-96DC-24CB2229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861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4A337-FAE2-EBE0-EA99-9C9AF8CF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5B67C5-7B67-8E2F-3D01-08956BBCF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DA928D-81A4-BD67-5E60-E7C1C9559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512344-993B-7EA3-C8E5-650D6120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5B062B-DFEF-BE11-49CD-FA96D0BC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966070-237F-F1F4-31FB-FB058974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110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FC1A1-4A55-F6A2-308A-F1A037F6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0CC5F3-8137-3661-07F6-15C2C98F1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3AED90-9EB7-CC71-1849-26F9668AC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86C81A-AEC7-F997-50FD-324732A05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54FCBC-8E65-1749-3247-C2995F516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5187E2-AB42-24B0-10E9-C6A2A5CE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4E4150-65F4-8004-E9A3-14F6CE98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2D0622-835B-1073-E038-631E7FEB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074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D1A61-4972-0271-2A3E-226DB51C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E9DC29-FD7C-E12D-93A5-9B203AE9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70211E-BC2D-8FCA-6A1A-173D53D1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ACB5CC-F5B4-5579-8B24-ACC55C86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552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F850CA-DD42-BC2C-0E2C-20F2C12B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8A526F-DB92-1851-683B-0D82C56C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53891D-6BEA-CEA9-8423-C3B436AE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747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D14D7-5475-2EC5-FAC4-3228DC11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3B7ED-58A5-1880-F54C-4CF1E01D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D2A8B0-DDD3-BF62-7E81-D00EC46CF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D3DC36-415E-1AAF-CB60-CF4C4C7E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D75174-7C2E-7D50-A287-38E4CB83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B0D534-28FA-E807-9DD2-25B5D152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525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1DBB4-A170-7689-7659-7B40AFDF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3BAE90-33E7-7039-7106-E3A2060DA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AA8295-2019-EB7A-7A19-DB2BF6585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9A09EA-07D7-8C5A-C48B-B1B3CA42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273BF-7229-7AB6-29BC-FE4B304F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C720FF-16D7-AF5E-9E2D-ACA8CA11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510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430B2-FB10-00F5-3B95-34A59D42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E6B93F-E0DE-3AC3-9202-5EC8BC19D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E33E2-D69E-7831-DA43-033D64BB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CC0B5-54C3-26AA-A23D-6919F48E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2CCF51-B313-5773-82BE-20598C93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932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1B32EC-34EA-283C-CD90-664E52709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C59D02-C550-6A3D-AB4F-784AFF0C3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8A88AC-239C-6ECA-0C8A-6BCFF96B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F76D9A-7918-59DD-881B-C513AC8A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4E958B-D9D5-FD5D-11D4-0316BAA3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4297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8"/>
          <p:cNvPicPr preferRelativeResize="0"/>
          <p:nvPr/>
        </p:nvPicPr>
        <p:blipFill rotWithShape="1">
          <a:blip r:embed="rId2">
            <a:alphaModFix/>
          </a:blip>
          <a:srcRect l="25516" t="21265" r="10732" b="19208"/>
          <a:stretch/>
        </p:blipFill>
        <p:spPr>
          <a:xfrm>
            <a:off x="0" y="-58739"/>
            <a:ext cx="12335933" cy="691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8"/>
          <p:cNvSpPr txBox="1">
            <a:spLocks noGrp="1"/>
          </p:cNvSpPr>
          <p:nvPr>
            <p:ph type="ctrTitle"/>
          </p:nvPr>
        </p:nvSpPr>
        <p:spPr>
          <a:xfrm>
            <a:off x="609600" y="2582865"/>
            <a:ext cx="10363200" cy="1470025"/>
          </a:xfrm>
          <a:prstGeom prst="rect">
            <a:avLst/>
          </a:prstGeom>
          <a:noFill/>
          <a:ln w="9525" cap="flat" cmpd="sng">
            <a:solidFill>
              <a:srgbClr val="4F81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066886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83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2F23A4-F602-F574-E14E-72F14140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476019-8474-724F-2533-AFFA2CEDA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4C9CF0-48C3-4F05-B3D2-BD5258D41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62746-89E4-43DB-9A95-B2BE44ED008B}" type="datetimeFigureOut">
              <a:rPr lang="es-PE" smtClean="0"/>
              <a:t>01/10/2025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7B26F8-7A66-1DDC-73A0-C0AFA7FEC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51394A-2966-173C-CC43-9D111F3B5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ED940-B6DC-4678-9DD8-2D274B312D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160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CFF2DF-FA7D-4763-7405-D7631980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2" y="0"/>
            <a:ext cx="11937076" cy="6858000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BCBAD744-D2F3-7796-64D1-6020DF6BF4D1}"/>
              </a:ext>
            </a:extLst>
          </p:cNvPr>
          <p:cNvSpPr txBox="1"/>
          <p:nvPr/>
        </p:nvSpPr>
        <p:spPr>
          <a:xfrm>
            <a:off x="127462" y="187857"/>
            <a:ext cx="3971595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</a:rPr>
              <a:t>Realizar el INTER VLAN de la siguiente topología</a:t>
            </a:r>
            <a:endParaRPr lang="es-PE" sz="2400" b="1" dirty="0">
              <a:solidFill>
                <a:srgbClr val="FF000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0A2AEAA-3BE9-4AA0-5159-197E21E61E60}"/>
              </a:ext>
            </a:extLst>
          </p:cNvPr>
          <p:cNvSpPr txBox="1"/>
          <p:nvPr/>
        </p:nvSpPr>
        <p:spPr>
          <a:xfrm>
            <a:off x="1613647" y="5792979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VLAN X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D61D6A2-9EC4-95CB-DEB7-29567AE9BBA6}"/>
              </a:ext>
            </a:extLst>
          </p:cNvPr>
          <p:cNvSpPr txBox="1"/>
          <p:nvPr/>
        </p:nvSpPr>
        <p:spPr>
          <a:xfrm>
            <a:off x="7326924" y="5977645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VLAN X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75C9699-4C23-0516-3EB6-6A828FAF0246}"/>
              </a:ext>
            </a:extLst>
          </p:cNvPr>
          <p:cNvSpPr txBox="1"/>
          <p:nvPr/>
        </p:nvSpPr>
        <p:spPr>
          <a:xfrm>
            <a:off x="3942746" y="5608313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VLAN Y</a:t>
            </a:r>
            <a:endParaRPr lang="es-P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3C063F9-151C-3994-659C-A6EA05CD2BFB}"/>
              </a:ext>
            </a:extLst>
          </p:cNvPr>
          <p:cNvSpPr txBox="1"/>
          <p:nvPr/>
        </p:nvSpPr>
        <p:spPr>
          <a:xfrm>
            <a:off x="9510864" y="5930353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VLAN Y</a:t>
            </a:r>
            <a:endParaRPr lang="es-P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E4BA947-70D1-BDDD-CA98-34D22E7BCC71}"/>
              </a:ext>
            </a:extLst>
          </p:cNvPr>
          <p:cNvSpPr txBox="1"/>
          <p:nvPr/>
        </p:nvSpPr>
        <p:spPr>
          <a:xfrm>
            <a:off x="1244659" y="6115019"/>
            <a:ext cx="189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192.168.1.0 /24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4E87553-604C-5DE1-225F-3172090F12E4}"/>
              </a:ext>
            </a:extLst>
          </p:cNvPr>
          <p:cNvSpPr txBox="1"/>
          <p:nvPr/>
        </p:nvSpPr>
        <p:spPr>
          <a:xfrm>
            <a:off x="6909030" y="6299685"/>
            <a:ext cx="189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192.168.1.0 /24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7F0E1BC-BEAD-0D5C-3E1E-A0AA0D954658}"/>
              </a:ext>
            </a:extLst>
          </p:cNvPr>
          <p:cNvSpPr txBox="1"/>
          <p:nvPr/>
        </p:nvSpPr>
        <p:spPr>
          <a:xfrm>
            <a:off x="3686045" y="5885312"/>
            <a:ext cx="189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192.168.2.0 /24</a:t>
            </a:r>
            <a:endParaRPr lang="es-PE" b="1" dirty="0">
              <a:solidFill>
                <a:schemeClr val="accent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52B83C5-208B-808F-1A07-31D917DE5230}"/>
              </a:ext>
            </a:extLst>
          </p:cNvPr>
          <p:cNvSpPr txBox="1"/>
          <p:nvPr/>
        </p:nvSpPr>
        <p:spPr>
          <a:xfrm>
            <a:off x="9258644" y="6162311"/>
            <a:ext cx="189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192.168.2.0 /24</a:t>
            </a:r>
            <a:endParaRPr lang="es-PE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7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3F34723-81DD-3B5D-6578-0877251C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2" y="0"/>
            <a:ext cx="11937076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B81C77E-81A9-BFF0-DB84-D7CFA0295FA3}"/>
              </a:ext>
            </a:extLst>
          </p:cNvPr>
          <p:cNvSpPr txBox="1"/>
          <p:nvPr/>
        </p:nvSpPr>
        <p:spPr>
          <a:xfrm>
            <a:off x="3612087" y="1423319"/>
            <a:ext cx="124540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Enlaces Troncales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B74F8C9-4FA1-0195-F889-39459889BBA0}"/>
              </a:ext>
            </a:extLst>
          </p:cNvPr>
          <p:cNvCxnSpPr>
            <a:cxnSpLocks/>
          </p:cNvCxnSpPr>
          <p:nvPr/>
        </p:nvCxnSpPr>
        <p:spPr>
          <a:xfrm>
            <a:off x="3996880" y="2176355"/>
            <a:ext cx="91026" cy="5502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DE14264-99E3-267E-2A33-A88DA54E782D}"/>
              </a:ext>
            </a:extLst>
          </p:cNvPr>
          <p:cNvCxnSpPr>
            <a:cxnSpLocks/>
          </p:cNvCxnSpPr>
          <p:nvPr/>
        </p:nvCxnSpPr>
        <p:spPr>
          <a:xfrm flipV="1">
            <a:off x="4811978" y="1382815"/>
            <a:ext cx="856474" cy="1232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BF66E1-E814-C804-3E23-F86DB9006A1E}"/>
              </a:ext>
            </a:extLst>
          </p:cNvPr>
          <p:cNvSpPr txBox="1"/>
          <p:nvPr/>
        </p:nvSpPr>
        <p:spPr>
          <a:xfrm>
            <a:off x="8167593" y="1116449"/>
            <a:ext cx="124540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Enlaces Troncales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267449E-F279-3395-1F1A-DC8CBAF007D2}"/>
              </a:ext>
            </a:extLst>
          </p:cNvPr>
          <p:cNvCxnSpPr>
            <a:cxnSpLocks/>
          </p:cNvCxnSpPr>
          <p:nvPr/>
        </p:nvCxnSpPr>
        <p:spPr>
          <a:xfrm>
            <a:off x="8564053" y="1840523"/>
            <a:ext cx="62752" cy="9150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684216E-DE7E-605D-D7E6-1D5B982FB6B1}"/>
              </a:ext>
            </a:extLst>
          </p:cNvPr>
          <p:cNvCxnSpPr>
            <a:cxnSpLocks/>
          </p:cNvCxnSpPr>
          <p:nvPr/>
        </p:nvCxnSpPr>
        <p:spPr>
          <a:xfrm flipH="1" flipV="1">
            <a:off x="6752492" y="1075765"/>
            <a:ext cx="1324018" cy="34755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5A3A1B4-1FC6-DC3F-8A17-8F7AFBF110B0}"/>
              </a:ext>
            </a:extLst>
          </p:cNvPr>
          <p:cNvSpPr txBox="1"/>
          <p:nvPr/>
        </p:nvSpPr>
        <p:spPr>
          <a:xfrm>
            <a:off x="1476419" y="2451502"/>
            <a:ext cx="124540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Crear VLAN X, Y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F7B0B72-872E-16CF-CDFA-C401B639FCDC}"/>
              </a:ext>
            </a:extLst>
          </p:cNvPr>
          <p:cNvCxnSpPr>
            <a:cxnSpLocks/>
          </p:cNvCxnSpPr>
          <p:nvPr/>
        </p:nvCxnSpPr>
        <p:spPr>
          <a:xfrm>
            <a:off x="2816987" y="2884749"/>
            <a:ext cx="795100" cy="3636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377B9C5-26DD-B8C4-A874-9A55555E609A}"/>
              </a:ext>
            </a:extLst>
          </p:cNvPr>
          <p:cNvSpPr txBox="1"/>
          <p:nvPr/>
        </p:nvSpPr>
        <p:spPr>
          <a:xfrm>
            <a:off x="9798882" y="2561583"/>
            <a:ext cx="124540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Crear VLAN X, Y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930682A-66E1-0BED-E661-30D139D2C4AF}"/>
              </a:ext>
            </a:extLst>
          </p:cNvPr>
          <p:cNvCxnSpPr>
            <a:cxnSpLocks/>
          </p:cNvCxnSpPr>
          <p:nvPr/>
        </p:nvCxnSpPr>
        <p:spPr>
          <a:xfrm flipH="1" flipV="1">
            <a:off x="9015736" y="2884749"/>
            <a:ext cx="711659" cy="3636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CBAD744-D2F3-7796-64D1-6020DF6BF4D1}"/>
              </a:ext>
            </a:extLst>
          </p:cNvPr>
          <p:cNvSpPr txBox="1"/>
          <p:nvPr/>
        </p:nvSpPr>
        <p:spPr>
          <a:xfrm>
            <a:off x="95345" y="59848"/>
            <a:ext cx="3445255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FF0000"/>
                </a:solidFill>
              </a:rPr>
              <a:t>1.- Crear VLAN X, Y </a:t>
            </a:r>
          </a:p>
          <a:p>
            <a:r>
              <a:rPr lang="es-ES" sz="1400" b="1" dirty="0">
                <a:solidFill>
                  <a:srgbClr val="FF0000"/>
                </a:solidFill>
              </a:rPr>
              <a:t>2.- Asignar las Interfaces CON </a:t>
            </a:r>
            <a:r>
              <a:rPr lang="es-ES" sz="1400" b="1" dirty="0" err="1">
                <a:solidFill>
                  <a:srgbClr val="FF0000"/>
                </a:solidFill>
              </a:rPr>
              <a:t>PCs</a:t>
            </a:r>
            <a:r>
              <a:rPr lang="es-ES" sz="1400" b="1" dirty="0">
                <a:solidFill>
                  <a:srgbClr val="FF0000"/>
                </a:solidFill>
              </a:rPr>
              <a:t> a las VLANS </a:t>
            </a:r>
          </a:p>
          <a:p>
            <a:r>
              <a:rPr lang="es-ES" sz="1400" b="1" dirty="0">
                <a:solidFill>
                  <a:srgbClr val="FF0000"/>
                </a:solidFill>
              </a:rPr>
              <a:t>3.- Crear los enlaces troncales.</a:t>
            </a:r>
          </a:p>
          <a:p>
            <a:r>
              <a:rPr lang="es-ES" sz="1400" b="1" dirty="0">
                <a:solidFill>
                  <a:srgbClr val="FF0000"/>
                </a:solidFill>
              </a:rPr>
              <a:t>3.-Asignarles las IP </a:t>
            </a:r>
            <a:r>
              <a:rPr lang="es-ES" sz="1400" b="1" dirty="0" err="1">
                <a:solidFill>
                  <a:srgbClr val="FF0000"/>
                </a:solidFill>
              </a:rPr>
              <a:t>address</a:t>
            </a:r>
            <a:r>
              <a:rPr lang="es-ES" sz="1400" b="1" dirty="0">
                <a:solidFill>
                  <a:srgbClr val="FF0000"/>
                </a:solidFill>
              </a:rPr>
              <a:t> de los default Gateway de las </a:t>
            </a:r>
            <a:r>
              <a:rPr lang="es-ES" sz="1400" b="1" dirty="0" err="1">
                <a:solidFill>
                  <a:srgbClr val="FF0000"/>
                </a:solidFill>
              </a:rPr>
              <a:t>VLANs</a:t>
            </a:r>
            <a:r>
              <a:rPr lang="es-ES" sz="1400" b="1" dirty="0">
                <a:solidFill>
                  <a:srgbClr val="FF0000"/>
                </a:solidFill>
              </a:rPr>
              <a:t> X </a:t>
            </a:r>
            <a:r>
              <a:rPr lang="es-ES" sz="1400" b="1" dirty="0">
                <a:solidFill>
                  <a:schemeClr val="accent2"/>
                </a:solidFill>
              </a:rPr>
              <a:t>(192.168.1.1), </a:t>
            </a:r>
            <a:r>
              <a:rPr lang="es-ES" sz="1400" b="1" dirty="0">
                <a:solidFill>
                  <a:srgbClr val="FF0000"/>
                </a:solidFill>
              </a:rPr>
              <a:t>Y </a:t>
            </a: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(192.168.2.1).</a:t>
            </a:r>
          </a:p>
          <a:p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5.-S3</a:t>
            </a:r>
            <a:r>
              <a:rPr lang="es-PE" sz="1400" b="1" dirty="0">
                <a:solidFill>
                  <a:schemeClr val="accent1">
                    <a:lumMod val="75000"/>
                  </a:schemeClr>
                </a:solidFill>
              </a:rPr>
              <a:t>#ip </a:t>
            </a:r>
            <a:r>
              <a:rPr lang="es-PE" sz="1400" b="1" dirty="0" err="1">
                <a:solidFill>
                  <a:schemeClr val="accent1">
                    <a:lumMod val="75000"/>
                  </a:schemeClr>
                </a:solidFill>
              </a:rPr>
              <a:t>routing</a:t>
            </a:r>
            <a:r>
              <a:rPr lang="es-PE" sz="1400" b="1" dirty="0">
                <a:solidFill>
                  <a:schemeClr val="accent1">
                    <a:lumMod val="75000"/>
                  </a:schemeClr>
                </a:solidFill>
              </a:rPr>
              <a:t> (Convertir el switch de capara 3 en </a:t>
            </a:r>
            <a:r>
              <a:rPr lang="es-PE" sz="1400" b="1" dirty="0" err="1">
                <a:solidFill>
                  <a:schemeClr val="accent1">
                    <a:lumMod val="75000"/>
                  </a:schemeClr>
                </a:solidFill>
              </a:rPr>
              <a:t>router</a:t>
            </a:r>
            <a:r>
              <a:rPr lang="es-PE" sz="14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endParaRPr lang="es-PE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AD985CB-7E03-3F67-8D61-166C0C6F1EF4}"/>
              </a:ext>
            </a:extLst>
          </p:cNvPr>
          <p:cNvCxnSpPr>
            <a:cxnSpLocks/>
          </p:cNvCxnSpPr>
          <p:nvPr/>
        </p:nvCxnSpPr>
        <p:spPr>
          <a:xfrm>
            <a:off x="4435289" y="330200"/>
            <a:ext cx="2159976" cy="52213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0A2AEAA-3BE9-4AA0-5159-197E21E61E60}"/>
              </a:ext>
            </a:extLst>
          </p:cNvPr>
          <p:cNvSpPr txBox="1"/>
          <p:nvPr/>
        </p:nvSpPr>
        <p:spPr>
          <a:xfrm>
            <a:off x="1613647" y="5792979"/>
            <a:ext cx="124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VLAN X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D61D6A2-9EC4-95CB-DEB7-29567AE9BBA6}"/>
              </a:ext>
            </a:extLst>
          </p:cNvPr>
          <p:cNvSpPr txBox="1"/>
          <p:nvPr/>
        </p:nvSpPr>
        <p:spPr>
          <a:xfrm>
            <a:off x="7225958" y="5977645"/>
            <a:ext cx="116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VLAN X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75C9699-4C23-0516-3EB6-6A828FAF0246}"/>
              </a:ext>
            </a:extLst>
          </p:cNvPr>
          <p:cNvSpPr txBox="1"/>
          <p:nvPr/>
        </p:nvSpPr>
        <p:spPr>
          <a:xfrm>
            <a:off x="3942746" y="5608313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VLAN Y</a:t>
            </a:r>
            <a:endParaRPr lang="es-P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3C063F9-151C-3994-659C-A6EA05CD2BFB}"/>
              </a:ext>
            </a:extLst>
          </p:cNvPr>
          <p:cNvSpPr txBox="1"/>
          <p:nvPr/>
        </p:nvSpPr>
        <p:spPr>
          <a:xfrm>
            <a:off x="9510864" y="5930353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VLAN Y</a:t>
            </a:r>
            <a:endParaRPr lang="es-P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E4BA947-70D1-BDDD-CA98-34D22E7BCC71}"/>
              </a:ext>
            </a:extLst>
          </p:cNvPr>
          <p:cNvSpPr txBox="1"/>
          <p:nvPr/>
        </p:nvSpPr>
        <p:spPr>
          <a:xfrm>
            <a:off x="1244659" y="6115019"/>
            <a:ext cx="193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192.168.1.0 /24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4E87553-604C-5DE1-225F-3172090F12E4}"/>
              </a:ext>
            </a:extLst>
          </p:cNvPr>
          <p:cNvSpPr txBox="1"/>
          <p:nvPr/>
        </p:nvSpPr>
        <p:spPr>
          <a:xfrm>
            <a:off x="6752492" y="6299685"/>
            <a:ext cx="181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192.168.1.0 /24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7F0E1BC-BEAD-0D5C-3E1E-A0AA0D954658}"/>
              </a:ext>
            </a:extLst>
          </p:cNvPr>
          <p:cNvSpPr txBox="1"/>
          <p:nvPr/>
        </p:nvSpPr>
        <p:spPr>
          <a:xfrm>
            <a:off x="3529509" y="5885312"/>
            <a:ext cx="18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192.168.2.0 /24</a:t>
            </a:r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52B83C5-208B-808F-1A07-31D917DE5230}"/>
              </a:ext>
            </a:extLst>
          </p:cNvPr>
          <p:cNvSpPr txBox="1"/>
          <p:nvPr/>
        </p:nvSpPr>
        <p:spPr>
          <a:xfrm>
            <a:off x="9102108" y="6162311"/>
            <a:ext cx="18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192.168.2.0 /24</a:t>
            </a:r>
            <a:endParaRPr lang="es-P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09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3F34723-81DD-3B5D-6578-0877251C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2" y="0"/>
            <a:ext cx="11937076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B81C77E-81A9-BFF0-DB84-D7CFA0295FA3}"/>
              </a:ext>
            </a:extLst>
          </p:cNvPr>
          <p:cNvSpPr txBox="1"/>
          <p:nvPr/>
        </p:nvSpPr>
        <p:spPr>
          <a:xfrm>
            <a:off x="3714551" y="1396694"/>
            <a:ext cx="124540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Enlaces Troncales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B74F8C9-4FA1-0195-F889-39459889BBA0}"/>
              </a:ext>
            </a:extLst>
          </p:cNvPr>
          <p:cNvCxnSpPr>
            <a:cxnSpLocks/>
          </p:cNvCxnSpPr>
          <p:nvPr/>
        </p:nvCxnSpPr>
        <p:spPr>
          <a:xfrm>
            <a:off x="3996880" y="2176355"/>
            <a:ext cx="91026" cy="5502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DE14264-99E3-267E-2A33-A88DA54E782D}"/>
              </a:ext>
            </a:extLst>
          </p:cNvPr>
          <p:cNvCxnSpPr>
            <a:cxnSpLocks/>
          </p:cNvCxnSpPr>
          <p:nvPr/>
        </p:nvCxnSpPr>
        <p:spPr>
          <a:xfrm flipV="1">
            <a:off x="5051038" y="1382815"/>
            <a:ext cx="617414" cy="1439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BF66E1-E814-C804-3E23-F86DB9006A1E}"/>
              </a:ext>
            </a:extLst>
          </p:cNvPr>
          <p:cNvSpPr txBox="1"/>
          <p:nvPr/>
        </p:nvSpPr>
        <p:spPr>
          <a:xfrm>
            <a:off x="8167593" y="1116449"/>
            <a:ext cx="124540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Enlaces Troncales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267449E-F279-3395-1F1A-DC8CBAF007D2}"/>
              </a:ext>
            </a:extLst>
          </p:cNvPr>
          <p:cNvCxnSpPr>
            <a:cxnSpLocks/>
          </p:cNvCxnSpPr>
          <p:nvPr/>
        </p:nvCxnSpPr>
        <p:spPr>
          <a:xfrm>
            <a:off x="8564053" y="1840523"/>
            <a:ext cx="62752" cy="9150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684216E-DE7E-605D-D7E6-1D5B982FB6B1}"/>
              </a:ext>
            </a:extLst>
          </p:cNvPr>
          <p:cNvCxnSpPr>
            <a:cxnSpLocks/>
          </p:cNvCxnSpPr>
          <p:nvPr/>
        </p:nvCxnSpPr>
        <p:spPr>
          <a:xfrm flipH="1" flipV="1">
            <a:off x="6752492" y="1075765"/>
            <a:ext cx="1324018" cy="34755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5A3A1B4-1FC6-DC3F-8A17-8F7AFBF110B0}"/>
              </a:ext>
            </a:extLst>
          </p:cNvPr>
          <p:cNvSpPr txBox="1"/>
          <p:nvPr/>
        </p:nvSpPr>
        <p:spPr>
          <a:xfrm>
            <a:off x="1289224" y="2520353"/>
            <a:ext cx="1414412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Crear VLAN 10, 20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F7B0B72-872E-16CF-CDFA-C401B639FCDC}"/>
              </a:ext>
            </a:extLst>
          </p:cNvPr>
          <p:cNvCxnSpPr>
            <a:cxnSpLocks/>
          </p:cNvCxnSpPr>
          <p:nvPr/>
        </p:nvCxnSpPr>
        <p:spPr>
          <a:xfrm>
            <a:off x="2816987" y="2884749"/>
            <a:ext cx="795100" cy="3636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377B9C5-26DD-B8C4-A874-9A55555E609A}"/>
              </a:ext>
            </a:extLst>
          </p:cNvPr>
          <p:cNvSpPr txBox="1"/>
          <p:nvPr/>
        </p:nvSpPr>
        <p:spPr>
          <a:xfrm>
            <a:off x="9798881" y="2561583"/>
            <a:ext cx="1487185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Crear VLAN 10, 20</a:t>
            </a:r>
            <a:endParaRPr lang="es-PE" b="1" dirty="0">
              <a:solidFill>
                <a:srgbClr val="FF0000"/>
              </a:solidFill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930682A-66E1-0BED-E661-30D139D2C4AF}"/>
              </a:ext>
            </a:extLst>
          </p:cNvPr>
          <p:cNvCxnSpPr>
            <a:cxnSpLocks/>
          </p:cNvCxnSpPr>
          <p:nvPr/>
        </p:nvCxnSpPr>
        <p:spPr>
          <a:xfrm flipH="1" flipV="1">
            <a:off x="9015736" y="2884749"/>
            <a:ext cx="711659" cy="3636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CBAD744-D2F3-7796-64D1-6020DF6BF4D1}"/>
              </a:ext>
            </a:extLst>
          </p:cNvPr>
          <p:cNvSpPr txBox="1"/>
          <p:nvPr/>
        </p:nvSpPr>
        <p:spPr>
          <a:xfrm>
            <a:off x="95345" y="59848"/>
            <a:ext cx="3544557" cy="24006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500" b="1" dirty="0">
                <a:solidFill>
                  <a:srgbClr val="FF0000"/>
                </a:solidFill>
              </a:rPr>
              <a:t>1.- Crear VLAN 10, 20 </a:t>
            </a:r>
          </a:p>
          <a:p>
            <a:r>
              <a:rPr lang="es-ES" sz="1500" b="1" dirty="0">
                <a:solidFill>
                  <a:srgbClr val="FF0000"/>
                </a:solidFill>
              </a:rPr>
              <a:t>2.-Asignar las Interfaces CON </a:t>
            </a:r>
            <a:r>
              <a:rPr lang="es-ES" sz="1500" b="1" dirty="0" err="1">
                <a:solidFill>
                  <a:srgbClr val="FF0000"/>
                </a:solidFill>
              </a:rPr>
              <a:t>PCs</a:t>
            </a:r>
            <a:r>
              <a:rPr lang="es-ES" sz="1500" b="1" dirty="0">
                <a:solidFill>
                  <a:srgbClr val="FF0000"/>
                </a:solidFill>
              </a:rPr>
              <a:t> a las VLANS (</a:t>
            </a:r>
            <a:r>
              <a:rPr lang="es-ES" sz="1500" b="1" dirty="0" err="1">
                <a:solidFill>
                  <a:srgbClr val="FF0000"/>
                </a:solidFill>
              </a:rPr>
              <a:t>Mode</a:t>
            </a:r>
            <a:r>
              <a:rPr lang="es-ES" sz="1500" b="1" dirty="0">
                <a:solidFill>
                  <a:srgbClr val="FF0000"/>
                </a:solidFill>
              </a:rPr>
              <a:t> ACCESS)</a:t>
            </a:r>
          </a:p>
          <a:p>
            <a:r>
              <a:rPr lang="es-ES" sz="1500" b="1" dirty="0">
                <a:solidFill>
                  <a:srgbClr val="FF0000"/>
                </a:solidFill>
              </a:rPr>
              <a:t>3.- Crear las interfaces troncales (</a:t>
            </a:r>
            <a:r>
              <a:rPr lang="es-ES" sz="1500" b="1" dirty="0" err="1">
                <a:solidFill>
                  <a:srgbClr val="FF0000"/>
                </a:solidFill>
              </a:rPr>
              <a:t>Mode</a:t>
            </a:r>
            <a:r>
              <a:rPr lang="es-ES" sz="1500" b="1" dirty="0">
                <a:solidFill>
                  <a:srgbClr val="FF0000"/>
                </a:solidFill>
              </a:rPr>
              <a:t> TRUNK)</a:t>
            </a:r>
          </a:p>
          <a:p>
            <a:r>
              <a:rPr lang="es-ES" sz="1500" b="1" dirty="0">
                <a:solidFill>
                  <a:srgbClr val="FF0000"/>
                </a:solidFill>
              </a:rPr>
              <a:t>4.-Asignarles las IP </a:t>
            </a:r>
            <a:r>
              <a:rPr lang="es-ES" sz="1500" b="1" dirty="0" err="1">
                <a:solidFill>
                  <a:srgbClr val="FF0000"/>
                </a:solidFill>
              </a:rPr>
              <a:t>address</a:t>
            </a:r>
            <a:r>
              <a:rPr lang="es-ES" sz="1500" b="1" dirty="0">
                <a:solidFill>
                  <a:srgbClr val="FF0000"/>
                </a:solidFill>
              </a:rPr>
              <a:t> de los default Gateway de las </a:t>
            </a:r>
            <a:r>
              <a:rPr lang="es-ES" sz="1500" b="1" dirty="0">
                <a:solidFill>
                  <a:schemeClr val="accent2"/>
                </a:solidFill>
              </a:rPr>
              <a:t>VLAN 10 (192.168.1.1), </a:t>
            </a:r>
            <a:r>
              <a:rPr lang="es-ES" sz="1500" b="1" dirty="0">
                <a:solidFill>
                  <a:srgbClr val="FF0000"/>
                </a:solidFill>
              </a:rPr>
              <a:t>Y </a:t>
            </a:r>
            <a:r>
              <a:rPr lang="es-ES" sz="1500" b="1" dirty="0">
                <a:solidFill>
                  <a:srgbClr val="0070C0"/>
                </a:solidFill>
              </a:rPr>
              <a:t>VLAN 20 </a:t>
            </a:r>
            <a:r>
              <a:rPr lang="es-ES" sz="1500" b="1" dirty="0">
                <a:solidFill>
                  <a:schemeClr val="accent1">
                    <a:lumMod val="75000"/>
                  </a:schemeClr>
                </a:solidFill>
              </a:rPr>
              <a:t>(192.168.2.1).</a:t>
            </a:r>
          </a:p>
          <a:p>
            <a:r>
              <a:rPr lang="es-ES" sz="1500" b="1" dirty="0">
                <a:solidFill>
                  <a:schemeClr val="accent1">
                    <a:lumMod val="75000"/>
                  </a:schemeClr>
                </a:solidFill>
              </a:rPr>
              <a:t>5.-S3</a:t>
            </a:r>
            <a:r>
              <a:rPr lang="es-PE" sz="1500" b="1" dirty="0">
                <a:solidFill>
                  <a:schemeClr val="accent1">
                    <a:lumMod val="75000"/>
                  </a:schemeClr>
                </a:solidFill>
              </a:rPr>
              <a:t>#ip </a:t>
            </a:r>
            <a:r>
              <a:rPr lang="es-PE" sz="1500" b="1" dirty="0" err="1">
                <a:solidFill>
                  <a:schemeClr val="accent1">
                    <a:lumMod val="75000"/>
                  </a:schemeClr>
                </a:solidFill>
              </a:rPr>
              <a:t>routing</a:t>
            </a:r>
            <a:r>
              <a:rPr lang="es-PE" sz="1500" b="1" dirty="0">
                <a:solidFill>
                  <a:schemeClr val="accent1">
                    <a:lumMod val="75000"/>
                  </a:schemeClr>
                </a:solidFill>
              </a:rPr>
              <a:t> (Convertir el switch de capara 3 en </a:t>
            </a:r>
            <a:r>
              <a:rPr lang="es-PE" sz="1500" b="1" dirty="0" err="1">
                <a:solidFill>
                  <a:schemeClr val="accent1">
                    <a:lumMod val="75000"/>
                  </a:schemeClr>
                </a:solidFill>
              </a:rPr>
              <a:t>router</a:t>
            </a:r>
            <a:r>
              <a:rPr lang="es-PE" sz="15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AD985CB-7E03-3F67-8D61-166C0C6F1EF4}"/>
              </a:ext>
            </a:extLst>
          </p:cNvPr>
          <p:cNvCxnSpPr>
            <a:cxnSpLocks/>
          </p:cNvCxnSpPr>
          <p:nvPr/>
        </p:nvCxnSpPr>
        <p:spPr>
          <a:xfrm>
            <a:off x="3527759" y="603356"/>
            <a:ext cx="2467024" cy="37989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0A2AEAA-3BE9-4AA0-5159-197E21E61E60}"/>
              </a:ext>
            </a:extLst>
          </p:cNvPr>
          <p:cNvSpPr txBox="1"/>
          <p:nvPr/>
        </p:nvSpPr>
        <p:spPr>
          <a:xfrm>
            <a:off x="1613647" y="5792979"/>
            <a:ext cx="124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VLAN 10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D61D6A2-9EC4-95CB-DEB7-29567AE9BBA6}"/>
              </a:ext>
            </a:extLst>
          </p:cNvPr>
          <p:cNvSpPr txBox="1"/>
          <p:nvPr/>
        </p:nvSpPr>
        <p:spPr>
          <a:xfrm>
            <a:off x="7225958" y="5977645"/>
            <a:ext cx="116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VLAN 10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75C9699-4C23-0516-3EB6-6A828FAF0246}"/>
              </a:ext>
            </a:extLst>
          </p:cNvPr>
          <p:cNvSpPr txBox="1"/>
          <p:nvPr/>
        </p:nvSpPr>
        <p:spPr>
          <a:xfrm>
            <a:off x="3942746" y="5608313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VLAN 20</a:t>
            </a:r>
            <a:endParaRPr lang="es-P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3C063F9-151C-3994-659C-A6EA05CD2BFB}"/>
              </a:ext>
            </a:extLst>
          </p:cNvPr>
          <p:cNvSpPr txBox="1"/>
          <p:nvPr/>
        </p:nvSpPr>
        <p:spPr>
          <a:xfrm>
            <a:off x="9510864" y="5930353"/>
            <a:ext cx="10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VLAN 20</a:t>
            </a:r>
            <a:endParaRPr lang="es-P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E4BA947-70D1-BDDD-CA98-34D22E7BCC71}"/>
              </a:ext>
            </a:extLst>
          </p:cNvPr>
          <p:cNvSpPr txBox="1"/>
          <p:nvPr/>
        </p:nvSpPr>
        <p:spPr>
          <a:xfrm>
            <a:off x="1244659" y="6115019"/>
            <a:ext cx="193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192.168.1.0 /24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4E87553-604C-5DE1-225F-3172090F12E4}"/>
              </a:ext>
            </a:extLst>
          </p:cNvPr>
          <p:cNvSpPr txBox="1"/>
          <p:nvPr/>
        </p:nvSpPr>
        <p:spPr>
          <a:xfrm>
            <a:off x="6752492" y="6299685"/>
            <a:ext cx="181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192.168.1.0 /24</a:t>
            </a:r>
            <a:endParaRPr lang="es-PE" b="1" dirty="0">
              <a:solidFill>
                <a:schemeClr val="accent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7F0E1BC-BEAD-0D5C-3E1E-A0AA0D954658}"/>
              </a:ext>
            </a:extLst>
          </p:cNvPr>
          <p:cNvSpPr txBox="1"/>
          <p:nvPr/>
        </p:nvSpPr>
        <p:spPr>
          <a:xfrm>
            <a:off x="3529509" y="5885312"/>
            <a:ext cx="18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192.168.2.0 /24</a:t>
            </a:r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52B83C5-208B-808F-1A07-31D917DE5230}"/>
              </a:ext>
            </a:extLst>
          </p:cNvPr>
          <p:cNvSpPr txBox="1"/>
          <p:nvPr/>
        </p:nvSpPr>
        <p:spPr>
          <a:xfrm>
            <a:off x="9102108" y="6162311"/>
            <a:ext cx="18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192.168.2.0 /24</a:t>
            </a:r>
            <a:endParaRPr lang="es-P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92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ctrTitle" idx="4294967295"/>
          </p:nvPr>
        </p:nvSpPr>
        <p:spPr>
          <a:xfrm>
            <a:off x="638413" y="2353691"/>
            <a:ext cx="10382912" cy="22501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</a:pPr>
            <a:r>
              <a:rPr lang="es-419" sz="5333" dirty="0" err="1">
                <a:solidFill>
                  <a:schemeClr val="bg1"/>
                </a:solidFill>
              </a:rPr>
              <a:t>Router</a:t>
            </a:r>
            <a:r>
              <a:rPr lang="es-419" sz="5333" dirty="0">
                <a:solidFill>
                  <a:schemeClr val="bg1"/>
                </a:solidFill>
              </a:rPr>
              <a:t>-</a:t>
            </a:r>
            <a:r>
              <a:rPr lang="es-419" sz="5333" dirty="0" err="1">
                <a:solidFill>
                  <a:schemeClr val="bg1"/>
                </a:solidFill>
              </a:rPr>
              <a:t>on</a:t>
            </a:r>
            <a:r>
              <a:rPr lang="es-419" sz="5333" dirty="0">
                <a:solidFill>
                  <a:schemeClr val="bg1"/>
                </a:solidFill>
              </a:rPr>
              <a:t>-a-</a:t>
            </a:r>
            <a:r>
              <a:rPr lang="es-419" sz="5333" dirty="0" err="1">
                <a:solidFill>
                  <a:schemeClr val="bg1"/>
                </a:solidFill>
              </a:rPr>
              <a:t>Stick</a:t>
            </a:r>
            <a:br>
              <a:rPr lang="es-PE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20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Ingeniería de Sistemas de Información</a:t>
            </a:r>
            <a:br>
              <a:rPr lang="es-PE" sz="20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20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EISI, 2024-2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848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be 9">
            <a:extLst>
              <a:ext uri="{FF2B5EF4-FFF2-40B4-BE49-F238E27FC236}">
                <a16:creationId xmlns:a16="http://schemas.microsoft.com/office/drawing/2014/main" id="{6E9181B7-A647-DA37-2303-212C15BA6813}"/>
              </a:ext>
            </a:extLst>
          </p:cNvPr>
          <p:cNvSpPr/>
          <p:nvPr/>
        </p:nvSpPr>
        <p:spPr>
          <a:xfrm>
            <a:off x="6192644" y="1516565"/>
            <a:ext cx="2706029" cy="735980"/>
          </a:xfrm>
          <a:prstGeom prst="cloud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133" b="1" dirty="0"/>
              <a:t>INTERNET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45" y="1"/>
            <a:ext cx="12003963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Configuración de Dirección IP en un </a:t>
            </a:r>
            <a:r>
              <a:rPr lang="es-419" sz="3200" dirty="0" err="1">
                <a:solidFill>
                  <a:srgbClr val="C00000"/>
                </a:solidFill>
              </a:rPr>
              <a:t>Router</a:t>
            </a:r>
            <a:endParaRPr lang="es-419" sz="3200" dirty="0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045365-425B-0231-98EC-AA89289A3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4" b="89899" l="4705" r="94194">
                        <a14:foregroundMark x1="45045" y1="26936" x2="49349" y2="26263"/>
                        <a14:foregroundMark x1="14715" y1="19865" x2="16416" y2="26599"/>
                        <a14:foregroundMark x1="19219" y1="35690" x2="19219" y2="35690"/>
                        <a14:foregroundMark x1="28428" y1="24242" x2="27728" y2="23906"/>
                        <a14:foregroundMark x1="33133" y1="25253" x2="31832" y2="24242"/>
                        <a14:foregroundMark x1="35135" y1="24242" x2="39840" y2="24916"/>
                        <a14:foregroundMark x1="63664" y1="24242" x2="63664" y2="24242"/>
                        <a14:foregroundMark x1="71972" y1="23906" x2="74174" y2="2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244" y="1358891"/>
            <a:ext cx="6482576" cy="192725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B103092-FC15-03C7-1AC7-0F2DEF403B27}"/>
              </a:ext>
            </a:extLst>
          </p:cNvPr>
          <p:cNvSpPr txBox="1"/>
          <p:nvPr/>
        </p:nvSpPr>
        <p:spPr>
          <a:xfrm>
            <a:off x="4834450" y="1051114"/>
            <a:ext cx="1878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Fa 0/1</a:t>
            </a:r>
          </a:p>
          <a:p>
            <a:pPr algn="ctr"/>
            <a:r>
              <a:rPr lang="es-PE" sz="1600" b="1" dirty="0"/>
              <a:t>192.168.1.1 /24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F2F9B6-5D43-3D4C-1570-EDFC7A408F02}"/>
              </a:ext>
            </a:extLst>
          </p:cNvPr>
          <p:cNvSpPr txBox="1"/>
          <p:nvPr/>
        </p:nvSpPr>
        <p:spPr>
          <a:xfrm>
            <a:off x="815055" y="2124110"/>
            <a:ext cx="1878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/>
              <a:t>192.168.1.11 /24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A9F4A98-B66F-B46E-5DDC-9820E5FEA1E8}"/>
              </a:ext>
            </a:extLst>
          </p:cNvPr>
          <p:cNvSpPr txBox="1"/>
          <p:nvPr/>
        </p:nvSpPr>
        <p:spPr>
          <a:xfrm>
            <a:off x="815055" y="3454971"/>
            <a:ext cx="8339253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53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R1(config)#interface </a:t>
            </a:r>
            <a:r>
              <a:rPr lang="en-US" sz="2400" b="1" dirty="0" err="1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fastEthernet</a:t>
            </a:r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0/1</a:t>
            </a:r>
            <a:endParaRPr lang="es-PE" sz="24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R1(config-if)#ip address </a:t>
            </a:r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192.168.1.1 255.255.255.0</a:t>
            </a:r>
          </a:p>
          <a:p>
            <a:pPr algn="just">
              <a:spcBef>
                <a:spcPts val="53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R1(config-if)#no shutdown</a:t>
            </a:r>
            <a:endParaRPr lang="es-PE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</a:t>
            </a:r>
            <a:r>
              <a:rPr lang="es-CL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config-if</a:t>
            </a:r>
            <a:r>
              <a:rPr lang="es-CL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)#exit</a:t>
            </a:r>
            <a:endParaRPr lang="es-PE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99F6D36-AB9C-1C7E-1645-AF923CFAF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55" y="190299"/>
            <a:ext cx="4724400" cy="3975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45" y="1"/>
            <a:ext cx="12003963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Escenario </a:t>
            </a:r>
            <a:r>
              <a:rPr lang="es-419" sz="3200" dirty="0" err="1">
                <a:solidFill>
                  <a:srgbClr val="C00000"/>
                </a:solidFill>
              </a:rPr>
              <a:t>Router</a:t>
            </a:r>
            <a:r>
              <a:rPr lang="es-419" sz="3200" dirty="0">
                <a:solidFill>
                  <a:srgbClr val="C00000"/>
                </a:solidFill>
              </a:rPr>
              <a:t>-</a:t>
            </a:r>
            <a:r>
              <a:rPr lang="es-419" sz="3200" dirty="0" err="1">
                <a:solidFill>
                  <a:srgbClr val="C00000"/>
                </a:solidFill>
              </a:rPr>
              <a:t>on</a:t>
            </a:r>
            <a:r>
              <a:rPr lang="es-419" sz="3200" dirty="0">
                <a:solidFill>
                  <a:srgbClr val="C00000"/>
                </a:solidFill>
              </a:rPr>
              <a:t>-a-</a:t>
            </a:r>
            <a:r>
              <a:rPr lang="es-419" sz="3200" dirty="0" err="1">
                <a:solidFill>
                  <a:srgbClr val="C00000"/>
                </a:solidFill>
              </a:rPr>
              <a:t>stick</a:t>
            </a:r>
            <a:endParaRPr lang="es-419" sz="3200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030DC4-1A05-F245-A1D3-947A824F5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89" y="975783"/>
            <a:ext cx="6691812" cy="5331651"/>
          </a:xfrm>
        </p:spPr>
        <p:txBody>
          <a:bodyPr/>
          <a:lstStyle/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000000"/>
                </a:solidFill>
              </a:rPr>
              <a:t>En la figura, la interfaz R1 </a:t>
            </a:r>
            <a:r>
              <a:rPr lang="es-419" sz="1600" dirty="0" err="1">
                <a:solidFill>
                  <a:srgbClr val="000000"/>
                </a:solidFill>
              </a:rPr>
              <a:t>GigabitEthernet</a:t>
            </a:r>
            <a:r>
              <a:rPr lang="es-419" sz="1600" dirty="0">
                <a:solidFill>
                  <a:srgbClr val="000000"/>
                </a:solidFill>
              </a:rPr>
              <a:t> 0/0/1 está conectada al puerto S1 </a:t>
            </a:r>
            <a:r>
              <a:rPr lang="es-419" sz="1600" dirty="0" err="1">
                <a:solidFill>
                  <a:srgbClr val="000000"/>
                </a:solidFill>
              </a:rPr>
              <a:t>FastEthernet</a:t>
            </a:r>
            <a:r>
              <a:rPr lang="es-419" sz="1600" dirty="0">
                <a:solidFill>
                  <a:srgbClr val="000000"/>
                </a:solidFill>
              </a:rPr>
              <a:t> 0/5. El puerto S1 </a:t>
            </a:r>
            <a:r>
              <a:rPr lang="es-419" sz="1600" dirty="0" err="1">
                <a:solidFill>
                  <a:srgbClr val="000000"/>
                </a:solidFill>
              </a:rPr>
              <a:t>FastEthernet</a:t>
            </a:r>
            <a:r>
              <a:rPr lang="es-419" sz="1600" dirty="0">
                <a:solidFill>
                  <a:srgbClr val="000000"/>
                </a:solidFill>
              </a:rPr>
              <a:t> 0/1 está conectado al puerto S2 </a:t>
            </a:r>
            <a:r>
              <a:rPr lang="es-419" sz="1600" dirty="0" err="1">
                <a:solidFill>
                  <a:srgbClr val="000000"/>
                </a:solidFill>
              </a:rPr>
              <a:t>FastEthernet</a:t>
            </a:r>
            <a:r>
              <a:rPr lang="es-419" sz="1600" dirty="0">
                <a:solidFill>
                  <a:srgbClr val="000000"/>
                </a:solidFill>
              </a:rPr>
              <a:t> 0/1. Estos son enlaces troncales necesarios para reenviar tráfico dentro de las VLAN y entre ellas.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s-419" sz="1600" dirty="0">
              <a:solidFill>
                <a:srgbClr val="000000"/>
              </a:solidFill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000000"/>
                </a:solidFill>
              </a:rPr>
              <a:t>Para enrutar entre VLAN, la interfaz R1 </a:t>
            </a:r>
            <a:r>
              <a:rPr lang="es-419" sz="1600" dirty="0" err="1">
                <a:solidFill>
                  <a:srgbClr val="000000"/>
                </a:solidFill>
              </a:rPr>
              <a:t>GigabitEthernet</a:t>
            </a:r>
            <a:r>
              <a:rPr lang="es-419" sz="1600" dirty="0">
                <a:solidFill>
                  <a:srgbClr val="000000"/>
                </a:solidFill>
              </a:rPr>
              <a:t> 0/0/1 se divide lógicamente en tres </a:t>
            </a:r>
            <a:r>
              <a:rPr lang="es-419" sz="1600" b="1" dirty="0">
                <a:solidFill>
                  <a:srgbClr val="00B0F0"/>
                </a:solidFill>
              </a:rPr>
              <a:t>subinterfaces</a:t>
            </a:r>
            <a:r>
              <a:rPr lang="es-419" sz="1600" dirty="0">
                <a:solidFill>
                  <a:srgbClr val="000000"/>
                </a:solidFill>
              </a:rPr>
              <a:t>, como se muestra en la tabla. La tabla también muestra las tres VLAN que se configurarán en los switches.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s-419" sz="1600" dirty="0">
              <a:solidFill>
                <a:srgbClr val="000000"/>
              </a:solidFill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000000"/>
                </a:solidFill>
              </a:rPr>
              <a:t>Suponga que R1, S1 y S2 tienen configuraciones básicas iniciales. Actualmente, PC1 y PC2 no pueden </a:t>
            </a:r>
            <a:r>
              <a:rPr lang="es-419" sz="1600" b="1" dirty="0">
                <a:solidFill>
                  <a:srgbClr val="000000"/>
                </a:solidFill>
              </a:rPr>
              <a:t>hacer ping</a:t>
            </a:r>
            <a:r>
              <a:rPr lang="es-419" sz="1600" dirty="0">
                <a:solidFill>
                  <a:srgbClr val="000000"/>
                </a:solidFill>
              </a:rPr>
              <a:t> entre sí porque están en redes separadas. Solo S1 y S2 pueden </a:t>
            </a:r>
            <a:r>
              <a:rPr lang="es-419" sz="1600" b="1" dirty="0">
                <a:solidFill>
                  <a:srgbClr val="000000"/>
                </a:solidFill>
              </a:rPr>
              <a:t>hacer ping</a:t>
            </a:r>
            <a:r>
              <a:rPr lang="es-419" sz="1600" dirty="0">
                <a:solidFill>
                  <a:srgbClr val="000000"/>
                </a:solidFill>
              </a:rPr>
              <a:t> entre sí, pero son inalcanzables por PC1 o PC2 porque también están en diferentes redes.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s-419" sz="1600" dirty="0">
              <a:solidFill>
                <a:srgbClr val="000000"/>
              </a:solidFill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000000"/>
                </a:solidFill>
              </a:rPr>
              <a:t>Para permitir que los dispositivos se hagan ping entre sí, los conmutadores deben configurarse con VLAN y </a:t>
            </a:r>
            <a:r>
              <a:rPr lang="es-419" sz="1600" dirty="0" err="1">
                <a:solidFill>
                  <a:srgbClr val="000000"/>
                </a:solidFill>
              </a:rPr>
              <a:t>trunking</a:t>
            </a:r>
            <a:r>
              <a:rPr lang="es-419" sz="1600" dirty="0">
                <a:solidFill>
                  <a:srgbClr val="000000"/>
                </a:solidFill>
              </a:rPr>
              <a:t>, y el enrutador debe configurarse para el enrutamiento entre VLAN.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6220CA-F340-1781-2D41-998F6C51CBED}"/>
              </a:ext>
            </a:extLst>
          </p:cNvPr>
          <p:cNvSpPr txBox="1"/>
          <p:nvPr/>
        </p:nvSpPr>
        <p:spPr>
          <a:xfrm>
            <a:off x="11599620" y="6440407"/>
            <a:ext cx="778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B0F0"/>
                </a:solidFill>
              </a:rPr>
              <a:t>63</a:t>
            </a:r>
            <a:endParaRPr lang="es-PE" sz="1600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0AAE9C3-AA24-E20F-43F4-6416C19E448A}"/>
              </a:ext>
            </a:extLst>
          </p:cNvPr>
          <p:cNvGraphicFramePr>
            <a:graphicFrameLocks noGrp="1"/>
          </p:cNvGraphicFramePr>
          <p:nvPr/>
        </p:nvGraphicFramePr>
        <p:xfrm>
          <a:off x="7482751" y="4564911"/>
          <a:ext cx="4134724" cy="1306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623">
                  <a:extLst>
                    <a:ext uri="{9D8B030D-6E8A-4147-A177-3AD203B41FA5}">
                      <a16:colId xmlns:a16="http://schemas.microsoft.com/office/drawing/2014/main" val="2537369461"/>
                    </a:ext>
                  </a:extLst>
                </a:gridCol>
                <a:gridCol w="1025524">
                  <a:extLst>
                    <a:ext uri="{9D8B030D-6E8A-4147-A177-3AD203B41FA5}">
                      <a16:colId xmlns:a16="http://schemas.microsoft.com/office/drawing/2014/main" val="26083547"/>
                    </a:ext>
                  </a:extLst>
                </a:gridCol>
                <a:gridCol w="1809577">
                  <a:extLst>
                    <a:ext uri="{9D8B030D-6E8A-4147-A177-3AD203B41FA5}">
                      <a16:colId xmlns:a16="http://schemas.microsoft.com/office/drawing/2014/main" val="225096973"/>
                    </a:ext>
                  </a:extLst>
                </a:gridCol>
              </a:tblGrid>
              <a:tr h="435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Subinterfaz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VLAN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>
                          <a:effectLst/>
                        </a:rPr>
                        <a:t>Dirección IP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852578632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FF0000"/>
                          </a:solidFill>
                          <a:effectLst/>
                        </a:rPr>
                        <a:t>.10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>
                          <a:effectLst/>
                        </a:rPr>
                        <a:t>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>
                          <a:effectLst/>
                        </a:rPr>
                        <a:t>192.168.10.1/24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87607961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00B0F0"/>
                          </a:solidFill>
                          <a:effectLst/>
                        </a:rPr>
                        <a:t>.20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192.168.20.1/24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07812519"/>
                  </a:ext>
                </a:extLst>
              </a:tr>
            </a:tbl>
          </a:graphicData>
        </a:graphic>
      </p:graphicFrame>
      <p:sp>
        <p:nvSpPr>
          <p:cNvPr id="13" name="Elipse 12">
            <a:extLst>
              <a:ext uri="{FF2B5EF4-FFF2-40B4-BE49-F238E27FC236}">
                <a16:creationId xmlns:a16="http://schemas.microsoft.com/office/drawing/2014/main" id="{0680F053-98C4-7E7D-BDC6-593161A30F15}"/>
              </a:ext>
            </a:extLst>
          </p:cNvPr>
          <p:cNvSpPr/>
          <p:nvPr/>
        </p:nvSpPr>
        <p:spPr>
          <a:xfrm>
            <a:off x="7077694" y="2462152"/>
            <a:ext cx="2367148" cy="2006929"/>
          </a:xfrm>
          <a:prstGeom prst="ellipse">
            <a:avLst/>
          </a:prstGeom>
          <a:solidFill>
            <a:srgbClr val="36A4D7">
              <a:alpha val="39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F1FE97B-E393-9151-F406-D9193A9B386C}"/>
              </a:ext>
            </a:extLst>
          </p:cNvPr>
          <p:cNvSpPr/>
          <p:nvPr/>
        </p:nvSpPr>
        <p:spPr>
          <a:xfrm>
            <a:off x="9824853" y="2481549"/>
            <a:ext cx="2367148" cy="2006929"/>
          </a:xfrm>
          <a:prstGeom prst="ellipse">
            <a:avLst/>
          </a:prstGeom>
          <a:solidFill>
            <a:schemeClr val="bg2">
              <a:alpha val="3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190756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100630D-1004-7049-F852-CFA47E9A6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849" y="402225"/>
            <a:ext cx="4724400" cy="3975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45" y="1"/>
            <a:ext cx="12003963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Escenario </a:t>
            </a:r>
            <a:r>
              <a:rPr lang="es-419" sz="3200" dirty="0" err="1">
                <a:solidFill>
                  <a:srgbClr val="C00000"/>
                </a:solidFill>
              </a:rPr>
              <a:t>Router</a:t>
            </a:r>
            <a:r>
              <a:rPr lang="es-419" sz="3200" dirty="0">
                <a:solidFill>
                  <a:srgbClr val="C00000"/>
                </a:solidFill>
              </a:rPr>
              <a:t>-</a:t>
            </a:r>
            <a:r>
              <a:rPr lang="es-419" sz="3200" dirty="0" err="1">
                <a:solidFill>
                  <a:srgbClr val="C00000"/>
                </a:solidFill>
              </a:rPr>
              <a:t>on</a:t>
            </a:r>
            <a:r>
              <a:rPr lang="es-419" sz="3200" dirty="0">
                <a:solidFill>
                  <a:srgbClr val="C00000"/>
                </a:solidFill>
              </a:rPr>
              <a:t>-a-</a:t>
            </a:r>
            <a:r>
              <a:rPr lang="es-419" sz="3200" dirty="0" err="1">
                <a:solidFill>
                  <a:srgbClr val="C00000"/>
                </a:solidFill>
              </a:rPr>
              <a:t>stick</a:t>
            </a:r>
            <a:endParaRPr lang="es-419" sz="3200" dirty="0">
              <a:solidFill>
                <a:srgbClr val="C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6220CA-F340-1781-2D41-998F6C51CBED}"/>
              </a:ext>
            </a:extLst>
          </p:cNvPr>
          <p:cNvSpPr txBox="1"/>
          <p:nvPr/>
        </p:nvSpPr>
        <p:spPr>
          <a:xfrm>
            <a:off x="11599620" y="6440407"/>
            <a:ext cx="778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solidFill>
                  <a:srgbClr val="00B0F0"/>
                </a:solidFill>
              </a:rPr>
              <a:t>72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6CA924-4D41-2653-E71C-D9ED07592110}"/>
              </a:ext>
            </a:extLst>
          </p:cNvPr>
          <p:cNvSpPr txBox="1"/>
          <p:nvPr/>
        </p:nvSpPr>
        <p:spPr>
          <a:xfrm>
            <a:off x="133445" y="640134"/>
            <a:ext cx="6502200" cy="177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Creación</a:t>
            </a:r>
            <a:r>
              <a:rPr lang="en-US" sz="1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de VLANs</a:t>
            </a:r>
            <a:endParaRPr lang="es-PE" sz="1600" u="sng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Switch_S1 </a:t>
            </a:r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# configure terminal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(config)#vlan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(config)#name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VLAN10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 exit</a:t>
            </a:r>
          </a:p>
          <a:p>
            <a:pPr algn="just"/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(config)#vlan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(config)#name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VLAN20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 exit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B8E7FB-498E-825E-4AB5-D309149DEE97}"/>
              </a:ext>
            </a:extLst>
          </p:cNvPr>
          <p:cNvSpPr txBox="1"/>
          <p:nvPr/>
        </p:nvSpPr>
        <p:spPr>
          <a:xfrm>
            <a:off x="133445" y="2493276"/>
            <a:ext cx="5693256" cy="423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333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Switch_S2 </a:t>
            </a:r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# configure terminal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(config)#vlan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(config)#name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VLAN10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(config)# exit</a:t>
            </a:r>
          </a:p>
          <a:p>
            <a:pPr algn="just"/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(config)#vlan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(config)#name </a:t>
            </a:r>
            <a:r>
              <a:rPr lang="en-US" sz="1333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VLAN20</a:t>
            </a:r>
            <a:endParaRPr lang="es-PE" sz="1333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(config-if)# exit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CL" sz="1333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s-CL" sz="1600" b="1" u="sng" dirty="0">
                <a:solidFill>
                  <a:srgbClr val="FF0000"/>
                </a:solidFill>
                <a:latin typeface="Arial" panose="020B0604020202020204" pitchFamily="34" charset="0"/>
              </a:rPr>
              <a:t>Asignación de interfaces a las </a:t>
            </a:r>
            <a:r>
              <a:rPr lang="es-CL" sz="1600" b="1" u="sng" dirty="0" err="1">
                <a:solidFill>
                  <a:srgbClr val="FF0000"/>
                </a:solidFill>
                <a:latin typeface="Arial" panose="020B0604020202020204" pitchFamily="34" charset="0"/>
              </a:rPr>
              <a:t>VLANs</a:t>
            </a:r>
            <a:endParaRPr lang="es-PE" sz="1600" b="1" u="sng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sz="1333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Switch_S1 </a:t>
            </a:r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#configure terminal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(config)# interface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fa0/6</a:t>
            </a: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(config-if)# </a:t>
            </a:r>
            <a:r>
              <a:rPr lang="es-419" sz="1333" dirty="0" err="1"/>
              <a:t>Switchport</a:t>
            </a:r>
            <a:r>
              <a:rPr lang="es-419" sz="1333" dirty="0"/>
              <a:t> </a:t>
            </a:r>
            <a:r>
              <a:rPr lang="es-419" sz="1333" dirty="0" err="1"/>
              <a:t>mode</a:t>
            </a:r>
            <a:r>
              <a:rPr lang="es-419" sz="1333" dirty="0"/>
              <a:t> </a:t>
            </a:r>
            <a:r>
              <a:rPr lang="es-419" sz="1333" dirty="0" err="1"/>
              <a:t>access</a:t>
            </a:r>
            <a:endParaRPr lang="es-419" sz="1333" dirty="0"/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(config-if)# switchport access </a:t>
            </a:r>
            <a:r>
              <a:rPr lang="en-US" sz="1333" dirty="0" err="1">
                <a:latin typeface="Arial" panose="020B0604020202020204" pitchFamily="34" charset="0"/>
                <a:ea typeface="Times New Roman" panose="02020603050405020304" pitchFamily="18" charset="0"/>
              </a:rPr>
              <a:t>vlan</a:t>
            </a:r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Switch_S1 (</a:t>
            </a:r>
            <a:r>
              <a:rPr lang="es-CL" sz="1333" dirty="0" err="1">
                <a:latin typeface="Arial" panose="020B0604020202020204" pitchFamily="34" charset="0"/>
                <a:ea typeface="Times New Roman" panose="02020603050405020304" pitchFamily="18" charset="0"/>
              </a:rPr>
              <a:t>config-if</a:t>
            </a:r>
            <a:r>
              <a:rPr lang="es-CL" sz="1333" dirty="0">
                <a:latin typeface="Arial" panose="020B0604020202020204" pitchFamily="34" charset="0"/>
                <a:ea typeface="Times New Roman" panose="02020603050405020304" pitchFamily="18" charset="0"/>
              </a:rPr>
              <a:t>)# </a:t>
            </a:r>
            <a:r>
              <a:rPr lang="es-CL" sz="1333" dirty="0" err="1">
                <a:latin typeface="Arial" panose="020B0604020202020204" pitchFamily="34" charset="0"/>
                <a:ea typeface="Times New Roman" panose="02020603050405020304" pitchFamily="18" charset="0"/>
              </a:rPr>
              <a:t>exit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333" b="1" dirty="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Switch_S2 </a:t>
            </a:r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#configure terminal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(config)# interface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fa0/18</a:t>
            </a:r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(config-if)# </a:t>
            </a:r>
            <a:r>
              <a:rPr lang="es-419" sz="1333" dirty="0" err="1"/>
              <a:t>Switchport</a:t>
            </a:r>
            <a:r>
              <a:rPr lang="es-419" sz="1333" dirty="0"/>
              <a:t> </a:t>
            </a:r>
            <a:r>
              <a:rPr lang="es-419" sz="1333" dirty="0" err="1"/>
              <a:t>mode</a:t>
            </a:r>
            <a:r>
              <a:rPr lang="es-419" sz="1333" dirty="0"/>
              <a:t> </a:t>
            </a:r>
            <a:r>
              <a:rPr lang="es-419" sz="1333" dirty="0" err="1"/>
              <a:t>access</a:t>
            </a:r>
            <a:endParaRPr lang="es-419" sz="1333" dirty="0"/>
          </a:p>
          <a:p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(config-if)# switchport access </a:t>
            </a:r>
            <a:r>
              <a:rPr lang="en-US" sz="1333" dirty="0" err="1">
                <a:latin typeface="Arial" panose="020B0604020202020204" pitchFamily="34" charset="0"/>
                <a:ea typeface="Times New Roman" panose="02020603050405020304" pitchFamily="18" charset="0"/>
              </a:rPr>
              <a:t>vlan</a:t>
            </a:r>
            <a:r>
              <a:rPr lang="en-US" sz="1333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333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20</a:t>
            </a:r>
            <a:endParaRPr lang="es-PE" sz="1333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CL" sz="1333" dirty="0">
                <a:latin typeface="Arial" panose="020B0604020202020204" pitchFamily="34" charset="0"/>
                <a:ea typeface="Times New Roman" panose="02020603050405020304" pitchFamily="18" charset="0"/>
              </a:rPr>
              <a:t>Switch_S2 (</a:t>
            </a:r>
            <a:r>
              <a:rPr lang="es-CL" sz="1333" dirty="0" err="1">
                <a:latin typeface="Arial" panose="020B0604020202020204" pitchFamily="34" charset="0"/>
                <a:ea typeface="Times New Roman" panose="02020603050405020304" pitchFamily="18" charset="0"/>
              </a:rPr>
              <a:t>config-if</a:t>
            </a:r>
            <a:r>
              <a:rPr lang="es-CL" sz="1333" dirty="0">
                <a:latin typeface="Arial" panose="020B0604020202020204" pitchFamily="34" charset="0"/>
                <a:ea typeface="Times New Roman" panose="02020603050405020304" pitchFamily="18" charset="0"/>
              </a:rPr>
              <a:t>)# </a:t>
            </a:r>
            <a:r>
              <a:rPr lang="es-CL" sz="1333" dirty="0" err="1">
                <a:latin typeface="Arial" panose="020B0604020202020204" pitchFamily="34" charset="0"/>
                <a:ea typeface="Times New Roman" panose="02020603050405020304" pitchFamily="18" charset="0"/>
              </a:rPr>
              <a:t>exit</a:t>
            </a:r>
            <a:endParaRPr lang="es-PE" sz="1333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A0EAB0D1-BD02-B4B8-48D1-50DF2040F350}"/>
              </a:ext>
            </a:extLst>
          </p:cNvPr>
          <p:cNvGraphicFramePr>
            <a:graphicFrameLocks noGrp="1"/>
          </p:cNvGraphicFramePr>
          <p:nvPr/>
        </p:nvGraphicFramePr>
        <p:xfrm>
          <a:off x="7217949" y="4960755"/>
          <a:ext cx="4134724" cy="1306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623">
                  <a:extLst>
                    <a:ext uri="{9D8B030D-6E8A-4147-A177-3AD203B41FA5}">
                      <a16:colId xmlns:a16="http://schemas.microsoft.com/office/drawing/2014/main" val="2537369461"/>
                    </a:ext>
                  </a:extLst>
                </a:gridCol>
                <a:gridCol w="1025524">
                  <a:extLst>
                    <a:ext uri="{9D8B030D-6E8A-4147-A177-3AD203B41FA5}">
                      <a16:colId xmlns:a16="http://schemas.microsoft.com/office/drawing/2014/main" val="26083547"/>
                    </a:ext>
                  </a:extLst>
                </a:gridCol>
                <a:gridCol w="1809577">
                  <a:extLst>
                    <a:ext uri="{9D8B030D-6E8A-4147-A177-3AD203B41FA5}">
                      <a16:colId xmlns:a16="http://schemas.microsoft.com/office/drawing/2014/main" val="225096973"/>
                    </a:ext>
                  </a:extLst>
                </a:gridCol>
              </a:tblGrid>
              <a:tr h="435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Subinterfaz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VLAN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>
                          <a:effectLst/>
                        </a:rPr>
                        <a:t>Dirección IP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852578632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FF0000"/>
                          </a:solidFill>
                          <a:effectLst/>
                        </a:rPr>
                        <a:t>.10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>
                          <a:effectLst/>
                        </a:rPr>
                        <a:t>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>
                          <a:effectLst/>
                        </a:rPr>
                        <a:t>192.168.10.1/24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87607961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00B0F0"/>
                          </a:solidFill>
                          <a:effectLst/>
                        </a:rPr>
                        <a:t>.20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192.168.20.1/24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07812519"/>
                  </a:ext>
                </a:extLst>
              </a:tr>
            </a:tbl>
          </a:graphicData>
        </a:graphic>
      </p:graphicFrame>
      <p:sp>
        <p:nvSpPr>
          <p:cNvPr id="18" name="Elipse 17">
            <a:extLst>
              <a:ext uri="{FF2B5EF4-FFF2-40B4-BE49-F238E27FC236}">
                <a16:creationId xmlns:a16="http://schemas.microsoft.com/office/drawing/2014/main" id="{EE7258AF-816D-A427-C10D-6202366862CA}"/>
              </a:ext>
            </a:extLst>
          </p:cNvPr>
          <p:cNvSpPr/>
          <p:nvPr/>
        </p:nvSpPr>
        <p:spPr>
          <a:xfrm>
            <a:off x="6812891" y="2857996"/>
            <a:ext cx="2367148" cy="2006929"/>
          </a:xfrm>
          <a:prstGeom prst="ellipse">
            <a:avLst/>
          </a:prstGeom>
          <a:solidFill>
            <a:srgbClr val="36A4D7">
              <a:alpha val="39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F7E6C21-BEB6-E554-82F0-DE79412290E6}"/>
              </a:ext>
            </a:extLst>
          </p:cNvPr>
          <p:cNvSpPr/>
          <p:nvPr/>
        </p:nvSpPr>
        <p:spPr>
          <a:xfrm>
            <a:off x="9560050" y="2877393"/>
            <a:ext cx="2367148" cy="2006929"/>
          </a:xfrm>
          <a:prstGeom prst="ellipse">
            <a:avLst/>
          </a:prstGeom>
          <a:solidFill>
            <a:schemeClr val="bg2">
              <a:alpha val="3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89703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F4D8FB-071F-BC0F-7BDF-785BC14A7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55" y="126921"/>
            <a:ext cx="4724400" cy="3975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45" y="1"/>
            <a:ext cx="12003963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Escenario </a:t>
            </a:r>
            <a:r>
              <a:rPr lang="es-419" sz="3200" dirty="0" err="1">
                <a:solidFill>
                  <a:srgbClr val="C00000"/>
                </a:solidFill>
              </a:rPr>
              <a:t>Router</a:t>
            </a:r>
            <a:r>
              <a:rPr lang="es-419" sz="3200" dirty="0">
                <a:solidFill>
                  <a:srgbClr val="C00000"/>
                </a:solidFill>
              </a:rPr>
              <a:t>-</a:t>
            </a:r>
            <a:r>
              <a:rPr lang="es-419" sz="3200" dirty="0" err="1">
                <a:solidFill>
                  <a:srgbClr val="C00000"/>
                </a:solidFill>
              </a:rPr>
              <a:t>on</a:t>
            </a:r>
            <a:r>
              <a:rPr lang="es-419" sz="3200" dirty="0">
                <a:solidFill>
                  <a:srgbClr val="C00000"/>
                </a:solidFill>
              </a:rPr>
              <a:t>-a-</a:t>
            </a:r>
            <a:r>
              <a:rPr lang="es-419" sz="3200" dirty="0" err="1">
                <a:solidFill>
                  <a:srgbClr val="C00000"/>
                </a:solidFill>
              </a:rPr>
              <a:t>stick</a:t>
            </a:r>
            <a:endParaRPr lang="es-419" sz="3200" dirty="0">
              <a:solidFill>
                <a:srgbClr val="C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52B408-540D-0241-BBC9-5AFB70668F1F}"/>
              </a:ext>
            </a:extLst>
          </p:cNvPr>
          <p:cNvGraphicFramePr>
            <a:graphicFrameLocks noGrp="1"/>
          </p:cNvGraphicFramePr>
          <p:nvPr/>
        </p:nvGraphicFramePr>
        <p:xfrm>
          <a:off x="7482751" y="4564911"/>
          <a:ext cx="4134724" cy="1306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623">
                  <a:extLst>
                    <a:ext uri="{9D8B030D-6E8A-4147-A177-3AD203B41FA5}">
                      <a16:colId xmlns:a16="http://schemas.microsoft.com/office/drawing/2014/main" val="2537369461"/>
                    </a:ext>
                  </a:extLst>
                </a:gridCol>
                <a:gridCol w="1025524">
                  <a:extLst>
                    <a:ext uri="{9D8B030D-6E8A-4147-A177-3AD203B41FA5}">
                      <a16:colId xmlns:a16="http://schemas.microsoft.com/office/drawing/2014/main" val="26083547"/>
                    </a:ext>
                  </a:extLst>
                </a:gridCol>
                <a:gridCol w="1809577">
                  <a:extLst>
                    <a:ext uri="{9D8B030D-6E8A-4147-A177-3AD203B41FA5}">
                      <a16:colId xmlns:a16="http://schemas.microsoft.com/office/drawing/2014/main" val="225096973"/>
                    </a:ext>
                  </a:extLst>
                </a:gridCol>
              </a:tblGrid>
              <a:tr h="435631">
                <a:tc>
                  <a:txBody>
                    <a:bodyPr/>
                    <a:lstStyle/>
                    <a:p>
                      <a:pPr algn="l" rtl="0" fontAlgn="ctr"/>
                      <a:r>
                        <a:rPr lang="es-419" sz="1600" b="1" dirty="0">
                          <a:effectLst/>
                        </a:rPr>
                        <a:t>Subinterfaz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VLAN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419" sz="1600" b="1">
                          <a:effectLst/>
                        </a:rPr>
                        <a:t>Dirección IP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852578632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FF0000"/>
                          </a:solidFill>
                          <a:effectLst/>
                        </a:rPr>
                        <a:t>.10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>
                          <a:effectLst/>
                        </a:rPr>
                        <a:t>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419" sz="1600" b="0">
                          <a:effectLst/>
                        </a:rPr>
                        <a:t>192.168.10.1/24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87607961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00B0F0"/>
                          </a:solidFill>
                          <a:effectLst/>
                        </a:rPr>
                        <a:t>.20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s-419" sz="1600" b="0" dirty="0">
                          <a:effectLst/>
                        </a:rPr>
                        <a:t>192.168.20.1/24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07812519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1A6220CA-F340-1781-2D41-998F6C51CBED}"/>
              </a:ext>
            </a:extLst>
          </p:cNvPr>
          <p:cNvSpPr txBox="1"/>
          <p:nvPr/>
        </p:nvSpPr>
        <p:spPr>
          <a:xfrm>
            <a:off x="11599620" y="6440407"/>
            <a:ext cx="778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solidFill>
                  <a:srgbClr val="00B0F0"/>
                </a:solidFill>
              </a:rPr>
              <a:t>72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BA468-E724-8EDC-E347-078CB2DB890C}"/>
              </a:ext>
            </a:extLst>
          </p:cNvPr>
          <p:cNvSpPr txBox="1"/>
          <p:nvPr/>
        </p:nvSpPr>
        <p:spPr>
          <a:xfrm>
            <a:off x="247186" y="904491"/>
            <a:ext cx="6188925" cy="4565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sz="1867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Configuración de Puertos </a:t>
            </a:r>
            <a:r>
              <a:rPr lang="es-CL" sz="1867" b="1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Trunk</a:t>
            </a:r>
            <a:endParaRPr lang="es-PE" sz="1867" u="sng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s-CL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Switch_S1</a:t>
            </a:r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#configure terminal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Switch_S1(config)# interface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fa0/1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Switch_S1(config-if)# switchport mode trunk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Switch_S1(config-if)# switchport trunk allowed </a:t>
            </a:r>
            <a:r>
              <a:rPr lang="en-US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vlan</a:t>
            </a: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</a:rPr>
              <a:t>all</a:t>
            </a:r>
            <a:endParaRPr lang="es-PE" sz="1600" b="1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algn="just"/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</a:t>
            </a:r>
            <a:r>
              <a:rPr lang="es-CL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config-if</a:t>
            </a:r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)# </a:t>
            </a:r>
            <a:r>
              <a:rPr lang="es-CL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exit</a:t>
            </a:r>
            <a:endParaRPr lang="es-CL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Switch_S1(config)# interface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fa0/5</a:t>
            </a: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Switch_S1(config-if)# switchport mode trunk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Switch_S1(config-if)# switchport trunk allowed </a:t>
            </a:r>
            <a:r>
              <a:rPr lang="en-US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vlan</a:t>
            </a: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all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Switch_S1(</a:t>
            </a:r>
            <a:r>
              <a:rPr lang="es-CL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config-if</a:t>
            </a:r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)# </a:t>
            </a:r>
            <a:r>
              <a:rPr lang="es-CL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exit</a:t>
            </a:r>
            <a:endParaRPr lang="es-CL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s-CL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Switch_S2</a:t>
            </a:r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#configure terminal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Switch_S2(config)# interface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fa0/1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Switch_S2(config-if)# switchport mode trunk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Switch_S2(config-if)# switchport trunk allowed </a:t>
            </a:r>
            <a:r>
              <a:rPr lang="en-US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vlan</a:t>
            </a:r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all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Switch_S2(</a:t>
            </a:r>
            <a:r>
              <a:rPr lang="es-CL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config-if</a:t>
            </a:r>
            <a:r>
              <a:rPr lang="es-CL" sz="1600" dirty="0">
                <a:latin typeface="Arial" panose="020B0604020202020204" pitchFamily="34" charset="0"/>
                <a:ea typeface="Times New Roman" panose="02020603050405020304" pitchFamily="18" charset="0"/>
              </a:rPr>
              <a:t>)# </a:t>
            </a:r>
            <a:r>
              <a:rPr lang="es-CL" sz="1600" dirty="0" err="1">
                <a:latin typeface="Arial" panose="020B0604020202020204" pitchFamily="34" charset="0"/>
                <a:ea typeface="Times New Roman" panose="02020603050405020304" pitchFamily="18" charset="0"/>
              </a:rPr>
              <a:t>exit</a:t>
            </a:r>
            <a:endParaRPr lang="es-CL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C3DA316-048A-10D5-B657-57FF3C63E936}"/>
              </a:ext>
            </a:extLst>
          </p:cNvPr>
          <p:cNvSpPr/>
          <p:nvPr/>
        </p:nvSpPr>
        <p:spPr>
          <a:xfrm>
            <a:off x="7077694" y="2462152"/>
            <a:ext cx="2367148" cy="2006929"/>
          </a:xfrm>
          <a:prstGeom prst="ellipse">
            <a:avLst/>
          </a:prstGeom>
          <a:solidFill>
            <a:srgbClr val="36A4D7">
              <a:alpha val="39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59BADB9-705B-F6D7-BF36-604ED195618B}"/>
              </a:ext>
            </a:extLst>
          </p:cNvPr>
          <p:cNvSpPr/>
          <p:nvPr/>
        </p:nvSpPr>
        <p:spPr>
          <a:xfrm>
            <a:off x="9824853" y="2481549"/>
            <a:ext cx="2367148" cy="2006929"/>
          </a:xfrm>
          <a:prstGeom prst="ellipse">
            <a:avLst/>
          </a:prstGeom>
          <a:solidFill>
            <a:schemeClr val="bg2">
              <a:alpha val="3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73386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79142B-3FD8-4F14-5186-F4BD12A8E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55" y="126921"/>
            <a:ext cx="4724400" cy="3975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45" y="1"/>
            <a:ext cx="12003963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Escenario </a:t>
            </a:r>
            <a:r>
              <a:rPr lang="es-419" sz="3200" dirty="0" err="1">
                <a:solidFill>
                  <a:srgbClr val="C00000"/>
                </a:solidFill>
              </a:rPr>
              <a:t>Router</a:t>
            </a:r>
            <a:r>
              <a:rPr lang="es-419" sz="3200" dirty="0">
                <a:solidFill>
                  <a:srgbClr val="C00000"/>
                </a:solidFill>
              </a:rPr>
              <a:t>-</a:t>
            </a:r>
            <a:r>
              <a:rPr lang="es-419" sz="3200" dirty="0" err="1">
                <a:solidFill>
                  <a:srgbClr val="C00000"/>
                </a:solidFill>
              </a:rPr>
              <a:t>on</a:t>
            </a:r>
            <a:r>
              <a:rPr lang="es-419" sz="3200" dirty="0">
                <a:solidFill>
                  <a:srgbClr val="C00000"/>
                </a:solidFill>
              </a:rPr>
              <a:t>-a-</a:t>
            </a:r>
            <a:r>
              <a:rPr lang="es-419" sz="3200" dirty="0" err="1">
                <a:solidFill>
                  <a:srgbClr val="C00000"/>
                </a:solidFill>
              </a:rPr>
              <a:t>stick</a:t>
            </a:r>
            <a:endParaRPr lang="es-419" sz="3200" dirty="0">
              <a:solidFill>
                <a:srgbClr val="C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6220CA-F340-1781-2D41-998F6C51CBED}"/>
              </a:ext>
            </a:extLst>
          </p:cNvPr>
          <p:cNvSpPr txBox="1"/>
          <p:nvPr/>
        </p:nvSpPr>
        <p:spPr>
          <a:xfrm>
            <a:off x="11599620" y="6440407"/>
            <a:ext cx="778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solidFill>
                  <a:srgbClr val="00B0F0"/>
                </a:solidFill>
              </a:rPr>
              <a:t>72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6788FE2-BB97-5586-F441-41D18119B98F}"/>
              </a:ext>
            </a:extLst>
          </p:cNvPr>
          <p:cNvSpPr txBox="1"/>
          <p:nvPr/>
        </p:nvSpPr>
        <p:spPr>
          <a:xfrm>
            <a:off x="290551" y="1028343"/>
            <a:ext cx="6188925" cy="4783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53"/>
              </a:spcBef>
            </a:pPr>
            <a:r>
              <a:rPr lang="es-CL" sz="1867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Configuración del </a:t>
            </a:r>
            <a:r>
              <a:rPr lang="es-CL" sz="1867" b="1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router</a:t>
            </a:r>
            <a:r>
              <a:rPr lang="es-CL" sz="1867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R1</a:t>
            </a:r>
            <a:endParaRPr lang="es-PE" sz="1867" b="1" u="sng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Encendemos la interfaz que albergara las </a:t>
            </a:r>
            <a:r>
              <a:rPr lang="es-CL" sz="16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sub-interfaces</a:t>
            </a:r>
            <a:r>
              <a:rPr lang="es-CL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s-PE" sz="16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R1(config)#interface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fastEthernet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0/0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R1(config-if)#no shutdown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Configuración de la </a:t>
            </a:r>
            <a:r>
              <a:rPr lang="es-CL" sz="16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sub-interfaz</a:t>
            </a:r>
            <a:r>
              <a:rPr lang="es-CL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CL" sz="16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fastethernet</a:t>
            </a:r>
            <a:r>
              <a:rPr lang="es-CL" sz="16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0/0.10:</a:t>
            </a:r>
            <a:endParaRPr lang="es-PE" sz="16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R1(config)#interface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fastEthernet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0/0.10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subif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)#encapsulation dot1Q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subif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)#ip address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192.168.10.1 255.255.255.0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</a:t>
            </a:r>
            <a:r>
              <a:rPr lang="es-CL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config-subif</a:t>
            </a: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)#exit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Configuración de la </a:t>
            </a:r>
            <a:r>
              <a:rPr lang="es-CL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sub-interfaz</a:t>
            </a:r>
            <a:r>
              <a:rPr lang="es-CL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CL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fastethernet</a:t>
            </a:r>
            <a:r>
              <a:rPr lang="es-CL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0/0.20: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R1(config)#interface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fastEthernet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0/0.20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subif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)#encapsulation dot1Q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R1(config-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subif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)#ip address </a:t>
            </a:r>
            <a:r>
              <a:rPr 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192.168.20.1 255.255.255.0</a:t>
            </a:r>
            <a:endParaRPr lang="es-PE" sz="1600" b="1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3"/>
              </a:spcBef>
            </a:pP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R1(</a:t>
            </a:r>
            <a:r>
              <a:rPr lang="es-CL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config-subif</a:t>
            </a:r>
            <a:r>
              <a:rPr lang="es-CL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)#exit</a:t>
            </a:r>
            <a:endParaRPr lang="es-PE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B6149B7-DEF6-90FC-6A64-535C5CE05F8D}"/>
              </a:ext>
            </a:extLst>
          </p:cNvPr>
          <p:cNvSpPr txBox="1"/>
          <p:nvPr/>
        </p:nvSpPr>
        <p:spPr>
          <a:xfrm>
            <a:off x="379141" y="6132630"/>
            <a:ext cx="5895279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solidFill>
                  <a:srgbClr val="FFFF00"/>
                </a:solidFill>
              </a:rPr>
              <a:t>A probar ping en el </a:t>
            </a:r>
            <a:r>
              <a:rPr lang="es-PE" sz="2400" b="1" dirty="0" err="1">
                <a:solidFill>
                  <a:srgbClr val="FFFF00"/>
                </a:solidFill>
              </a:rPr>
              <a:t>packet</a:t>
            </a:r>
            <a:r>
              <a:rPr lang="es-PE" sz="2400" b="1" dirty="0">
                <a:solidFill>
                  <a:srgbClr val="FFFF00"/>
                </a:solidFill>
              </a:rPr>
              <a:t> </a:t>
            </a:r>
            <a:r>
              <a:rPr lang="es-PE" sz="2400" b="1" dirty="0" err="1">
                <a:solidFill>
                  <a:srgbClr val="FFFF00"/>
                </a:solidFill>
              </a:rPr>
              <a:t>tracer</a:t>
            </a:r>
            <a:r>
              <a:rPr lang="es-PE" sz="2400" b="1" dirty="0">
                <a:solidFill>
                  <a:srgbClr val="FFFF00"/>
                </a:solidFill>
              </a:rPr>
              <a:t>.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2D604AC1-22F1-31E7-AFFF-617D54E7EFBF}"/>
              </a:ext>
            </a:extLst>
          </p:cNvPr>
          <p:cNvGraphicFramePr>
            <a:graphicFrameLocks noGrp="1"/>
          </p:cNvGraphicFramePr>
          <p:nvPr/>
        </p:nvGraphicFramePr>
        <p:xfrm>
          <a:off x="7482751" y="4564911"/>
          <a:ext cx="4134724" cy="1306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623">
                  <a:extLst>
                    <a:ext uri="{9D8B030D-6E8A-4147-A177-3AD203B41FA5}">
                      <a16:colId xmlns:a16="http://schemas.microsoft.com/office/drawing/2014/main" val="2537369461"/>
                    </a:ext>
                  </a:extLst>
                </a:gridCol>
                <a:gridCol w="1025524">
                  <a:extLst>
                    <a:ext uri="{9D8B030D-6E8A-4147-A177-3AD203B41FA5}">
                      <a16:colId xmlns:a16="http://schemas.microsoft.com/office/drawing/2014/main" val="26083547"/>
                    </a:ext>
                  </a:extLst>
                </a:gridCol>
                <a:gridCol w="1809577">
                  <a:extLst>
                    <a:ext uri="{9D8B030D-6E8A-4147-A177-3AD203B41FA5}">
                      <a16:colId xmlns:a16="http://schemas.microsoft.com/office/drawing/2014/main" val="225096973"/>
                    </a:ext>
                  </a:extLst>
                </a:gridCol>
              </a:tblGrid>
              <a:tr h="435631">
                <a:tc>
                  <a:txBody>
                    <a:bodyPr/>
                    <a:lstStyle/>
                    <a:p>
                      <a:pPr algn="l" rtl="0" fontAlgn="ctr"/>
                      <a:r>
                        <a:rPr lang="es-419" sz="1600" b="1" dirty="0">
                          <a:effectLst/>
                        </a:rPr>
                        <a:t>Subinterfaz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VLAN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1" dirty="0">
                          <a:effectLst/>
                        </a:rPr>
                        <a:t>Dirección IP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852578632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FF0000"/>
                          </a:solidFill>
                          <a:effectLst/>
                        </a:rPr>
                        <a:t>.10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>
                          <a:effectLst/>
                        </a:rPr>
                        <a:t>192.168.10.1/24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87607961"/>
                  </a:ext>
                </a:extLst>
              </a:tr>
              <a:tr h="435631">
                <a:tc>
                  <a:txBody>
                    <a:bodyPr/>
                    <a:lstStyle/>
                    <a:p>
                      <a:pPr rtl="0" fontAlgn="ctr"/>
                      <a:r>
                        <a:rPr lang="es-419" sz="1600" b="1" dirty="0">
                          <a:solidFill>
                            <a:srgbClr val="0000CC"/>
                          </a:solidFill>
                          <a:effectLst/>
                        </a:rPr>
                        <a:t>Fa0/0</a:t>
                      </a:r>
                      <a:r>
                        <a:rPr lang="es-419" sz="1600" b="1" dirty="0">
                          <a:solidFill>
                            <a:srgbClr val="00B0F0"/>
                          </a:solidFill>
                          <a:effectLst/>
                        </a:rPr>
                        <a:t>.20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20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419" sz="1600" b="0" dirty="0">
                          <a:effectLst/>
                        </a:rPr>
                        <a:t>192.168.20.1/24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07812519"/>
                  </a:ext>
                </a:extLst>
              </a:tr>
            </a:tbl>
          </a:graphicData>
        </a:graphic>
      </p:graphicFrame>
      <p:sp>
        <p:nvSpPr>
          <p:cNvPr id="18" name="Elipse 17">
            <a:extLst>
              <a:ext uri="{FF2B5EF4-FFF2-40B4-BE49-F238E27FC236}">
                <a16:creationId xmlns:a16="http://schemas.microsoft.com/office/drawing/2014/main" id="{33F794DA-C757-C2E3-130A-4CDB528D8B11}"/>
              </a:ext>
            </a:extLst>
          </p:cNvPr>
          <p:cNvSpPr/>
          <p:nvPr/>
        </p:nvSpPr>
        <p:spPr>
          <a:xfrm>
            <a:off x="7077694" y="2462152"/>
            <a:ext cx="2367148" cy="2006929"/>
          </a:xfrm>
          <a:prstGeom prst="ellipse">
            <a:avLst/>
          </a:prstGeom>
          <a:solidFill>
            <a:srgbClr val="36A4D7">
              <a:alpha val="39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2D208A3-F2CC-1C07-3402-1AAF5825C458}"/>
              </a:ext>
            </a:extLst>
          </p:cNvPr>
          <p:cNvSpPr/>
          <p:nvPr/>
        </p:nvSpPr>
        <p:spPr>
          <a:xfrm>
            <a:off x="9824853" y="2481549"/>
            <a:ext cx="2367148" cy="2006929"/>
          </a:xfrm>
          <a:prstGeom prst="ellipse">
            <a:avLst/>
          </a:prstGeom>
          <a:solidFill>
            <a:schemeClr val="bg2">
              <a:alpha val="3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47017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ctrTitle" idx="4294967295"/>
          </p:nvPr>
        </p:nvSpPr>
        <p:spPr>
          <a:xfrm>
            <a:off x="212299" y="2578120"/>
            <a:ext cx="11882651" cy="22501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</a:pPr>
            <a:r>
              <a:rPr lang="es-419" sz="5333" dirty="0">
                <a:solidFill>
                  <a:schemeClr val="bg1"/>
                </a:solidFill>
              </a:rPr>
              <a:t>Inter-VLAN </a:t>
            </a:r>
            <a:r>
              <a:rPr lang="es-419" sz="5333" dirty="0" err="1">
                <a:solidFill>
                  <a:schemeClr val="bg1"/>
                </a:solidFill>
              </a:rPr>
              <a:t>Routing</a:t>
            </a:r>
            <a:r>
              <a:rPr lang="es-419" sz="5333" dirty="0">
                <a:solidFill>
                  <a:schemeClr val="bg1"/>
                </a:solidFill>
              </a:rPr>
              <a:t> usando </a:t>
            </a:r>
            <a:br>
              <a:rPr lang="es-419" sz="5333" dirty="0">
                <a:solidFill>
                  <a:schemeClr val="bg1"/>
                </a:solidFill>
              </a:rPr>
            </a:br>
            <a:r>
              <a:rPr lang="es-419" sz="5333" dirty="0">
                <a:solidFill>
                  <a:schemeClr val="bg1"/>
                </a:solidFill>
              </a:rPr>
              <a:t>“</a:t>
            </a:r>
            <a:r>
              <a:rPr lang="es-419" sz="5333" dirty="0" err="1">
                <a:solidFill>
                  <a:schemeClr val="bg1"/>
                </a:solidFill>
              </a:rPr>
              <a:t>Layer</a:t>
            </a:r>
            <a:r>
              <a:rPr lang="es-419" sz="5333" dirty="0">
                <a:solidFill>
                  <a:schemeClr val="bg1"/>
                </a:solidFill>
              </a:rPr>
              <a:t> 3 Switches”</a:t>
            </a:r>
            <a:br>
              <a:rPr lang="es-PE" sz="5333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Ingeniería de Sistemas de Información</a:t>
            </a:r>
            <a:br>
              <a:rPr lang="es-PE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EISI, 2024-2</a:t>
            </a:r>
            <a:endParaRPr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05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127317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Escenario de conmutador de capa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B4CA7F-BDD6-D141-A5B9-E7D11B35E7F2}"/>
              </a:ext>
            </a:extLst>
          </p:cNvPr>
          <p:cNvSpPr/>
          <p:nvPr/>
        </p:nvSpPr>
        <p:spPr>
          <a:xfrm>
            <a:off x="496187" y="1534483"/>
            <a:ext cx="426350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s-419" sz="2400" dirty="0">
                <a:solidFill>
                  <a:srgbClr val="000000"/>
                </a:solidFill>
              </a:rPr>
              <a:t>En la figura, el conmutador de capa 3, D1, está conectado a dos hosts en diferentes VLAN. PC1 está en VLAN 10 y PC2 está en VLAN 20, como se muestra. El conmutador de capa 3 proporcionará servicios de enrutamiento entre VLAN a los dos hosts.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E149F2-22C5-53F3-113B-065ECF3E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216" y="975782"/>
            <a:ext cx="6237249" cy="485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8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27317" cy="581891"/>
          </a:xfrm>
        </p:spPr>
        <p:txBody>
          <a:bodyPr/>
          <a:lstStyle/>
          <a:p>
            <a:pPr algn="just" rtl="0"/>
            <a:r>
              <a:rPr lang="es-419" sz="3200" dirty="0">
                <a:solidFill>
                  <a:srgbClr val="C00000"/>
                </a:solidFill>
              </a:rPr>
              <a:t>Configuración de Conmutadores de Capa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B1600-FC68-DC40-94DE-015293322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26" y="427668"/>
            <a:ext cx="7598605" cy="395688"/>
          </a:xfrm>
        </p:spPr>
        <p:txBody>
          <a:bodyPr/>
          <a:lstStyle/>
          <a:p>
            <a:pPr marL="0" indent="0" algn="just"/>
            <a:r>
              <a:rPr lang="es-419" sz="1600" dirty="0">
                <a:solidFill>
                  <a:srgbClr val="000000"/>
                </a:solidFill>
              </a:rPr>
              <a:t>Complete los siguientes pasos para configurar S1 con VLAN y </a:t>
            </a:r>
            <a:r>
              <a:rPr lang="es-419" sz="1600" dirty="0" err="1">
                <a:solidFill>
                  <a:srgbClr val="000000"/>
                </a:solidFill>
              </a:rPr>
              <a:t>trunking</a:t>
            </a:r>
            <a:r>
              <a:rPr lang="es-419" sz="1600" dirty="0">
                <a:solidFill>
                  <a:srgbClr val="000000"/>
                </a:solidFill>
              </a:rPr>
              <a:t> 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0C1BCC-92DE-A811-7167-3D3B92DB5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779" y="1376979"/>
            <a:ext cx="5026077" cy="39140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50A5BD0-B997-4528-F0DF-2A960A0E61A7}"/>
              </a:ext>
            </a:extLst>
          </p:cNvPr>
          <p:cNvSpPr txBox="1"/>
          <p:nvPr/>
        </p:nvSpPr>
        <p:spPr>
          <a:xfrm>
            <a:off x="135729" y="734246"/>
            <a:ext cx="7010763" cy="282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10" indent="-380910" defTabSz="609458">
              <a:spcBef>
                <a:spcPct val="20000"/>
              </a:spcBef>
              <a:spcAft>
                <a:spcPts val="1067"/>
              </a:spcAft>
            </a:pPr>
            <a:r>
              <a:rPr lang="es-419" sz="1067" b="1" u="sng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Paso 1. </a:t>
            </a:r>
            <a:r>
              <a:rPr lang="es-419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Cree las </a:t>
            </a:r>
            <a:r>
              <a:rPr lang="es-419" sz="1067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VLANs</a:t>
            </a:r>
            <a:r>
              <a:rPr lang="es-419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. En el ejemplo, se utilizan VLAN 10 y 20. </a:t>
            </a:r>
          </a:p>
          <a:p>
            <a:pPr>
              <a:spcAft>
                <a:spcPts val="1067"/>
              </a:spcAft>
            </a:pPr>
            <a:r>
              <a:rPr lang="en-US" sz="1867" b="1" i="1" u="sng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Creación</a:t>
            </a:r>
            <a:r>
              <a:rPr lang="en-US" sz="1867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867" b="1" i="1" u="sng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Vlans</a:t>
            </a:r>
            <a:endParaRPr lang="es-PE" sz="1867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# configure terminal</a:t>
            </a:r>
            <a:endParaRPr lang="es-PE" sz="10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(config)#vlan </a:t>
            </a:r>
            <a:r>
              <a:rPr lang="en-US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endParaRPr lang="es-PE" sz="1067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(config)#name </a:t>
            </a:r>
            <a:r>
              <a:rPr lang="en-US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VLAN10</a:t>
            </a: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67" b="1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67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Puede</a:t>
            </a:r>
            <a:r>
              <a:rPr lang="en-US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ser </a:t>
            </a:r>
            <a:r>
              <a:rPr lang="es-PE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cualquier</a:t>
            </a:r>
            <a:r>
              <a:rPr lang="en-US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</a:t>
            </a:r>
            <a:r>
              <a:rPr lang="en-US" sz="1067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nombre</a:t>
            </a:r>
            <a:r>
              <a:rPr lang="en-US" sz="1067" b="1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067" b="1" i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(config)# exit</a:t>
            </a:r>
            <a:endParaRPr lang="es-PE" sz="10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(config)#vlan </a:t>
            </a:r>
            <a:r>
              <a:rPr lang="en-US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endParaRPr lang="es-PE" sz="1067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(config)#name </a:t>
            </a:r>
            <a:r>
              <a:rPr lang="en-US" sz="1067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VLAN20</a:t>
            </a: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67" b="1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67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Puede</a:t>
            </a:r>
            <a:r>
              <a:rPr lang="en-US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ser </a:t>
            </a:r>
            <a:r>
              <a:rPr lang="es-PE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cualquier</a:t>
            </a:r>
            <a:r>
              <a:rPr lang="en-US" sz="1067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</a:t>
            </a:r>
            <a:r>
              <a:rPr lang="en-US" sz="1067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nombre</a:t>
            </a:r>
            <a:r>
              <a:rPr lang="en-US" sz="1067" b="1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067" b="1" i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US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(config)# exit</a:t>
            </a:r>
            <a:endParaRPr lang="es-PE" sz="10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499ACB-9608-6F16-5DE3-49AC03362F59}"/>
              </a:ext>
            </a:extLst>
          </p:cNvPr>
          <p:cNvSpPr txBox="1">
            <a:spLocks/>
          </p:cNvSpPr>
          <p:nvPr/>
        </p:nvSpPr>
        <p:spPr>
          <a:xfrm>
            <a:off x="135730" y="3524003"/>
            <a:ext cx="8623609" cy="3245007"/>
          </a:xfrm>
          <a:prstGeom prst="rect">
            <a:avLst/>
          </a:prstGeom>
        </p:spPr>
        <p:txBody>
          <a:bodyPr lIns="121893" tIns="60947" rIns="121893" bIns="60947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1067"/>
              </a:spcAft>
            </a:pPr>
            <a:r>
              <a:rPr lang="es-419" sz="1067" b="1" u="sng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Paso 2. </a:t>
            </a:r>
            <a:r>
              <a:rPr lang="es-419" sz="1067" b="1" dirty="0">
                <a:solidFill>
                  <a:srgbClr val="9933FF"/>
                </a:solidFill>
              </a:rPr>
              <a:t>Configure puertos de acceso. Asigne el puerto apropiado a la VLAN requerida </a:t>
            </a:r>
            <a:r>
              <a:rPr lang="es-ES" sz="1067" b="1" dirty="0">
                <a:solidFill>
                  <a:srgbClr val="9933FF"/>
                </a:solidFill>
              </a:rPr>
              <a:t>(</a:t>
            </a:r>
            <a:r>
              <a:rPr lang="es-419" sz="1067" b="1" dirty="0" err="1">
                <a:solidFill>
                  <a:srgbClr val="9933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Asignacion</a:t>
            </a:r>
            <a:r>
              <a:rPr lang="es-419" sz="1067" b="1" dirty="0">
                <a:solidFill>
                  <a:srgbClr val="9933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interfaces a las </a:t>
            </a:r>
            <a:r>
              <a:rPr lang="es-419" sz="1067" b="1" dirty="0" err="1">
                <a:solidFill>
                  <a:srgbClr val="9933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</a:t>
            </a:r>
            <a:r>
              <a:rPr lang="es-ES" sz="1067" b="1" dirty="0">
                <a:solidFill>
                  <a:srgbClr val="9933FF"/>
                </a:solidFill>
              </a:rPr>
              <a:t>)</a:t>
            </a:r>
            <a:r>
              <a:rPr lang="es-419" sz="1067" b="1" dirty="0">
                <a:solidFill>
                  <a:srgbClr val="9933FF"/>
                </a:solidFill>
              </a:rPr>
              <a:t>. </a:t>
            </a:r>
          </a:p>
          <a:p>
            <a:pPr algn="l">
              <a:spcAft>
                <a:spcPts val="1067"/>
              </a:spcAft>
            </a:pPr>
            <a:r>
              <a:rPr lang="es-419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#configure terminal</a:t>
            </a: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interface </a:t>
            </a:r>
            <a:r>
              <a:rPr lang="es-419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fa0/1</a:t>
            </a: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config-if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endParaRPr lang="es-419" sz="10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config-if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config-if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</a:t>
            </a:r>
            <a:endParaRPr lang="es-419" sz="10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interface </a:t>
            </a:r>
            <a:r>
              <a:rPr lang="es-419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fa0/2</a:t>
            </a: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config-if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endParaRPr lang="es-419" sz="10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config-if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419" sz="1067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  <a:p>
            <a:pPr algn="l">
              <a:spcAft>
                <a:spcPts val="1067"/>
              </a:spcAft>
            </a:pP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Switch_D1 (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config-if</a:t>
            </a:r>
            <a:r>
              <a:rPr lang="es-419" sz="10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)# </a:t>
            </a:r>
            <a:r>
              <a:rPr lang="es-419" sz="1067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</a:t>
            </a:r>
            <a:endParaRPr lang="es-419" sz="1067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5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127317" cy="975783"/>
          </a:xfrm>
        </p:spPr>
        <p:txBody>
          <a:bodyPr/>
          <a:lstStyle/>
          <a:p>
            <a:pPr algn="just" rtl="0"/>
            <a:r>
              <a:rPr lang="es-419" sz="3200" dirty="0">
                <a:solidFill>
                  <a:srgbClr val="C00000"/>
                </a:solidFill>
              </a:rPr>
              <a:t>Configuración de Conmutadores de Capa 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0C1BCC-92DE-A811-7167-3D3B92DB5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669" y="594567"/>
            <a:ext cx="4929577" cy="383888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D46CFD4-880F-FF6B-5026-A9DC3CC328CC}"/>
              </a:ext>
            </a:extLst>
          </p:cNvPr>
          <p:cNvSpPr txBox="1"/>
          <p:nvPr/>
        </p:nvSpPr>
        <p:spPr>
          <a:xfrm>
            <a:off x="0" y="794964"/>
            <a:ext cx="7930376" cy="315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s-419" sz="1600" b="1" u="sng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Paso 3. </a:t>
            </a:r>
            <a:r>
              <a:rPr lang="es-419" sz="16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Cree las interfaces VLAN SVI. La dirección IP configurada servirá como puerta de enlace predeterminada para los hosts de la VLAN respectiva. 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s-419" sz="1600" dirty="0">
              <a:solidFill>
                <a:srgbClr val="000000"/>
              </a:solidFill>
            </a:endParaRP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Switch_D1(config)#interface </a:t>
            </a:r>
            <a:r>
              <a:rPr lang="en-US" sz="1333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3" b="1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s-PE" sz="1333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n-US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Switch_D1(config-if)#ip address </a:t>
            </a:r>
            <a:r>
              <a:rPr lang="en-US" sz="1333" b="1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192.168.10.1 255.255.255.0</a:t>
            </a:r>
            <a:endParaRPr lang="es-PE" sz="1333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s-PE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Switch_D1(</a:t>
            </a:r>
            <a:r>
              <a:rPr lang="es-PE" sz="1333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config-if</a:t>
            </a:r>
            <a:r>
              <a:rPr lang="es-PE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)#no shutdown</a:t>
            </a: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s-PE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Switch_D1(</a:t>
            </a:r>
            <a:r>
              <a:rPr lang="es-PE" sz="1333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config-if</a:t>
            </a:r>
            <a:r>
              <a:rPr lang="es-PE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)#exit</a:t>
            </a: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n-US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Switch_D1(config)#interface </a:t>
            </a:r>
            <a:r>
              <a:rPr lang="en-US" sz="1333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3" b="1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s-PE" sz="1333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n-US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Switch_D1(config-if)#ip address </a:t>
            </a:r>
            <a:r>
              <a:rPr lang="en-US" sz="1333" b="1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192.168.20.1 255.255.255.0</a:t>
            </a:r>
            <a:endParaRPr lang="es-PE" sz="1333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</a:pPr>
            <a:r>
              <a:rPr lang="es-PE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Switch_D1(</a:t>
            </a:r>
            <a:r>
              <a:rPr lang="es-PE" sz="1333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config-if</a:t>
            </a:r>
            <a:r>
              <a:rPr lang="es-PE" sz="1333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)#no shutdown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120864B-F3D3-4CD8-8D32-C92DAD1AF33D}"/>
              </a:ext>
            </a:extLst>
          </p:cNvPr>
          <p:cNvSpPr txBox="1"/>
          <p:nvPr/>
        </p:nvSpPr>
        <p:spPr>
          <a:xfrm>
            <a:off x="315684" y="4474392"/>
            <a:ext cx="8289968" cy="16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 algn="just">
              <a:buFont typeface="Arial" panose="020B0604020202020204" pitchFamily="34" charset="0"/>
              <a:buChar char="•"/>
            </a:pPr>
            <a:r>
              <a:rPr lang="es-419" sz="1600" b="1" u="sng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Paso 4. </a:t>
            </a:r>
            <a:r>
              <a:rPr lang="es-419" sz="16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Habilitar </a:t>
            </a:r>
            <a:r>
              <a:rPr lang="es-419" sz="1600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routing</a:t>
            </a:r>
            <a:r>
              <a:rPr lang="es-419" sz="16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IP. Ejecute el comando </a:t>
            </a:r>
            <a:r>
              <a:rPr lang="es-419" sz="1600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ip</a:t>
            </a:r>
            <a:r>
              <a:rPr lang="es-419" sz="16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</a:t>
            </a:r>
            <a:r>
              <a:rPr lang="es-419" sz="1600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routing</a:t>
            </a:r>
            <a:r>
              <a:rPr lang="es-419" sz="16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 global </a:t>
            </a:r>
            <a:r>
              <a:rPr lang="es-419" sz="1600" b="1" dirty="0" err="1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configuration</a:t>
            </a:r>
            <a:r>
              <a:rPr lang="es-419" sz="16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charset="0"/>
              </a:rPr>
              <a:t>, para permitir el intercambio de tráfico entre las VLAN 10 y 20. Este comando debe configurarse para habilitar el enrutamiento inter-VAN en un conmutador de capa 3 para IPv4.</a:t>
            </a:r>
          </a:p>
          <a:p>
            <a:pPr marL="228594" indent="-228594" algn="just">
              <a:buFont typeface="Arial" panose="020B0604020202020204" pitchFamily="34" charset="0"/>
              <a:buChar char="•"/>
            </a:pPr>
            <a:endParaRPr lang="es-419" sz="1600" dirty="0">
              <a:solidFill>
                <a:srgbClr val="000000"/>
              </a:solidFill>
            </a:endParaRPr>
          </a:p>
          <a:p>
            <a:pPr algn="just"/>
            <a:r>
              <a:rPr lang="es-419" altLang="es-PE" sz="1333" b="1" dirty="0">
                <a:solidFill>
                  <a:srgbClr val="00B0F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s-419" altLang="es-PE" sz="1333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Switch_D1(</a:t>
            </a:r>
            <a:r>
              <a:rPr lang="es-419" altLang="es-PE" sz="1333" dirty="0" err="1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config</a:t>
            </a:r>
            <a:r>
              <a:rPr lang="es-419" altLang="es-PE" sz="1333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)#</a:t>
            </a:r>
            <a:r>
              <a:rPr lang="es-419" altLang="es-PE" sz="1333" b="1" dirty="0">
                <a:solidFill>
                  <a:srgbClr val="00B0F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ip </a:t>
            </a:r>
            <a:r>
              <a:rPr lang="es-419" altLang="es-PE" sz="1333" b="1" dirty="0" err="1">
                <a:solidFill>
                  <a:srgbClr val="00B0F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routing</a:t>
            </a:r>
            <a:r>
              <a:rPr lang="es-419" altLang="es-PE" sz="1333" b="1" dirty="0">
                <a:solidFill>
                  <a:srgbClr val="00B0F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s-419" altLang="es-PE" sz="1333" b="1" dirty="0">
              <a:solidFill>
                <a:srgbClr val="00B0F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s-419" sz="1333" b="1" dirty="0">
                <a:solidFill>
                  <a:schemeClr val="bg2">
                    <a:lumMod val="75000"/>
                  </a:schemeClr>
                </a:solidFill>
              </a:rPr>
              <a:t>Una vez completada la configuración, la configuración se puede verificar probando la conectividad entre los hosts.</a:t>
            </a:r>
          </a:p>
        </p:txBody>
      </p:sp>
    </p:spTree>
    <p:extLst>
      <p:ext uri="{BB962C8B-B14F-4D97-AF65-F5344CB8AC3E}">
        <p14:creationId xmlns:p14="http://schemas.microsoft.com/office/powerpoint/2010/main" val="52284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127317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Enrutamiento entre VLAN del Switch de capa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A7547-D335-B140-B7E0-0DED20AE5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883" y="975783"/>
            <a:ext cx="11040076" cy="5670824"/>
          </a:xfrm>
        </p:spPr>
        <p:txBody>
          <a:bodyPr/>
          <a:lstStyle/>
          <a:p>
            <a:pPr marL="0" indent="0" algn="just"/>
            <a:r>
              <a:rPr lang="es-419" sz="1867" dirty="0">
                <a:solidFill>
                  <a:srgbClr val="000000"/>
                </a:solidFill>
              </a:rPr>
              <a:t>El enrutamiento entre VLAN mediante el método </a:t>
            </a:r>
            <a:r>
              <a:rPr lang="es-419" sz="1867" dirty="0" err="1">
                <a:solidFill>
                  <a:srgbClr val="000000"/>
                </a:solidFill>
              </a:rPr>
              <a:t>router</a:t>
            </a:r>
            <a:r>
              <a:rPr lang="es-419" sz="1867" dirty="0">
                <a:solidFill>
                  <a:srgbClr val="000000"/>
                </a:solidFill>
              </a:rPr>
              <a:t>-</a:t>
            </a:r>
            <a:r>
              <a:rPr lang="es-419" sz="1867" dirty="0" err="1">
                <a:solidFill>
                  <a:srgbClr val="000000"/>
                </a:solidFill>
              </a:rPr>
              <a:t>on</a:t>
            </a:r>
            <a:r>
              <a:rPr lang="es-419" sz="1867" dirty="0">
                <a:solidFill>
                  <a:srgbClr val="000000"/>
                </a:solidFill>
              </a:rPr>
              <a:t>-a-</a:t>
            </a:r>
            <a:r>
              <a:rPr lang="es-419" sz="1867" dirty="0" err="1">
                <a:solidFill>
                  <a:srgbClr val="000000"/>
                </a:solidFill>
              </a:rPr>
              <a:t>stick</a:t>
            </a:r>
            <a:r>
              <a:rPr lang="es-419" sz="1867" dirty="0">
                <a:solidFill>
                  <a:srgbClr val="000000"/>
                </a:solidFill>
              </a:rPr>
              <a:t> es fácil de implementar para una organización pequeña y mediana. Sin embargo, una gran empresa requiere un método más rápido y mucho más escalable para proporcionar enrutamiento entre VLAN.</a:t>
            </a:r>
          </a:p>
          <a:p>
            <a:pPr marL="0" indent="0" algn="just"/>
            <a:endParaRPr lang="en-US" sz="1867" dirty="0">
              <a:solidFill>
                <a:srgbClr val="000000"/>
              </a:solidFill>
            </a:endParaRPr>
          </a:p>
          <a:p>
            <a:pPr marL="0" indent="0" algn="just"/>
            <a:r>
              <a:rPr lang="es-419" sz="1867" dirty="0">
                <a:solidFill>
                  <a:srgbClr val="000000"/>
                </a:solidFill>
              </a:rPr>
              <a:t>Las LAN de campus empresariales utilizan conmutadores de nivel 3 para proporcionar enrutamiento entre VLAN. Los </a:t>
            </a:r>
            <a:r>
              <a:rPr lang="es-419" sz="1867" dirty="0" err="1">
                <a:solidFill>
                  <a:srgbClr val="000000"/>
                </a:solidFill>
              </a:rPr>
              <a:t>switches</a:t>
            </a:r>
            <a:r>
              <a:rPr lang="es-419" sz="1867" dirty="0">
                <a:solidFill>
                  <a:srgbClr val="000000"/>
                </a:solidFill>
              </a:rPr>
              <a:t> de nivel 3 utilizan conmutación basada en hardware para lograr velocidades de procesamiento de paquetes más altas que los enrutadores. Los conmutadores de capa 3 también se implementan comúnmente en armarios de cableado de capa de distribución empresarial.</a:t>
            </a:r>
          </a:p>
          <a:p>
            <a:pPr marL="0" indent="0" algn="just"/>
            <a:endParaRPr lang="en-US" sz="1867" dirty="0">
              <a:solidFill>
                <a:srgbClr val="000000"/>
              </a:solidFill>
            </a:endParaRPr>
          </a:p>
          <a:p>
            <a:pPr marL="0" indent="0" algn="just"/>
            <a:r>
              <a:rPr lang="es-419" sz="1867" dirty="0">
                <a:solidFill>
                  <a:srgbClr val="000000"/>
                </a:solidFill>
              </a:rPr>
              <a:t>Las capacidades de un conmutador de capa 3 incluyen la capacidad de hacer lo siguiente:</a:t>
            </a:r>
          </a:p>
          <a:p>
            <a:pPr marL="554633" lvl="1" indent="-457189" algn="just"/>
            <a:r>
              <a:rPr lang="es-419" dirty="0">
                <a:solidFill>
                  <a:srgbClr val="000000"/>
                </a:solidFill>
              </a:rPr>
              <a:t>Ruta de una VLAN a otra mediante múltiples interfaces virtuales conmutadas (</a:t>
            </a:r>
            <a:r>
              <a:rPr lang="es-419" dirty="0" err="1">
                <a:solidFill>
                  <a:srgbClr val="000000"/>
                </a:solidFill>
              </a:rPr>
              <a:t>SVIs</a:t>
            </a:r>
            <a:r>
              <a:rPr lang="es-419" dirty="0">
                <a:solidFill>
                  <a:srgbClr val="000000"/>
                </a:solidFill>
              </a:rPr>
              <a:t>).</a:t>
            </a:r>
          </a:p>
          <a:p>
            <a:pPr marL="554633" lvl="1" indent="-457189" algn="just"/>
            <a:r>
              <a:rPr lang="es-419" dirty="0">
                <a:solidFill>
                  <a:srgbClr val="000000"/>
                </a:solidFill>
              </a:rPr>
              <a:t>Convierta un puerto de conmutación de capa 2 en una interfaz de capa 3 (es decir, un puerto enrutado). Un puerto enrutado es similar a una interfaz física en un </a:t>
            </a:r>
            <a:r>
              <a:rPr lang="es-419" dirty="0" err="1">
                <a:solidFill>
                  <a:srgbClr val="000000"/>
                </a:solidFill>
              </a:rPr>
              <a:t>router</a:t>
            </a:r>
            <a:r>
              <a:rPr lang="es-419" dirty="0">
                <a:solidFill>
                  <a:srgbClr val="000000"/>
                </a:solidFill>
              </a:rPr>
              <a:t> Cisco IOS.</a:t>
            </a:r>
          </a:p>
          <a:p>
            <a:pPr marL="554633" lvl="1" indent="-457189" algn="just"/>
            <a:r>
              <a:rPr lang="es-419" dirty="0">
                <a:solidFill>
                  <a:srgbClr val="000000"/>
                </a:solidFill>
              </a:rPr>
              <a:t>Para proporcionar enrutamiento entre VLAN, los conmutadores de capa 3 utilizan </a:t>
            </a:r>
            <a:r>
              <a:rPr lang="es-419" dirty="0" err="1">
                <a:solidFill>
                  <a:srgbClr val="000000"/>
                </a:solidFill>
              </a:rPr>
              <a:t>SVIs</a:t>
            </a:r>
            <a:r>
              <a:rPr lang="es-419" dirty="0">
                <a:solidFill>
                  <a:srgbClr val="000000"/>
                </a:solidFill>
              </a:rPr>
              <a:t>. Los </a:t>
            </a:r>
            <a:r>
              <a:rPr lang="es-419" dirty="0" err="1">
                <a:solidFill>
                  <a:srgbClr val="000000"/>
                </a:solidFill>
              </a:rPr>
              <a:t>SVIs</a:t>
            </a:r>
            <a:r>
              <a:rPr lang="es-419" dirty="0">
                <a:solidFill>
                  <a:srgbClr val="000000"/>
                </a:solidFill>
              </a:rPr>
              <a:t> se configuran utilizando el mismo comando </a:t>
            </a:r>
            <a:r>
              <a:rPr lang="es-419" b="1" dirty="0">
                <a:solidFill>
                  <a:srgbClr val="000000"/>
                </a:solidFill>
              </a:rPr>
              <a:t>interface </a:t>
            </a:r>
            <a:r>
              <a:rPr lang="es-419" b="1" dirty="0" err="1">
                <a:solidFill>
                  <a:srgbClr val="000000"/>
                </a:solidFill>
              </a:rPr>
              <a:t>vlan</a:t>
            </a:r>
            <a:r>
              <a:rPr lang="es-419" i="1" dirty="0" err="1">
                <a:solidFill>
                  <a:srgbClr val="000000"/>
                </a:solidFill>
              </a:rPr>
              <a:t>vlan</a:t>
            </a:r>
            <a:r>
              <a:rPr lang="es-419" i="1" dirty="0">
                <a:solidFill>
                  <a:srgbClr val="000000"/>
                </a:solidFill>
              </a:rPr>
              <a:t>-id</a:t>
            </a:r>
            <a:r>
              <a:rPr lang="es-419" dirty="0">
                <a:solidFill>
                  <a:srgbClr val="000000"/>
                </a:solidFill>
              </a:rPr>
              <a:t> utilizado para crear el SVI de administración en un conmutador de capa 2. Se debe crear un SVI de Capa 3 para cada una de las VLAN enrutables.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88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127317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Enrutamiento en un conmutador de capa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8DE5B7-FE89-524B-80C4-04C2BB9E6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883" y="975783"/>
            <a:ext cx="11040076" cy="4919863"/>
          </a:xfrm>
        </p:spPr>
        <p:txBody>
          <a:bodyPr/>
          <a:lstStyle/>
          <a:p>
            <a:pPr marL="0" indent="0" algn="just"/>
            <a:r>
              <a:rPr lang="es-419" sz="2133" dirty="0">
                <a:solidFill>
                  <a:srgbClr val="000000"/>
                </a:solidFill>
              </a:rPr>
              <a:t>Si se quiere que otros dispositivos de Capa 3 puedan acceder a las VLAN, deben anunciarse mediante enrutamiento estático o dinámico. Para habilitar el enrutamiento en un conmutador de capa 3, se debe configurar un puerto enrutado.</a:t>
            </a:r>
          </a:p>
          <a:p>
            <a:pPr marL="0" indent="0" algn="just"/>
            <a:endParaRPr lang="en-US" sz="2133" dirty="0">
              <a:solidFill>
                <a:srgbClr val="000000"/>
              </a:solidFill>
            </a:endParaRPr>
          </a:p>
          <a:p>
            <a:pPr marL="0" indent="0" algn="just"/>
            <a:r>
              <a:rPr lang="es-419" sz="2133" dirty="0">
                <a:solidFill>
                  <a:srgbClr val="000000"/>
                </a:solidFill>
              </a:rPr>
              <a:t>Un puerto enrutado se crea en un conmutador de capa 3 deshabilitando la entidad de puerto de conmutación en un puerto de capa 2 que está conectado a otro dispositivo de capa 3. Específicamente, al configurar el comando de configuración de </a:t>
            </a:r>
            <a:r>
              <a:rPr lang="es-419" sz="2133" b="1" dirty="0">
                <a:solidFill>
                  <a:srgbClr val="000000"/>
                </a:solidFill>
              </a:rPr>
              <a:t>no </a:t>
            </a:r>
            <a:r>
              <a:rPr lang="es-419" sz="2133" b="1" dirty="0" err="1">
                <a:solidFill>
                  <a:srgbClr val="000000"/>
                </a:solidFill>
              </a:rPr>
              <a:t>switchport</a:t>
            </a:r>
            <a:r>
              <a:rPr lang="es-419" sz="2133" dirty="0">
                <a:solidFill>
                  <a:srgbClr val="000000"/>
                </a:solidFill>
              </a:rPr>
              <a:t> en un puerto de Capa 2, se convierte en una interfaz de Capa 3. A continuación, la interfaz se puede configurar con una configuración IPv4 para conectarse a un enrutador u otro conmutador de capa 3.</a:t>
            </a:r>
          </a:p>
        </p:txBody>
      </p:sp>
    </p:spTree>
    <p:extLst>
      <p:ext uri="{BB962C8B-B14F-4D97-AF65-F5344CB8AC3E}">
        <p14:creationId xmlns:p14="http://schemas.microsoft.com/office/powerpoint/2010/main" val="375607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ctrTitle" idx="4294967295"/>
          </p:nvPr>
        </p:nvSpPr>
        <p:spPr>
          <a:xfrm>
            <a:off x="212299" y="2578120"/>
            <a:ext cx="11882651" cy="22501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</a:pPr>
            <a:r>
              <a:rPr lang="es-419" sz="5333" dirty="0">
                <a:solidFill>
                  <a:schemeClr val="bg1"/>
                </a:solidFill>
              </a:rPr>
              <a:t>“</a:t>
            </a:r>
            <a:r>
              <a:rPr lang="es-419" sz="5333" dirty="0" err="1">
                <a:solidFill>
                  <a:schemeClr val="bg1"/>
                </a:solidFill>
              </a:rPr>
              <a:t>Layer</a:t>
            </a:r>
            <a:r>
              <a:rPr lang="es-419" sz="5333" dirty="0">
                <a:solidFill>
                  <a:schemeClr val="bg1"/>
                </a:solidFill>
              </a:rPr>
              <a:t> 3 Switch” Como </a:t>
            </a:r>
            <a:r>
              <a:rPr lang="es-419" sz="5333" dirty="0" err="1">
                <a:solidFill>
                  <a:schemeClr val="bg1"/>
                </a:solidFill>
              </a:rPr>
              <a:t>router</a:t>
            </a:r>
            <a:br>
              <a:rPr lang="es-PE" sz="5333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Ingeniería de Sistemas de Información</a:t>
            </a:r>
            <a:br>
              <a:rPr lang="es-PE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EISI, 2024-2</a:t>
            </a:r>
            <a:endParaRPr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2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127317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Escenario de enrutamiento en un conmutador de capa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907D-22DC-CE46-9701-6E6F9EB32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289" y="975783"/>
            <a:ext cx="5831711" cy="5368373"/>
          </a:xfrm>
        </p:spPr>
        <p:txBody>
          <a:bodyPr/>
          <a:lstStyle/>
          <a:p>
            <a:pPr marL="0" indent="0" algn="just"/>
            <a:r>
              <a:rPr lang="es-419" sz="1867" dirty="0">
                <a:solidFill>
                  <a:srgbClr val="000000"/>
                </a:solidFill>
              </a:rPr>
              <a:t>Supongamos que Inter-VLAN </a:t>
            </a:r>
            <a:r>
              <a:rPr lang="es-ES" sz="1867" dirty="0">
                <a:solidFill>
                  <a:srgbClr val="000000"/>
                </a:solidFill>
              </a:rPr>
              <a:t>(entre VLAN 10 y VLAN 20)</a:t>
            </a:r>
            <a:r>
              <a:rPr lang="es-419" sz="1867" dirty="0">
                <a:solidFill>
                  <a:srgbClr val="000000"/>
                </a:solidFill>
              </a:rPr>
              <a:t> se ha implementado correctamente en el switch de capa 3, D1.</a:t>
            </a:r>
          </a:p>
          <a:p>
            <a:pPr marL="0" indent="0" algn="just"/>
            <a:r>
              <a:rPr lang="es-419" sz="1867" dirty="0">
                <a:solidFill>
                  <a:srgbClr val="000000"/>
                </a:solidFill>
              </a:rPr>
              <a:t>La interfaz </a:t>
            </a:r>
            <a:r>
              <a:rPr lang="es-419" sz="1867" b="1" dirty="0">
                <a:solidFill>
                  <a:srgbClr val="00B0F0"/>
                </a:solidFill>
              </a:rPr>
              <a:t>G1/0/1</a:t>
            </a:r>
            <a:r>
              <a:rPr lang="es-419" sz="1867" dirty="0">
                <a:solidFill>
                  <a:srgbClr val="000000"/>
                </a:solidFill>
              </a:rPr>
              <a:t> en D1 debe convertirse a interface que </a:t>
            </a:r>
            <a:r>
              <a:rPr lang="es-419" sz="1867" b="1" dirty="0">
                <a:solidFill>
                  <a:srgbClr val="00B0F0"/>
                </a:solidFill>
              </a:rPr>
              <a:t>NO</a:t>
            </a:r>
            <a:r>
              <a:rPr lang="es-419" sz="1867" dirty="0">
                <a:solidFill>
                  <a:srgbClr val="000000"/>
                </a:solidFill>
              </a:rPr>
              <a:t> es puerto de switch (SWITCHPORT). Ya que no tiene PC conectada, ni es una interfaz </a:t>
            </a:r>
            <a:r>
              <a:rPr lang="es-419" sz="1867" dirty="0" err="1">
                <a:solidFill>
                  <a:srgbClr val="000000"/>
                </a:solidFill>
              </a:rPr>
              <a:t>trunk</a:t>
            </a:r>
            <a:r>
              <a:rPr lang="es-419" sz="1867" dirty="0">
                <a:solidFill>
                  <a:srgbClr val="000000"/>
                </a:solidFill>
              </a:rPr>
              <a:t>.</a:t>
            </a:r>
          </a:p>
          <a:p>
            <a:pPr marL="0" indent="0" algn="just"/>
            <a:endParaRPr lang="es-419" sz="1867" dirty="0">
              <a:solidFill>
                <a:srgbClr val="000000"/>
              </a:solidFill>
            </a:endParaRPr>
          </a:p>
          <a:p>
            <a:pPr marL="0" indent="0" algn="just"/>
            <a:r>
              <a:rPr lang="es-419" sz="1867" b="1" i="1" u="sng" dirty="0">
                <a:solidFill>
                  <a:srgbClr val="9933FF"/>
                </a:solidFill>
              </a:rPr>
              <a:t>Comandos para convertir una interfaz de switch a interfaz de </a:t>
            </a:r>
            <a:r>
              <a:rPr lang="es-419" sz="1867" b="1" i="1" u="sng" dirty="0" err="1">
                <a:solidFill>
                  <a:srgbClr val="9933FF"/>
                </a:solidFill>
              </a:rPr>
              <a:t>router</a:t>
            </a:r>
            <a:r>
              <a:rPr lang="es-419" sz="1867" b="1" i="1" u="sng" dirty="0">
                <a:solidFill>
                  <a:srgbClr val="9933FF"/>
                </a:solidFill>
              </a:rPr>
              <a:t>:</a:t>
            </a:r>
          </a:p>
          <a:p>
            <a:pPr marL="0" indent="0" algn="just"/>
            <a:endParaRPr lang="es-419" sz="1867" b="1" i="1" u="sng" dirty="0">
              <a:solidFill>
                <a:srgbClr val="9933FF"/>
              </a:solidFill>
            </a:endParaRPr>
          </a:p>
          <a:p>
            <a:pPr marL="0" indent="0" algn="just"/>
            <a:r>
              <a:rPr lang="en-US" sz="1867" dirty="0">
                <a:solidFill>
                  <a:srgbClr val="000000"/>
                </a:solidFill>
              </a:rPr>
              <a:t>D1(config)# interface GigabitEthernet</a:t>
            </a:r>
            <a:r>
              <a:rPr lang="en-US" sz="1867" b="1" dirty="0">
                <a:solidFill>
                  <a:srgbClr val="00B0F0"/>
                </a:solidFill>
              </a:rPr>
              <a:t>1/0/1</a:t>
            </a:r>
          </a:p>
          <a:p>
            <a:pPr marL="0" indent="0" algn="just"/>
            <a:r>
              <a:rPr lang="en-US" sz="1867" dirty="0">
                <a:solidFill>
                  <a:srgbClr val="000000"/>
                </a:solidFill>
              </a:rPr>
              <a:t>D1(config-if)# no switchport</a:t>
            </a:r>
          </a:p>
          <a:p>
            <a:pPr marL="0" indent="0" algn="just"/>
            <a:r>
              <a:rPr lang="en-US" sz="1867" dirty="0">
                <a:solidFill>
                  <a:srgbClr val="000000"/>
                </a:solidFill>
              </a:rPr>
              <a:t>D1(config-if)# </a:t>
            </a:r>
            <a:r>
              <a:rPr lang="en-US" sz="1867" dirty="0" err="1">
                <a:solidFill>
                  <a:srgbClr val="000000"/>
                </a:solidFill>
              </a:rPr>
              <a:t>ip</a:t>
            </a:r>
            <a:r>
              <a:rPr lang="en-US" sz="1867" dirty="0">
                <a:solidFill>
                  <a:srgbClr val="000000"/>
                </a:solidFill>
              </a:rPr>
              <a:t> address </a:t>
            </a:r>
            <a:r>
              <a:rPr lang="en-US" sz="1867" b="1" dirty="0">
                <a:solidFill>
                  <a:srgbClr val="00B0F0"/>
                </a:solidFill>
              </a:rPr>
              <a:t>10.10.10.2 255.255.255.0</a:t>
            </a:r>
          </a:p>
          <a:p>
            <a:pPr marL="0" indent="0" algn="just"/>
            <a:r>
              <a:rPr lang="en-US" sz="1867" dirty="0">
                <a:solidFill>
                  <a:srgbClr val="000000"/>
                </a:solidFill>
              </a:rPr>
              <a:t>D1(config-if)# no shutdown</a:t>
            </a:r>
          </a:p>
          <a:p>
            <a:pPr marL="0" indent="0" algn="just"/>
            <a:r>
              <a:rPr lang="en-US" sz="1867" dirty="0">
                <a:solidFill>
                  <a:srgbClr val="000000"/>
                </a:solidFill>
              </a:rPr>
              <a:t>D1(config-if)# exit</a:t>
            </a:r>
          </a:p>
          <a:p>
            <a:pPr marL="0" indent="0" algn="just"/>
            <a:endParaRPr lang="en-US" sz="1867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91F2CC-3A1B-9547-A7F6-E740EF8DD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364" y="1874893"/>
            <a:ext cx="5967552" cy="312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127317" cy="975783"/>
          </a:xfrm>
        </p:spPr>
        <p:txBody>
          <a:bodyPr/>
          <a:lstStyle/>
          <a:p>
            <a:pPr rtl="0"/>
            <a:r>
              <a:rPr lang="es-419" sz="3200" dirty="0">
                <a:solidFill>
                  <a:srgbClr val="C00000"/>
                </a:solidFill>
              </a:rPr>
              <a:t>Configuración de enrutamiento de switches de capa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2B5FC7-C385-2B42-B85D-E691E00B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83" y="1085841"/>
            <a:ext cx="11515989" cy="4919863"/>
          </a:xfrm>
        </p:spPr>
        <p:txBody>
          <a:bodyPr/>
          <a:lstStyle/>
          <a:p>
            <a:pPr marL="0" indent="0" algn="l"/>
            <a:r>
              <a:rPr lang="es-419" sz="2400" dirty="0">
                <a:solidFill>
                  <a:srgbClr val="000000"/>
                </a:solidFill>
              </a:rPr>
              <a:t>Complete los siguientes pasos para configurar D1 para enrutar con R1:</a:t>
            </a:r>
          </a:p>
          <a:p>
            <a:pPr marL="457189" indent="-457189" algn="l">
              <a:buFont typeface="Arial" panose="020B0604020202020204" pitchFamily="34" charset="0"/>
              <a:buChar char="•"/>
            </a:pPr>
            <a:r>
              <a:rPr lang="es-419" sz="2400" b="1" dirty="0">
                <a:solidFill>
                  <a:srgbClr val="000000"/>
                </a:solidFill>
              </a:rPr>
              <a:t>Paso 1</a:t>
            </a:r>
            <a:r>
              <a:rPr lang="es-419" sz="2400" dirty="0">
                <a:solidFill>
                  <a:srgbClr val="000000"/>
                </a:solidFill>
              </a:rPr>
              <a:t>. Configure el puerto enrutado. Utilice el </a:t>
            </a:r>
            <a:r>
              <a:rPr lang="es-419" sz="2400" b="1" dirty="0">
                <a:solidFill>
                  <a:srgbClr val="000000"/>
                </a:solidFill>
              </a:rPr>
              <a:t>comando </a:t>
            </a:r>
            <a:r>
              <a:rPr lang="es-419" sz="2400" b="1" dirty="0">
                <a:solidFill>
                  <a:srgbClr val="00B0F0"/>
                </a:solidFill>
              </a:rPr>
              <a:t>no </a:t>
            </a:r>
            <a:r>
              <a:rPr lang="es-419" sz="2400" b="1" dirty="0" err="1">
                <a:solidFill>
                  <a:srgbClr val="00B0F0"/>
                </a:solidFill>
              </a:rPr>
              <a:t>switchport</a:t>
            </a:r>
            <a:r>
              <a:rPr lang="es-419" sz="2400" b="1" dirty="0">
                <a:solidFill>
                  <a:srgbClr val="00B0F0"/>
                </a:solidFill>
              </a:rPr>
              <a:t> </a:t>
            </a:r>
            <a:r>
              <a:rPr lang="es-419" sz="2400" dirty="0">
                <a:solidFill>
                  <a:srgbClr val="000000"/>
                </a:solidFill>
              </a:rPr>
              <a:t>para convertir el puerto en un puerto de </a:t>
            </a:r>
            <a:r>
              <a:rPr lang="es-419" sz="2400" dirty="0" err="1">
                <a:solidFill>
                  <a:srgbClr val="000000"/>
                </a:solidFill>
              </a:rPr>
              <a:t>router</a:t>
            </a:r>
            <a:r>
              <a:rPr lang="es-419" sz="2400" dirty="0">
                <a:solidFill>
                  <a:srgbClr val="000000"/>
                </a:solidFill>
              </a:rPr>
              <a:t> y, a continuación, asigne una </a:t>
            </a:r>
            <a:r>
              <a:rPr lang="es-419" sz="2400" b="1" dirty="0">
                <a:solidFill>
                  <a:srgbClr val="00B0F0"/>
                </a:solidFill>
              </a:rPr>
              <a:t>dirección IP y una máscara de subred</a:t>
            </a:r>
            <a:r>
              <a:rPr lang="es-419" sz="2400" dirty="0">
                <a:solidFill>
                  <a:srgbClr val="000000"/>
                </a:solidFill>
              </a:rPr>
              <a:t>. Habilite el puerto.</a:t>
            </a:r>
          </a:p>
          <a:p>
            <a:pPr marL="457189" indent="-457189" algn="l">
              <a:buFont typeface="Arial" panose="020B0604020202020204" pitchFamily="34" charset="0"/>
              <a:buChar char="•"/>
            </a:pPr>
            <a:r>
              <a:rPr lang="es-419" sz="2400" b="1" dirty="0">
                <a:solidFill>
                  <a:srgbClr val="000000"/>
                </a:solidFill>
              </a:rPr>
              <a:t>Paso 2</a:t>
            </a:r>
            <a:r>
              <a:rPr lang="es-419" sz="2400" dirty="0">
                <a:solidFill>
                  <a:srgbClr val="000000"/>
                </a:solidFill>
              </a:rPr>
              <a:t>. Activar el </a:t>
            </a:r>
            <a:r>
              <a:rPr lang="es-419" sz="2400" dirty="0" err="1">
                <a:solidFill>
                  <a:srgbClr val="000000"/>
                </a:solidFill>
              </a:rPr>
              <a:t>routing</a:t>
            </a:r>
            <a:r>
              <a:rPr lang="es-419" sz="2400" dirty="0">
                <a:solidFill>
                  <a:srgbClr val="000000"/>
                </a:solidFill>
              </a:rPr>
              <a:t>. Use el comando de modo de configuración </a:t>
            </a:r>
            <a:r>
              <a:rPr lang="es-419" sz="2400" b="1" dirty="0">
                <a:solidFill>
                  <a:srgbClr val="00B0F0"/>
                </a:solidFill>
              </a:rPr>
              <a:t>global </a:t>
            </a:r>
            <a:r>
              <a:rPr lang="es-419" sz="2400" b="1" dirty="0" err="1">
                <a:solidFill>
                  <a:srgbClr val="00B0F0"/>
                </a:solidFill>
              </a:rPr>
              <a:t>ip</a:t>
            </a:r>
            <a:r>
              <a:rPr lang="es-419" sz="2400" b="1" dirty="0">
                <a:solidFill>
                  <a:srgbClr val="00B0F0"/>
                </a:solidFill>
              </a:rPr>
              <a:t> </a:t>
            </a:r>
            <a:r>
              <a:rPr lang="es-419" sz="2400" b="1" dirty="0" err="1">
                <a:solidFill>
                  <a:srgbClr val="00B0F0"/>
                </a:solidFill>
              </a:rPr>
              <a:t>routing</a:t>
            </a:r>
            <a:r>
              <a:rPr lang="es-419" sz="2400" b="1" dirty="0">
                <a:solidFill>
                  <a:srgbClr val="00B0F0"/>
                </a:solidFill>
              </a:rPr>
              <a:t> </a:t>
            </a:r>
            <a:r>
              <a:rPr lang="es-419" sz="2400" dirty="0">
                <a:solidFill>
                  <a:srgbClr val="000000"/>
                </a:solidFill>
              </a:rPr>
              <a:t>para habilitar el </a:t>
            </a:r>
            <a:r>
              <a:rPr lang="es-419" sz="2400" dirty="0" err="1">
                <a:solidFill>
                  <a:srgbClr val="000000"/>
                </a:solidFill>
              </a:rPr>
              <a:t>routing</a:t>
            </a:r>
            <a:endParaRPr lang="es-419" sz="2400" dirty="0">
              <a:solidFill>
                <a:srgbClr val="000000"/>
              </a:solidFill>
            </a:endParaRPr>
          </a:p>
          <a:p>
            <a:pPr marL="457189" indent="-457189" algn="l">
              <a:buFont typeface="Arial" panose="020B0604020202020204" pitchFamily="34" charset="0"/>
              <a:buChar char="•"/>
            </a:pPr>
            <a:r>
              <a:rPr lang="es-419" sz="2400" b="1" dirty="0">
                <a:solidFill>
                  <a:srgbClr val="000000"/>
                </a:solidFill>
              </a:rPr>
              <a:t>Paso 3</a:t>
            </a:r>
            <a:r>
              <a:rPr lang="es-419" sz="2400" dirty="0">
                <a:solidFill>
                  <a:srgbClr val="000000"/>
                </a:solidFill>
              </a:rPr>
              <a:t>. Configurar el enrutamiento Utilice un método de enrutamiento de su elección. </a:t>
            </a:r>
          </a:p>
          <a:p>
            <a:pPr marL="457189" indent="-457189" algn="l">
              <a:buFont typeface="Arial" panose="020B0604020202020204" pitchFamily="34" charset="0"/>
              <a:buChar char="•"/>
            </a:pPr>
            <a:r>
              <a:rPr lang="es-419" sz="2400" b="1" dirty="0">
                <a:solidFill>
                  <a:srgbClr val="000000"/>
                </a:solidFill>
              </a:rPr>
              <a:t>Paso 4</a:t>
            </a:r>
            <a:r>
              <a:rPr lang="es-419" sz="2400" dirty="0">
                <a:solidFill>
                  <a:srgbClr val="000000"/>
                </a:solidFill>
              </a:rPr>
              <a:t>. Verificar enrutamiento. Use el comando </a:t>
            </a:r>
            <a:r>
              <a:rPr lang="es-419" sz="2400" b="1" dirty="0">
                <a:solidFill>
                  <a:srgbClr val="000000"/>
                </a:solidFill>
              </a:rPr>
              <a:t>show </a:t>
            </a:r>
            <a:r>
              <a:rPr lang="es-419" sz="2400" b="1" dirty="0" err="1">
                <a:solidFill>
                  <a:srgbClr val="000000"/>
                </a:solidFill>
              </a:rPr>
              <a:t>ip</a:t>
            </a:r>
            <a:r>
              <a:rPr lang="es-419" sz="2400" b="1" dirty="0">
                <a:solidFill>
                  <a:srgbClr val="000000"/>
                </a:solidFill>
              </a:rPr>
              <a:t> </a:t>
            </a:r>
            <a:r>
              <a:rPr lang="es-419" sz="2400" b="1" dirty="0" err="1">
                <a:solidFill>
                  <a:srgbClr val="000000"/>
                </a:solidFill>
              </a:rPr>
              <a:t>route</a:t>
            </a:r>
            <a:r>
              <a:rPr lang="es-419" sz="2400" b="1" dirty="0">
                <a:solidFill>
                  <a:srgbClr val="000000"/>
                </a:solidFill>
              </a:rPr>
              <a:t> </a:t>
            </a:r>
            <a:r>
              <a:rPr lang="es-419" sz="2400" dirty="0">
                <a:solidFill>
                  <a:srgbClr val="000000"/>
                </a:solidFill>
              </a:rPr>
              <a:t>.</a:t>
            </a:r>
          </a:p>
          <a:p>
            <a:pPr marL="457189" indent="-457189" algn="l">
              <a:buFont typeface="Arial" panose="020B0604020202020204" pitchFamily="34" charset="0"/>
              <a:buChar char="•"/>
            </a:pPr>
            <a:r>
              <a:rPr lang="es-419" sz="2400" b="1" dirty="0">
                <a:solidFill>
                  <a:srgbClr val="000000"/>
                </a:solidFill>
              </a:rPr>
              <a:t>Paso 5</a:t>
            </a:r>
            <a:r>
              <a:rPr lang="es-419" sz="2400" dirty="0">
                <a:solidFill>
                  <a:srgbClr val="000000"/>
                </a:solidFill>
              </a:rPr>
              <a:t>. Verificar la conectividad Use el comando </a:t>
            </a:r>
            <a:r>
              <a:rPr lang="es-419" sz="2400" b="1" dirty="0">
                <a:solidFill>
                  <a:srgbClr val="000000"/>
                </a:solidFill>
              </a:rPr>
              <a:t>ping </a:t>
            </a:r>
            <a:r>
              <a:rPr lang="es-419" sz="2400" dirty="0">
                <a:solidFill>
                  <a:srgbClr val="000000"/>
                </a:solidFill>
              </a:rPr>
              <a:t>para verificar la conectividad.</a:t>
            </a:r>
          </a:p>
          <a:p>
            <a:pPr marL="457189" indent="-457189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02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2259</Words>
  <Application>Microsoft Office PowerPoint</Application>
  <PresentationFormat>Panorámica</PresentationFormat>
  <Paragraphs>287</Paragraphs>
  <Slides>18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ＭＳ Ｐゴシック</vt:lpstr>
      <vt:lpstr>Arial</vt:lpstr>
      <vt:lpstr>Calibri</vt:lpstr>
      <vt:lpstr>Calibri Light</vt:lpstr>
      <vt:lpstr>Courier New</vt:lpstr>
      <vt:lpstr>Times New Roman</vt:lpstr>
      <vt:lpstr>Tema de Office</vt:lpstr>
      <vt:lpstr>Presentación de PowerPoint</vt:lpstr>
      <vt:lpstr>Presentación de PowerPoint</vt:lpstr>
      <vt:lpstr>Presentación de PowerPoint</vt:lpstr>
      <vt:lpstr>Router-on-a-Stick Ingeniería de Sistemas de Información EISI, 2024-2</vt:lpstr>
      <vt:lpstr>Configuración de Dirección IP en un Router</vt:lpstr>
      <vt:lpstr>Escenario Router-on-a-stick</vt:lpstr>
      <vt:lpstr>Escenario Router-on-a-stick</vt:lpstr>
      <vt:lpstr>Escenario Router-on-a-stick</vt:lpstr>
      <vt:lpstr>Escenario Router-on-a-stick</vt:lpstr>
      <vt:lpstr>Inter-VLAN Routing usando  “Layer 3 Switches” Ingeniería de Sistemas de Información EISI, 2024-2</vt:lpstr>
      <vt:lpstr>Escenario de conmutador de capa 3</vt:lpstr>
      <vt:lpstr>Configuración de Conmutadores de Capa 3</vt:lpstr>
      <vt:lpstr>Configuración de Conmutadores de Capa 3</vt:lpstr>
      <vt:lpstr>Enrutamiento entre VLAN del Switch de capa 3</vt:lpstr>
      <vt:lpstr>Enrutamiento en un conmutador de capa 3</vt:lpstr>
      <vt:lpstr>“Layer 3 Switch” Como router Ingeniería de Sistemas de Información EISI, 2024-2</vt:lpstr>
      <vt:lpstr>Escenario de enrutamiento en un conmutador de capa 3</vt:lpstr>
      <vt:lpstr>Configuración de enrutamiento de switches de capa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Felix Canales Arias</dc:creator>
  <cp:lastModifiedBy>Felix Canales Arias</cp:lastModifiedBy>
  <cp:revision>22</cp:revision>
  <dcterms:created xsi:type="dcterms:W3CDTF">2022-09-22T21:58:27Z</dcterms:created>
  <dcterms:modified xsi:type="dcterms:W3CDTF">2025-10-01T19:43:05Z</dcterms:modified>
</cp:coreProperties>
</file>