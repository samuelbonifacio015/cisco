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xml" ContentType="application/vnd.openxmlformats-officedocument.presentationml.tags+xml"/>
  <Override PartName="/ppt/notesSlides/notesSlide24.xml" ContentType="application/vnd.openxmlformats-officedocument.presentationml.notesSlide+xml"/>
  <Override PartName="/ppt/tags/tag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4.xml" ContentType="application/vnd.openxmlformats-officedocument.presentationml.tags+xml"/>
  <Override PartName="/ppt/notesSlides/notesSlide27.xml" ContentType="application/vnd.openxmlformats-officedocument.presentationml.notesSlide+xml"/>
  <Override PartName="/ppt/tags/tag5.xml" ContentType="application/vnd.openxmlformats-officedocument.presentationml.tags+xml"/>
  <Override PartName="/ppt/notesSlides/notesSlide28.xml" ContentType="application/vnd.openxmlformats-officedocument.presentationml.notesSlide+xml"/>
  <Override PartName="/ppt/tags/tag6.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7.xml" ContentType="application/vnd.openxmlformats-officedocument.presentationml.tags+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tags/tag9.xml" ContentType="application/vnd.openxmlformats-officedocument.presentationml.tags+xml"/>
  <Override PartName="/ppt/notesSlides/notesSlide34.xml" ContentType="application/vnd.openxmlformats-officedocument.presentationml.notesSlide+xml"/>
  <Override PartName="/ppt/tags/tag10.xml" ContentType="application/vnd.openxmlformats-officedocument.presentationml.tags+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ppt/tags/tag13.xml" ContentType="application/vnd.openxmlformats-officedocument.presentationml.tags+xml"/>
  <Override PartName="/ppt/notesSlides/notesSlide38.xml" ContentType="application/vnd.openxmlformats-officedocument.presentationml.notesSlide+xml"/>
  <Override PartName="/ppt/tags/tag14.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5.xml" ContentType="application/vnd.openxmlformats-officedocument.presentationml.tags+xml"/>
  <Override PartName="/ppt/notesSlides/notesSlide41.xml" ContentType="application/vnd.openxmlformats-officedocument.presentationml.notesSlide+xml"/>
  <Override PartName="/ppt/tags/tag16.xml" ContentType="application/vnd.openxmlformats-officedocument.presentationml.tags+xml"/>
  <Override PartName="/ppt/notesSlides/notesSlide42.xml" ContentType="application/vnd.openxmlformats-officedocument.presentationml.notesSlide+xml"/>
  <Override PartName="/ppt/tags/tag17.xml" ContentType="application/vnd.openxmlformats-officedocument.presentationml.tags+xml"/>
  <Override PartName="/ppt/notesSlides/notesSlide43.xml" ContentType="application/vnd.openxmlformats-officedocument.presentationml.notesSlide+xml"/>
  <Override PartName="/ppt/tags/tag18.xml" ContentType="application/vnd.openxmlformats-officedocument.presentationml.tags+xml"/>
  <Override PartName="/ppt/notesSlides/notesSlide44.xml" ContentType="application/vnd.openxmlformats-officedocument.presentationml.notesSlide+xml"/>
  <Override PartName="/ppt/tags/tag19.xml" ContentType="application/vnd.openxmlformats-officedocument.presentationml.tags+xml"/>
  <Override PartName="/ppt/notesSlides/notesSlide45.xml" ContentType="application/vnd.openxmlformats-officedocument.presentationml.notesSlide+xml"/>
  <Override PartName="/ppt/tags/tag20.xml" ContentType="application/vnd.openxmlformats-officedocument.presentationml.tags+xml"/>
  <Override PartName="/ppt/notesSlides/notesSlide46.xml" ContentType="application/vnd.openxmlformats-officedocument.presentationml.notesSlide+xml"/>
  <Override PartName="/ppt/tags/tag21.xml" ContentType="application/vnd.openxmlformats-officedocument.presentationml.tags+xml"/>
  <Override PartName="/ppt/notesSlides/notesSlide47.xml" ContentType="application/vnd.openxmlformats-officedocument.presentationml.notesSlide+xml"/>
  <Override PartName="/ppt/tags/tag22.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23.xml" ContentType="application/vnd.openxmlformats-officedocument.presentationml.tags+xml"/>
  <Override PartName="/ppt/notesSlides/notesSlide50.xml" ContentType="application/vnd.openxmlformats-officedocument.presentationml.notesSlide+xml"/>
  <Override PartName="/ppt/tags/tag24.xml" ContentType="application/vnd.openxmlformats-officedocument.presentationml.tags+xml"/>
  <Override PartName="/ppt/notesSlides/notesSlide51.xml" ContentType="application/vnd.openxmlformats-officedocument.presentationml.notesSlide+xml"/>
  <Override PartName="/ppt/tags/tag25.xml" ContentType="application/vnd.openxmlformats-officedocument.presentationml.tags+xml"/>
  <Override PartName="/ppt/notesSlides/notesSlide52.xml" ContentType="application/vnd.openxmlformats-officedocument.presentationml.notesSlide+xml"/>
  <Override PartName="/ppt/tags/tag26.xml" ContentType="application/vnd.openxmlformats-officedocument.presentationml.tags+xml"/>
  <Override PartName="/ppt/notesSlides/notesSlide53.xml" ContentType="application/vnd.openxmlformats-officedocument.presentationml.notesSlide+xml"/>
  <Override PartName="/ppt/tags/tag27.xml" ContentType="application/vnd.openxmlformats-officedocument.presentationml.tags+xml"/>
  <Override PartName="/ppt/notesSlides/notesSlide54.xml" ContentType="application/vnd.openxmlformats-officedocument.presentationml.notesSlide+xml"/>
  <Override PartName="/ppt/tags/tag28.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29.xml" ContentType="application/vnd.openxmlformats-officedocument.presentationml.tags+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82"/>
  </p:notesMasterIdLst>
  <p:sldIdLst>
    <p:sldId id="256" r:id="rId5"/>
    <p:sldId id="923" r:id="rId6"/>
    <p:sldId id="1255" r:id="rId7"/>
    <p:sldId id="1123" r:id="rId8"/>
    <p:sldId id="1258" r:id="rId9"/>
    <p:sldId id="1165" r:id="rId10"/>
    <p:sldId id="1051" r:id="rId11"/>
    <p:sldId id="1167" r:id="rId12"/>
    <p:sldId id="1090" r:id="rId13"/>
    <p:sldId id="1168" r:id="rId14"/>
    <p:sldId id="1091" r:id="rId15"/>
    <p:sldId id="1095" r:id="rId16"/>
    <p:sldId id="1096" r:id="rId17"/>
    <p:sldId id="1097" r:id="rId18"/>
    <p:sldId id="1054" r:id="rId19"/>
    <p:sldId id="788" r:id="rId20"/>
    <p:sldId id="1259" r:id="rId21"/>
    <p:sldId id="1056" r:id="rId22"/>
    <p:sldId id="1247" r:id="rId23"/>
    <p:sldId id="993" r:id="rId24"/>
    <p:sldId id="1256" r:id="rId25"/>
    <p:sldId id="995" r:id="rId26"/>
    <p:sldId id="997" r:id="rId27"/>
    <p:sldId id="1182" r:id="rId28"/>
    <p:sldId id="1253" r:id="rId29"/>
    <p:sldId id="1055" r:id="rId30"/>
    <p:sldId id="1260" r:id="rId31"/>
    <p:sldId id="1261" r:id="rId32"/>
    <p:sldId id="1170" r:id="rId33"/>
    <p:sldId id="1149" r:id="rId34"/>
    <p:sldId id="1148" r:id="rId35"/>
    <p:sldId id="1171" r:id="rId36"/>
    <p:sldId id="1172" r:id="rId37"/>
    <p:sldId id="1071" r:id="rId38"/>
    <p:sldId id="1173" r:id="rId39"/>
    <p:sldId id="1132" r:id="rId40"/>
    <p:sldId id="1249" r:id="rId41"/>
    <p:sldId id="1133" r:id="rId42"/>
    <p:sldId id="1134" r:id="rId43"/>
    <p:sldId id="1057" r:id="rId44"/>
    <p:sldId id="936" r:id="rId45"/>
    <p:sldId id="1072" r:id="rId46"/>
    <p:sldId id="1074" r:id="rId47"/>
    <p:sldId id="1075" r:id="rId48"/>
    <p:sldId id="1076" r:id="rId49"/>
    <p:sldId id="1250" r:id="rId50"/>
    <p:sldId id="1139" r:id="rId51"/>
    <p:sldId id="1140" r:id="rId52"/>
    <p:sldId id="1058" r:id="rId53"/>
    <p:sldId id="1251" r:id="rId54"/>
    <p:sldId id="1252" r:id="rId55"/>
    <p:sldId id="957" r:id="rId56"/>
    <p:sldId id="1262" r:id="rId57"/>
    <p:sldId id="1078" r:id="rId58"/>
    <p:sldId id="1080" r:id="rId59"/>
    <p:sldId id="1079" r:id="rId60"/>
    <p:sldId id="1158" r:id="rId61"/>
    <p:sldId id="1108" r:id="rId62"/>
    <p:sldId id="1227" r:id="rId63"/>
    <p:sldId id="1228" r:id="rId64"/>
    <p:sldId id="1159" r:id="rId65"/>
    <p:sldId id="1257" r:id="rId66"/>
    <p:sldId id="1229" r:id="rId67"/>
    <p:sldId id="1254" r:id="rId68"/>
    <p:sldId id="1263" r:id="rId69"/>
    <p:sldId id="1264" r:id="rId70"/>
    <p:sldId id="1160" r:id="rId71"/>
    <p:sldId id="1240" r:id="rId72"/>
    <p:sldId id="1241" r:id="rId73"/>
    <p:sldId id="1265" r:id="rId74"/>
    <p:sldId id="1239" r:id="rId75"/>
    <p:sldId id="1243" r:id="rId76"/>
    <p:sldId id="1266" r:id="rId77"/>
    <p:sldId id="1244" r:id="rId78"/>
    <p:sldId id="1245" r:id="rId79"/>
    <p:sldId id="918" r:id="rId80"/>
    <p:sldId id="1166" r:id="rId81"/>
  </p:sldIdLst>
  <p:sldSz cx="9144000" cy="5143500" type="screen16x9"/>
  <p:notesSz cx="6888163" cy="100203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FF"/>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65" autoAdjust="0"/>
    <p:restoredTop sz="94012" autoAdjust="0"/>
  </p:normalViewPr>
  <p:slideViewPr>
    <p:cSldViewPr snapToGrid="0" showGuides="1">
      <p:cViewPr varScale="1">
        <p:scale>
          <a:sx n="105" d="100"/>
          <a:sy n="105" d="100"/>
        </p:scale>
        <p:origin x="52" y="84"/>
      </p:cViewPr>
      <p:guideLst>
        <p:guide orient="horz" pos="1620"/>
        <p:guide pos="336"/>
      </p:guideLst>
    </p:cSldViewPr>
  </p:slideViewPr>
  <p:notesTextViewPr>
    <p:cViewPr>
      <p:scale>
        <a:sx n="1" d="1"/>
        <a:sy n="1" d="1"/>
      </p:scale>
      <p:origin x="0" y="0"/>
    </p:cViewPr>
  </p:notesTextViewPr>
  <p:sorterViewPr>
    <p:cViewPr>
      <p:scale>
        <a:sx n="140" d="100"/>
        <a:sy n="140" d="100"/>
      </p:scale>
      <p:origin x="0" y="0"/>
    </p:cViewPr>
  </p:sorterViewPr>
  <p:notesViewPr>
    <p:cSldViewPr snapToGrid="0">
      <p:cViewPr varScale="1">
        <p:scale>
          <a:sx n="83" d="100"/>
          <a:sy n="83" d="100"/>
        </p:scale>
        <p:origin x="-3828" y="-90"/>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en-US" dirty="0"/>
          </a:p>
        </p:txBody>
      </p:sp>
      <p:sp>
        <p:nvSpPr>
          <p:cNvPr id="3" name="Date Placeholder 2"/>
          <p:cNvSpPr>
            <a:spLocks noGrp="1"/>
          </p:cNvSpPr>
          <p:nvPr>
            <p:ph type="dt" idx="1"/>
          </p:nvPr>
        </p:nvSpPr>
        <p:spPr>
          <a:xfrm>
            <a:off x="3901698" y="0"/>
            <a:ext cx="2984871" cy="501015"/>
          </a:xfrm>
          <a:prstGeom prst="rect">
            <a:avLst/>
          </a:prstGeom>
        </p:spPr>
        <p:txBody>
          <a:bodyPr vert="horz" lIns="96616" tIns="48308" rIns="96616" bIns="48308" rtlCol="0"/>
          <a:lstStyle>
            <a:lvl1pPr algn="r">
              <a:defRPr sz="1300"/>
            </a:lvl1pPr>
          </a:lstStyle>
          <a:p>
            <a:fld id="{136337D9-3022-3D41-8D8A-BDF2F3B0DD8E}" type="datetimeFigureOut">
              <a:rPr lang="en-US" smtClean="0"/>
              <a:pPr/>
              <a:t>9/20/2026</a:t>
            </a:fld>
            <a:endParaRPr lang="es-ES" dirty="0"/>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6616" tIns="48308" rIns="96616" bIns="48308" rtlCol="0" anchor="ctr"/>
          <a:lstStyle/>
          <a:p>
            <a:endParaRPr lang="en-US" dirty="0"/>
          </a:p>
        </p:txBody>
      </p:sp>
      <p:sp>
        <p:nvSpPr>
          <p:cNvPr id="5" name="Notes Placeholder 4"/>
          <p:cNvSpPr>
            <a:spLocks noGrp="1"/>
          </p:cNvSpPr>
          <p:nvPr>
            <p:ph type="body" sz="quarter" idx="3"/>
          </p:nvPr>
        </p:nvSpPr>
        <p:spPr>
          <a:xfrm>
            <a:off x="688817" y="4759643"/>
            <a:ext cx="5510530" cy="4509135"/>
          </a:xfrm>
          <a:prstGeom prst="rect">
            <a:avLst/>
          </a:prstGeom>
        </p:spPr>
        <p:txBody>
          <a:bodyPr vert="horz" lIns="96616" tIns="48308" rIns="96616" bIns="4830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7546"/>
            <a:ext cx="2984871" cy="501015"/>
          </a:xfrm>
          <a:prstGeom prst="rect">
            <a:avLst/>
          </a:prstGeom>
        </p:spPr>
        <p:txBody>
          <a:bodyPr vert="horz" lIns="96616" tIns="48308" rIns="96616" bIns="48308"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7546"/>
            <a:ext cx="2984871" cy="501015"/>
          </a:xfrm>
          <a:prstGeom prst="rect">
            <a:avLst/>
          </a:prstGeom>
        </p:spPr>
        <p:txBody>
          <a:bodyPr vert="horz" lIns="96616" tIns="48308" rIns="96616" bIns="48308" rtlCol="0" anchor="b"/>
          <a:lstStyle>
            <a:lvl1pPr algn="r">
              <a:defRPr sz="1300"/>
            </a:lvl1pPr>
          </a:lstStyle>
          <a:p>
            <a:fld id="{5641018C-6CAF-B84E-B92C-ECB119457FBA}" type="slidenum">
              <a:rPr lang="en-US" smtClean="0"/>
              <a:pPr/>
              <a:t>‹Nº›</a:t>
            </a:fld>
            <a:endParaRPr lang="es-E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305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55391" y="9512326"/>
            <a:ext cx="816375" cy="3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884" tIns="0" rIns="19884"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s-E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s-ES" b="0" dirty="0"/>
              <a:t>Cisco Networking Academy Program</a:t>
            </a:r>
          </a:p>
          <a:p>
            <a:pPr>
              <a:buFontTx/>
              <a:buNone/>
            </a:pPr>
            <a:r>
              <a:rPr lang="es-ES" b="0" dirty="0"/>
              <a:t>Introducción al Internet de las Cosas</a:t>
            </a:r>
          </a:p>
          <a:p>
            <a:pPr>
              <a:buFontTx/>
              <a:buNone/>
            </a:pPr>
            <a:r>
              <a:rPr lang="es-ES" b="0" dirty="0"/>
              <a:t>Capítulo 1: todo está conectado</a:t>
            </a:r>
          </a:p>
          <a:p>
            <a:endParaRPr lang="es-ES" dirty="0"/>
          </a:p>
        </p:txBody>
      </p:sp>
    </p:spTree>
    <p:extLst>
      <p:ext uri="{BB962C8B-B14F-4D97-AF65-F5344CB8AC3E}">
        <p14:creationId xmlns:p14="http://schemas.microsoft.com/office/powerpoint/2010/main" val="294793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2725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4</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solidFill>
                  <a:schemeClr val="accent5">
                    <a:lumMod val="40000"/>
                    <a:lumOff val="60000"/>
                  </a:schemeClr>
                </a:solidFill>
              </a:rPr>
              <a:t>8 – Capa de red</a:t>
            </a:r>
          </a:p>
          <a:p>
            <a:pPr rtl="0">
              <a:buFontTx/>
              <a:buNone/>
            </a:pPr>
            <a:r>
              <a:rPr lang="es-419" sz="1300"/>
              <a:t>8.1 – </a:t>
            </a:r>
            <a:r>
              <a:rPr lang="es-419">
                <a:solidFill>
                  <a:schemeClr val="accent5">
                    <a:lumMod val="40000"/>
                    <a:lumOff val="60000"/>
                  </a:schemeClr>
                </a:solidFill>
              </a:rPr>
              <a:t>Características de la Capa de Red</a:t>
            </a:r>
          </a:p>
          <a:p>
            <a:pPr rtl="0">
              <a:lnSpc>
                <a:spcPct val="80000"/>
              </a:lnSpc>
              <a:buFontTx/>
              <a:buNone/>
            </a:pPr>
            <a:r>
              <a:rPr lang="es-419">
                <a:latin typeface="Arial" charset="0"/>
              </a:rPr>
              <a:t>8.1.6</a:t>
            </a:r>
            <a:r>
              <a:rPr lang="es-419" baseline="0">
                <a:latin typeface="Arial" charset="0"/>
              </a:rPr>
              <a:t> </a:t>
            </a:r>
            <a:r>
              <a:rPr lang="es-419" sz="1300"/>
              <a:t>– </a:t>
            </a:r>
            <a:r>
              <a:rPr lang="es-419"/>
              <a:t>Independencia de Medios</a:t>
            </a:r>
          </a:p>
          <a:p>
            <a:pPr rtl="0">
              <a:buFontTx/>
              <a:buNone/>
            </a:pPr>
            <a:r>
              <a:rPr lang="es-419"/>
              <a:t>8.1.7</a:t>
            </a:r>
            <a:r>
              <a:rPr lang="es-419" baseline="0"/>
              <a:t> </a:t>
            </a:r>
            <a:r>
              <a:rPr lang="es-419" sz="1300"/>
              <a:t>Verifique su comprensión – </a:t>
            </a:r>
            <a:r>
              <a:rPr lang="es-419" sz="1300">
                <a:solidFill>
                  <a:schemeClr val="accent5">
                    <a:lumMod val="40000"/>
                    <a:lumOff val="60000"/>
                  </a:schemeClr>
                </a:solidFill>
              </a:rPr>
              <a:t>Características </a:t>
            </a:r>
            <a:r>
              <a:rPr lang="es-419">
                <a:solidFill>
                  <a:schemeClr val="accent5">
                    <a:lumMod val="40000"/>
                    <a:lumOff val="60000"/>
                  </a:schemeClr>
                </a:solidFill>
              </a:rPr>
              <a:t>IP</a:t>
            </a:r>
          </a:p>
        </p:txBody>
      </p:sp>
    </p:spTree>
    <p:extLst>
      <p:ext uri="{BB962C8B-B14F-4D97-AF65-F5344CB8AC3E}">
        <p14:creationId xmlns:p14="http://schemas.microsoft.com/office/powerpoint/2010/main" val="2465286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5</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solidFill>
                  <a:schemeClr val="accent5">
                    <a:lumMod val="40000"/>
                    <a:lumOff val="60000"/>
                  </a:schemeClr>
                </a:solidFill>
              </a:rPr>
              <a:t>8 – Capa de red</a:t>
            </a:r>
          </a:p>
          <a:p>
            <a:pPr rtl="0">
              <a:buFontTx/>
              <a:buNone/>
            </a:pPr>
            <a:r>
              <a:rPr lang="es-419" sz="1300"/>
              <a:t>8.1 – </a:t>
            </a:r>
            <a:r>
              <a:rPr lang="es-419">
                <a:solidFill>
                  <a:schemeClr val="accent5">
                    <a:lumMod val="40000"/>
                    <a:lumOff val="60000"/>
                  </a:schemeClr>
                </a:solidFill>
              </a:rPr>
              <a:t>Características de la Capa de Red</a:t>
            </a:r>
          </a:p>
          <a:p>
            <a:pPr rtl="0">
              <a:lnSpc>
                <a:spcPct val="80000"/>
              </a:lnSpc>
              <a:buFontTx/>
              <a:buNone/>
            </a:pPr>
            <a:r>
              <a:rPr lang="es-419">
                <a:latin typeface="Arial" charset="0"/>
              </a:rPr>
              <a:t>8.1.6</a:t>
            </a:r>
            <a:r>
              <a:rPr lang="es-419" baseline="0">
                <a:latin typeface="Arial" charset="0"/>
              </a:rPr>
              <a:t> </a:t>
            </a:r>
            <a:r>
              <a:rPr lang="es-419" sz="1300"/>
              <a:t>– </a:t>
            </a:r>
            <a:r>
              <a:rPr lang="es-419"/>
              <a:t>Independencia de Medios</a:t>
            </a:r>
          </a:p>
          <a:p>
            <a:pPr rtl="0">
              <a:buFontTx/>
              <a:buNone/>
            </a:pPr>
            <a:r>
              <a:rPr lang="es-419"/>
              <a:t>8.1.7</a:t>
            </a:r>
            <a:r>
              <a:rPr lang="es-419" baseline="0"/>
              <a:t> </a:t>
            </a:r>
            <a:r>
              <a:rPr lang="es-419" sz="1300"/>
              <a:t>Verifique su comprensión – </a:t>
            </a:r>
            <a:r>
              <a:rPr lang="es-419" sz="1300">
                <a:solidFill>
                  <a:schemeClr val="accent5">
                    <a:lumMod val="40000"/>
                    <a:lumOff val="60000"/>
                  </a:schemeClr>
                </a:solidFill>
              </a:rPr>
              <a:t>Características </a:t>
            </a:r>
            <a:r>
              <a:rPr lang="es-419">
                <a:solidFill>
                  <a:schemeClr val="accent5">
                    <a:lumMod val="40000"/>
                    <a:lumOff val="60000"/>
                  </a:schemeClr>
                </a:solidFill>
              </a:rPr>
              <a:t>IP</a:t>
            </a:r>
          </a:p>
        </p:txBody>
      </p:sp>
    </p:spTree>
    <p:extLst>
      <p:ext uri="{BB962C8B-B14F-4D97-AF65-F5344CB8AC3E}">
        <p14:creationId xmlns:p14="http://schemas.microsoft.com/office/powerpoint/2010/main" val="3330006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solidFill>
                  <a:schemeClr val="accent5">
                    <a:lumMod val="40000"/>
                    <a:lumOff val="60000"/>
                  </a:schemeClr>
                </a:solidFill>
              </a:rPr>
              <a:t>8 – Capa de red</a:t>
            </a:r>
          </a:p>
          <a:p>
            <a:pPr rtl="0">
              <a:buFontTx/>
              <a:buNone/>
            </a:pPr>
            <a:r>
              <a:rPr lang="es-419" sz="1300"/>
              <a:t>8.1 – </a:t>
            </a:r>
            <a:r>
              <a:rPr lang="es-419">
                <a:solidFill>
                  <a:schemeClr val="accent5">
                    <a:lumMod val="40000"/>
                    <a:lumOff val="60000"/>
                  </a:schemeClr>
                </a:solidFill>
              </a:rPr>
              <a:t>Características de la Capa de Red</a:t>
            </a:r>
          </a:p>
          <a:p>
            <a:pPr rtl="0">
              <a:lnSpc>
                <a:spcPct val="80000"/>
              </a:lnSpc>
              <a:buFontTx/>
              <a:buNone/>
            </a:pPr>
            <a:r>
              <a:rPr lang="es-419">
                <a:latin typeface="Arial" charset="0"/>
              </a:rPr>
              <a:t>8.1.6</a:t>
            </a:r>
            <a:r>
              <a:rPr lang="es-419" baseline="0">
                <a:latin typeface="Arial" charset="0"/>
              </a:rPr>
              <a:t> </a:t>
            </a:r>
            <a:r>
              <a:rPr lang="es-419" sz="1300"/>
              <a:t>– </a:t>
            </a:r>
            <a:r>
              <a:rPr lang="es-419"/>
              <a:t>Independencia de Medios</a:t>
            </a:r>
          </a:p>
          <a:p>
            <a:pPr rtl="0">
              <a:buFontTx/>
              <a:buNone/>
            </a:pPr>
            <a:r>
              <a:rPr lang="es-419"/>
              <a:t>8.1.7</a:t>
            </a:r>
            <a:r>
              <a:rPr lang="es-419" baseline="0"/>
              <a:t> </a:t>
            </a:r>
            <a:r>
              <a:rPr lang="es-419" sz="1300"/>
              <a:t>Verifique su comprensión – </a:t>
            </a:r>
            <a:r>
              <a:rPr lang="es-419" sz="1300">
                <a:solidFill>
                  <a:schemeClr val="accent5">
                    <a:lumMod val="40000"/>
                    <a:lumOff val="60000"/>
                  </a:schemeClr>
                </a:solidFill>
              </a:rPr>
              <a:t>Características </a:t>
            </a:r>
            <a:r>
              <a:rPr lang="es-419">
                <a:solidFill>
                  <a:schemeClr val="accent5">
                    <a:lumMod val="40000"/>
                    <a:lumOff val="60000"/>
                  </a:schemeClr>
                </a:solidFill>
              </a:rPr>
              <a:t>IP</a:t>
            </a:r>
          </a:p>
        </p:txBody>
      </p:sp>
    </p:spTree>
    <p:extLst>
      <p:ext uri="{BB962C8B-B14F-4D97-AF65-F5344CB8AC3E}">
        <p14:creationId xmlns:p14="http://schemas.microsoft.com/office/powerpoint/2010/main" val="953477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4904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9.1 — MAC e IP</a:t>
            </a:r>
          </a:p>
          <a:p>
            <a:pPr rtl="0"/>
            <a:r>
              <a:rPr lang="es-419"/>
              <a:t>9.1.1 – Destino en la misma red</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9.1 — MAC e IP</a:t>
            </a:r>
          </a:p>
          <a:p>
            <a:pPr rtl="0"/>
            <a:r>
              <a:rPr lang="es-419"/>
              <a:t>9.1.2 – Destino en una red remota</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2859007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9.2 — ARP</a:t>
            </a:r>
          </a:p>
          <a:p>
            <a:pPr rtl="0"/>
            <a:r>
              <a:rPr lang="es-419"/>
              <a:t>9.2.1 — Descripción general de ARP</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2552125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9.2 — ARP</a:t>
            </a:r>
          </a:p>
          <a:p>
            <a:pPr rtl="0"/>
            <a:r>
              <a:rPr lang="es-419"/>
              <a:t>9.2.2 – Funciones del protocolo ARP</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953125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9.2 — ARP</a:t>
            </a:r>
          </a:p>
          <a:p>
            <a:pPr rtl="0"/>
            <a:r>
              <a:rPr lang="es-419"/>
              <a:t>9.2.6– Eliminar entradas de una tabla ARP</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684664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9.2 — ARP</a:t>
            </a:r>
          </a:p>
          <a:p>
            <a:pPr rtl="0"/>
            <a:r>
              <a:rPr lang="es-419"/>
              <a:t>9.2.7 – Tablas ARP en dispositivos de red</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41897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Resolución de dirección</a:t>
            </a:r>
          </a:p>
          <a:p>
            <a:pPr rtl="0"/>
            <a:r>
              <a:rPr lang="es-419"/>
              <a:t>9.2 — ARP</a:t>
            </a:r>
          </a:p>
          <a:p>
            <a:pPr rtl="0"/>
            <a:r>
              <a:rPr lang="es-419"/>
              <a:t>9.2.8 — Problemas con ARP — ARP Broadcast y ARP Spoofing</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899902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5981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16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dirty="0">
                <a:solidFill>
                  <a:schemeClr val="accent5">
                    <a:lumMod val="40000"/>
                    <a:lumOff val="60000"/>
                  </a:schemeClr>
                </a:solidFill>
              </a:rPr>
              <a:t>2 –  Conceptos de switching</a:t>
            </a:r>
          </a:p>
          <a:p>
            <a:pPr rtl="0">
              <a:buFontTx/>
              <a:buNone/>
            </a:pPr>
            <a:r>
              <a:rPr lang="es-419" sz="1300" dirty="0"/>
              <a:t>2.2 – </a:t>
            </a:r>
            <a:r>
              <a:rPr lang="es-419" dirty="0">
                <a:solidFill>
                  <a:schemeClr val="accent5">
                    <a:lumMod val="40000"/>
                    <a:lumOff val="60000"/>
                  </a:schemeClr>
                </a:solidFill>
              </a:rPr>
              <a:t>Dominios de switching</a:t>
            </a:r>
          </a:p>
          <a:p>
            <a:pPr rtl="0">
              <a:lnSpc>
                <a:spcPct val="80000"/>
              </a:lnSpc>
              <a:buFontTx/>
              <a:buNone/>
            </a:pPr>
            <a:r>
              <a:rPr lang="es-419" sz="1300" dirty="0">
                <a:latin typeface="Arial" charset="0"/>
                <a:ea typeface="ＭＳ Ｐゴシック" charset="0"/>
                <a:cs typeface="ＭＳ Ｐゴシック" charset="0"/>
              </a:rPr>
              <a:t>2.2.1 – </a:t>
            </a:r>
            <a:r>
              <a:rPr lang="es-419" dirty="0"/>
              <a:t>Dominios de colisiones</a:t>
            </a:r>
          </a:p>
        </p:txBody>
      </p:sp>
    </p:spTree>
    <p:extLst>
      <p:ext uri="{BB962C8B-B14F-4D97-AF65-F5344CB8AC3E}">
        <p14:creationId xmlns:p14="http://schemas.microsoft.com/office/powerpoint/2010/main" val="3427554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17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solidFill>
                  <a:schemeClr val="accent5">
                    <a:lumMod val="40000"/>
                    <a:lumOff val="60000"/>
                  </a:schemeClr>
                </a:solidFill>
              </a:rPr>
              <a:t>8 – Capa de red</a:t>
            </a:r>
          </a:p>
          <a:p>
            <a:pPr rtl="0">
              <a:buFontTx/>
              <a:buNone/>
            </a:pPr>
            <a:r>
              <a:rPr lang="es-419" sz="1300"/>
              <a:t>8.1 – </a:t>
            </a:r>
            <a:r>
              <a:rPr lang="es-419">
                <a:solidFill>
                  <a:schemeClr val="accent5">
                    <a:lumMod val="40000"/>
                    <a:lumOff val="60000"/>
                  </a:schemeClr>
                </a:solidFill>
              </a:rPr>
              <a:t>Características de la Capa de Red</a:t>
            </a:r>
          </a:p>
          <a:p>
            <a:pPr rtl="0">
              <a:lnSpc>
                <a:spcPct val="80000"/>
              </a:lnSpc>
              <a:buFontTx/>
              <a:buNone/>
            </a:pPr>
            <a:r>
              <a:rPr lang="es-419">
                <a:latin typeface="Arial" charset="0"/>
              </a:rPr>
              <a:t>8.1.6</a:t>
            </a:r>
            <a:r>
              <a:rPr lang="es-419" baseline="0">
                <a:latin typeface="Arial" charset="0"/>
              </a:rPr>
              <a:t> </a:t>
            </a:r>
            <a:r>
              <a:rPr lang="es-419" sz="1300"/>
              <a:t>– </a:t>
            </a:r>
            <a:r>
              <a:rPr lang="es-419"/>
              <a:t>Independencia de Medios</a:t>
            </a:r>
          </a:p>
          <a:p>
            <a:pPr rtl="0">
              <a:buFontTx/>
              <a:buNone/>
            </a:pPr>
            <a:r>
              <a:rPr lang="es-419"/>
              <a:t>8.1.7</a:t>
            </a:r>
            <a:r>
              <a:rPr lang="es-419" baseline="0"/>
              <a:t> </a:t>
            </a:r>
            <a:r>
              <a:rPr lang="es-419" sz="1300"/>
              <a:t>Verifique su comprensión – </a:t>
            </a:r>
            <a:r>
              <a:rPr lang="es-419" sz="1300">
                <a:solidFill>
                  <a:schemeClr val="accent5">
                    <a:lumMod val="40000"/>
                    <a:lumOff val="60000"/>
                  </a:schemeClr>
                </a:solidFill>
              </a:rPr>
              <a:t>Características </a:t>
            </a:r>
            <a:r>
              <a:rPr lang="es-419">
                <a:solidFill>
                  <a:schemeClr val="accent5">
                    <a:lumMod val="40000"/>
                    <a:lumOff val="60000"/>
                  </a:schemeClr>
                </a:solidFill>
              </a:rPr>
              <a:t>IP</a:t>
            </a:r>
          </a:p>
        </p:txBody>
      </p:sp>
    </p:spTree>
    <p:extLst>
      <p:ext uri="{BB962C8B-B14F-4D97-AF65-F5344CB8AC3E}">
        <p14:creationId xmlns:p14="http://schemas.microsoft.com/office/powerpoint/2010/main" val="2500936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4330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14">
              <a:defRPr sz="2500">
                <a:solidFill>
                  <a:schemeClr val="tx1"/>
                </a:solidFill>
                <a:latin typeface="Arial" charset="0"/>
                <a:ea typeface="ＭＳ Ｐゴシック" charset="0"/>
                <a:cs typeface="ＭＳ Ｐゴシック" charset="0"/>
              </a:defRPr>
            </a:lvl1pPr>
            <a:lvl2pPr marL="785001" indent="-301923" defTabSz="954414">
              <a:defRPr sz="2500">
                <a:solidFill>
                  <a:schemeClr val="tx1"/>
                </a:solidFill>
                <a:latin typeface="Arial" charset="0"/>
                <a:ea typeface="ＭＳ Ｐゴシック" charset="0"/>
              </a:defRPr>
            </a:lvl2pPr>
            <a:lvl3pPr marL="1207694" indent="-241539" defTabSz="954414">
              <a:defRPr sz="2500">
                <a:solidFill>
                  <a:schemeClr val="tx1"/>
                </a:solidFill>
                <a:latin typeface="Arial" charset="0"/>
                <a:ea typeface="ＭＳ Ｐゴシック" charset="0"/>
              </a:defRPr>
            </a:lvl3pPr>
            <a:lvl4pPr marL="1690771" indent="-241539" defTabSz="954414">
              <a:defRPr sz="2500">
                <a:solidFill>
                  <a:schemeClr val="tx1"/>
                </a:solidFill>
                <a:latin typeface="Arial" charset="0"/>
                <a:ea typeface="ＭＳ Ｐゴシック" charset="0"/>
              </a:defRPr>
            </a:lvl4pPr>
            <a:lvl5pPr marL="2173849" indent="-241539" defTabSz="954414">
              <a:defRPr sz="2500">
                <a:solidFill>
                  <a:schemeClr val="tx1"/>
                </a:solidFill>
                <a:latin typeface="Arial" charset="0"/>
                <a:ea typeface="ＭＳ Ｐゴシック" charset="0"/>
              </a:defRPr>
            </a:lvl5pPr>
            <a:lvl6pPr marL="2656926"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6pPr>
            <a:lvl7pPr marL="3140004"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7pPr>
            <a:lvl8pPr marL="3623081"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8pPr>
            <a:lvl9pPr marL="4106159"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9pPr>
          </a:lstStyle>
          <a:p>
            <a:fld id="{3997A419-355F-A04A-96E0-21643AF8E9FF}" type="slidenum">
              <a:rPr lang="en-US" sz="800"/>
              <a:pPr/>
              <a:t>19</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300" dirty="0">
                <a:latin typeface="Arial" charset="0"/>
              </a:rPr>
              <a:t>4.1 – Diseño de una red LAN</a:t>
            </a:r>
            <a:endParaRPr lang="es-ES" sz="1300" dirty="0">
              <a:latin typeface="Arial" charset="0"/>
              <a:ea typeface="ＭＳ Ｐゴシック" charset="0"/>
              <a:cs typeface="ＭＳ Ｐゴシック" charset="0"/>
            </a:endParaRPr>
          </a:p>
          <a:p>
            <a:pPr>
              <a:lnSpc>
                <a:spcPct val="80000"/>
              </a:lnSpc>
              <a:buFontTx/>
              <a:buNone/>
            </a:pPr>
            <a:r>
              <a:rPr lang="es-ES" dirty="0">
                <a:latin typeface="Arial" charset="0"/>
              </a:rPr>
              <a:t>4.1.1 – Redes convergentes</a:t>
            </a:r>
          </a:p>
          <a:p>
            <a:pPr>
              <a:lnSpc>
                <a:spcPct val="80000"/>
              </a:lnSpc>
              <a:buFontTx/>
              <a:buNone/>
            </a:pPr>
            <a:r>
              <a:rPr lang="es-ES" dirty="0">
                <a:latin typeface="Arial" charset="0"/>
              </a:rPr>
              <a:t>4.1.1.1 – Complejidad creciente de las redes</a:t>
            </a:r>
            <a:endParaRPr lang="es-ES" dirty="0"/>
          </a:p>
          <a:p>
            <a:pPr>
              <a:lnSpc>
                <a:spcPct val="80000"/>
              </a:lnSpc>
              <a:buFontTx/>
              <a:buNone/>
            </a:pPr>
            <a:endParaRPr lang="es-ES" dirty="0"/>
          </a:p>
        </p:txBody>
      </p:sp>
    </p:spTree>
    <p:extLst>
      <p:ext uri="{BB962C8B-B14F-4D97-AF65-F5344CB8AC3E}">
        <p14:creationId xmlns:p14="http://schemas.microsoft.com/office/powerpoint/2010/main" val="1504448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14">
              <a:defRPr sz="2500">
                <a:solidFill>
                  <a:schemeClr val="tx1"/>
                </a:solidFill>
                <a:latin typeface="Arial" charset="0"/>
                <a:ea typeface="ＭＳ Ｐゴシック" charset="0"/>
                <a:cs typeface="ＭＳ Ｐゴシック" charset="0"/>
              </a:defRPr>
            </a:lvl1pPr>
            <a:lvl2pPr marL="785001" indent="-301923" defTabSz="954414">
              <a:defRPr sz="2500">
                <a:solidFill>
                  <a:schemeClr val="tx1"/>
                </a:solidFill>
                <a:latin typeface="Arial" charset="0"/>
                <a:ea typeface="ＭＳ Ｐゴシック" charset="0"/>
              </a:defRPr>
            </a:lvl2pPr>
            <a:lvl3pPr marL="1207694" indent="-241539" defTabSz="954414">
              <a:defRPr sz="2500">
                <a:solidFill>
                  <a:schemeClr val="tx1"/>
                </a:solidFill>
                <a:latin typeface="Arial" charset="0"/>
                <a:ea typeface="ＭＳ Ｐゴシック" charset="0"/>
              </a:defRPr>
            </a:lvl3pPr>
            <a:lvl4pPr marL="1690771" indent="-241539" defTabSz="954414">
              <a:defRPr sz="2500">
                <a:solidFill>
                  <a:schemeClr val="tx1"/>
                </a:solidFill>
                <a:latin typeface="Arial" charset="0"/>
                <a:ea typeface="ＭＳ Ｐゴシック" charset="0"/>
              </a:defRPr>
            </a:lvl4pPr>
            <a:lvl5pPr marL="2173849" indent="-241539" defTabSz="954414">
              <a:defRPr sz="2500">
                <a:solidFill>
                  <a:schemeClr val="tx1"/>
                </a:solidFill>
                <a:latin typeface="Arial" charset="0"/>
                <a:ea typeface="ＭＳ Ｐゴシック" charset="0"/>
              </a:defRPr>
            </a:lvl5pPr>
            <a:lvl6pPr marL="2656926"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6pPr>
            <a:lvl7pPr marL="3140004"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7pPr>
            <a:lvl8pPr marL="3623081"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8pPr>
            <a:lvl9pPr marL="4106159"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9pPr>
          </a:lstStyle>
          <a:p>
            <a:fld id="{3997A419-355F-A04A-96E0-21643AF8E9FF}" type="slidenum">
              <a:rPr lang="en-US" sz="800"/>
              <a:pPr/>
              <a:t>20</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300" dirty="0">
                <a:latin typeface="Arial" charset="0"/>
              </a:rPr>
              <a:t>4.1 – Diseño de una red LAN</a:t>
            </a:r>
            <a:endParaRPr lang="es-ES" sz="1300" dirty="0">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a:lnSpc>
                <a:spcPct val="80000"/>
              </a:lnSpc>
              <a:buFontTx/>
              <a:buNone/>
            </a:pPr>
            <a:r>
              <a:rPr lang="es-ES" baseline="0" dirty="0">
                <a:latin typeface="Arial" charset="0"/>
              </a:rPr>
              <a:t>4.1.2.1 – Función de las redes conmutadas</a:t>
            </a:r>
            <a:endParaRPr lang="es-ES" dirty="0"/>
          </a:p>
        </p:txBody>
      </p:sp>
    </p:spTree>
    <p:extLst>
      <p:ext uri="{BB962C8B-B14F-4D97-AF65-F5344CB8AC3E}">
        <p14:creationId xmlns:p14="http://schemas.microsoft.com/office/powerpoint/2010/main" val="1899849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14">
              <a:defRPr sz="2500">
                <a:solidFill>
                  <a:schemeClr val="tx1"/>
                </a:solidFill>
                <a:latin typeface="Arial" charset="0"/>
                <a:ea typeface="ＭＳ Ｐゴシック" charset="0"/>
                <a:cs typeface="ＭＳ Ｐゴシック" charset="0"/>
              </a:defRPr>
            </a:lvl1pPr>
            <a:lvl2pPr marL="785001" indent="-301923" defTabSz="954414">
              <a:defRPr sz="2500">
                <a:solidFill>
                  <a:schemeClr val="tx1"/>
                </a:solidFill>
                <a:latin typeface="Arial" charset="0"/>
                <a:ea typeface="ＭＳ Ｐゴシック" charset="0"/>
              </a:defRPr>
            </a:lvl2pPr>
            <a:lvl3pPr marL="1207694" indent="-241539" defTabSz="954414">
              <a:defRPr sz="2500">
                <a:solidFill>
                  <a:schemeClr val="tx1"/>
                </a:solidFill>
                <a:latin typeface="Arial" charset="0"/>
                <a:ea typeface="ＭＳ Ｐゴシック" charset="0"/>
              </a:defRPr>
            </a:lvl3pPr>
            <a:lvl4pPr marL="1690771" indent="-241539" defTabSz="954414">
              <a:defRPr sz="2500">
                <a:solidFill>
                  <a:schemeClr val="tx1"/>
                </a:solidFill>
                <a:latin typeface="Arial" charset="0"/>
                <a:ea typeface="ＭＳ Ｐゴシック" charset="0"/>
              </a:defRPr>
            </a:lvl4pPr>
            <a:lvl5pPr marL="2173849" indent="-241539" defTabSz="954414">
              <a:defRPr sz="2500">
                <a:solidFill>
                  <a:schemeClr val="tx1"/>
                </a:solidFill>
                <a:latin typeface="Arial" charset="0"/>
                <a:ea typeface="ＭＳ Ｐゴシック" charset="0"/>
              </a:defRPr>
            </a:lvl5pPr>
            <a:lvl6pPr marL="2656926"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6pPr>
            <a:lvl7pPr marL="3140004"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7pPr>
            <a:lvl8pPr marL="3623081"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8pPr>
            <a:lvl9pPr marL="4106159"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9pPr>
          </a:lstStyle>
          <a:p>
            <a:fld id="{3997A419-355F-A04A-96E0-21643AF8E9FF}" type="slidenum">
              <a:rPr lang="en-US" sz="800"/>
              <a:pPr/>
              <a:t>21</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300" dirty="0">
                <a:latin typeface="Arial" charset="0"/>
              </a:rPr>
              <a:t>4.1 – Diseño de una red LAN</a:t>
            </a:r>
            <a:endParaRPr lang="es-ES" sz="1300" dirty="0">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a:lnSpc>
                <a:spcPct val="80000"/>
              </a:lnSpc>
              <a:buFontTx/>
              <a:buNone/>
            </a:pPr>
            <a:r>
              <a:rPr lang="es-ES" baseline="0" dirty="0">
                <a:latin typeface="Arial" charset="0"/>
              </a:rPr>
              <a:t>4.1.2.1 – Función de las redes conmutadas</a:t>
            </a:r>
            <a:endParaRPr lang="es-ES" dirty="0"/>
          </a:p>
        </p:txBody>
      </p:sp>
    </p:spTree>
    <p:extLst>
      <p:ext uri="{BB962C8B-B14F-4D97-AF65-F5344CB8AC3E}">
        <p14:creationId xmlns:p14="http://schemas.microsoft.com/office/powerpoint/2010/main" val="1899849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14">
              <a:defRPr sz="2500">
                <a:solidFill>
                  <a:schemeClr val="tx1"/>
                </a:solidFill>
                <a:latin typeface="Arial" charset="0"/>
                <a:ea typeface="ＭＳ Ｐゴシック" charset="0"/>
                <a:cs typeface="ＭＳ Ｐゴシック" charset="0"/>
              </a:defRPr>
            </a:lvl1pPr>
            <a:lvl2pPr marL="785001" indent="-301923" defTabSz="954414">
              <a:defRPr sz="2500">
                <a:solidFill>
                  <a:schemeClr val="tx1"/>
                </a:solidFill>
                <a:latin typeface="Arial" charset="0"/>
                <a:ea typeface="ＭＳ Ｐゴシック" charset="0"/>
              </a:defRPr>
            </a:lvl2pPr>
            <a:lvl3pPr marL="1207694" indent="-241539" defTabSz="954414">
              <a:defRPr sz="2500">
                <a:solidFill>
                  <a:schemeClr val="tx1"/>
                </a:solidFill>
                <a:latin typeface="Arial" charset="0"/>
                <a:ea typeface="ＭＳ Ｐゴシック" charset="0"/>
              </a:defRPr>
            </a:lvl3pPr>
            <a:lvl4pPr marL="1690771" indent="-241539" defTabSz="954414">
              <a:defRPr sz="2500">
                <a:solidFill>
                  <a:schemeClr val="tx1"/>
                </a:solidFill>
                <a:latin typeface="Arial" charset="0"/>
                <a:ea typeface="ＭＳ Ｐゴシック" charset="0"/>
              </a:defRPr>
            </a:lvl4pPr>
            <a:lvl5pPr marL="2173849" indent="-241539" defTabSz="954414">
              <a:defRPr sz="2500">
                <a:solidFill>
                  <a:schemeClr val="tx1"/>
                </a:solidFill>
                <a:latin typeface="Arial" charset="0"/>
                <a:ea typeface="ＭＳ Ｐゴシック" charset="0"/>
              </a:defRPr>
            </a:lvl5pPr>
            <a:lvl6pPr marL="2656926"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6pPr>
            <a:lvl7pPr marL="3140004"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7pPr>
            <a:lvl8pPr marL="3623081"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8pPr>
            <a:lvl9pPr marL="4106159"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9pPr>
          </a:lstStyle>
          <a:p>
            <a:fld id="{3997A419-355F-A04A-96E0-21643AF8E9FF}" type="slidenum">
              <a:rPr lang="en-US" sz="800"/>
              <a:pPr/>
              <a:t>22</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300" dirty="0">
                <a:latin typeface="Arial" charset="0"/>
              </a:rPr>
              <a:t>4.1 – Diseño de una red LAN</a:t>
            </a:r>
            <a:endParaRPr lang="es-ES" sz="1300" dirty="0">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a:lnSpc>
                <a:spcPct val="80000"/>
              </a:lnSpc>
              <a:buFontTx/>
              <a:buNone/>
            </a:pPr>
            <a:r>
              <a:rPr lang="es-ES" baseline="0" dirty="0">
                <a:latin typeface="Arial" charset="0"/>
              </a:rPr>
              <a:t>4.1.2.2 – Factores de forma</a:t>
            </a:r>
            <a:endParaRPr lang="es-ES" dirty="0"/>
          </a:p>
        </p:txBody>
      </p:sp>
    </p:spTree>
    <p:extLst>
      <p:ext uri="{BB962C8B-B14F-4D97-AF65-F5344CB8AC3E}">
        <p14:creationId xmlns:p14="http://schemas.microsoft.com/office/powerpoint/2010/main" val="1899849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14">
              <a:defRPr sz="2500">
                <a:solidFill>
                  <a:schemeClr val="tx1"/>
                </a:solidFill>
                <a:latin typeface="Arial" charset="0"/>
                <a:ea typeface="ＭＳ Ｐゴシック" charset="0"/>
                <a:cs typeface="ＭＳ Ｐゴシック" charset="0"/>
              </a:defRPr>
            </a:lvl1pPr>
            <a:lvl2pPr marL="785001" indent="-301923" defTabSz="954414">
              <a:defRPr sz="2500">
                <a:solidFill>
                  <a:schemeClr val="tx1"/>
                </a:solidFill>
                <a:latin typeface="Arial" charset="0"/>
                <a:ea typeface="ＭＳ Ｐゴシック" charset="0"/>
              </a:defRPr>
            </a:lvl2pPr>
            <a:lvl3pPr marL="1207694" indent="-241539" defTabSz="954414">
              <a:defRPr sz="2500">
                <a:solidFill>
                  <a:schemeClr val="tx1"/>
                </a:solidFill>
                <a:latin typeface="Arial" charset="0"/>
                <a:ea typeface="ＭＳ Ｐゴシック" charset="0"/>
              </a:defRPr>
            </a:lvl3pPr>
            <a:lvl4pPr marL="1690771" indent="-241539" defTabSz="954414">
              <a:defRPr sz="2500">
                <a:solidFill>
                  <a:schemeClr val="tx1"/>
                </a:solidFill>
                <a:latin typeface="Arial" charset="0"/>
                <a:ea typeface="ＭＳ Ｐゴシック" charset="0"/>
              </a:defRPr>
            </a:lvl4pPr>
            <a:lvl5pPr marL="2173849" indent="-241539" defTabSz="954414">
              <a:defRPr sz="2500">
                <a:solidFill>
                  <a:schemeClr val="tx1"/>
                </a:solidFill>
                <a:latin typeface="Arial" charset="0"/>
                <a:ea typeface="ＭＳ Ｐゴシック" charset="0"/>
              </a:defRPr>
            </a:lvl5pPr>
            <a:lvl6pPr marL="2656926"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6pPr>
            <a:lvl7pPr marL="3140004"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7pPr>
            <a:lvl8pPr marL="3623081"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8pPr>
            <a:lvl9pPr marL="4106159"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9pPr>
          </a:lstStyle>
          <a:p>
            <a:fld id="{3997A419-355F-A04A-96E0-21643AF8E9FF}" type="slidenum">
              <a:rPr lang="en-US" sz="800"/>
              <a:pPr/>
              <a:t>23</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sz="1300" dirty="0">
                <a:latin typeface="Arial" charset="0"/>
              </a:rPr>
              <a:t>4.1 – Diseño de una red LAN</a:t>
            </a:r>
            <a:endParaRPr lang="es-ES" sz="1300" dirty="0">
              <a:latin typeface="Arial" charset="0"/>
              <a:ea typeface="ＭＳ Ｐゴシック" charset="0"/>
              <a:cs typeface="ＭＳ Ｐゴシック" charset="0"/>
            </a:endParaRPr>
          </a:p>
          <a:p>
            <a:pPr>
              <a:lnSpc>
                <a:spcPct val="80000"/>
              </a:lnSpc>
              <a:buFontTx/>
              <a:buNone/>
            </a:pPr>
            <a:r>
              <a:rPr lang="es-ES" dirty="0">
                <a:latin typeface="Arial" charset="0"/>
              </a:rPr>
              <a:t>4.1.2 – Redes conmutadas</a:t>
            </a:r>
          </a:p>
          <a:p>
            <a:pPr marL="119093" indent="-119093" defTabSz="1078538" eaLnBrk="0" fontAlgn="base" hangingPunct="0">
              <a:lnSpc>
                <a:spcPct val="80000"/>
              </a:lnSpc>
              <a:spcBef>
                <a:spcPct val="50000"/>
              </a:spcBef>
              <a:spcAft>
                <a:spcPct val="0"/>
              </a:spcAft>
              <a:buSzPct val="100000"/>
              <a:defRPr/>
            </a:pPr>
            <a:r>
              <a:rPr lang="es-ES" baseline="0" dirty="0">
                <a:latin typeface="Arial" charset="0"/>
              </a:rPr>
              <a:t>4.1.2.2 – Factores de forma</a:t>
            </a:r>
            <a:endParaRPr lang="es-ES" dirty="0"/>
          </a:p>
          <a:p>
            <a:pPr>
              <a:lnSpc>
                <a:spcPct val="80000"/>
              </a:lnSpc>
              <a:buFontTx/>
              <a:buNone/>
            </a:pPr>
            <a:endParaRPr lang="es-ES" dirty="0"/>
          </a:p>
        </p:txBody>
      </p:sp>
    </p:spTree>
    <p:extLst>
      <p:ext uri="{BB962C8B-B14F-4D97-AF65-F5344CB8AC3E}">
        <p14:creationId xmlns:p14="http://schemas.microsoft.com/office/powerpoint/2010/main" val="1899849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 – Configuración básica de dispositivos</a:t>
            </a:r>
          </a:p>
          <a:p>
            <a:pPr rtl="0"/>
            <a:r>
              <a:rPr lang="es-419" dirty="0"/>
              <a:t>1.1. – Configurar un </a:t>
            </a:r>
            <a:r>
              <a:rPr lang="es-419" dirty="0" err="1"/>
              <a:t>switch</a:t>
            </a:r>
            <a:r>
              <a:rPr lang="es-419" dirty="0"/>
              <a:t> con parámetros iniciales</a:t>
            </a:r>
          </a:p>
          <a:p>
            <a:pPr rtl="0"/>
            <a:r>
              <a:rPr lang="es-419" dirty="0"/>
              <a:t>1.1.5 — Acceso a administración de </a:t>
            </a:r>
            <a:r>
              <a:rPr lang="es-419" dirty="0" err="1"/>
              <a:t>switch</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8671911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14">
              <a:defRPr sz="2500">
                <a:solidFill>
                  <a:schemeClr val="tx1"/>
                </a:solidFill>
                <a:latin typeface="Arial" charset="0"/>
                <a:ea typeface="ＭＳ Ｐゴシック" charset="0"/>
                <a:cs typeface="ＭＳ Ｐゴシック" charset="0"/>
              </a:defRPr>
            </a:lvl1pPr>
            <a:lvl2pPr marL="785001" indent="-301923" defTabSz="954414">
              <a:defRPr sz="2500">
                <a:solidFill>
                  <a:schemeClr val="tx1"/>
                </a:solidFill>
                <a:latin typeface="Arial" charset="0"/>
                <a:ea typeface="ＭＳ Ｐゴシック" charset="0"/>
              </a:defRPr>
            </a:lvl2pPr>
            <a:lvl3pPr marL="1207694" indent="-241539" defTabSz="954414">
              <a:defRPr sz="2500">
                <a:solidFill>
                  <a:schemeClr val="tx1"/>
                </a:solidFill>
                <a:latin typeface="Arial" charset="0"/>
                <a:ea typeface="ＭＳ Ｐゴシック" charset="0"/>
              </a:defRPr>
            </a:lvl3pPr>
            <a:lvl4pPr marL="1690771" indent="-241539" defTabSz="954414">
              <a:defRPr sz="2500">
                <a:solidFill>
                  <a:schemeClr val="tx1"/>
                </a:solidFill>
                <a:latin typeface="Arial" charset="0"/>
                <a:ea typeface="ＭＳ Ｐゴシック" charset="0"/>
              </a:defRPr>
            </a:lvl4pPr>
            <a:lvl5pPr marL="2173849" indent="-241539" defTabSz="954414">
              <a:defRPr sz="2500">
                <a:solidFill>
                  <a:schemeClr val="tx1"/>
                </a:solidFill>
                <a:latin typeface="Arial" charset="0"/>
                <a:ea typeface="ＭＳ Ｐゴシック" charset="0"/>
              </a:defRPr>
            </a:lvl5pPr>
            <a:lvl6pPr marL="2656926"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6pPr>
            <a:lvl7pPr marL="3140004"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7pPr>
            <a:lvl8pPr marL="3623081"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8pPr>
            <a:lvl9pPr marL="4106159"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9pPr>
          </a:lstStyle>
          <a:p>
            <a:pPr rtl="0"/>
            <a:fld id="{3997A419-355F-A04A-96E0-21643AF8E9FF}" type="slidenum">
              <a:rPr sz="800">
                <a:solidFill>
                  <a:prstClr val="black"/>
                </a:solidFill>
              </a:rPr>
              <a:pPr rtl="0"/>
              <a:t>25</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83078">
              <a:defRPr/>
            </a:pPr>
            <a:r>
              <a:rPr lang="es-419" dirty="0"/>
              <a:t>4 – Inter-VLAN </a:t>
            </a:r>
            <a:r>
              <a:rPr lang="es-419" dirty="0" err="1"/>
              <a:t>Routing</a:t>
            </a:r>
            <a:endParaRPr lang="es-419" dirty="0"/>
          </a:p>
          <a:p>
            <a:pPr defTabSz="483078">
              <a:defRPr/>
            </a:pPr>
            <a:r>
              <a:rPr lang="es-419" sz="1300" dirty="0"/>
              <a:t>4.5 – Práctica del módulo y cuestionario</a:t>
            </a:r>
          </a:p>
          <a:p>
            <a:pPr defTabSz="483078">
              <a:defRPr/>
            </a:pPr>
            <a:r>
              <a:rPr lang="es-419" sz="1300" dirty="0"/>
              <a:t>4.5.3 – ¿Qué aprendió en este módulo?</a:t>
            </a:r>
          </a:p>
        </p:txBody>
      </p:sp>
    </p:spTree>
    <p:extLst>
      <p:ext uri="{BB962C8B-B14F-4D97-AF65-F5344CB8AC3E}">
        <p14:creationId xmlns:p14="http://schemas.microsoft.com/office/powerpoint/2010/main" val="32582436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25707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pPr rtl="0"/>
              <a:t>27</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3.1 – Descripción general de las</a:t>
            </a:r>
            <a:r>
              <a:rPr lang="es-419" sz="1300">
                <a:solidFill>
                  <a:schemeClr val="accent5">
                    <a:lumMod val="40000"/>
                    <a:lumOff val="60000"/>
                  </a:schemeClr>
                </a:solidFill>
              </a:rPr>
              <a:t>VLAN</a:t>
            </a:r>
          </a:p>
          <a:p>
            <a:pPr rtl="0">
              <a:lnSpc>
                <a:spcPct val="80000"/>
              </a:lnSpc>
              <a:buFontTx/>
              <a:buNone/>
            </a:pPr>
            <a:r>
              <a:rPr lang="es-419" sz="1300">
                <a:latin typeface="Arial" charset="0"/>
                <a:ea typeface="ＭＳ Ｐゴシック" charset="0"/>
                <a:cs typeface="ＭＳ Ｐゴシック" charset="0"/>
              </a:rPr>
              <a:t>3.1.1 – </a:t>
            </a:r>
            <a:r>
              <a:rPr lang="es-419" sz="1300"/>
              <a:t> </a:t>
            </a:r>
            <a:r>
              <a:rPr lang="es-419"/>
              <a:t>Definiciones de VLAN</a:t>
            </a:r>
          </a:p>
        </p:txBody>
      </p:sp>
    </p:spTree>
    <p:extLst>
      <p:ext uri="{BB962C8B-B14F-4D97-AF65-F5344CB8AC3E}">
        <p14:creationId xmlns:p14="http://schemas.microsoft.com/office/powerpoint/2010/main" val="3525190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28</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3.1 – Descripción general de las</a:t>
            </a:r>
            <a:r>
              <a:rPr lang="es-419" sz="1300">
                <a:solidFill>
                  <a:schemeClr val="accent5">
                    <a:lumMod val="40000"/>
                    <a:lumOff val="60000"/>
                  </a:schemeClr>
                </a:solidFill>
              </a:rPr>
              <a:t>VLAN</a:t>
            </a:r>
          </a:p>
          <a:p>
            <a:pPr rtl="0">
              <a:lnSpc>
                <a:spcPct val="80000"/>
              </a:lnSpc>
              <a:buFontTx/>
              <a:buNone/>
            </a:pPr>
            <a:r>
              <a:rPr lang="es-419">
                <a:latin typeface="Arial" charset="0"/>
              </a:rPr>
              <a:t>3.1.2</a:t>
            </a:r>
            <a:r>
              <a:rPr lang="es-419" baseline="0">
                <a:latin typeface="Arial" charset="0"/>
              </a:rPr>
              <a:t> </a:t>
            </a:r>
            <a:r>
              <a:rPr lang="es-419" sz="1300"/>
              <a:t>— </a:t>
            </a:r>
            <a:r>
              <a:rPr lang="es-419"/>
              <a:t> Ventajas de un diseño de VLAN </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29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3.1 – Descripción general de las</a:t>
            </a:r>
            <a:r>
              <a:rPr lang="es-419" sz="1300">
                <a:solidFill>
                  <a:schemeClr val="accent5">
                    <a:lumMod val="40000"/>
                    <a:lumOff val="60000"/>
                  </a:schemeClr>
                </a:solidFill>
              </a:rPr>
              <a:t>VLAN</a:t>
            </a:r>
          </a:p>
          <a:p>
            <a:pPr rtl="0">
              <a:lnSpc>
                <a:spcPct val="80000"/>
              </a:lnSpc>
              <a:buFontTx/>
              <a:buNone/>
            </a:pPr>
            <a:r>
              <a:rPr lang="es-419">
                <a:latin typeface="Arial" charset="0"/>
              </a:rPr>
              <a:t>3.1.3</a:t>
            </a:r>
            <a:r>
              <a:rPr lang="es-419" baseline="0">
                <a:latin typeface="Arial" charset="0"/>
              </a:rPr>
              <a:t> </a:t>
            </a:r>
            <a:r>
              <a:rPr lang="es-419" sz="1300"/>
              <a:t>– </a:t>
            </a:r>
            <a:r>
              <a:rPr lang="es-419"/>
              <a:t>Tipos de VLAN</a:t>
            </a:r>
          </a:p>
        </p:txBody>
      </p:sp>
    </p:spTree>
    <p:extLst>
      <p:ext uri="{BB962C8B-B14F-4D97-AF65-F5344CB8AC3E}">
        <p14:creationId xmlns:p14="http://schemas.microsoft.com/office/powerpoint/2010/main" val="7853359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30</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3.1 – Descripción general de las</a:t>
            </a:r>
            <a:r>
              <a:rPr lang="es-419" sz="1300">
                <a:solidFill>
                  <a:schemeClr val="accent5">
                    <a:lumMod val="40000"/>
                    <a:lumOff val="60000"/>
                  </a:schemeClr>
                </a:solidFill>
              </a:rPr>
              <a:t>VLAN</a:t>
            </a:r>
          </a:p>
          <a:p>
            <a:pPr rtl="0">
              <a:lnSpc>
                <a:spcPct val="80000"/>
              </a:lnSpc>
              <a:buFontTx/>
              <a:buNone/>
            </a:pPr>
            <a:r>
              <a:rPr lang="es-419">
                <a:latin typeface="Arial" charset="0"/>
              </a:rPr>
              <a:t>3.1.3</a:t>
            </a:r>
            <a:r>
              <a:rPr lang="es-419" baseline="0">
                <a:latin typeface="Arial" charset="0"/>
              </a:rPr>
              <a:t> </a:t>
            </a:r>
            <a:r>
              <a:rPr lang="es-419" sz="1300"/>
              <a:t>– </a:t>
            </a:r>
            <a:r>
              <a:rPr lang="es-419"/>
              <a:t>Tipos de VLAN (Cont.)</a:t>
            </a:r>
          </a:p>
        </p:txBody>
      </p:sp>
    </p:spTree>
    <p:extLst>
      <p:ext uri="{BB962C8B-B14F-4D97-AF65-F5344CB8AC3E}">
        <p14:creationId xmlns:p14="http://schemas.microsoft.com/office/powerpoint/2010/main" val="7853359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31</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3.1 – Descripción general de las</a:t>
            </a:r>
            <a:r>
              <a:rPr lang="es-419" sz="1300">
                <a:solidFill>
                  <a:schemeClr val="accent5">
                    <a:lumMod val="40000"/>
                    <a:lumOff val="60000"/>
                  </a:schemeClr>
                </a:solidFill>
              </a:rPr>
              <a:t>VLAN</a:t>
            </a:r>
          </a:p>
          <a:p>
            <a:pPr rtl="0">
              <a:lnSpc>
                <a:spcPct val="80000"/>
              </a:lnSpc>
              <a:buFontTx/>
              <a:buNone/>
            </a:pPr>
            <a:r>
              <a:rPr lang="es-419">
                <a:latin typeface="Arial" charset="0"/>
              </a:rPr>
              <a:t>3.1.3</a:t>
            </a:r>
            <a:r>
              <a:rPr lang="es-419" baseline="0">
                <a:latin typeface="Arial" charset="0"/>
              </a:rPr>
              <a:t> </a:t>
            </a:r>
            <a:r>
              <a:rPr lang="es-419" sz="1300"/>
              <a:t>– </a:t>
            </a:r>
            <a:r>
              <a:rPr lang="es-419"/>
              <a:t>Tipos de VLAN (Cont.)</a:t>
            </a:r>
          </a:p>
        </p:txBody>
      </p:sp>
    </p:spTree>
    <p:extLst>
      <p:ext uri="{BB962C8B-B14F-4D97-AF65-F5344CB8AC3E}">
        <p14:creationId xmlns:p14="http://schemas.microsoft.com/office/powerpoint/2010/main" val="7853359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3.2 – </a:t>
            </a:r>
            <a:r>
              <a:rPr lang="es-419">
                <a:solidFill>
                  <a:schemeClr val="accent5">
                    <a:lumMod val="40000"/>
                    <a:lumOff val="60000"/>
                  </a:schemeClr>
                </a:solidFill>
              </a:rPr>
              <a:t>VLAN en un entorno de conmutación múltiple</a:t>
            </a:r>
          </a:p>
          <a:p>
            <a:pPr rtl="0">
              <a:lnSpc>
                <a:spcPct val="80000"/>
              </a:lnSpc>
              <a:buFontTx/>
              <a:buNone/>
            </a:pPr>
            <a:r>
              <a:rPr lang="es-419" sz="1300">
                <a:latin typeface="Arial" charset="0"/>
                <a:ea typeface="ＭＳ Ｐゴシック" charset="0"/>
                <a:cs typeface="ＭＳ Ｐゴシック" charset="0"/>
              </a:rPr>
              <a:t>3.2.1 — </a:t>
            </a:r>
            <a:r>
              <a:rPr lang="es-419"/>
              <a:t> Definición de troncos de VLAN</a:t>
            </a:r>
          </a:p>
        </p:txBody>
      </p:sp>
    </p:spTree>
    <p:extLst>
      <p:ext uri="{BB962C8B-B14F-4D97-AF65-F5344CB8AC3E}">
        <p14:creationId xmlns:p14="http://schemas.microsoft.com/office/powerpoint/2010/main" val="34275545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3.2 – </a:t>
            </a:r>
            <a:r>
              <a:rPr lang="es-419">
                <a:solidFill>
                  <a:schemeClr val="accent5">
                    <a:lumMod val="40000"/>
                    <a:lumOff val="60000"/>
                  </a:schemeClr>
                </a:solidFill>
              </a:rPr>
              <a:t>VLAN en un entorno de conmutación múltiple</a:t>
            </a:r>
          </a:p>
          <a:p>
            <a:pPr rtl="0">
              <a:lnSpc>
                <a:spcPct val="80000"/>
              </a:lnSpc>
              <a:buFontTx/>
              <a:buNone/>
            </a:pPr>
            <a:r>
              <a:rPr lang="es-419" sz="1300">
                <a:latin typeface="Arial" charset="0"/>
                <a:ea typeface="ＭＳ Ｐゴシック" charset="0"/>
                <a:cs typeface="ＭＳ Ｐゴシック" charset="0"/>
              </a:rPr>
              <a:t>3.2.2 – </a:t>
            </a:r>
            <a:r>
              <a:rPr lang="es-419"/>
              <a:t>Redes sin VLAN</a:t>
            </a:r>
          </a:p>
        </p:txBody>
      </p:sp>
    </p:spTree>
    <p:extLst>
      <p:ext uri="{BB962C8B-B14F-4D97-AF65-F5344CB8AC3E}">
        <p14:creationId xmlns:p14="http://schemas.microsoft.com/office/powerpoint/2010/main" val="34275545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34</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3.2 – </a:t>
            </a:r>
            <a:r>
              <a:rPr lang="es-419">
                <a:solidFill>
                  <a:schemeClr val="accent5">
                    <a:lumMod val="40000"/>
                    <a:lumOff val="60000"/>
                  </a:schemeClr>
                </a:solidFill>
              </a:rPr>
              <a:t>VLAN en un entorno de conmutación múltiple</a:t>
            </a:r>
          </a:p>
          <a:p>
            <a:pPr rtl="0">
              <a:lnSpc>
                <a:spcPct val="80000"/>
              </a:lnSpc>
              <a:buFontTx/>
              <a:buNone/>
            </a:pPr>
            <a:r>
              <a:rPr lang="es-419" sz="1300">
                <a:latin typeface="Arial" charset="0"/>
                <a:ea typeface="ＭＳ Ｐゴシック" charset="0"/>
                <a:cs typeface="ＭＳ Ｐゴシック" charset="0"/>
              </a:rPr>
              <a:t>3.2.3 — </a:t>
            </a:r>
            <a:r>
              <a:rPr lang="es-419"/>
              <a:t>Redes con VLAN </a:t>
            </a:r>
          </a:p>
          <a:p>
            <a:pPr>
              <a:lnSpc>
                <a:spcPct val="80000"/>
              </a:lnSpc>
              <a:buFontTx/>
              <a:buNone/>
            </a:pPr>
            <a:endParaRPr lang="en-U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35</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3.2 – </a:t>
            </a:r>
            <a:r>
              <a:rPr lang="es-419">
                <a:solidFill>
                  <a:schemeClr val="accent5">
                    <a:lumMod val="40000"/>
                    <a:lumOff val="60000"/>
                  </a:schemeClr>
                </a:solidFill>
              </a:rPr>
              <a:t>VLAN en un entorno de conmutación múltiple</a:t>
            </a:r>
          </a:p>
          <a:p>
            <a:pPr rtl="0">
              <a:lnSpc>
                <a:spcPct val="80000"/>
              </a:lnSpc>
              <a:buFontTx/>
              <a:buNone/>
            </a:pPr>
            <a:r>
              <a:rPr lang="es-419" sz="1300">
                <a:latin typeface="Arial" charset="0"/>
                <a:ea typeface="ＭＳ Ｐゴシック" charset="0"/>
                <a:cs typeface="ＭＳ Ｐゴシック" charset="0"/>
              </a:rPr>
              <a:t>3.2.4 — </a:t>
            </a:r>
            <a:r>
              <a:rPr lang="es-419"/>
              <a:t>Identificación de VLAN con una etiqueta </a:t>
            </a:r>
          </a:p>
          <a:p>
            <a:pPr>
              <a:lnSpc>
                <a:spcPct val="80000"/>
              </a:lnSpc>
              <a:buFontTx/>
              <a:buNone/>
            </a:pPr>
            <a:endParaRPr lang="en-U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3.2 – </a:t>
            </a:r>
            <a:r>
              <a:rPr lang="es-419">
                <a:solidFill>
                  <a:schemeClr val="accent5">
                    <a:lumMod val="40000"/>
                    <a:lumOff val="60000"/>
                  </a:schemeClr>
                </a:solidFill>
              </a:rPr>
              <a:t>VLAN en un entorno de conmutación múltiple</a:t>
            </a:r>
          </a:p>
          <a:p>
            <a:pPr rtl="0">
              <a:lnSpc>
                <a:spcPct val="80000"/>
              </a:lnSpc>
              <a:buFontTx/>
              <a:buNone/>
            </a:pPr>
            <a:r>
              <a:rPr lang="es-419" sz="1300">
                <a:latin typeface="Arial" charset="0"/>
                <a:ea typeface="ＭＳ Ｐゴシック" charset="0"/>
                <a:cs typeface="ＭＳ Ｐゴシック" charset="0"/>
              </a:rPr>
              <a:t>3.2.5 – </a:t>
            </a:r>
            <a:r>
              <a:rPr lang="es-419"/>
              <a:t>VLAN nativas y etiquetado 802.1Q</a:t>
            </a:r>
          </a:p>
          <a:p>
            <a:pPr>
              <a:lnSpc>
                <a:spcPct val="80000"/>
              </a:lnSpc>
              <a:buFontTx/>
              <a:buNone/>
            </a:pPr>
            <a:endParaRPr lang="en-U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3.2 – </a:t>
            </a:r>
            <a:r>
              <a:rPr lang="es-419">
                <a:solidFill>
                  <a:schemeClr val="accent5">
                    <a:lumMod val="40000"/>
                    <a:lumOff val="60000"/>
                  </a:schemeClr>
                </a:solidFill>
              </a:rPr>
              <a:t>VLAN en un entorno de conmutación múltiple</a:t>
            </a:r>
          </a:p>
          <a:p>
            <a:pPr rtl="0">
              <a:lnSpc>
                <a:spcPct val="80000"/>
              </a:lnSpc>
              <a:buFontTx/>
              <a:buNone/>
            </a:pPr>
            <a:r>
              <a:rPr lang="es-419" sz="1300">
                <a:latin typeface="Arial" charset="0"/>
                <a:ea typeface="ＭＳ Ｐゴシック" charset="0"/>
                <a:cs typeface="ＭＳ Ｐゴシック" charset="0"/>
              </a:rPr>
              <a:t>3.2.6 – </a:t>
            </a:r>
            <a:r>
              <a:rPr lang="es-419"/>
              <a:t>Etiquetado de VLAN de voz</a:t>
            </a:r>
          </a:p>
          <a:p>
            <a:pPr>
              <a:lnSpc>
                <a:spcPct val="80000"/>
              </a:lnSpc>
              <a:buFontTx/>
              <a:buNone/>
            </a:pPr>
            <a:endParaRPr lang="en-U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4856887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38</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3.2 – </a:t>
            </a:r>
            <a:r>
              <a:rPr lang="es-419">
                <a:solidFill>
                  <a:schemeClr val="accent5">
                    <a:lumMod val="40000"/>
                    <a:lumOff val="60000"/>
                  </a:schemeClr>
                </a:solidFill>
              </a:rPr>
              <a:t>VLAN en un entorno de conmutación múltiple</a:t>
            </a:r>
          </a:p>
          <a:p>
            <a:pPr rtl="0">
              <a:lnSpc>
                <a:spcPct val="80000"/>
              </a:lnSpc>
              <a:buFontTx/>
              <a:buNone/>
            </a:pPr>
            <a:r>
              <a:rPr lang="es-419" sz="1300">
                <a:latin typeface="Arial" charset="0"/>
                <a:ea typeface="ＭＳ Ｐゴシック" charset="0"/>
                <a:cs typeface="ＭＳ Ｐゴシック" charset="0"/>
              </a:rPr>
              <a:t>3.2.6 – </a:t>
            </a:r>
            <a:r>
              <a:rPr lang="es-419"/>
              <a:t>Etiquetado de VLAN de voz</a:t>
            </a:r>
          </a:p>
          <a:p>
            <a:pPr>
              <a:lnSpc>
                <a:spcPct val="80000"/>
              </a:lnSpc>
              <a:buFontTx/>
              <a:buNone/>
            </a:pPr>
            <a:endParaRPr lang="en-U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08">
              <a:defRPr sz="2500">
                <a:solidFill>
                  <a:schemeClr val="tx1"/>
                </a:solidFill>
                <a:latin typeface="Arial" charset="0"/>
              </a:defRPr>
            </a:lvl1pPr>
            <a:lvl2pPr marL="785001" indent="-301923" defTabSz="932608">
              <a:defRPr sz="2500">
                <a:solidFill>
                  <a:schemeClr val="tx1"/>
                </a:solidFill>
                <a:latin typeface="Arial" charset="0"/>
              </a:defRPr>
            </a:lvl2pPr>
            <a:lvl3pPr marL="1207694" indent="-241539" defTabSz="932608">
              <a:defRPr sz="2500">
                <a:solidFill>
                  <a:schemeClr val="tx1"/>
                </a:solidFill>
                <a:latin typeface="Arial" charset="0"/>
              </a:defRPr>
            </a:lvl3pPr>
            <a:lvl4pPr marL="1690771" indent="-241539" defTabSz="932608">
              <a:defRPr sz="2500">
                <a:solidFill>
                  <a:schemeClr val="tx1"/>
                </a:solidFill>
                <a:latin typeface="Arial" charset="0"/>
              </a:defRPr>
            </a:lvl4pPr>
            <a:lvl5pPr marL="2173849" indent="-241539" defTabSz="932608">
              <a:defRPr sz="2500">
                <a:solidFill>
                  <a:schemeClr val="tx1"/>
                </a:solidFill>
                <a:latin typeface="Arial" charset="0"/>
              </a:defRPr>
            </a:lvl5pPr>
            <a:lvl6pPr marL="2656926" indent="-241539" algn="ctr" defTabSz="932608" eaLnBrk="0" fontAlgn="base" hangingPunct="0">
              <a:lnSpc>
                <a:spcPct val="90000"/>
              </a:lnSpc>
              <a:spcBef>
                <a:spcPct val="0"/>
              </a:spcBef>
              <a:spcAft>
                <a:spcPct val="0"/>
              </a:spcAft>
              <a:defRPr sz="2500">
                <a:solidFill>
                  <a:schemeClr val="tx1"/>
                </a:solidFill>
                <a:latin typeface="Arial" charset="0"/>
              </a:defRPr>
            </a:lvl6pPr>
            <a:lvl7pPr marL="3140004" indent="-241539" algn="ctr" defTabSz="932608" eaLnBrk="0" fontAlgn="base" hangingPunct="0">
              <a:lnSpc>
                <a:spcPct val="90000"/>
              </a:lnSpc>
              <a:spcBef>
                <a:spcPct val="0"/>
              </a:spcBef>
              <a:spcAft>
                <a:spcPct val="0"/>
              </a:spcAft>
              <a:defRPr sz="2500">
                <a:solidFill>
                  <a:schemeClr val="tx1"/>
                </a:solidFill>
                <a:latin typeface="Arial" charset="0"/>
              </a:defRPr>
            </a:lvl7pPr>
            <a:lvl8pPr marL="3623081" indent="-241539" algn="ctr" defTabSz="932608" eaLnBrk="0" fontAlgn="base" hangingPunct="0">
              <a:lnSpc>
                <a:spcPct val="90000"/>
              </a:lnSpc>
              <a:spcBef>
                <a:spcPct val="0"/>
              </a:spcBef>
              <a:spcAft>
                <a:spcPct val="0"/>
              </a:spcAft>
              <a:defRPr sz="2500">
                <a:solidFill>
                  <a:schemeClr val="tx1"/>
                </a:solidFill>
                <a:latin typeface="Arial" charset="0"/>
              </a:defRPr>
            </a:lvl8pPr>
            <a:lvl9pPr marL="4106159" indent="-241539" algn="ctr" defTabSz="932608" eaLnBrk="0" fontAlgn="base" hangingPunct="0">
              <a:lnSpc>
                <a:spcPct val="90000"/>
              </a:lnSpc>
              <a:spcBef>
                <a:spcPct val="0"/>
              </a:spcBef>
              <a:spcAft>
                <a:spcPct val="0"/>
              </a:spcAft>
              <a:defRPr sz="2500">
                <a:solidFill>
                  <a:schemeClr val="tx1"/>
                </a:solidFill>
                <a:latin typeface="Arial" charset="0"/>
              </a:defRPr>
            </a:lvl9pPr>
          </a:lstStyle>
          <a:p>
            <a:pPr rtl="0"/>
            <a:fld id="{04267211-205D-47E8-9F29-7E4C01D43DC3}" type="slidenum">
              <a:rPr sz="800">
                <a:solidFill>
                  <a:prstClr val="black"/>
                </a:solidFill>
              </a:rPr>
              <a:pPr rtl="0"/>
              <a:t>39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a:t>3 — </a:t>
            </a:r>
            <a:r>
              <a:rPr lang="es-419" sz="1300">
                <a:solidFill>
                  <a:schemeClr val="accent5">
                    <a:lumMod val="40000"/>
                    <a:lumOff val="60000"/>
                  </a:schemeClr>
                </a:solidFill>
              </a:rPr>
              <a:t>VLAN</a:t>
            </a:r>
          </a:p>
          <a:p>
            <a:pPr rtl="0">
              <a:buFontTx/>
              <a:buNone/>
            </a:pPr>
            <a:r>
              <a:rPr lang="es-419" sz="1300"/>
              <a:t>3.2 – </a:t>
            </a:r>
            <a:r>
              <a:rPr lang="es-419">
                <a:solidFill>
                  <a:schemeClr val="accent5">
                    <a:lumMod val="40000"/>
                    <a:lumOff val="60000"/>
                  </a:schemeClr>
                </a:solidFill>
              </a:rPr>
              <a:t>VLAN en un entorno de conmutación múltiple</a:t>
            </a:r>
          </a:p>
          <a:p>
            <a:pPr rtl="0">
              <a:lnSpc>
                <a:spcPct val="80000"/>
              </a:lnSpc>
              <a:buFontTx/>
              <a:buNone/>
            </a:pPr>
            <a:r>
              <a:rPr lang="es-419" sz="1300">
                <a:latin typeface="Arial" charset="0"/>
                <a:ea typeface="ＭＳ Ｐゴシック" charset="0"/>
                <a:cs typeface="ＭＳ Ｐゴシック" charset="0"/>
              </a:rPr>
              <a:t>3.2.7 — </a:t>
            </a:r>
            <a:r>
              <a:rPr lang="es-419"/>
              <a:t>Ejemplo de verificación de VLAN de voz </a:t>
            </a:r>
          </a:p>
          <a:p>
            <a:pPr>
              <a:lnSpc>
                <a:spcPct val="80000"/>
              </a:lnSpc>
              <a:buFontTx/>
              <a:buNone/>
            </a:pPr>
            <a:endParaRPr lang="en-U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2686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a:t>
            </a:r>
            <a:r>
              <a:rPr lang="es-419" sz="1300">
                <a:solidFill>
                  <a:schemeClr val="accent5">
                    <a:lumMod val="40000"/>
                    <a:lumOff val="60000"/>
                  </a:schemeClr>
                </a:solidFill>
              </a:rPr>
              <a:t> VLANs</a:t>
            </a:r>
          </a:p>
          <a:p>
            <a:pPr rtl="0">
              <a:buFontTx/>
              <a:buNone/>
            </a:pPr>
            <a:r>
              <a:rPr lang="es-419" sz="1300"/>
              <a:t>3.3 — </a:t>
            </a:r>
            <a:r>
              <a:rPr lang="es-419">
                <a:solidFill>
                  <a:schemeClr val="accent5">
                    <a:lumMod val="40000"/>
                    <a:lumOff val="60000"/>
                  </a:schemeClr>
                </a:solidFill>
              </a:rPr>
              <a:t>Configuración de VLAN</a:t>
            </a:r>
          </a:p>
          <a:p>
            <a:pPr rtl="0">
              <a:lnSpc>
                <a:spcPct val="80000"/>
              </a:lnSpc>
              <a:buFontTx/>
              <a:buNone/>
            </a:pPr>
            <a:r>
              <a:rPr lang="es-419" sz="1300">
                <a:latin typeface="Arial" charset="0"/>
                <a:ea typeface="ＭＳ Ｐゴシック" charset="0"/>
                <a:cs typeface="ＭＳ Ｐゴシック" charset="0"/>
              </a:rPr>
              <a:t>3.3.1 – </a:t>
            </a:r>
            <a:r>
              <a:rPr lang="es-419"/>
              <a:t>Rangos de VLAN en los switches Catalyst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41</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 VLAN</a:t>
            </a:r>
          </a:p>
          <a:p>
            <a:pPr rtl="0">
              <a:buFontTx/>
              <a:buNone/>
            </a:pPr>
            <a:r>
              <a:rPr lang="es-419" sz="1300"/>
              <a:t>3.3 — Configuración de VLAN</a:t>
            </a:r>
          </a:p>
          <a:p>
            <a:pPr rtl="0">
              <a:lnSpc>
                <a:spcPct val="80000"/>
              </a:lnSpc>
              <a:buFontTx/>
              <a:buNone/>
            </a:pPr>
            <a:r>
              <a:rPr lang="es-419" sz="1300">
                <a:latin typeface="Arial" charset="0"/>
                <a:ea typeface="ＭＳ Ｐゴシック" charset="0"/>
                <a:cs typeface="ＭＳ Ｐゴシック" charset="0"/>
              </a:rPr>
              <a:t>3.3.2 — </a:t>
            </a:r>
            <a:r>
              <a:rPr lang="es-419"/>
              <a:t>Comandos de creación de VLAN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42</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a:t>
            </a:r>
            <a:r>
              <a:rPr lang="es-419" sz="1300">
                <a:solidFill>
                  <a:schemeClr val="accent5">
                    <a:lumMod val="40000"/>
                    <a:lumOff val="60000"/>
                  </a:schemeClr>
                </a:solidFill>
              </a:rPr>
              <a:t> VLANs</a:t>
            </a:r>
          </a:p>
          <a:p>
            <a:pPr rtl="0">
              <a:buFontTx/>
              <a:buNone/>
            </a:pPr>
            <a:r>
              <a:rPr lang="es-419" sz="1300"/>
              <a:t>3.3 — </a:t>
            </a:r>
            <a:r>
              <a:rPr lang="es-419">
                <a:solidFill>
                  <a:schemeClr val="accent5">
                    <a:lumMod val="40000"/>
                    <a:lumOff val="60000"/>
                  </a:schemeClr>
                </a:solidFill>
              </a:rPr>
              <a:t>Configuración de VLAN</a:t>
            </a:r>
          </a:p>
          <a:p>
            <a:pPr rtl="0">
              <a:lnSpc>
                <a:spcPct val="80000"/>
              </a:lnSpc>
              <a:buFontTx/>
              <a:buNone/>
            </a:pPr>
            <a:r>
              <a:rPr lang="es-419" sz="1300">
                <a:latin typeface="Arial" charset="0"/>
                <a:ea typeface="ＭＳ Ｐゴシック" charset="0"/>
                <a:cs typeface="ＭＳ Ｐゴシック" charset="0"/>
              </a:rPr>
              <a:t>3.3.3 — </a:t>
            </a:r>
            <a:r>
              <a:rPr lang="es-419"/>
              <a:t>Ejemplo de creación de VLAN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43</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a:t>
            </a:r>
            <a:r>
              <a:rPr lang="es-419" sz="1300">
                <a:solidFill>
                  <a:schemeClr val="accent5">
                    <a:lumMod val="40000"/>
                    <a:lumOff val="60000"/>
                  </a:schemeClr>
                </a:solidFill>
              </a:rPr>
              <a:t> VLANs</a:t>
            </a:r>
          </a:p>
          <a:p>
            <a:pPr rtl="0">
              <a:buFontTx/>
              <a:buNone/>
            </a:pPr>
            <a:r>
              <a:rPr lang="es-419" sz="1300"/>
              <a:t>3.3 — </a:t>
            </a:r>
            <a:r>
              <a:rPr lang="es-419">
                <a:solidFill>
                  <a:schemeClr val="accent5">
                    <a:lumMod val="40000"/>
                    <a:lumOff val="60000"/>
                  </a:schemeClr>
                </a:solidFill>
              </a:rPr>
              <a:t>Configuración de VLAN</a:t>
            </a:r>
          </a:p>
          <a:p>
            <a:pPr rtl="0">
              <a:lnSpc>
                <a:spcPct val="80000"/>
              </a:lnSpc>
              <a:buFontTx/>
              <a:buNone/>
            </a:pPr>
            <a:r>
              <a:rPr lang="es-419" sz="1300">
                <a:latin typeface="Arial" charset="0"/>
                <a:ea typeface="ＭＳ Ｐゴシック" charset="0"/>
                <a:cs typeface="ＭＳ Ｐゴシック" charset="0"/>
              </a:rPr>
              <a:t>3.3.4 — </a:t>
            </a:r>
            <a:r>
              <a:rPr lang="es-419"/>
              <a:t>Comandos de asignación de puertos VLAN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44</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a:t>
            </a:r>
            <a:r>
              <a:rPr lang="es-419" sz="1300">
                <a:solidFill>
                  <a:schemeClr val="accent5">
                    <a:lumMod val="40000"/>
                    <a:lumOff val="60000"/>
                  </a:schemeClr>
                </a:solidFill>
              </a:rPr>
              <a:t> VLAN</a:t>
            </a:r>
          </a:p>
          <a:p>
            <a:pPr rtl="0">
              <a:buFontTx/>
              <a:buNone/>
            </a:pPr>
            <a:r>
              <a:rPr lang="es-419" sz="1300"/>
              <a:t>3.3 — </a:t>
            </a:r>
            <a:r>
              <a:rPr lang="es-419">
                <a:solidFill>
                  <a:schemeClr val="accent5">
                    <a:lumMod val="40000"/>
                    <a:lumOff val="60000"/>
                  </a:schemeClr>
                </a:solidFill>
              </a:rPr>
              <a:t>Configuración de VLAN</a:t>
            </a:r>
          </a:p>
          <a:p>
            <a:pPr rtl="0">
              <a:lnSpc>
                <a:spcPct val="80000"/>
              </a:lnSpc>
              <a:buFontTx/>
              <a:buNone/>
            </a:pPr>
            <a:r>
              <a:rPr lang="es-419" sz="1300">
                <a:latin typeface="Arial" charset="0"/>
                <a:ea typeface="ＭＳ Ｐゴシック" charset="0"/>
                <a:cs typeface="ＭＳ Ｐゴシック" charset="0"/>
              </a:rPr>
              <a:t>3.3.5 — </a:t>
            </a:r>
            <a:r>
              <a:rPr lang="es-419"/>
              <a:t>Ejemplo de asignación de puerto VLAN </a:t>
            </a:r>
          </a:p>
          <a:p>
            <a:pPr defTabSz="483078">
              <a:lnSpc>
                <a:spcPct val="80000"/>
              </a:lnSpc>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45</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a:t>
            </a:r>
            <a:r>
              <a:rPr lang="es-419" sz="1300">
                <a:solidFill>
                  <a:schemeClr val="accent5">
                    <a:lumMod val="40000"/>
                    <a:lumOff val="60000"/>
                  </a:schemeClr>
                </a:solidFill>
              </a:rPr>
              <a:t> VLAN</a:t>
            </a:r>
          </a:p>
          <a:p>
            <a:pPr rtl="0">
              <a:buFontTx/>
              <a:buNone/>
            </a:pPr>
            <a:r>
              <a:rPr lang="es-419" sz="1300"/>
              <a:t>3.3 — </a:t>
            </a:r>
            <a:r>
              <a:rPr lang="es-419">
                <a:solidFill>
                  <a:schemeClr val="accent5">
                    <a:lumMod val="40000"/>
                    <a:lumOff val="60000"/>
                  </a:schemeClr>
                </a:solidFill>
              </a:rPr>
              <a:t>Configuración de VLAN</a:t>
            </a:r>
          </a:p>
          <a:p>
            <a:pPr rtl="0">
              <a:lnSpc>
                <a:spcPct val="80000"/>
              </a:lnSpc>
              <a:buFontTx/>
              <a:buNone/>
            </a:pPr>
            <a:r>
              <a:rPr lang="es-419" sz="1300">
                <a:latin typeface="Arial" charset="0"/>
                <a:ea typeface="ＭＳ Ｐゴシック" charset="0"/>
                <a:cs typeface="ＭＳ Ｐゴシック" charset="0"/>
              </a:rPr>
              <a:t>3.3.5 — </a:t>
            </a:r>
            <a:r>
              <a:rPr lang="es-419"/>
              <a:t>Ejemplo de asignación de puerto VLAN </a:t>
            </a:r>
          </a:p>
          <a:p>
            <a:pPr defTabSz="483078">
              <a:lnSpc>
                <a:spcPct val="80000"/>
              </a:lnSpc>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46</a:t>
            </a:fld>
            <a:endParaRPr>
              <a:solidFill>
                <a:prstClr val="black"/>
              </a:solidFill>
            </a:endParaRPr>
          </a:p>
        </p:txBody>
      </p:sp>
    </p:spTree>
    <p:extLst>
      <p:ext uri="{BB962C8B-B14F-4D97-AF65-F5344CB8AC3E}">
        <p14:creationId xmlns:p14="http://schemas.microsoft.com/office/powerpoint/2010/main" val="33270167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a:t>
            </a:r>
            <a:r>
              <a:rPr lang="es-419" sz="1300">
                <a:solidFill>
                  <a:schemeClr val="accent5">
                    <a:lumMod val="40000"/>
                    <a:lumOff val="60000"/>
                  </a:schemeClr>
                </a:solidFill>
              </a:rPr>
              <a:t> VLAN</a:t>
            </a:r>
          </a:p>
          <a:p>
            <a:pPr rtl="0">
              <a:buFontTx/>
              <a:buNone/>
            </a:pPr>
            <a:r>
              <a:rPr lang="es-419" sz="1300"/>
              <a:t>3.3 — </a:t>
            </a:r>
            <a:r>
              <a:rPr lang="es-419">
                <a:solidFill>
                  <a:schemeClr val="accent5">
                    <a:lumMod val="40000"/>
                    <a:lumOff val="60000"/>
                  </a:schemeClr>
                </a:solidFill>
              </a:rPr>
              <a:t>Configuración de VLAN</a:t>
            </a:r>
          </a:p>
          <a:p>
            <a:pPr rtl="0">
              <a:lnSpc>
                <a:spcPct val="80000"/>
              </a:lnSpc>
              <a:buFontTx/>
              <a:buNone/>
            </a:pPr>
            <a:r>
              <a:rPr lang="es-419" sz="1300">
                <a:latin typeface="Arial" charset="0"/>
                <a:ea typeface="ＭＳ Ｐゴシック" charset="0"/>
                <a:cs typeface="ＭＳ Ｐゴシック" charset="0"/>
              </a:rPr>
              <a:t>3.3.9 – </a:t>
            </a:r>
            <a:r>
              <a:rPr lang="es-419"/>
              <a:t>Cambiar la membresía del puerto VLAN</a:t>
            </a:r>
          </a:p>
          <a:p>
            <a:pPr defTabSz="483078">
              <a:lnSpc>
                <a:spcPct val="80000"/>
              </a:lnSpc>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47</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a:t>
            </a:r>
            <a:r>
              <a:rPr lang="es-419" sz="1300">
                <a:solidFill>
                  <a:schemeClr val="accent5">
                    <a:lumMod val="40000"/>
                    <a:lumOff val="60000"/>
                  </a:schemeClr>
                </a:solidFill>
              </a:rPr>
              <a:t> VLAN</a:t>
            </a:r>
          </a:p>
          <a:p>
            <a:pPr rtl="0">
              <a:buFontTx/>
              <a:buNone/>
            </a:pPr>
            <a:r>
              <a:rPr lang="es-419" sz="1300"/>
              <a:t>3.3 — </a:t>
            </a:r>
            <a:r>
              <a:rPr lang="es-419">
                <a:solidFill>
                  <a:schemeClr val="accent5">
                    <a:lumMod val="40000"/>
                    <a:lumOff val="60000"/>
                  </a:schemeClr>
                </a:solidFill>
              </a:rPr>
              <a:t>Configuración de VLAN</a:t>
            </a:r>
          </a:p>
          <a:p>
            <a:pPr rtl="0">
              <a:lnSpc>
                <a:spcPct val="80000"/>
              </a:lnSpc>
              <a:buFontTx/>
              <a:buNone/>
            </a:pPr>
            <a:r>
              <a:rPr lang="es-419" sz="1300">
                <a:latin typeface="Arial" charset="0"/>
                <a:ea typeface="ＭＳ Ｐゴシック" charset="0"/>
                <a:cs typeface="ＭＳ Ｐゴシック" charset="0"/>
              </a:rPr>
              <a:t>3.3.10 – </a:t>
            </a:r>
            <a:r>
              <a:rPr lang="es-419"/>
              <a:t>Eliminar VLAN</a:t>
            </a:r>
          </a:p>
          <a:p>
            <a:pPr defTabSz="483078">
              <a:lnSpc>
                <a:spcPct val="80000"/>
              </a:lnSpc>
              <a:defRPr/>
            </a:pPr>
            <a:r>
              <a:rPr lang="es-419" sz="1300">
                <a:latin typeface="Arial" charset="0"/>
                <a:ea typeface="ＭＳ Ｐゴシック" charset="0"/>
                <a:cs typeface="ＭＳ Ｐゴシック" charset="0"/>
              </a:rPr>
              <a:t>3.3.11 — </a:t>
            </a:r>
            <a:r>
              <a:rPr lang="es-419"/>
              <a:t>Comprobador de sintaxis — Configuración de VLAN </a:t>
            </a:r>
          </a:p>
          <a:p>
            <a:pPr>
              <a:lnSpc>
                <a:spcPct val="80000"/>
              </a:lnSpc>
              <a:buFontTx/>
              <a:buNone/>
            </a:pPr>
            <a:endParaRPr lang="en-US" altLang="en-US" dirty="0"/>
          </a:p>
          <a:p>
            <a:pPr defTabSz="483078">
              <a:lnSpc>
                <a:spcPct val="80000"/>
              </a:lnSpc>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48</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74922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 </a:t>
            </a:r>
            <a:r>
              <a:rPr lang="es-419">
                <a:solidFill>
                  <a:schemeClr val="accent5">
                    <a:lumMod val="40000"/>
                    <a:lumOff val="60000"/>
                  </a:schemeClr>
                </a:solidFill>
              </a:rPr>
              <a:t>VLAN</a:t>
            </a:r>
          </a:p>
          <a:p>
            <a:pPr rtl="0">
              <a:buFontTx/>
              <a:buNone/>
            </a:pPr>
            <a:r>
              <a:rPr lang="es-419" sz="1300"/>
              <a:t>3.4 – </a:t>
            </a:r>
            <a:r>
              <a:rPr lang="es-419">
                <a:solidFill>
                  <a:schemeClr val="accent5">
                    <a:lumMod val="40000"/>
                    <a:lumOff val="60000"/>
                  </a:schemeClr>
                </a:solidFill>
              </a:rPr>
              <a:t>Troncales VLAN</a:t>
            </a:r>
          </a:p>
          <a:p>
            <a:pPr rtl="0"/>
            <a:r>
              <a:rPr lang="es-419"/>
              <a:t>3.4.1</a:t>
            </a:r>
            <a:r>
              <a:rPr lang="es-419" baseline="0"/>
              <a:t> — </a:t>
            </a:r>
            <a:r>
              <a:rPr lang="es-419"/>
              <a:t>Comandos de configuración troncal</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50</a:t>
            </a:fld>
            <a:endParaRPr>
              <a:solidFill>
                <a:prstClr val="black"/>
              </a:solidFill>
            </a:endParaRPr>
          </a:p>
        </p:txBody>
      </p:sp>
    </p:spTree>
    <p:extLst>
      <p:ext uri="{BB962C8B-B14F-4D97-AF65-F5344CB8AC3E}">
        <p14:creationId xmlns:p14="http://schemas.microsoft.com/office/powerpoint/2010/main" val="17767587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 </a:t>
            </a:r>
            <a:r>
              <a:rPr lang="es-419">
                <a:solidFill>
                  <a:schemeClr val="accent5">
                    <a:lumMod val="40000"/>
                    <a:lumOff val="60000"/>
                  </a:schemeClr>
                </a:solidFill>
              </a:rPr>
              <a:t>VLAN</a:t>
            </a:r>
          </a:p>
          <a:p>
            <a:pPr rtl="0">
              <a:buFontTx/>
              <a:buNone/>
            </a:pPr>
            <a:r>
              <a:rPr lang="es-419" sz="1300"/>
              <a:t>3.4 – </a:t>
            </a:r>
            <a:r>
              <a:rPr lang="es-419">
                <a:solidFill>
                  <a:schemeClr val="accent5">
                    <a:lumMod val="40000"/>
                    <a:lumOff val="60000"/>
                  </a:schemeClr>
                </a:solidFill>
              </a:rPr>
              <a:t>Troncales VLAN</a:t>
            </a:r>
          </a:p>
          <a:p>
            <a:pPr rtl="0"/>
            <a:r>
              <a:rPr lang="es-419"/>
              <a:t>3.4.1</a:t>
            </a:r>
            <a:r>
              <a:rPr lang="es-419" baseline="0"/>
              <a:t> — </a:t>
            </a:r>
            <a:r>
              <a:rPr lang="es-419"/>
              <a:t>Comandos de configuración troncal</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51</a:t>
            </a:fld>
            <a:endParaRPr>
              <a:solidFill>
                <a:prstClr val="black"/>
              </a:solidFill>
            </a:endParaRPr>
          </a:p>
        </p:txBody>
      </p:sp>
    </p:spTree>
    <p:extLst>
      <p:ext uri="{BB962C8B-B14F-4D97-AF65-F5344CB8AC3E}">
        <p14:creationId xmlns:p14="http://schemas.microsoft.com/office/powerpoint/2010/main" val="13158700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 </a:t>
            </a:r>
            <a:r>
              <a:rPr lang="es-419">
                <a:solidFill>
                  <a:schemeClr val="accent5">
                    <a:lumMod val="40000"/>
                    <a:lumOff val="60000"/>
                  </a:schemeClr>
                </a:solidFill>
              </a:rPr>
              <a:t>VLAN</a:t>
            </a:r>
          </a:p>
          <a:p>
            <a:pPr rtl="0">
              <a:buFontTx/>
              <a:buNone/>
            </a:pPr>
            <a:r>
              <a:rPr lang="es-419" sz="1300"/>
              <a:t>3.4 – </a:t>
            </a:r>
            <a:r>
              <a:rPr lang="es-419">
                <a:solidFill>
                  <a:schemeClr val="accent5">
                    <a:lumMod val="40000"/>
                    <a:lumOff val="60000"/>
                  </a:schemeClr>
                </a:solidFill>
              </a:rPr>
              <a:t>Troncales VLAN</a:t>
            </a:r>
          </a:p>
          <a:p>
            <a:pPr rtl="0"/>
            <a:r>
              <a:rPr lang="es-419"/>
              <a:t>3.4.1</a:t>
            </a:r>
            <a:r>
              <a:rPr lang="es-419" baseline="0"/>
              <a:t> — </a:t>
            </a:r>
            <a:r>
              <a:rPr lang="es-419"/>
              <a:t>Comandos de configuración troncal</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52</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 </a:t>
            </a:r>
            <a:r>
              <a:rPr lang="es-419">
                <a:solidFill>
                  <a:schemeClr val="accent5">
                    <a:lumMod val="40000"/>
                    <a:lumOff val="60000"/>
                  </a:schemeClr>
                </a:solidFill>
              </a:rPr>
              <a:t>VLAN</a:t>
            </a:r>
          </a:p>
          <a:p>
            <a:pPr rtl="0">
              <a:buFontTx/>
              <a:buNone/>
            </a:pPr>
            <a:r>
              <a:rPr lang="es-419" sz="1300"/>
              <a:t>3.4 – </a:t>
            </a:r>
            <a:r>
              <a:rPr lang="es-419">
                <a:solidFill>
                  <a:schemeClr val="accent5">
                    <a:lumMod val="40000"/>
                    <a:lumOff val="60000"/>
                  </a:schemeClr>
                </a:solidFill>
              </a:rPr>
              <a:t>Troncales VLAN</a:t>
            </a:r>
          </a:p>
          <a:p>
            <a:pPr rtl="0"/>
            <a:r>
              <a:rPr lang="es-419"/>
              <a:t>3.4.2</a:t>
            </a:r>
            <a:r>
              <a:rPr lang="es-419" baseline="0"/>
              <a:t> — </a:t>
            </a:r>
            <a:r>
              <a:rPr lang="es-419"/>
              <a:t>Ejemplo de Configuración de Trunk</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53</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 </a:t>
            </a:r>
            <a:r>
              <a:rPr lang="es-419">
                <a:solidFill>
                  <a:schemeClr val="accent5">
                    <a:lumMod val="40000"/>
                    <a:lumOff val="60000"/>
                  </a:schemeClr>
                </a:solidFill>
              </a:rPr>
              <a:t>VLAN</a:t>
            </a:r>
          </a:p>
          <a:p>
            <a:pPr rtl="0">
              <a:buFontTx/>
              <a:buNone/>
            </a:pPr>
            <a:r>
              <a:rPr lang="es-419" sz="1300"/>
              <a:t>3.4 – </a:t>
            </a:r>
            <a:r>
              <a:rPr lang="es-419">
                <a:solidFill>
                  <a:schemeClr val="accent5">
                    <a:lumMod val="40000"/>
                    <a:lumOff val="60000"/>
                  </a:schemeClr>
                </a:solidFill>
              </a:rPr>
              <a:t>Troncales VLAN</a:t>
            </a:r>
          </a:p>
          <a:p>
            <a:pPr rtl="0"/>
            <a:r>
              <a:rPr lang="es-419"/>
              <a:t>3.4.2</a:t>
            </a:r>
            <a:r>
              <a:rPr lang="es-419" baseline="0"/>
              <a:t> — </a:t>
            </a:r>
            <a:r>
              <a:rPr lang="es-419"/>
              <a:t>Ejemplo de Configuración de Trunk</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54</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 </a:t>
            </a:r>
            <a:r>
              <a:rPr lang="es-419">
                <a:solidFill>
                  <a:schemeClr val="accent5">
                    <a:lumMod val="40000"/>
                    <a:lumOff val="60000"/>
                  </a:schemeClr>
                </a:solidFill>
              </a:rPr>
              <a:t>VLAN</a:t>
            </a:r>
          </a:p>
          <a:p>
            <a:pPr rtl="0">
              <a:buFontTx/>
              <a:buNone/>
            </a:pPr>
            <a:r>
              <a:rPr lang="es-419" sz="1300"/>
              <a:t>3.4 – </a:t>
            </a:r>
            <a:r>
              <a:rPr lang="es-419">
                <a:solidFill>
                  <a:schemeClr val="accent5">
                    <a:lumMod val="40000"/>
                    <a:lumOff val="60000"/>
                  </a:schemeClr>
                </a:solidFill>
              </a:rPr>
              <a:t>Troncales VLAN</a:t>
            </a:r>
          </a:p>
          <a:p>
            <a:pPr rtl="0"/>
            <a:r>
              <a:rPr lang="es-419"/>
              <a:t>3.4.3</a:t>
            </a:r>
            <a:r>
              <a:rPr lang="es-419" baseline="0"/>
              <a:t> – </a:t>
            </a:r>
            <a:r>
              <a:rPr lang="es-419"/>
              <a:t>Verifique la configuración del tronco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55</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300"/>
              <a:t>3 — </a:t>
            </a:r>
            <a:r>
              <a:rPr lang="es-419">
                <a:solidFill>
                  <a:schemeClr val="accent5">
                    <a:lumMod val="40000"/>
                    <a:lumOff val="60000"/>
                  </a:schemeClr>
                </a:solidFill>
              </a:rPr>
              <a:t>VLAN</a:t>
            </a:r>
          </a:p>
          <a:p>
            <a:pPr rtl="0">
              <a:buFontTx/>
              <a:buNone/>
            </a:pPr>
            <a:r>
              <a:rPr lang="es-419" sz="1300"/>
              <a:t>3.4 – </a:t>
            </a:r>
            <a:r>
              <a:rPr lang="es-419">
                <a:solidFill>
                  <a:schemeClr val="accent5">
                    <a:lumMod val="40000"/>
                    <a:lumOff val="60000"/>
                  </a:schemeClr>
                </a:solidFill>
              </a:rPr>
              <a:t>Troncales VLAN</a:t>
            </a:r>
          </a:p>
          <a:p>
            <a:pPr rtl="0"/>
            <a:r>
              <a:rPr lang="es-419"/>
              <a:t>3.4.4</a:t>
            </a:r>
            <a:r>
              <a:rPr lang="es-419" baseline="0"/>
              <a:t> — </a:t>
            </a:r>
            <a:r>
              <a:rPr lang="es-419"/>
              <a:t>Restablecer el Trunk al estado predeterminado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56</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71235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4.1.1 - ¿Qué es Inter-VLAN Routing?</a:t>
            </a:r>
          </a:p>
        </p:txBody>
      </p:sp>
      <p:sp>
        <p:nvSpPr>
          <p:cNvPr id="4" name="Slide Number Placeholder 3"/>
          <p:cNvSpPr>
            <a:spLocks noGrp="1"/>
          </p:cNvSpPr>
          <p:nvPr>
            <p:ph type="sldNum" sz="quarter" idx="5"/>
          </p:nvPr>
        </p:nvSpPr>
        <p:spPr/>
        <p:txBody>
          <a:bodyPr/>
          <a:lstStyle/>
          <a:p>
            <a:pPr rtl="0"/>
            <a:fld id="{5641018C-6CAF-B84E-B92C-ECB119457FBA}" type="slidenum">
              <a:rPr/>
              <a:t>58</a:t>
            </a:fld>
            <a:endParaRPr/>
          </a:p>
        </p:txBody>
      </p:sp>
    </p:spTree>
    <p:extLst>
      <p:ext uri="{BB962C8B-B14F-4D97-AF65-F5344CB8AC3E}">
        <p14:creationId xmlns:p14="http://schemas.microsoft.com/office/powerpoint/2010/main" val="7515506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4.1.4 - Enrutamiento entre VLAN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59</a:t>
            </a:fld>
            <a:endParaRPr/>
          </a:p>
        </p:txBody>
      </p:sp>
    </p:spTree>
    <p:extLst>
      <p:ext uri="{BB962C8B-B14F-4D97-AF65-F5344CB8AC3E}">
        <p14:creationId xmlns:p14="http://schemas.microsoft.com/office/powerpoint/2010/main" val="25887276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4.1 – Funcionamiento del routing entre redes VLAN</a:t>
            </a:r>
          </a:p>
          <a:p>
            <a:pPr rtl="0"/>
            <a:r>
              <a:rPr lang="es-419"/>
              <a:t>4.1.4 - Enrutamiento entre VLAN en un conmutador de capa 3 (Cont.)</a:t>
            </a:r>
          </a:p>
          <a:p>
            <a:pPr rtl="0"/>
            <a:r>
              <a:rPr lang="es-419"/>
              <a:t>4.1.5 — Compruebe su comprensión — Operación de enrutamiento entre VLAN</a:t>
            </a:r>
          </a:p>
        </p:txBody>
      </p:sp>
      <p:sp>
        <p:nvSpPr>
          <p:cNvPr id="4" name="Slide Number Placeholder 3"/>
          <p:cNvSpPr>
            <a:spLocks noGrp="1"/>
          </p:cNvSpPr>
          <p:nvPr>
            <p:ph type="sldNum" sz="quarter" idx="5"/>
          </p:nvPr>
        </p:nvSpPr>
        <p:spPr/>
        <p:txBody>
          <a:bodyPr/>
          <a:lstStyle/>
          <a:p>
            <a:pPr rtl="0"/>
            <a:fld id="{5641018C-6CAF-B84E-B92C-ECB119457FBA}" type="slidenum">
              <a:rPr/>
              <a:t>60</a:t>
            </a:fld>
            <a:endParaRPr/>
          </a:p>
        </p:txBody>
      </p:sp>
    </p:spTree>
    <p:extLst>
      <p:ext uri="{BB962C8B-B14F-4D97-AF65-F5344CB8AC3E}">
        <p14:creationId xmlns:p14="http://schemas.microsoft.com/office/powerpoint/2010/main" val="18169265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96148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4.2.1 — Escenario de enrutador en un </a:t>
            </a:r>
            <a:r>
              <a:rPr lang="es-419" dirty="0" err="1"/>
              <a:t>stick</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62</a:t>
            </a:fld>
            <a:endParaRPr/>
          </a:p>
        </p:txBody>
      </p:sp>
    </p:spTree>
    <p:extLst>
      <p:ext uri="{BB962C8B-B14F-4D97-AF65-F5344CB8AC3E}">
        <p14:creationId xmlns:p14="http://schemas.microsoft.com/office/powerpoint/2010/main" val="27550651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4.2.1 — Escenario de enrutador en un </a:t>
            </a:r>
            <a:r>
              <a:rPr lang="es-419" dirty="0" err="1"/>
              <a:t>stick</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63</a:t>
            </a:fld>
            <a:endParaRPr/>
          </a:p>
        </p:txBody>
      </p:sp>
    </p:spTree>
    <p:extLst>
      <p:ext uri="{BB962C8B-B14F-4D97-AF65-F5344CB8AC3E}">
        <p14:creationId xmlns:p14="http://schemas.microsoft.com/office/powerpoint/2010/main" val="37296601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4.2.1 — Escenario de enrutador en un </a:t>
            </a:r>
            <a:r>
              <a:rPr lang="es-419" dirty="0" err="1"/>
              <a:t>stick</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64</a:t>
            </a:fld>
            <a:endParaRPr/>
          </a:p>
        </p:txBody>
      </p:sp>
    </p:spTree>
    <p:extLst>
      <p:ext uri="{BB962C8B-B14F-4D97-AF65-F5344CB8AC3E}">
        <p14:creationId xmlns:p14="http://schemas.microsoft.com/office/powerpoint/2010/main" val="30697674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4.2.1 — Escenario de enrutador en un </a:t>
            </a:r>
            <a:r>
              <a:rPr lang="es-419" dirty="0" err="1"/>
              <a:t>stick</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65</a:t>
            </a:fld>
            <a:endParaRPr/>
          </a:p>
        </p:txBody>
      </p:sp>
    </p:spTree>
    <p:extLst>
      <p:ext uri="{BB962C8B-B14F-4D97-AF65-F5344CB8AC3E}">
        <p14:creationId xmlns:p14="http://schemas.microsoft.com/office/powerpoint/2010/main" val="3613582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4.2 - </a:t>
            </a:r>
            <a:r>
              <a:rPr lang="es-419" dirty="0" err="1"/>
              <a:t>Routing</a:t>
            </a:r>
            <a:r>
              <a:rPr lang="es-419" dirty="0"/>
              <a:t> entre redes VLAN con </a:t>
            </a:r>
            <a:r>
              <a:rPr lang="es-419" dirty="0" err="1"/>
              <a:t>router</a:t>
            </a:r>
            <a:r>
              <a:rPr lang="es-419" dirty="0"/>
              <a:t>-</a:t>
            </a:r>
            <a:r>
              <a:rPr lang="es-419" dirty="0" err="1"/>
              <a:t>on</a:t>
            </a:r>
            <a:r>
              <a:rPr lang="es-419" dirty="0"/>
              <a:t>-a-</a:t>
            </a:r>
            <a:r>
              <a:rPr lang="es-419" dirty="0" err="1"/>
              <a:t>stick</a:t>
            </a:r>
            <a:endParaRPr lang="es-419" dirty="0"/>
          </a:p>
          <a:p>
            <a:pPr rtl="0"/>
            <a:r>
              <a:rPr lang="es-419" dirty="0"/>
              <a:t>4.2.1 — Escenario de enrutador en un </a:t>
            </a:r>
            <a:r>
              <a:rPr lang="es-419" dirty="0" err="1"/>
              <a:t>stick</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66</a:t>
            </a:fld>
            <a:endParaRPr/>
          </a:p>
        </p:txBody>
      </p:sp>
    </p:spTree>
    <p:extLst>
      <p:ext uri="{BB962C8B-B14F-4D97-AF65-F5344CB8AC3E}">
        <p14:creationId xmlns:p14="http://schemas.microsoft.com/office/powerpoint/2010/main" val="34401402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97601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4.3.2 — Escenario de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68</a:t>
            </a:fld>
            <a:endParaRPr/>
          </a:p>
        </p:txBody>
      </p:sp>
    </p:spTree>
    <p:extLst>
      <p:ext uri="{BB962C8B-B14F-4D97-AF65-F5344CB8AC3E}">
        <p14:creationId xmlns:p14="http://schemas.microsoft.com/office/powerpoint/2010/main" val="30955142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4.3.3 – </a:t>
            </a:r>
            <a:r>
              <a:rPr lang="es-419" dirty="0" err="1"/>
              <a:t>Configuracion</a:t>
            </a:r>
            <a:r>
              <a:rPr lang="es-419" dirty="0"/>
              <a:t> de </a:t>
            </a:r>
            <a:r>
              <a:rPr lang="es-419" dirty="0" err="1"/>
              <a:t>switch</a:t>
            </a:r>
            <a:r>
              <a:rPr lang="es-419" dirty="0"/>
              <a:t> de capa 3</a:t>
            </a:r>
          </a:p>
        </p:txBody>
      </p:sp>
      <p:sp>
        <p:nvSpPr>
          <p:cNvPr id="4" name="Slide Number Placeholder 3"/>
          <p:cNvSpPr>
            <a:spLocks noGrp="1"/>
          </p:cNvSpPr>
          <p:nvPr>
            <p:ph type="sldNum" sz="quarter" idx="5"/>
          </p:nvPr>
        </p:nvSpPr>
        <p:spPr/>
        <p:txBody>
          <a:bodyPr/>
          <a:lstStyle/>
          <a:p>
            <a:pPr rtl="0"/>
            <a:fld id="{5641018C-6CAF-B84E-B92C-ECB119457FBA}" type="slidenum">
              <a:rPr/>
              <a:t>69</a:t>
            </a:fld>
            <a:endParaRPr/>
          </a:p>
        </p:txBody>
      </p:sp>
    </p:spTree>
    <p:extLst>
      <p:ext uri="{BB962C8B-B14F-4D97-AF65-F5344CB8AC3E}">
        <p14:creationId xmlns:p14="http://schemas.microsoft.com/office/powerpoint/2010/main" val="16574274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4.3.3 – </a:t>
            </a:r>
            <a:r>
              <a:rPr lang="es-419" dirty="0" err="1"/>
              <a:t>Configuracion</a:t>
            </a:r>
            <a:r>
              <a:rPr lang="es-419" dirty="0"/>
              <a:t> de </a:t>
            </a:r>
            <a:r>
              <a:rPr lang="es-419" dirty="0" err="1"/>
              <a:t>switch</a:t>
            </a:r>
            <a:r>
              <a:rPr lang="es-419" dirty="0"/>
              <a:t> de capa 3</a:t>
            </a:r>
          </a:p>
        </p:txBody>
      </p:sp>
      <p:sp>
        <p:nvSpPr>
          <p:cNvPr id="4" name="Slide Number Placeholder 3"/>
          <p:cNvSpPr>
            <a:spLocks noGrp="1"/>
          </p:cNvSpPr>
          <p:nvPr>
            <p:ph type="sldNum" sz="quarter" idx="5"/>
          </p:nvPr>
        </p:nvSpPr>
        <p:spPr/>
        <p:txBody>
          <a:bodyPr/>
          <a:lstStyle/>
          <a:p>
            <a:pPr rtl="0"/>
            <a:fld id="{5641018C-6CAF-B84E-B92C-ECB119457FBA}" type="slidenum">
              <a:rPr/>
              <a:t>70</a:t>
            </a:fld>
            <a:endParaRPr/>
          </a:p>
        </p:txBody>
      </p:sp>
    </p:spTree>
    <p:extLst>
      <p:ext uri="{BB962C8B-B14F-4D97-AF65-F5344CB8AC3E}">
        <p14:creationId xmlns:p14="http://schemas.microsoft.com/office/powerpoint/2010/main" val="39123350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4.3.1 – Inter-VLAN </a:t>
            </a:r>
            <a:r>
              <a:rPr lang="es-419" dirty="0" err="1"/>
              <a:t>Routing</a:t>
            </a:r>
            <a:r>
              <a:rPr lang="es-419" dirty="0"/>
              <a:t> en </a:t>
            </a:r>
            <a:r>
              <a:rPr lang="es-419" dirty="0" err="1"/>
              <a:t>Switch</a:t>
            </a:r>
            <a:r>
              <a:rPr lang="es-419" dirty="0"/>
              <a:t> de capa 3</a:t>
            </a:r>
          </a:p>
        </p:txBody>
      </p:sp>
      <p:sp>
        <p:nvSpPr>
          <p:cNvPr id="4" name="Slide Number Placeholder 3"/>
          <p:cNvSpPr>
            <a:spLocks noGrp="1"/>
          </p:cNvSpPr>
          <p:nvPr>
            <p:ph type="sldNum" sz="quarter" idx="5"/>
          </p:nvPr>
        </p:nvSpPr>
        <p:spPr/>
        <p:txBody>
          <a:bodyPr/>
          <a:lstStyle/>
          <a:p>
            <a:pPr rtl="0"/>
            <a:fld id="{5641018C-6CAF-B84E-B92C-ECB119457FBA}" type="slidenum">
              <a:rPr/>
              <a:t>71</a:t>
            </a:fld>
            <a:endParaRPr/>
          </a:p>
        </p:txBody>
      </p:sp>
    </p:spTree>
    <p:extLst>
      <p:ext uri="{BB962C8B-B14F-4D97-AF65-F5344CB8AC3E}">
        <p14:creationId xmlns:p14="http://schemas.microsoft.com/office/powerpoint/2010/main" val="402111511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4 – Inter-VLAN Routing</a:t>
            </a:r>
          </a:p>
          <a:p>
            <a:pPr rtl="0"/>
            <a:r>
              <a:rPr lang="es-419"/>
              <a:t>4.3 – Enrutamiento entre VLAN mediante conmutadores de capa 3</a:t>
            </a:r>
          </a:p>
          <a:p>
            <a:pPr rtl="0"/>
            <a:r>
              <a:rPr lang="es-419"/>
              <a:t>4.3.5 - Enrutamiento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72</a:t>
            </a:fld>
            <a:endParaRPr/>
          </a:p>
        </p:txBody>
      </p:sp>
    </p:spTree>
    <p:extLst>
      <p:ext uri="{BB962C8B-B14F-4D97-AF65-F5344CB8AC3E}">
        <p14:creationId xmlns:p14="http://schemas.microsoft.com/office/powerpoint/2010/main" val="9387158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153810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4.3.6 - Escenario de enrutamiento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74</a:t>
            </a:fld>
            <a:endParaRPr/>
          </a:p>
        </p:txBody>
      </p:sp>
    </p:spTree>
    <p:extLst>
      <p:ext uri="{BB962C8B-B14F-4D97-AF65-F5344CB8AC3E}">
        <p14:creationId xmlns:p14="http://schemas.microsoft.com/office/powerpoint/2010/main" val="21808121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4 – Inter-VLAN </a:t>
            </a:r>
            <a:r>
              <a:rPr lang="es-419" dirty="0" err="1"/>
              <a:t>Routing</a:t>
            </a:r>
            <a:endParaRPr lang="es-419" dirty="0"/>
          </a:p>
          <a:p>
            <a:pPr rtl="0"/>
            <a:r>
              <a:rPr lang="es-419" dirty="0"/>
              <a:t>4.3 – Enrutamiento entre VLAN mediante conmutadores de capa 3</a:t>
            </a:r>
          </a:p>
          <a:p>
            <a:pPr rtl="0"/>
            <a:r>
              <a:rPr lang="es-419" dirty="0"/>
              <a:t>4.3.7 — Configuración de enrutamiento en un conmutador de capa 3</a:t>
            </a:r>
          </a:p>
        </p:txBody>
      </p:sp>
      <p:sp>
        <p:nvSpPr>
          <p:cNvPr id="4" name="Slide Number Placeholder 3"/>
          <p:cNvSpPr>
            <a:spLocks noGrp="1"/>
          </p:cNvSpPr>
          <p:nvPr>
            <p:ph type="sldNum" sz="quarter" idx="5"/>
          </p:nvPr>
        </p:nvSpPr>
        <p:spPr/>
        <p:txBody>
          <a:bodyPr/>
          <a:lstStyle/>
          <a:p>
            <a:pPr rtl="0"/>
            <a:fld id="{5641018C-6CAF-B84E-B92C-ECB119457FBA}" type="slidenum">
              <a:rPr/>
              <a:t>75</a:t>
            </a:fld>
            <a:endParaRPr/>
          </a:p>
        </p:txBody>
      </p:sp>
    </p:spTree>
    <p:extLst>
      <p:ext uri="{BB962C8B-B14F-4D97-AF65-F5344CB8AC3E}">
        <p14:creationId xmlns:p14="http://schemas.microsoft.com/office/powerpoint/2010/main" val="416041596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8817" y="4759643"/>
            <a:ext cx="5510530" cy="4509135"/>
          </a:xfrm>
          <a:prstGeom prst="rect">
            <a:avLst/>
          </a:prstGeom>
        </p:spPr>
        <p:txBody>
          <a:bodyPr spcFirstLastPara="1" wrap="square" lIns="96600" tIns="48287" rIns="96600" bIns="48287" anchor="t" anchorCtr="0">
            <a:noAutofit/>
          </a:bodyPr>
          <a:lstStyle/>
          <a:p>
            <a:endParaRPr/>
          </a:p>
        </p:txBody>
      </p:sp>
      <p:sp>
        <p:nvSpPr>
          <p:cNvPr id="70" name="Google Shape;70;p1: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609147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14">
              <a:defRPr sz="2500">
                <a:solidFill>
                  <a:schemeClr val="tx1"/>
                </a:solidFill>
                <a:latin typeface="Arial" charset="0"/>
                <a:ea typeface="ＭＳ Ｐゴシック" charset="0"/>
                <a:cs typeface="ＭＳ Ｐゴシック" charset="0"/>
              </a:defRPr>
            </a:lvl1pPr>
            <a:lvl2pPr marL="785001" indent="-301923" defTabSz="954414">
              <a:defRPr sz="2500">
                <a:solidFill>
                  <a:schemeClr val="tx1"/>
                </a:solidFill>
                <a:latin typeface="Arial" charset="0"/>
                <a:ea typeface="ＭＳ Ｐゴシック" charset="0"/>
              </a:defRPr>
            </a:lvl2pPr>
            <a:lvl3pPr marL="1207694" indent="-241539" defTabSz="954414">
              <a:defRPr sz="2500">
                <a:solidFill>
                  <a:schemeClr val="tx1"/>
                </a:solidFill>
                <a:latin typeface="Arial" charset="0"/>
                <a:ea typeface="ＭＳ Ｐゴシック" charset="0"/>
              </a:defRPr>
            </a:lvl3pPr>
            <a:lvl4pPr marL="1690771" indent="-241539" defTabSz="954414">
              <a:defRPr sz="2500">
                <a:solidFill>
                  <a:schemeClr val="tx1"/>
                </a:solidFill>
                <a:latin typeface="Arial" charset="0"/>
                <a:ea typeface="ＭＳ Ｐゴシック" charset="0"/>
              </a:defRPr>
            </a:lvl4pPr>
            <a:lvl5pPr marL="2173849" indent="-241539" defTabSz="954414">
              <a:defRPr sz="2500">
                <a:solidFill>
                  <a:schemeClr val="tx1"/>
                </a:solidFill>
                <a:latin typeface="Arial" charset="0"/>
                <a:ea typeface="ＭＳ Ｐゴシック" charset="0"/>
              </a:defRPr>
            </a:lvl5pPr>
            <a:lvl6pPr marL="2656926"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6pPr>
            <a:lvl7pPr marL="3140004"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7pPr>
            <a:lvl8pPr marL="3623081"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8pPr>
            <a:lvl9pPr marL="4106159" indent="-241539" algn="ctr" defTabSz="954414" eaLnBrk="0" fontAlgn="base" hangingPunct="0">
              <a:lnSpc>
                <a:spcPct val="90000"/>
              </a:lnSpc>
              <a:spcBef>
                <a:spcPct val="0"/>
              </a:spcBef>
              <a:spcAft>
                <a:spcPct val="0"/>
              </a:spcAft>
              <a:defRPr sz="2500">
                <a:solidFill>
                  <a:schemeClr val="tx1"/>
                </a:solidFill>
                <a:latin typeface="Arial" charset="0"/>
                <a:ea typeface="ＭＳ Ｐゴシック" charset="0"/>
              </a:defRPr>
            </a:lvl9pPr>
          </a:lstStyle>
          <a:p>
            <a:pPr rtl="0"/>
            <a:fld id="{3997A419-355F-A04A-96E0-21643AF8E9FF}" type="slidenum">
              <a:rPr sz="800">
                <a:solidFill>
                  <a:prstClr val="black"/>
                </a:solidFill>
              </a:rPr>
              <a:pPr rtl="0"/>
              <a:t>77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sz="1300"/>
              <a:t>7- Conmutación Ethernet</a:t>
            </a:r>
          </a:p>
          <a:p>
            <a:pPr rtl="0"/>
            <a:r>
              <a:rPr lang="es-419" sz="1300"/>
              <a:t>7.5 – Práctica del módulo y cuestionario</a:t>
            </a:r>
          </a:p>
          <a:p>
            <a:pPr rtl="0"/>
            <a:r>
              <a:rPr lang="es-419" sz="1300"/>
              <a:t>7.5.1 - ¿Qué aprendí en este módulo?</a:t>
            </a:r>
          </a:p>
          <a:p>
            <a:pPr rtl="0"/>
            <a:r>
              <a:rPr lang="es-419" sz="1300"/>
              <a:t>7.5.2 — Prueba de módulo — Ethernet Switchig</a:t>
            </a:r>
          </a:p>
        </p:txBody>
      </p:sp>
    </p:spTree>
    <p:extLst>
      <p:ext uri="{BB962C8B-B14F-4D97-AF65-F5344CB8AC3E}">
        <p14:creationId xmlns:p14="http://schemas.microsoft.com/office/powerpoint/2010/main" val="36516327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hf hdr="0" ftr="0" dt="0"/>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hf hdr="0" ftr="0" dt="0"/>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hf hdr="0" ftr="0" dt="0"/>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‹Nº›</a:t>
            </a:fld>
            <a:endParaRPr lang="es-E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073041" y="4741653"/>
            <a:ext cx="3452486"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s-ES" sz="600" dirty="0">
                <a:solidFill>
                  <a:schemeClr val="accent5">
                    <a:lumMod val="50000"/>
                  </a:schemeClr>
                </a:solidFill>
                <a:latin typeface="+mn-lt"/>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l="25516" t="21265" r="10732" b="19208"/>
          <a:stretch/>
        </p:blipFill>
        <p:spPr>
          <a:xfrm>
            <a:off x="0" y="-44054"/>
            <a:ext cx="9251950" cy="5183982"/>
          </a:xfrm>
          <a:prstGeom prst="rect">
            <a:avLst/>
          </a:prstGeom>
          <a:noFill/>
          <a:ln>
            <a:noFill/>
          </a:ln>
        </p:spPr>
      </p:pic>
      <p:sp>
        <p:nvSpPr>
          <p:cNvPr id="17" name="Google Shape;17;p48"/>
          <p:cNvSpPr txBox="1">
            <a:spLocks noGrp="1"/>
          </p:cNvSpPr>
          <p:nvPr>
            <p:ph type="ctrTitle"/>
          </p:nvPr>
        </p:nvSpPr>
        <p:spPr>
          <a:xfrm>
            <a:off x="457200" y="1937148"/>
            <a:ext cx="7772400" cy="1102519"/>
          </a:xfrm>
          <a:prstGeom prst="rect">
            <a:avLst/>
          </a:prstGeom>
          <a:noFill/>
          <a:ln w="9525" cap="flat" cmpd="sng">
            <a:solidFill>
              <a:srgbClr val="4F81BD"/>
            </a:solidFill>
            <a:prstDash val="solid"/>
            <a:miter lim="800000"/>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extLst>
      <p:ext uri="{BB962C8B-B14F-4D97-AF65-F5344CB8AC3E}">
        <p14:creationId xmlns:p14="http://schemas.microsoft.com/office/powerpoint/2010/main" val="135268846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‹Nº›</a:t>
            </a:fld>
            <a:endParaRPr lang="es-E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087501" y="4741653"/>
            <a:ext cx="3438026"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s-ES" sz="600" dirty="0">
                <a:solidFill>
                  <a:schemeClr val="accent3">
                    <a:lumMod val="85000"/>
                  </a:schemeClr>
                </a:solidFill>
                <a:latin typeface="+mn-lt"/>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 id="2147484032" r:id="rId15"/>
  </p:sldLayoutIdLst>
  <p:transition spd="slow">
    <p:wipe/>
  </p:transition>
  <p:hf hdr="0" ftr="0" dt="0"/>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xml"/><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3.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4.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21.xml"/><Relationship Id="rId5" Type="http://schemas.openxmlformats.org/officeDocument/2006/relationships/image" Target="../media/image44.png"/><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23.x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24.xml"/><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26.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27.xml"/><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28.xml"/><Relationship Id="rId4" Type="http://schemas.openxmlformats.org/officeDocument/2006/relationships/image" Target="../media/image50.png"/></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5.xml"/><Relationship Id="rId5" Type="http://schemas.openxmlformats.org/officeDocument/2006/relationships/image" Target="../media/image55.png"/><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2.xml"/><Relationship Id="rId1" Type="http://schemas.openxmlformats.org/officeDocument/2006/relationships/slideLayout" Target="../slideLayouts/slideLayout5.xml"/><Relationship Id="rId4" Type="http://schemas.microsoft.com/office/2007/relationships/hdphoto" Target="../media/hdphoto1.wdp"/></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3.xml"/><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044889" y="1844733"/>
            <a:ext cx="749539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PE" sz="3000" i="1" dirty="0">
                <a:solidFill>
                  <a:schemeClr val="lt1"/>
                </a:solidFill>
                <a:latin typeface="Arial"/>
                <a:ea typeface="Arial"/>
                <a:cs typeface="Arial"/>
                <a:sym typeface="Arial"/>
              </a:rPr>
              <a:t>REDES Y COMUNICACIONES DE DATOS</a:t>
            </a:r>
            <a:br>
              <a:rPr lang="es-PE" sz="30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2026-2</a:t>
            </a:r>
            <a:br>
              <a:rPr lang="es-PE" sz="1500" i="1" dirty="0">
                <a:solidFill>
                  <a:schemeClr val="lt1"/>
                </a:solidFill>
                <a:latin typeface="Arial"/>
                <a:ea typeface="Arial"/>
                <a:cs typeface="Arial"/>
                <a:sym typeface="Arial"/>
              </a:rPr>
            </a:br>
            <a:br>
              <a:rPr lang="es-PE" sz="1500" i="1" dirty="0">
                <a:solidFill>
                  <a:schemeClr val="lt1"/>
                </a:solidFill>
                <a:latin typeface="Arial"/>
                <a:ea typeface="Arial"/>
                <a:cs typeface="Arial"/>
                <a:sym typeface="Arial"/>
              </a:rPr>
            </a:b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Docentes del curso</a:t>
            </a:r>
            <a:endParaRPr dirty="0">
              <a:solidFill>
                <a:schemeClr val="lt1"/>
              </a:solidFill>
            </a:endParaRPr>
          </a:p>
        </p:txBody>
      </p:sp>
      <p:sp>
        <p:nvSpPr>
          <p:cNvPr id="3" name="Slide Number Placeholder 1">
            <a:extLst>
              <a:ext uri="{FF2B5EF4-FFF2-40B4-BE49-F238E27FC236}">
                <a16:creationId xmlns:a16="http://schemas.microsoft.com/office/drawing/2014/main" id="{ACFBA5BC-36E0-5FD2-15F8-9585AF01D39C}"/>
              </a:ext>
            </a:extLst>
          </p:cNvPr>
          <p:cNvSpPr txBox="1">
            <a:spLocks/>
          </p:cNvSpPr>
          <p:nvPr/>
        </p:nvSpPr>
        <p:spPr>
          <a:xfrm>
            <a:off x="8837122" y="4772423"/>
            <a:ext cx="304570" cy="371078"/>
          </a:xfrm>
          <a:prstGeom prst="rect">
            <a:avLst/>
          </a:prstGeom>
        </p:spPr>
        <p:txBody>
          <a:bodyPr lIns="91440" tIns="45720" rIns="91440" bIns="45720" anchor="t"/>
          <a:ls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fld id="{2F5CCB13-0A32-4557-88E9-079F0C330695}" type="slidenum">
              <a:rPr lang="en-US" sz="1200" kern="0" dirty="0" smtClean="0">
                <a:solidFill>
                  <a:schemeClr val="bg1"/>
                </a:solidFill>
                <a:latin typeface="Arial"/>
                <a:ea typeface="ＭＳ Ｐゴシック"/>
                <a:cs typeface="Arial"/>
              </a:rPr>
              <a:pPr/>
              <a:t>1</a:t>
            </a:fld>
            <a:endParaRPr lang="en-US" sz="1200">
              <a:solidFill>
                <a:schemeClr val="bg1"/>
              </a:solidFill>
              <a:latin typeface="Arial"/>
              <a:ea typeface="ＭＳ Ｐゴシック"/>
              <a:cs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a:xfrm>
            <a:off x="46094" y="651988"/>
            <a:ext cx="8945748" cy="822659"/>
          </a:xfrm>
        </p:spPr>
        <p:txBody>
          <a:bodyPr/>
          <a:lstStyle/>
          <a:p>
            <a:pPr marL="0" indent="0" algn="just">
              <a:buNone/>
            </a:pPr>
            <a:r>
              <a:rPr lang="es-PE" sz="1600" dirty="0">
                <a:ea typeface="ＭＳ Ｐゴシック"/>
              </a:rPr>
              <a:t>Al finalizar la semana, el alumno será capaz de explicar </a:t>
            </a:r>
            <a:r>
              <a:rPr lang="es-PE" sz="1600" dirty="0">
                <a:solidFill>
                  <a:srgbClr val="0000CC"/>
                </a:solidFill>
                <a:ea typeface="ＭＳ Ｐゴシック"/>
              </a:rPr>
              <a:t>cómo funciona un SWITCH, configurarlo para su administración remotas </a:t>
            </a:r>
            <a:r>
              <a:rPr lang="es-PE" sz="1600" dirty="0">
                <a:ea typeface="ＭＳ Ｐゴシック"/>
              </a:rPr>
              <a:t>y comprender el proceso de configuración de una VLAN e Inter-VLAN, verificar y diagnosticar fallas, así como entiende la tecnología Ethernet. </a:t>
            </a:r>
            <a:endParaRPr lang="es-PE" sz="1600" dirty="0">
              <a:solidFill>
                <a:srgbClr val="0000CC"/>
              </a:solidFill>
            </a:endParaRPr>
          </a:p>
        </p:txBody>
      </p:sp>
      <p:sp>
        <p:nvSpPr>
          <p:cNvPr id="4098" name="Rectangle 33"/>
          <p:cNvSpPr>
            <a:spLocks noGrp="1" noChangeArrowheads="1"/>
          </p:cNvSpPr>
          <p:nvPr>
            <p:ph type="title"/>
          </p:nvPr>
        </p:nvSpPr>
        <p:spPr>
          <a:xfrm>
            <a:off x="1" y="572"/>
            <a:ext cx="5380265" cy="757551"/>
          </a:xfrm>
        </p:spPr>
        <p:txBody>
          <a:bodyPr/>
          <a:lstStyle/>
          <a:p>
            <a:pPr eaLnBrk="1" hangingPunct="1"/>
            <a:r>
              <a:rPr lang="es-ES" sz="3200" dirty="0">
                <a:solidFill>
                  <a:schemeClr val="accent2"/>
                </a:solidFill>
              </a:rPr>
              <a:t>Objetivos de la Semana 05</a:t>
            </a:r>
          </a:p>
        </p:txBody>
      </p:sp>
      <p:graphicFrame>
        <p:nvGraphicFramePr>
          <p:cNvPr id="2" name="Table 1">
            <a:extLst>
              <a:ext uri="{FF2B5EF4-FFF2-40B4-BE49-F238E27FC236}">
                <a16:creationId xmlns:a16="http://schemas.microsoft.com/office/drawing/2014/main" id="{209E1AAB-423B-4EF8-8EEE-CFC1DF7E7F89}"/>
              </a:ext>
            </a:extLst>
          </p:cNvPr>
          <p:cNvGraphicFramePr>
            <a:graphicFrameLocks noGrp="1"/>
          </p:cNvGraphicFramePr>
          <p:nvPr>
            <p:extLst>
              <p:ext uri="{D42A27DB-BD31-4B8C-83A1-F6EECF244321}">
                <p14:modId xmlns:p14="http://schemas.microsoft.com/office/powerpoint/2010/main" val="653219345"/>
              </p:ext>
            </p:extLst>
          </p:nvPr>
        </p:nvGraphicFramePr>
        <p:xfrm>
          <a:off x="103252" y="1549518"/>
          <a:ext cx="8527192" cy="3402620"/>
        </p:xfrm>
        <a:graphic>
          <a:graphicData uri="http://schemas.openxmlformats.org/drawingml/2006/table">
            <a:tbl>
              <a:tblPr firstRow="1" firstCol="1" lastCol="1" bandRow="1">
                <a:tableStyleId>{72833802-FEF1-4C79-8D5D-14CF1EAF98D9}</a:tableStyleId>
              </a:tblPr>
              <a:tblGrid>
                <a:gridCol w="1922567">
                  <a:extLst>
                    <a:ext uri="{9D8B030D-6E8A-4147-A177-3AD203B41FA5}">
                      <a16:colId xmlns:a16="http://schemas.microsoft.com/office/drawing/2014/main" val="2506231601"/>
                    </a:ext>
                  </a:extLst>
                </a:gridCol>
                <a:gridCol w="6604625">
                  <a:extLst>
                    <a:ext uri="{9D8B030D-6E8A-4147-A177-3AD203B41FA5}">
                      <a16:colId xmlns:a16="http://schemas.microsoft.com/office/drawing/2014/main" val="2266843073"/>
                    </a:ext>
                  </a:extLst>
                </a:gridCol>
              </a:tblGrid>
              <a:tr h="189500">
                <a:tc>
                  <a:txBody>
                    <a:bodyPr/>
                    <a:lstStyle/>
                    <a:p>
                      <a:pPr marL="0" marR="0" rtl="0">
                        <a:lnSpc>
                          <a:spcPct val="107000"/>
                        </a:lnSpc>
                        <a:spcBef>
                          <a:spcPts val="0"/>
                        </a:spcBef>
                        <a:spcAft>
                          <a:spcPts val="0"/>
                        </a:spcAft>
                      </a:pPr>
                      <a:r>
                        <a:rPr lang="es-419" sz="1200" dirty="0">
                          <a:effectLst/>
                        </a:rPr>
                        <a:t>Título del Tema</a:t>
                      </a:r>
                    </a:p>
                  </a:txBody>
                  <a:tcPr marL="60168" marR="60168" marT="0" marB="0"/>
                </a:tc>
                <a:tc>
                  <a:txBody>
                    <a:bodyPr/>
                    <a:lstStyle/>
                    <a:p>
                      <a:pPr marL="0" marR="0" rtl="0">
                        <a:lnSpc>
                          <a:spcPct val="107000"/>
                        </a:lnSpc>
                        <a:spcBef>
                          <a:spcPts val="0"/>
                        </a:spcBef>
                        <a:spcAft>
                          <a:spcPts val="0"/>
                        </a:spcAft>
                      </a:pPr>
                      <a:r>
                        <a:rPr lang="es-419" sz="1200" dirty="0">
                          <a:effectLst/>
                        </a:rPr>
                        <a:t>Objetivo del Tema </a:t>
                      </a:r>
                    </a:p>
                  </a:txBody>
                  <a:tcPr marL="60168" marR="60168" marT="0" marB="0"/>
                </a:tc>
                <a:extLst>
                  <a:ext uri="{0D108BD9-81ED-4DB2-BD59-A6C34878D82A}">
                    <a16:rowId xmlns:a16="http://schemas.microsoft.com/office/drawing/2014/main" val="347891655"/>
                  </a:ext>
                </a:extLst>
              </a:tr>
              <a:tr h="393780">
                <a:tc>
                  <a:txBody>
                    <a:bodyPr/>
                    <a:lstStyle/>
                    <a:p>
                      <a:pPr marL="0" marR="0" indent="0" rtl="0">
                        <a:lnSpc>
                          <a:spcPct val="107000"/>
                        </a:lnSpc>
                        <a:spcBef>
                          <a:spcPts val="0"/>
                        </a:spcBef>
                        <a:spcAft>
                          <a:spcPts val="0"/>
                        </a:spcAft>
                        <a:buFontTx/>
                        <a:buNone/>
                      </a:pPr>
                      <a:r>
                        <a:rPr lang="es-419" sz="1400" dirty="0">
                          <a:solidFill>
                            <a:srgbClr val="000000"/>
                          </a:solidFill>
                          <a:effectLst/>
                        </a:rPr>
                        <a:t>Ethernet</a:t>
                      </a:r>
                    </a:p>
                  </a:txBody>
                  <a:tcPr marL="60168" marR="60168" marT="0" marB="0"/>
                </a:tc>
                <a:tc>
                  <a:txBody>
                    <a:bodyPr/>
                    <a:lstStyle/>
                    <a:p>
                      <a:pPr marL="0" marR="0" rtl="0">
                        <a:lnSpc>
                          <a:spcPct val="107000"/>
                        </a:lnSpc>
                        <a:spcBef>
                          <a:spcPts val="0"/>
                        </a:spcBef>
                        <a:spcAft>
                          <a:spcPts val="0"/>
                        </a:spcAft>
                      </a:pPr>
                      <a:r>
                        <a:rPr lang="es-419" sz="1200" b="0" dirty="0">
                          <a:solidFill>
                            <a:srgbClr val="000000"/>
                          </a:solidFill>
                          <a:effectLst/>
                        </a:rPr>
                        <a:t>Comprender la tecnología LAN más importantes así como las capas y estándares que lo soportan</a:t>
                      </a:r>
                    </a:p>
                  </a:txBody>
                  <a:tcPr marL="60168" marR="60168" marT="0" marB="0"/>
                </a:tc>
                <a:extLst>
                  <a:ext uri="{0D108BD9-81ED-4DB2-BD59-A6C34878D82A}">
                    <a16:rowId xmlns:a16="http://schemas.microsoft.com/office/drawing/2014/main" val="2743645629"/>
                  </a:ext>
                </a:extLst>
              </a:tr>
              <a:tr h="383257">
                <a:tc>
                  <a:txBody>
                    <a:bodyPr/>
                    <a:lstStyle/>
                    <a:p>
                      <a:pPr marL="0" marR="0" indent="0" rtl="0">
                        <a:lnSpc>
                          <a:spcPct val="107000"/>
                        </a:lnSpc>
                        <a:spcBef>
                          <a:spcPts val="0"/>
                        </a:spcBef>
                        <a:spcAft>
                          <a:spcPts val="0"/>
                        </a:spcAft>
                        <a:buFontTx/>
                        <a:buNone/>
                      </a:pPr>
                      <a:r>
                        <a:rPr lang="es-419" sz="1400" dirty="0">
                          <a:solidFill>
                            <a:srgbClr val="000000"/>
                          </a:solidFill>
                          <a:effectLst/>
                        </a:rPr>
                        <a:t>MAC</a:t>
                      </a:r>
                    </a:p>
                  </a:txBody>
                  <a:tcPr marL="60168" marR="60168" marT="0" marB="0"/>
                </a:tc>
                <a:tc>
                  <a:txBody>
                    <a:bodyPr/>
                    <a:lstStyle/>
                    <a:p>
                      <a:pPr marL="0" marR="0" rtl="0">
                        <a:lnSpc>
                          <a:spcPct val="107000"/>
                        </a:lnSpc>
                        <a:spcBef>
                          <a:spcPts val="0"/>
                        </a:spcBef>
                        <a:spcAft>
                          <a:spcPts val="0"/>
                        </a:spcAft>
                      </a:pPr>
                      <a:r>
                        <a:rPr lang="es-419" sz="1200" b="0" dirty="0">
                          <a:solidFill>
                            <a:srgbClr val="000000"/>
                          </a:solidFill>
                          <a:effectLst/>
                        </a:rPr>
                        <a:t>Entender como está estructurado y que dispositivo lo utiliza</a:t>
                      </a:r>
                    </a:p>
                  </a:txBody>
                  <a:tcPr marL="60168" marR="60168" marT="0" marB="0"/>
                </a:tc>
                <a:extLst>
                  <a:ext uri="{0D108BD9-81ED-4DB2-BD59-A6C34878D82A}">
                    <a16:rowId xmlns:a16="http://schemas.microsoft.com/office/drawing/2014/main" val="3565740935"/>
                  </a:ext>
                </a:extLst>
              </a:tr>
              <a:tr h="335145">
                <a:tc>
                  <a:txBody>
                    <a:bodyPr/>
                    <a:lstStyle/>
                    <a:p>
                      <a:pPr marL="0" marR="0" indent="0" rtl="0">
                        <a:lnSpc>
                          <a:spcPct val="107000"/>
                        </a:lnSpc>
                        <a:spcBef>
                          <a:spcPts val="0"/>
                        </a:spcBef>
                        <a:spcAft>
                          <a:spcPts val="0"/>
                        </a:spcAft>
                        <a:buFontTx/>
                        <a:buNone/>
                      </a:pPr>
                      <a:r>
                        <a:rPr lang="es-419" sz="1400" dirty="0">
                          <a:solidFill>
                            <a:srgbClr val="000000"/>
                          </a:solidFill>
                          <a:effectLst/>
                        </a:rPr>
                        <a:t>ARP</a:t>
                      </a:r>
                    </a:p>
                  </a:txBody>
                  <a:tcPr marL="60168" marR="60168" marT="0" marB="0"/>
                </a:tc>
                <a:tc>
                  <a:txBody>
                    <a:bodyPr/>
                    <a:lstStyle/>
                    <a:p>
                      <a:pPr marL="0" marR="0" rtl="0">
                        <a:lnSpc>
                          <a:spcPct val="107000"/>
                        </a:lnSpc>
                        <a:spcBef>
                          <a:spcPts val="0"/>
                        </a:spcBef>
                        <a:spcAft>
                          <a:spcPts val="0"/>
                        </a:spcAft>
                      </a:pPr>
                      <a:r>
                        <a:rPr lang="es-419" sz="1200" b="0" kern="1200" dirty="0">
                          <a:solidFill>
                            <a:srgbClr val="000000"/>
                          </a:solidFill>
                          <a:effectLst/>
                        </a:rPr>
                        <a:t>Explicar el uso y funcionaiento del protocolo ARP</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3543717417"/>
                  </a:ext>
                </a:extLst>
              </a:tr>
              <a:tr h="393780">
                <a:tc>
                  <a:txBody>
                    <a:bodyPr/>
                    <a:lstStyle/>
                    <a:p>
                      <a:pPr marL="0" marR="0" rtl="0">
                        <a:lnSpc>
                          <a:spcPct val="107000"/>
                        </a:lnSpc>
                        <a:spcBef>
                          <a:spcPts val="0"/>
                        </a:spcBef>
                        <a:spcAft>
                          <a:spcPts val="0"/>
                        </a:spcAft>
                      </a:pPr>
                      <a:r>
                        <a:rPr lang="es-419" sz="1400" dirty="0">
                          <a:solidFill>
                            <a:srgbClr val="000000"/>
                          </a:solidFill>
                          <a:effectLst/>
                        </a:rPr>
                        <a:t>Conceptos y Switches</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kern="1200" dirty="0">
                          <a:solidFill>
                            <a:srgbClr val="000000"/>
                          </a:solidFill>
                          <a:effectLst/>
                        </a:rPr>
                        <a:t>Comprender los conceptos fundamentales e Identificar los diferentes dispositivos así como configurarlo y entender los conceptos de switching</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807677161"/>
                  </a:ext>
                </a:extLst>
              </a:tr>
              <a:tr h="302687">
                <a:tc>
                  <a:txBody>
                    <a:bodyPr/>
                    <a:lstStyle/>
                    <a:p>
                      <a:pPr marL="0" marR="0" rtl="0">
                        <a:lnSpc>
                          <a:spcPct val="107000"/>
                        </a:lnSpc>
                        <a:spcBef>
                          <a:spcPts val="0"/>
                        </a:spcBef>
                        <a:spcAft>
                          <a:spcPts val="0"/>
                        </a:spcAft>
                      </a:pPr>
                      <a:r>
                        <a:rPr lang="es-419" sz="1400" dirty="0">
                          <a:solidFill>
                            <a:srgbClr val="000000"/>
                          </a:solidFill>
                          <a:effectLst/>
                        </a:rPr>
                        <a:t>VLAN</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kern="1200" dirty="0">
                          <a:solidFill>
                            <a:srgbClr val="000000"/>
                          </a:solidFill>
                          <a:effectLst/>
                        </a:rPr>
                        <a:t>Comprender los beneficios y tipos de VLAN así como realizar una configuración básica</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2962997290"/>
                  </a:ext>
                </a:extLst>
              </a:tr>
              <a:tr h="300068">
                <a:tc>
                  <a:txBody>
                    <a:bodyPr/>
                    <a:lstStyle/>
                    <a:p>
                      <a:pPr marL="0" marR="0" rtl="0">
                        <a:lnSpc>
                          <a:spcPct val="107000"/>
                        </a:lnSpc>
                        <a:spcBef>
                          <a:spcPts val="0"/>
                        </a:spcBef>
                        <a:spcAft>
                          <a:spcPts val="0"/>
                        </a:spcAft>
                      </a:pPr>
                      <a:r>
                        <a:rPr lang="es-419" sz="1400" dirty="0" err="1">
                          <a:solidFill>
                            <a:srgbClr val="000000"/>
                          </a:solidFill>
                          <a:effectLst/>
                        </a:rPr>
                        <a:t>Trunking</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kern="1200" dirty="0">
                          <a:solidFill>
                            <a:srgbClr val="000000"/>
                          </a:solidFill>
                          <a:effectLst/>
                        </a:rPr>
                        <a:t>Entender el funcionamiento y configuración básica del </a:t>
                      </a:r>
                      <a:r>
                        <a:rPr lang="es-419" sz="1200" b="0" kern="1200" dirty="0" err="1">
                          <a:solidFill>
                            <a:srgbClr val="000000"/>
                          </a:solidFill>
                          <a:effectLst/>
                        </a:rPr>
                        <a:t>trunking</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2752093182"/>
                  </a:ext>
                </a:extLst>
              </a:tr>
              <a:tr h="323669">
                <a:tc>
                  <a:txBody>
                    <a:bodyPr/>
                    <a:lstStyle/>
                    <a:p>
                      <a:pPr marL="0" marR="0" rtl="0">
                        <a:lnSpc>
                          <a:spcPct val="107000"/>
                        </a:lnSpc>
                        <a:spcBef>
                          <a:spcPts val="0"/>
                        </a:spcBef>
                        <a:spcAft>
                          <a:spcPts val="0"/>
                        </a:spcAft>
                      </a:pPr>
                      <a:r>
                        <a:rPr lang="es-419" sz="1400" dirty="0">
                          <a:solidFill>
                            <a:srgbClr val="000000"/>
                          </a:solidFill>
                          <a:effectLst/>
                        </a:rPr>
                        <a:t>InterVLAN</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kern="1200" dirty="0">
                          <a:solidFill>
                            <a:srgbClr val="000000"/>
                          </a:solidFill>
                          <a:effectLst/>
                        </a:rPr>
                        <a:t>Comprender el proceso de comunicación de diferentes </a:t>
                      </a:r>
                      <a:r>
                        <a:rPr lang="es-419" sz="1200" b="0" kern="1200" dirty="0" err="1">
                          <a:solidFill>
                            <a:srgbClr val="000000"/>
                          </a:solidFill>
                          <a:effectLst/>
                        </a:rPr>
                        <a:t>VLANs</a:t>
                      </a:r>
                      <a:endParaRPr lang="es-419" sz="1200" b="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27681236"/>
                  </a:ext>
                </a:extLst>
              </a:tr>
              <a:tr h="473537">
                <a:tc>
                  <a:txBody>
                    <a:bodyPr/>
                    <a:lstStyle/>
                    <a:p>
                      <a:pPr marL="0" marR="0" rtl="0">
                        <a:lnSpc>
                          <a:spcPct val="107000"/>
                        </a:lnSpc>
                        <a:spcBef>
                          <a:spcPts val="0"/>
                        </a:spcBef>
                        <a:spcAft>
                          <a:spcPts val="0"/>
                        </a:spcAft>
                      </a:pPr>
                      <a:r>
                        <a:rPr lang="es-419" sz="1400" dirty="0" err="1">
                          <a:solidFill>
                            <a:srgbClr val="000000"/>
                          </a:solidFill>
                          <a:effectLst/>
                        </a:rPr>
                        <a:t>Router</a:t>
                      </a:r>
                      <a:r>
                        <a:rPr lang="es-419" sz="1400" dirty="0">
                          <a:solidFill>
                            <a:srgbClr val="000000"/>
                          </a:solidFill>
                          <a:effectLst/>
                        </a:rPr>
                        <a:t>-</a:t>
                      </a:r>
                      <a:r>
                        <a:rPr lang="es-419" sz="1400" dirty="0" err="1">
                          <a:solidFill>
                            <a:srgbClr val="000000"/>
                          </a:solidFill>
                          <a:effectLst/>
                        </a:rPr>
                        <a:t>on</a:t>
                      </a:r>
                      <a:r>
                        <a:rPr lang="es-419" sz="1400" dirty="0">
                          <a:solidFill>
                            <a:srgbClr val="000000"/>
                          </a:solidFill>
                          <a:effectLst/>
                        </a:rPr>
                        <a:t>-a-</a:t>
                      </a:r>
                      <a:r>
                        <a:rPr lang="es-419" sz="1400" dirty="0" err="1">
                          <a:solidFill>
                            <a:srgbClr val="000000"/>
                          </a:solidFill>
                          <a:effectLst/>
                        </a:rPr>
                        <a:t>stick</a:t>
                      </a:r>
                      <a:endParaRPr lang="es-419"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rtl="0">
                        <a:lnSpc>
                          <a:spcPct val="107000"/>
                        </a:lnSpc>
                        <a:spcBef>
                          <a:spcPts val="0"/>
                        </a:spcBef>
                        <a:spcAft>
                          <a:spcPts val="0"/>
                        </a:spcAft>
                      </a:pPr>
                      <a:r>
                        <a:rPr lang="es-419" sz="1200" b="0" dirty="0">
                          <a:solidFill>
                            <a:srgbClr val="000000"/>
                          </a:solidFill>
                          <a:effectLst/>
                        </a:rPr>
                        <a:t>Conocer la configuración básica para realizar InterVLAN para pequeñas redes conmutadas</a:t>
                      </a:r>
                    </a:p>
                  </a:txBody>
                  <a:tcPr marL="60168" marR="60168" marT="0" marB="0"/>
                </a:tc>
                <a:extLst>
                  <a:ext uri="{0D108BD9-81ED-4DB2-BD59-A6C34878D82A}">
                    <a16:rowId xmlns:a16="http://schemas.microsoft.com/office/drawing/2014/main" val="1447885710"/>
                  </a:ext>
                </a:extLst>
              </a:tr>
              <a:tr h="260985">
                <a:tc>
                  <a:txBody>
                    <a:bodyPr/>
                    <a:lstStyle/>
                    <a:p>
                      <a:pPr marL="0" marR="0" rtl="0">
                        <a:lnSpc>
                          <a:spcPct val="107000"/>
                        </a:lnSpc>
                        <a:spcBef>
                          <a:spcPts val="0"/>
                        </a:spcBef>
                        <a:spcAft>
                          <a:spcPts val="0"/>
                        </a:spcAft>
                      </a:pPr>
                      <a:r>
                        <a:rPr lang="es-419" sz="1400" dirty="0">
                          <a:solidFill>
                            <a:srgbClr val="000000"/>
                          </a:solidFill>
                          <a:effectLst/>
                          <a:latin typeface="+mn-lt"/>
                          <a:ea typeface="Calibri" panose="020F0502020204030204" pitchFamily="34" charset="0"/>
                          <a:cs typeface="Times New Roman" panose="02020603050405020304" pitchFamily="18" charset="0"/>
                        </a:rPr>
                        <a:t>Conclusiones</a:t>
                      </a:r>
                    </a:p>
                  </a:txBody>
                  <a:tcPr marL="68580" marR="68580" marT="0" marB="0"/>
                </a:tc>
                <a:tc>
                  <a:txBody>
                    <a:bodyPr/>
                    <a:lstStyle/>
                    <a:p>
                      <a:pPr marL="0" marR="0" rtl="0">
                        <a:lnSpc>
                          <a:spcPct val="107000"/>
                        </a:lnSpc>
                        <a:spcBef>
                          <a:spcPts val="0"/>
                        </a:spcBef>
                        <a:spcAft>
                          <a:spcPts val="0"/>
                        </a:spcAft>
                      </a:pPr>
                      <a:r>
                        <a:rPr lang="es-419" sz="1200" b="0" dirty="0">
                          <a:solidFill>
                            <a:srgbClr val="000000"/>
                          </a:solidFill>
                          <a:effectLst/>
                        </a:rPr>
                        <a:t>Síntesis y evaluación de lo aprendido en clase</a:t>
                      </a:r>
                    </a:p>
                  </a:txBody>
                  <a:tcPr marL="60168" marR="60168" marT="0" marB="0"/>
                </a:tc>
                <a:extLst>
                  <a:ext uri="{0D108BD9-81ED-4DB2-BD59-A6C34878D82A}">
                    <a16:rowId xmlns:a16="http://schemas.microsoft.com/office/drawing/2014/main" val="1477007732"/>
                  </a:ext>
                </a:extLst>
              </a:tr>
            </a:tbl>
          </a:graphicData>
        </a:graphic>
      </p:graphicFrame>
      <p:sp>
        <p:nvSpPr>
          <p:cNvPr id="3" name="Slide Number Placeholder 2">
            <a:extLst>
              <a:ext uri="{FF2B5EF4-FFF2-40B4-BE49-F238E27FC236}">
                <a16:creationId xmlns:a16="http://schemas.microsoft.com/office/drawing/2014/main" id="{54868FB8-721D-A860-82A6-1BD687A08DAF}"/>
              </a:ext>
            </a:extLst>
          </p:cNvPr>
          <p:cNvSpPr>
            <a:spLocks noGrp="1"/>
          </p:cNvSpPr>
          <p:nvPr>
            <p:ph type="sldNum" sz="quarter" idx="4"/>
          </p:nvPr>
        </p:nvSpPr>
        <p:spPr>
          <a:xfrm>
            <a:off x="8824504" y="4660349"/>
            <a:ext cx="317683" cy="483152"/>
          </a:xfrm>
        </p:spPr>
        <p:txBody>
          <a:bodyPr/>
          <a:lstStyle/>
          <a:p>
            <a:fld id="{2F5CCB13-0A32-4557-88E9-079F0C330695}" type="slidenum">
              <a:rPr lang="en-US" sz="1200" kern="0" dirty="0" smtClean="0">
                <a:solidFill>
                  <a:srgbClr val="595959"/>
                </a:solidFill>
                <a:latin typeface="Arial"/>
                <a:ea typeface="ＭＳ Ｐゴシック"/>
                <a:cs typeface="Arial"/>
              </a:rPr>
              <a:pPr defTabSz="385763">
                <a:defRPr/>
              </a:pPr>
              <a:t>2</a:t>
            </a:fld>
            <a:endParaRPr lang="en-US" sz="1200" dirty="0">
              <a:latin typeface="Arial"/>
              <a:ea typeface="ＭＳ Ｐゴシック"/>
              <a:cs typeface="Arial"/>
            </a:endParaRPr>
          </a:p>
        </p:txBody>
      </p:sp>
    </p:spTree>
    <p:extLst>
      <p:ext uri="{BB962C8B-B14F-4D97-AF65-F5344CB8AC3E}">
        <p14:creationId xmlns:p14="http://schemas.microsoft.com/office/powerpoint/2010/main" val="20653423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5.1Ethernet y MAC</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
        <p:nvSpPr>
          <p:cNvPr id="3" name="Slide Number Placeholder 1">
            <a:extLst>
              <a:ext uri="{FF2B5EF4-FFF2-40B4-BE49-F238E27FC236}">
                <a16:creationId xmlns:a16="http://schemas.microsoft.com/office/drawing/2014/main" id="{330E68C1-D529-D267-F1CF-6FBEA29C371E}"/>
              </a:ext>
            </a:extLst>
          </p:cNvPr>
          <p:cNvSpPr txBox="1">
            <a:spLocks/>
          </p:cNvSpPr>
          <p:nvPr/>
        </p:nvSpPr>
        <p:spPr>
          <a:xfrm>
            <a:off x="8837122" y="4772423"/>
            <a:ext cx="304570" cy="371078"/>
          </a:xfrm>
          <a:prstGeom prst="rect">
            <a:avLst/>
          </a:prstGeom>
        </p:spPr>
        <p:txBody>
          <a:bodyPr lIns="91440" tIns="45720" rIns="91440" bIns="45720" anchor="t"/>
          <a:ls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fld id="{2F5CCB13-0A32-4557-88E9-079F0C330695}" type="slidenum">
              <a:rPr lang="en-US" sz="1200" kern="0" dirty="0" smtClean="0">
                <a:solidFill>
                  <a:schemeClr val="bg1"/>
                </a:solidFill>
                <a:latin typeface="Arial"/>
                <a:ea typeface="ＭＳ Ｐゴシック"/>
                <a:cs typeface="Arial"/>
              </a:rPr>
              <a:pPr/>
              <a:t>3</a:t>
            </a:fld>
            <a:endParaRPr lang="en-US" sz="1200">
              <a:solidFill>
                <a:schemeClr val="bg1"/>
              </a:solidFill>
              <a:latin typeface="Arial"/>
              <a:ea typeface="ＭＳ Ｐゴシック"/>
              <a:cs typeface="Arial"/>
            </a:endParaRPr>
          </a:p>
        </p:txBody>
      </p:sp>
    </p:spTree>
    <p:extLst>
      <p:ext uri="{BB962C8B-B14F-4D97-AF65-F5344CB8AC3E}">
        <p14:creationId xmlns:p14="http://schemas.microsoft.com/office/powerpoint/2010/main" val="15129104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572"/>
            <a:ext cx="3567793" cy="569773"/>
          </a:xfrm>
        </p:spPr>
        <p:txBody>
          <a:bodyPr/>
          <a:lstStyle/>
          <a:p>
            <a:r>
              <a:rPr lang="es-419" dirty="0">
                <a:solidFill>
                  <a:srgbClr val="C00000"/>
                </a:solidFill>
              </a:rPr>
              <a:t>Ethernet y Subcapas L2</a:t>
            </a:r>
          </a:p>
        </p:txBody>
      </p:sp>
      <p:pic>
        <p:nvPicPr>
          <p:cNvPr id="7" name="Picture 6">
            <a:extLst>
              <a:ext uri="{FF2B5EF4-FFF2-40B4-BE49-F238E27FC236}">
                <a16:creationId xmlns:a16="http://schemas.microsoft.com/office/drawing/2014/main" id="{81D1A284-9B4E-4FF5-89F8-492CE274A562}"/>
              </a:ext>
            </a:extLst>
          </p:cNvPr>
          <p:cNvPicPr>
            <a:picLocks noChangeAspect="1"/>
          </p:cNvPicPr>
          <p:nvPr/>
        </p:nvPicPr>
        <p:blipFill>
          <a:blip r:embed="rId3"/>
          <a:stretch>
            <a:fillRect/>
          </a:stretch>
        </p:blipFill>
        <p:spPr>
          <a:xfrm>
            <a:off x="-9891" y="1641831"/>
            <a:ext cx="4717211" cy="3451013"/>
          </a:xfrm>
          <a:prstGeom prst="rect">
            <a:avLst/>
          </a:prstGeom>
        </p:spPr>
      </p:pic>
      <p:pic>
        <p:nvPicPr>
          <p:cNvPr id="8" name="Content Placeholder 3">
            <a:extLst>
              <a:ext uri="{FF2B5EF4-FFF2-40B4-BE49-F238E27FC236}">
                <a16:creationId xmlns:a16="http://schemas.microsoft.com/office/drawing/2014/main" id="{BE7C3565-D860-4CCA-B87F-1A048146B576}"/>
              </a:ext>
            </a:extLst>
          </p:cNvPr>
          <p:cNvPicPr>
            <a:picLocks noChangeAspect="1"/>
          </p:cNvPicPr>
          <p:nvPr/>
        </p:nvPicPr>
        <p:blipFill>
          <a:blip r:embed="rId4"/>
          <a:stretch>
            <a:fillRect/>
          </a:stretch>
        </p:blipFill>
        <p:spPr bwMode="auto">
          <a:xfrm>
            <a:off x="4743726" y="1640037"/>
            <a:ext cx="4191765" cy="3376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 name="TextBox 2">
            <a:extLst>
              <a:ext uri="{FF2B5EF4-FFF2-40B4-BE49-F238E27FC236}">
                <a16:creationId xmlns:a16="http://schemas.microsoft.com/office/drawing/2014/main" id="{FF93116E-336F-1EC2-ADDB-5F30C3F16A98}"/>
              </a:ext>
            </a:extLst>
          </p:cNvPr>
          <p:cNvSpPr txBox="1"/>
          <p:nvPr/>
        </p:nvSpPr>
        <p:spPr>
          <a:xfrm>
            <a:off x="125428" y="612284"/>
            <a:ext cx="4446572" cy="738664"/>
          </a:xfrm>
          <a:prstGeom prst="rect">
            <a:avLst/>
          </a:prstGeom>
          <a:noFill/>
        </p:spPr>
        <p:txBody>
          <a:bodyPr wrap="square">
            <a:spAutoFit/>
          </a:bodyPr>
          <a:lstStyle/>
          <a:p>
            <a:pPr algn="just"/>
            <a:r>
              <a:rPr lang="es-419" sz="1400" dirty="0">
                <a:solidFill>
                  <a:srgbClr val="000000"/>
                </a:solidFill>
              </a:rPr>
              <a:t>Ethernet funciona en la </a:t>
            </a:r>
            <a:r>
              <a:rPr lang="es-419" sz="1400" dirty="0">
                <a:solidFill>
                  <a:srgbClr val="0000CC"/>
                </a:solidFill>
              </a:rPr>
              <a:t>capa de enlace de datos </a:t>
            </a:r>
            <a:r>
              <a:rPr lang="es-419" sz="1400" dirty="0">
                <a:solidFill>
                  <a:srgbClr val="000000"/>
                </a:solidFill>
              </a:rPr>
              <a:t>y en </a:t>
            </a:r>
            <a:r>
              <a:rPr lang="es-419" sz="1400" dirty="0">
                <a:solidFill>
                  <a:srgbClr val="0000CC"/>
                </a:solidFill>
              </a:rPr>
              <a:t>la capa física</a:t>
            </a:r>
            <a:r>
              <a:rPr lang="es-419" sz="1400" dirty="0">
                <a:solidFill>
                  <a:srgbClr val="000000"/>
                </a:solidFill>
              </a:rPr>
              <a:t>. Es una familia de tecnologías de red definidas en los estándares </a:t>
            </a:r>
            <a:r>
              <a:rPr lang="es-419" sz="1400" dirty="0">
                <a:solidFill>
                  <a:srgbClr val="0000CC"/>
                </a:solidFill>
              </a:rPr>
              <a:t>IEEE 802.2 </a:t>
            </a:r>
            <a:r>
              <a:rPr lang="es-419" sz="1400" dirty="0">
                <a:solidFill>
                  <a:srgbClr val="000000"/>
                </a:solidFill>
              </a:rPr>
              <a:t>y </a:t>
            </a:r>
            <a:r>
              <a:rPr lang="es-419" sz="1400" dirty="0">
                <a:solidFill>
                  <a:srgbClr val="0000CC"/>
                </a:solidFill>
              </a:rPr>
              <a:t>802.3</a:t>
            </a:r>
            <a:endParaRPr lang="fr-FR" sz="1400" dirty="0"/>
          </a:p>
        </p:txBody>
      </p:sp>
      <p:sp>
        <p:nvSpPr>
          <p:cNvPr id="5" name="TextBox 4">
            <a:extLst>
              <a:ext uri="{FF2B5EF4-FFF2-40B4-BE49-F238E27FC236}">
                <a16:creationId xmlns:a16="http://schemas.microsoft.com/office/drawing/2014/main" id="{56FE7F37-60DB-3FEB-53D1-8768305957E5}"/>
              </a:ext>
            </a:extLst>
          </p:cNvPr>
          <p:cNvSpPr txBox="1"/>
          <p:nvPr/>
        </p:nvSpPr>
        <p:spPr>
          <a:xfrm>
            <a:off x="4743450" y="41393"/>
            <a:ext cx="4267234" cy="1600438"/>
          </a:xfrm>
          <a:prstGeom prst="rect">
            <a:avLst/>
          </a:prstGeom>
          <a:noFill/>
        </p:spPr>
        <p:txBody>
          <a:bodyPr wrap="square">
            <a:spAutoFit/>
          </a:bodyPr>
          <a:lstStyle/>
          <a:p>
            <a:pPr algn="just" rtl="0"/>
            <a:r>
              <a:rPr lang="es-419" sz="1400" b="1" dirty="0">
                <a:solidFill>
                  <a:srgbClr val="000000"/>
                </a:solidFill>
              </a:rPr>
              <a:t>Subcapa LLC</a:t>
            </a:r>
            <a:r>
              <a:rPr lang="es-419" sz="1400" dirty="0">
                <a:solidFill>
                  <a:srgbClr val="000000"/>
                </a:solidFill>
              </a:rPr>
              <a:t>: (</a:t>
            </a:r>
            <a:r>
              <a:rPr lang="es-419" sz="1400" dirty="0">
                <a:solidFill>
                  <a:srgbClr val="0000CC"/>
                </a:solidFill>
              </a:rPr>
              <a:t>IEEE 802.2</a:t>
            </a:r>
            <a:r>
              <a:rPr lang="es-419" sz="1400" dirty="0">
                <a:solidFill>
                  <a:srgbClr val="000000"/>
                </a:solidFill>
              </a:rPr>
              <a:t>)</a:t>
            </a:r>
          </a:p>
          <a:p>
            <a:pPr algn="just" rtl="0"/>
            <a:r>
              <a:rPr lang="es-419" sz="1400" dirty="0">
                <a:solidFill>
                  <a:srgbClr val="000000"/>
                </a:solidFill>
              </a:rPr>
              <a:t>Coloca información en la trama para identificar qué protocolo de capa 3, se utiliza para la trama.</a:t>
            </a:r>
          </a:p>
          <a:p>
            <a:pPr algn="just" rtl="0"/>
            <a:r>
              <a:rPr lang="es-419" sz="1400" b="1" dirty="0">
                <a:solidFill>
                  <a:srgbClr val="000000"/>
                </a:solidFill>
              </a:rPr>
              <a:t>Subcapa MAC</a:t>
            </a:r>
            <a:r>
              <a:rPr lang="es-419" sz="1400" dirty="0">
                <a:solidFill>
                  <a:srgbClr val="000000"/>
                </a:solidFill>
              </a:rPr>
              <a:t>: (</a:t>
            </a:r>
            <a:r>
              <a:rPr lang="es-419" sz="1400" dirty="0">
                <a:solidFill>
                  <a:srgbClr val="0000CC"/>
                </a:solidFill>
              </a:rPr>
              <a:t>IEEE 802.3, 802.11 o 802.15</a:t>
            </a:r>
            <a:r>
              <a:rPr lang="es-419" sz="1400" dirty="0">
                <a:solidFill>
                  <a:srgbClr val="000000"/>
                </a:solidFill>
              </a:rPr>
              <a:t>) Responsable de la encapsulación de datos y control de acceso a medios, y proporciona direccionamiento de capa de enlace de datos. </a:t>
            </a:r>
          </a:p>
        </p:txBody>
      </p:sp>
      <p:sp>
        <p:nvSpPr>
          <p:cNvPr id="2" name="Slide Number Placeholder 1">
            <a:extLst>
              <a:ext uri="{FF2B5EF4-FFF2-40B4-BE49-F238E27FC236}">
                <a16:creationId xmlns:a16="http://schemas.microsoft.com/office/drawing/2014/main" id="{B8D42129-BA48-DF03-7519-30E45E078BCC}"/>
              </a:ext>
            </a:extLst>
          </p:cNvPr>
          <p:cNvSpPr>
            <a:spLocks noGrp="1"/>
          </p:cNvSpPr>
          <p:nvPr>
            <p:ph type="sldNum" sz="quarter" idx="4"/>
          </p:nvPr>
        </p:nvSpPr>
        <p:spPr>
          <a:xfrm>
            <a:off x="8837122" y="4772423"/>
            <a:ext cx="304570" cy="371078"/>
          </a:xfrm>
        </p:spPr>
        <p:txBody>
          <a:bodyPr/>
          <a:lstStyle/>
          <a:p>
            <a:fld id="{2F5CCB13-0A32-4557-88E9-079F0C330695}" type="slidenum">
              <a:rPr lang="en-US" sz="1200" b="1" kern="0" dirty="0" smtClean="0">
                <a:solidFill>
                  <a:srgbClr val="00B0F0"/>
                </a:solidFill>
                <a:latin typeface="Arial"/>
                <a:ea typeface="ＭＳ Ｐゴシック"/>
                <a:cs typeface="Arial"/>
              </a:rPr>
              <a:pPr defTabSz="385763">
                <a:defRPr/>
              </a:pPr>
              <a:t>4</a:t>
            </a:fld>
            <a:endParaRPr lang="en-US" sz="1200" b="1" dirty="0">
              <a:solidFill>
                <a:srgbClr val="00B0F0"/>
              </a:solidFill>
              <a:latin typeface="Arial"/>
              <a:ea typeface="ＭＳ Ｐゴシック"/>
              <a:cs typeface="Arial"/>
            </a:endParaRPr>
          </a:p>
        </p:txBody>
      </p:sp>
    </p:spTree>
    <p:extLst>
      <p:ext uri="{BB962C8B-B14F-4D97-AF65-F5344CB8AC3E}">
        <p14:creationId xmlns:p14="http://schemas.microsoft.com/office/powerpoint/2010/main" val="11893087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991" y="-137425"/>
            <a:ext cx="9144000" cy="757551"/>
          </a:xfrm>
        </p:spPr>
        <p:txBody>
          <a:bodyPr/>
          <a:lstStyle/>
          <a:p>
            <a:r>
              <a:rPr lang="es-419" dirty="0">
                <a:solidFill>
                  <a:srgbClr val="C00000"/>
                </a:solidFill>
              </a:rPr>
              <a:t>Tabla de direcciones MAC</a:t>
            </a:r>
          </a:p>
        </p:txBody>
      </p:sp>
      <p:sp>
        <p:nvSpPr>
          <p:cNvPr id="6" name="Content Placeholder 7">
            <a:extLst>
              <a:ext uri="{FF2B5EF4-FFF2-40B4-BE49-F238E27FC236}">
                <a16:creationId xmlns:a16="http://schemas.microsoft.com/office/drawing/2014/main" id="{D8896BE4-5583-4640-A53A-1F654603D25A}"/>
              </a:ext>
            </a:extLst>
          </p:cNvPr>
          <p:cNvSpPr>
            <a:spLocks noGrp="1"/>
          </p:cNvSpPr>
          <p:nvPr>
            <p:ph idx="1"/>
          </p:nvPr>
        </p:nvSpPr>
        <p:spPr>
          <a:xfrm>
            <a:off x="6991" y="656260"/>
            <a:ext cx="8941391" cy="437321"/>
          </a:xfrm>
        </p:spPr>
        <p:txBody>
          <a:bodyPr/>
          <a:lstStyle/>
          <a:p>
            <a:pPr marL="188912" lvl="1" indent="0" algn="just">
              <a:buNone/>
            </a:pPr>
            <a:r>
              <a:rPr lang="es-419" sz="1600" dirty="0">
                <a:solidFill>
                  <a:srgbClr val="000000"/>
                </a:solidFill>
              </a:rPr>
              <a:t>Un switch Ethernet de capa 2 usa </a:t>
            </a:r>
            <a:r>
              <a:rPr lang="es-419" sz="1600" dirty="0">
                <a:solidFill>
                  <a:srgbClr val="0000CC"/>
                </a:solidFill>
                <a:effectLst>
                  <a:outerShdw blurRad="38100" dist="38100" dir="2700000" algn="tl">
                    <a:srgbClr val="000000">
                      <a:alpha val="43137"/>
                    </a:srgbClr>
                  </a:outerShdw>
                </a:effectLst>
              </a:rPr>
              <a:t>direcciones MAC de capa 2 para tomar decisiones de reenvío</a:t>
            </a:r>
            <a:r>
              <a:rPr lang="es-419" sz="1600" dirty="0"/>
              <a:t>. </a:t>
            </a:r>
            <a:r>
              <a:rPr lang="es-419" sz="1600" dirty="0">
                <a:solidFill>
                  <a:srgbClr val="000000"/>
                </a:solidFill>
              </a:rPr>
              <a:t>No tiene conocimiento de los datos (protocolo) que se transportan en la porción de datos de la trama, como un paquete IPv4, un mensaje ARP o un paquete IPv6 ND. El switch toma sus decisiones de reenvío basándose únicamente en las direcciones MAC.</a:t>
            </a:r>
          </a:p>
        </p:txBody>
      </p:sp>
      <p:sp>
        <p:nvSpPr>
          <p:cNvPr id="16" name="Content Placeholder 7">
            <a:extLst>
              <a:ext uri="{FF2B5EF4-FFF2-40B4-BE49-F238E27FC236}">
                <a16:creationId xmlns:a16="http://schemas.microsoft.com/office/drawing/2014/main" id="{21AD12B5-DA47-4F91-9B91-599C69CD1B37}"/>
              </a:ext>
            </a:extLst>
          </p:cNvPr>
          <p:cNvSpPr txBox="1">
            <a:spLocks/>
          </p:cNvSpPr>
          <p:nvPr/>
        </p:nvSpPr>
        <p:spPr bwMode="auto">
          <a:xfrm>
            <a:off x="0" y="1797029"/>
            <a:ext cx="8941391" cy="437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88912" lvl="1" indent="0" algn="just">
              <a:buNone/>
            </a:pPr>
            <a:r>
              <a:rPr lang="es-419" sz="1600" dirty="0">
                <a:solidFill>
                  <a:srgbClr val="000000"/>
                </a:solidFill>
              </a:rPr>
              <a:t>Un switch Ethernet examina su tabla de direcciones MAC para tomar una decisión de reenvío para cada trama</a:t>
            </a:r>
            <a:r>
              <a:rPr lang="es-419" sz="1600" dirty="0"/>
              <a:t>.</a:t>
            </a:r>
            <a:r>
              <a:rPr lang="es-419" sz="1600" dirty="0">
                <a:solidFill>
                  <a:srgbClr val="000000"/>
                </a:solidFill>
              </a:rPr>
              <a:t> Cuando un switch está encendido, la tabla de direcciones MAC está vacía.</a:t>
            </a:r>
          </a:p>
        </p:txBody>
      </p:sp>
      <p:pic>
        <p:nvPicPr>
          <p:cNvPr id="17" name="Picture 16">
            <a:extLst>
              <a:ext uri="{FF2B5EF4-FFF2-40B4-BE49-F238E27FC236}">
                <a16:creationId xmlns:a16="http://schemas.microsoft.com/office/drawing/2014/main" id="{65C01EEC-A4CF-44E4-9EE2-9F7B1ACE8691}"/>
              </a:ext>
            </a:extLst>
          </p:cNvPr>
          <p:cNvPicPr>
            <a:picLocks noChangeAspect="1"/>
          </p:cNvPicPr>
          <p:nvPr/>
        </p:nvPicPr>
        <p:blipFill>
          <a:blip r:embed="rId3"/>
          <a:stretch>
            <a:fillRect/>
          </a:stretch>
        </p:blipFill>
        <p:spPr>
          <a:xfrm>
            <a:off x="4872251" y="2420244"/>
            <a:ext cx="4128898" cy="2658645"/>
          </a:xfrm>
          <a:prstGeom prst="rect">
            <a:avLst/>
          </a:prstGeom>
        </p:spPr>
      </p:pic>
      <p:sp>
        <p:nvSpPr>
          <p:cNvPr id="7" name="TextBox 6">
            <a:extLst>
              <a:ext uri="{FF2B5EF4-FFF2-40B4-BE49-F238E27FC236}">
                <a16:creationId xmlns:a16="http://schemas.microsoft.com/office/drawing/2014/main" id="{C6E04599-B078-454B-8489-746AE4F52CC0}"/>
              </a:ext>
            </a:extLst>
          </p:cNvPr>
          <p:cNvSpPr txBox="1"/>
          <p:nvPr/>
        </p:nvSpPr>
        <p:spPr>
          <a:xfrm>
            <a:off x="185382" y="2657193"/>
            <a:ext cx="4619766" cy="2062103"/>
          </a:xfrm>
          <a:prstGeom prst="rect">
            <a:avLst/>
          </a:prstGeom>
          <a:noFill/>
        </p:spPr>
        <p:txBody>
          <a:bodyPr wrap="square">
            <a:spAutoFit/>
          </a:bodyPr>
          <a:lstStyle/>
          <a:p>
            <a:pPr marL="0" indent="0" algn="just" rtl="0">
              <a:buNone/>
            </a:pPr>
            <a:r>
              <a:rPr lang="es-419" sz="1600" dirty="0"/>
              <a:t>Un switch utilizará la dirección MAC de destino para determinar la interfaz de salida. Antes de que un switch pueda tomar esta decisión, debe saber qué interfaz se encuentra el destino.</a:t>
            </a:r>
          </a:p>
          <a:p>
            <a:pPr marL="0" indent="0" algn="just" rtl="0">
              <a:buNone/>
            </a:pPr>
            <a:endParaRPr lang="es-419" sz="1600" dirty="0"/>
          </a:p>
          <a:p>
            <a:pPr marL="0" indent="0" algn="just" rtl="0">
              <a:buNone/>
            </a:pPr>
            <a:r>
              <a:rPr lang="es-419" sz="1600" dirty="0"/>
              <a:t>Un switch crea una tabla de direcciones MAC, grabando la dirección MAC de origen en la tabla junto con el puerto en el que se recibió.</a:t>
            </a:r>
          </a:p>
        </p:txBody>
      </p:sp>
      <p:sp>
        <p:nvSpPr>
          <p:cNvPr id="2" name="Marcador de número de diapositiva 1">
            <a:extLst>
              <a:ext uri="{FF2B5EF4-FFF2-40B4-BE49-F238E27FC236}">
                <a16:creationId xmlns:a16="http://schemas.microsoft.com/office/drawing/2014/main" id="{8F4B53AB-F6FF-F8D6-EC90-6C38A1CB7935}"/>
              </a:ext>
            </a:extLst>
          </p:cNvPr>
          <p:cNvSpPr>
            <a:spLocks noGrp="1"/>
          </p:cNvSpPr>
          <p:nvPr>
            <p:ph type="sldNum" sz="quarter" idx="4"/>
          </p:nvPr>
        </p:nvSpPr>
        <p:spPr/>
        <p:txBody>
          <a:bodyPr/>
          <a:lstStyle/>
          <a:p>
            <a:pPr defTabSz="385763">
              <a:defRPr/>
            </a:pPr>
            <a:fld id="{2F5CCB13-0A32-4557-88E9-079F0C330695}" type="slidenum">
              <a:rPr lang="en-US" sz="1000" b="1" kern="0" smtClean="0">
                <a:solidFill>
                  <a:srgbClr val="00B0F0"/>
                </a:solidFill>
              </a:rPr>
              <a:pPr defTabSz="385763">
                <a:defRPr/>
              </a:pPr>
              <a:t>5</a:t>
            </a:fld>
            <a:endParaRPr lang="en-US" sz="1000" b="1" kern="0" dirty="0">
              <a:solidFill>
                <a:srgbClr val="00B0F0"/>
              </a:solidFill>
            </a:endParaRPr>
          </a:p>
        </p:txBody>
      </p:sp>
    </p:spTree>
    <p:extLst>
      <p:ext uri="{BB962C8B-B14F-4D97-AF65-F5344CB8AC3E}">
        <p14:creationId xmlns:p14="http://schemas.microsoft.com/office/powerpoint/2010/main" val="22500712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757551"/>
          </a:xfrm>
        </p:spPr>
        <p:txBody>
          <a:bodyPr/>
          <a:lstStyle/>
          <a:p>
            <a:r>
              <a:rPr lang="es-419" dirty="0">
                <a:solidFill>
                  <a:srgbClr val="C00000"/>
                </a:solidFill>
              </a:rPr>
              <a:t>Configuración Dúplex y velocidad</a:t>
            </a:r>
          </a:p>
        </p:txBody>
      </p:sp>
      <p:sp>
        <p:nvSpPr>
          <p:cNvPr id="8" name="Content Placeholder 3">
            <a:extLst>
              <a:ext uri="{FF2B5EF4-FFF2-40B4-BE49-F238E27FC236}">
                <a16:creationId xmlns:a16="http://schemas.microsoft.com/office/drawing/2014/main" id="{825FB88E-397F-447C-9E37-92A57F471249}"/>
              </a:ext>
            </a:extLst>
          </p:cNvPr>
          <p:cNvSpPr>
            <a:spLocks noGrp="1"/>
          </p:cNvSpPr>
          <p:nvPr>
            <p:ph idx="1"/>
          </p:nvPr>
        </p:nvSpPr>
        <p:spPr>
          <a:xfrm>
            <a:off x="231006" y="681849"/>
            <a:ext cx="8787866" cy="3066736"/>
          </a:xfrm>
        </p:spPr>
        <p:txBody>
          <a:bodyPr/>
          <a:lstStyle/>
          <a:p>
            <a:pPr marL="0" indent="0" algn="just" rtl="0"/>
            <a:r>
              <a:rPr lang="es-419" sz="1600" dirty="0">
                <a:solidFill>
                  <a:srgbClr val="000000"/>
                </a:solidFill>
              </a:rPr>
              <a:t>Dos de las configuraciones más básicas en un switch son el </a:t>
            </a:r>
            <a:r>
              <a:rPr lang="es-419" sz="1600" dirty="0">
                <a:solidFill>
                  <a:srgbClr val="0000CC"/>
                </a:solidFill>
              </a:rPr>
              <a:t>ancho de banda ("velocidad") </a:t>
            </a:r>
            <a:r>
              <a:rPr lang="es-419" sz="1600" dirty="0">
                <a:solidFill>
                  <a:srgbClr val="000000"/>
                </a:solidFill>
              </a:rPr>
              <a:t>y la configuración </a:t>
            </a:r>
            <a:r>
              <a:rPr lang="es-419" sz="1600" dirty="0">
                <a:solidFill>
                  <a:srgbClr val="0000CC"/>
                </a:solidFill>
              </a:rPr>
              <a:t>dúplex</a:t>
            </a:r>
            <a:r>
              <a:rPr lang="es-419" sz="1600" dirty="0">
                <a:solidFill>
                  <a:srgbClr val="000000"/>
                </a:solidFill>
              </a:rPr>
              <a:t> para cada puerto de switch individual. Es fundamental que la configuración de dúplex y ancho de banda </a:t>
            </a:r>
            <a:r>
              <a:rPr lang="es-419" sz="1600" b="1" dirty="0">
                <a:solidFill>
                  <a:srgbClr val="000000"/>
                </a:solidFill>
                <a:effectLst>
                  <a:outerShdw blurRad="38100" dist="38100" dir="2700000" algn="tl">
                    <a:srgbClr val="000000">
                      <a:alpha val="43137"/>
                    </a:srgbClr>
                  </a:outerShdw>
                </a:effectLst>
              </a:rPr>
              <a:t>coincida entre el puerto del conmutador y los dispositivos conectados. </a:t>
            </a:r>
          </a:p>
          <a:p>
            <a:pPr marL="0" indent="0" algn="just" rtl="0"/>
            <a:r>
              <a:rPr lang="es-419" sz="1600" dirty="0"/>
              <a:t>Se utilizan dos tipos de parámetros dúplex: </a:t>
            </a:r>
            <a:r>
              <a:rPr lang="es-419" sz="1600" dirty="0">
                <a:solidFill>
                  <a:srgbClr val="0000CC"/>
                </a:solidFill>
              </a:rPr>
              <a:t>FULL-DUPLEX, SEMIDÚPLEX (</a:t>
            </a:r>
            <a:r>
              <a:rPr lang="es-419" sz="1600" dirty="0" err="1">
                <a:solidFill>
                  <a:srgbClr val="0000CC"/>
                </a:solidFill>
              </a:rPr>
              <a:t>HalfDuplex</a:t>
            </a:r>
            <a:r>
              <a:rPr lang="es-419" sz="1600" dirty="0">
                <a:solidFill>
                  <a:srgbClr val="0000CC"/>
                </a:solidFill>
              </a:rPr>
              <a:t>)</a:t>
            </a:r>
          </a:p>
          <a:p>
            <a:pPr marL="0" indent="0" algn="just" rtl="0"/>
            <a:r>
              <a:rPr lang="es-419" sz="1600" dirty="0">
                <a:solidFill>
                  <a:srgbClr val="000000"/>
                </a:solidFill>
              </a:rPr>
              <a:t>La autonegociación es una función optativa que se encuentra en la mayoría de los switches Ethernet y NIC, que permite que Permite que dos dispositivos negocien automáticamente las mejores capacidades de velocidad y dúplex.</a:t>
            </a:r>
          </a:p>
          <a:p>
            <a:pPr marL="0" indent="0" algn="just" rtl="0"/>
            <a:r>
              <a:rPr lang="es-419" sz="1600" dirty="0">
                <a:solidFill>
                  <a:srgbClr val="0000CC"/>
                </a:solidFill>
              </a:rPr>
              <a:t>La falta de coincidencia dúplex </a:t>
            </a:r>
            <a:r>
              <a:rPr lang="es-419" sz="1600" dirty="0">
                <a:solidFill>
                  <a:srgbClr val="000000"/>
                </a:solidFill>
              </a:rPr>
              <a:t>es una de las causas más comunes de problemas de rendimiento en enlaces Ethernet de 10/100 Mbps</a:t>
            </a:r>
            <a:endParaRPr lang="en-US" sz="1600" dirty="0">
              <a:solidFill>
                <a:srgbClr val="000000"/>
              </a:solidFill>
            </a:endParaRPr>
          </a:p>
        </p:txBody>
      </p:sp>
      <p:pic>
        <p:nvPicPr>
          <p:cNvPr id="4" name="Picture 3">
            <a:extLst>
              <a:ext uri="{FF2B5EF4-FFF2-40B4-BE49-F238E27FC236}">
                <a16:creationId xmlns:a16="http://schemas.microsoft.com/office/drawing/2014/main" id="{910FFA0F-D24B-4290-BDEF-13977CC0EBF6}"/>
              </a:ext>
            </a:extLst>
          </p:cNvPr>
          <p:cNvPicPr>
            <a:picLocks noChangeAspect="1"/>
          </p:cNvPicPr>
          <p:nvPr/>
        </p:nvPicPr>
        <p:blipFill>
          <a:blip r:embed="rId3"/>
          <a:stretch>
            <a:fillRect/>
          </a:stretch>
        </p:blipFill>
        <p:spPr>
          <a:xfrm>
            <a:off x="4132797" y="3666698"/>
            <a:ext cx="5011203" cy="1262987"/>
          </a:xfrm>
          <a:prstGeom prst="rect">
            <a:avLst/>
          </a:prstGeom>
        </p:spPr>
      </p:pic>
      <p:sp>
        <p:nvSpPr>
          <p:cNvPr id="6" name="TextBox 5">
            <a:extLst>
              <a:ext uri="{FF2B5EF4-FFF2-40B4-BE49-F238E27FC236}">
                <a16:creationId xmlns:a16="http://schemas.microsoft.com/office/drawing/2014/main" id="{5C35DDEE-6BB6-4649-9193-8AA0E0A020C4}"/>
              </a:ext>
            </a:extLst>
          </p:cNvPr>
          <p:cNvSpPr txBox="1"/>
          <p:nvPr/>
        </p:nvSpPr>
        <p:spPr>
          <a:xfrm>
            <a:off x="0" y="3891825"/>
            <a:ext cx="4180764" cy="1077218"/>
          </a:xfrm>
          <a:prstGeom prst="rect">
            <a:avLst/>
          </a:prstGeom>
          <a:noFill/>
        </p:spPr>
        <p:txBody>
          <a:bodyPr wrap="square">
            <a:spAutoFit/>
          </a:bodyPr>
          <a:lstStyle/>
          <a:p>
            <a:pPr marL="285750" indent="-285750" algn="just">
              <a:buFont typeface="Arial" panose="020B0604020202020204" pitchFamily="34" charset="0"/>
              <a:buChar char="•"/>
            </a:pPr>
            <a:r>
              <a:rPr lang="es-419" sz="1600" dirty="0">
                <a:solidFill>
                  <a:srgbClr val="000000"/>
                </a:solidFill>
              </a:rPr>
              <a:t>Actualmente, la mayor parte de los dispositivos admiten la característica interfaz cruzada automática dependiente del medio (</a:t>
            </a:r>
            <a:r>
              <a:rPr lang="es-419" sz="1600" dirty="0">
                <a:solidFill>
                  <a:srgbClr val="0000CC"/>
                </a:solidFill>
              </a:rPr>
              <a:t>auto-MDIX</a:t>
            </a:r>
            <a:r>
              <a:rPr lang="es-419" sz="1600" dirty="0">
                <a:solidFill>
                  <a:srgbClr val="000000"/>
                </a:solidFill>
              </a:rPr>
              <a:t>). </a:t>
            </a:r>
            <a:endParaRPr lang="fr-FR" sz="1600" dirty="0"/>
          </a:p>
        </p:txBody>
      </p:sp>
      <p:sp>
        <p:nvSpPr>
          <p:cNvPr id="2" name="Marcador de número de diapositiva 1">
            <a:extLst>
              <a:ext uri="{FF2B5EF4-FFF2-40B4-BE49-F238E27FC236}">
                <a16:creationId xmlns:a16="http://schemas.microsoft.com/office/drawing/2014/main" id="{5D8DDE2C-927D-4280-7F4D-94A5D43D7AC5}"/>
              </a:ext>
            </a:extLst>
          </p:cNvPr>
          <p:cNvSpPr>
            <a:spLocks noGrp="1"/>
          </p:cNvSpPr>
          <p:nvPr>
            <p:ph type="sldNum" sz="quarter" idx="4"/>
          </p:nvPr>
        </p:nvSpPr>
        <p:spPr/>
        <p:txBody>
          <a:bodyPr/>
          <a:lstStyle/>
          <a:p>
            <a:pPr defTabSz="385763">
              <a:defRPr/>
            </a:pPr>
            <a:fld id="{2F5CCB13-0A32-4557-88E9-079F0C330695}" type="slidenum">
              <a:rPr lang="en-US" sz="900" b="1" kern="0" smtClean="0">
                <a:solidFill>
                  <a:srgbClr val="00B0F0"/>
                </a:solidFill>
              </a:rPr>
              <a:pPr defTabSz="385763">
                <a:defRPr/>
              </a:pPr>
              <a:t>6</a:t>
            </a:fld>
            <a:endParaRPr lang="en-US" sz="900" b="1" kern="0" dirty="0">
              <a:solidFill>
                <a:srgbClr val="00B0F0"/>
              </a:solidFill>
            </a:endParaRPr>
          </a:p>
        </p:txBody>
      </p:sp>
    </p:spTree>
    <p:extLst>
      <p:ext uri="{BB962C8B-B14F-4D97-AF65-F5344CB8AC3E}">
        <p14:creationId xmlns:p14="http://schemas.microsoft.com/office/powerpoint/2010/main" val="32146704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5.2 ARP</a:t>
            </a:r>
            <a:br>
              <a:rPr lang="es-PE" sz="1500" dirty="0">
                <a:solidFill>
                  <a:schemeClr val="lt1"/>
                </a:solidFill>
                <a:latin typeface="Arial"/>
                <a:ea typeface="Arial"/>
                <a:cs typeface="Arial"/>
                <a:sym typeface="Arial"/>
              </a:rPr>
            </a:b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
        <p:nvSpPr>
          <p:cNvPr id="3" name="Slide Number Placeholder 1">
            <a:extLst>
              <a:ext uri="{FF2B5EF4-FFF2-40B4-BE49-F238E27FC236}">
                <a16:creationId xmlns:a16="http://schemas.microsoft.com/office/drawing/2014/main" id="{15714A14-48FC-10A4-7F21-43FE1CF56AD1}"/>
              </a:ext>
            </a:extLst>
          </p:cNvPr>
          <p:cNvSpPr txBox="1">
            <a:spLocks/>
          </p:cNvSpPr>
          <p:nvPr/>
        </p:nvSpPr>
        <p:spPr>
          <a:xfrm>
            <a:off x="8837122" y="4772423"/>
            <a:ext cx="304570" cy="371078"/>
          </a:xfrm>
          <a:prstGeom prst="rect">
            <a:avLst/>
          </a:prstGeom>
        </p:spPr>
        <p:txBody>
          <a:bodyPr lIns="91440" tIns="45720" rIns="91440" bIns="45720" anchor="t"/>
          <a:ls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fld id="{2F5CCB13-0A32-4557-88E9-079F0C330695}" type="slidenum">
              <a:rPr lang="en-US" sz="1200" kern="0" dirty="0" smtClean="0">
                <a:solidFill>
                  <a:schemeClr val="bg1"/>
                </a:solidFill>
                <a:latin typeface="Arial"/>
                <a:ea typeface="ＭＳ Ｐゴシック"/>
                <a:cs typeface="Arial"/>
              </a:rPr>
              <a:pPr/>
              <a:t>7</a:t>
            </a:fld>
            <a:endParaRPr lang="en-US" sz="1200">
              <a:solidFill>
                <a:schemeClr val="bg1"/>
              </a:solidFill>
              <a:latin typeface="Arial"/>
              <a:ea typeface="ＭＳ Ｐゴシック"/>
              <a:cs typeface="Arial"/>
            </a:endParaRPr>
          </a:p>
        </p:txBody>
      </p:sp>
    </p:spTree>
    <p:extLst>
      <p:ext uri="{BB962C8B-B14F-4D97-AF65-F5344CB8AC3E}">
        <p14:creationId xmlns:p14="http://schemas.microsoft.com/office/powerpoint/2010/main" val="31226637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Destino en la misma red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09" y="731838"/>
            <a:ext cx="8532920" cy="2341300"/>
          </a:xfrm>
        </p:spPr>
        <p:txBody>
          <a:bodyPr/>
          <a:lstStyle/>
          <a:p>
            <a:pPr marL="0" indent="0" algn="l" rtl="0"/>
            <a:r>
              <a:rPr lang="es-419" sz="1600" dirty="0">
                <a:solidFill>
                  <a:srgbClr val="000000"/>
                </a:solidFill>
              </a:rPr>
              <a:t>Hay</a:t>
            </a:r>
            <a:r>
              <a:rPr lang="es-419" sz="1600" dirty="0"/>
              <a:t> </a:t>
            </a:r>
            <a:r>
              <a:rPr lang="es-419" sz="1600" dirty="0">
                <a:solidFill>
                  <a:srgbClr val="000000"/>
                </a:solidFill>
              </a:rPr>
              <a:t> </a:t>
            </a:r>
            <a:r>
              <a:rPr lang="es-419" sz="1600" dirty="0">
                <a:solidFill>
                  <a:srgbClr val="0000CC"/>
                </a:solidFill>
              </a:rPr>
              <a:t>dos direcciones principales asignadas a un dispositivo en una LAN Ethernet</a:t>
            </a:r>
            <a:r>
              <a:rPr lang="es-419" sz="1600" dirty="0">
                <a:solidFill>
                  <a:srgbClr val="000000"/>
                </a:solidFill>
              </a:rPr>
              <a:t>:</a:t>
            </a:r>
          </a:p>
          <a:p>
            <a:pPr marL="415985" lvl="1" indent="-342900" rtl="0">
              <a:buFont typeface="Arial" panose="020B0604020202020204" pitchFamily="34" charset="0"/>
              <a:buChar char="•"/>
            </a:pPr>
            <a:r>
              <a:rPr lang="es-419" sz="1600" b="1" dirty="0">
                <a:solidFill>
                  <a:srgbClr val="000000"/>
                </a:solidFill>
              </a:rPr>
              <a:t>Dirección física de capa 2 (la dirección MAC):</a:t>
            </a:r>
            <a:r>
              <a:rPr lang="es-419" sz="1600" dirty="0">
                <a:solidFill>
                  <a:srgbClr val="000000"/>
                </a:solidFill>
              </a:rPr>
              <a:t>– se utiliza para comunicaciones NIC a NIC en la misma red Ethernet </a:t>
            </a:r>
            <a:r>
              <a:rPr lang="es-419" sz="1600" dirty="0">
                <a:solidFill>
                  <a:srgbClr val="C00000"/>
                </a:solidFill>
              </a:rPr>
              <a:t>( </a:t>
            </a:r>
            <a:r>
              <a:rPr lang="es-419" sz="1600" b="1" dirty="0">
                <a:solidFill>
                  <a:srgbClr val="C00000"/>
                </a:solidFill>
              </a:rPr>
              <a:t>dentro de la LAN o dentro de la misma ID de RED).</a:t>
            </a:r>
          </a:p>
          <a:p>
            <a:pPr marL="415985" lvl="1" indent="-342900" rtl="0">
              <a:buFont typeface="Arial" panose="020B0604020202020204" pitchFamily="34" charset="0"/>
              <a:buChar char="•"/>
            </a:pPr>
            <a:r>
              <a:rPr lang="es-419" sz="1600" b="1" dirty="0">
                <a:solidFill>
                  <a:srgbClr val="000000"/>
                </a:solidFill>
              </a:rPr>
              <a:t>Dirección lógica de capa 3 (la dirección IP):</a:t>
            </a:r>
            <a:r>
              <a:rPr lang="es-419" sz="1600" dirty="0">
                <a:solidFill>
                  <a:srgbClr val="000000"/>
                </a:solidFill>
              </a:rPr>
              <a:t>– Se utiliza para enviar el paquete desde el dispositivo de origen al dispositivo de destino.</a:t>
            </a:r>
            <a:r>
              <a:rPr lang="es-419" sz="1600" b="1" dirty="0">
                <a:solidFill>
                  <a:srgbClr val="000000"/>
                </a:solidFill>
              </a:rPr>
              <a:t> </a:t>
            </a:r>
          </a:p>
          <a:p>
            <a:pPr marL="73085" lvl="1" indent="0" rtl="0">
              <a:buNone/>
            </a:pPr>
            <a:r>
              <a:rPr lang="es-419" sz="1600" dirty="0">
                <a:solidFill>
                  <a:srgbClr val="000000"/>
                </a:solidFill>
              </a:rPr>
              <a:t>Las direcciones de capa 2 se utilizan para entregar tramas desde una NIC a otra NIC en la misma red. Si una dirección IP de destino está en la misma red, la dirección MAC de destino será la del dispositivo de destino.</a:t>
            </a:r>
          </a:p>
        </p:txBody>
      </p:sp>
      <p:pic>
        <p:nvPicPr>
          <p:cNvPr id="2" name="Picture 1">
            <a:extLst>
              <a:ext uri="{FF2B5EF4-FFF2-40B4-BE49-F238E27FC236}">
                <a16:creationId xmlns:a16="http://schemas.microsoft.com/office/drawing/2014/main" id="{DB3295B7-4667-438E-A1A4-0A077F091E61}"/>
              </a:ext>
            </a:extLst>
          </p:cNvPr>
          <p:cNvPicPr>
            <a:picLocks noChangeAspect="1"/>
          </p:cNvPicPr>
          <p:nvPr/>
        </p:nvPicPr>
        <p:blipFill>
          <a:blip r:embed="rId3"/>
          <a:stretch>
            <a:fillRect/>
          </a:stretch>
        </p:blipFill>
        <p:spPr>
          <a:xfrm>
            <a:off x="3622806" y="2848726"/>
            <a:ext cx="5521194" cy="2187643"/>
          </a:xfrm>
          <a:prstGeom prst="rect">
            <a:avLst/>
          </a:prstGeom>
        </p:spPr>
      </p:pic>
      <p:pic>
        <p:nvPicPr>
          <p:cNvPr id="10" name="Imagen 9">
            <a:extLst>
              <a:ext uri="{FF2B5EF4-FFF2-40B4-BE49-F238E27FC236}">
                <a16:creationId xmlns:a16="http://schemas.microsoft.com/office/drawing/2014/main" id="{76B120E3-7E8B-2A18-3C03-48E6D34986B5}"/>
              </a:ext>
            </a:extLst>
          </p:cNvPr>
          <p:cNvPicPr>
            <a:picLocks noChangeAspect="1"/>
          </p:cNvPicPr>
          <p:nvPr/>
        </p:nvPicPr>
        <p:blipFill rotWithShape="1">
          <a:blip r:embed="rId4"/>
          <a:srcRect b="56351"/>
          <a:stretch/>
        </p:blipFill>
        <p:spPr>
          <a:xfrm>
            <a:off x="44930" y="3152747"/>
            <a:ext cx="3900904" cy="1883622"/>
          </a:xfrm>
          <a:prstGeom prst="rect">
            <a:avLst/>
          </a:prstGeom>
        </p:spPr>
      </p:pic>
      <p:sp>
        <p:nvSpPr>
          <p:cNvPr id="11" name="Rectángulo: esquinas redondeadas 10">
            <a:extLst>
              <a:ext uri="{FF2B5EF4-FFF2-40B4-BE49-F238E27FC236}">
                <a16:creationId xmlns:a16="http://schemas.microsoft.com/office/drawing/2014/main" id="{85B1996F-A74E-7B5A-EB9D-3E4A74369CD6}"/>
              </a:ext>
            </a:extLst>
          </p:cNvPr>
          <p:cNvSpPr/>
          <p:nvPr/>
        </p:nvSpPr>
        <p:spPr>
          <a:xfrm>
            <a:off x="179109" y="3986861"/>
            <a:ext cx="1972713" cy="154057"/>
          </a:xfrm>
          <a:prstGeom prst="roundRect">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ln>
                <a:solidFill>
                  <a:srgbClr val="C00000"/>
                </a:solidFill>
              </a:ln>
              <a:noFill/>
            </a:endParaRPr>
          </a:p>
        </p:txBody>
      </p:sp>
      <p:sp>
        <p:nvSpPr>
          <p:cNvPr id="12" name="Flecha: hacia la izquierda 11">
            <a:extLst>
              <a:ext uri="{FF2B5EF4-FFF2-40B4-BE49-F238E27FC236}">
                <a16:creationId xmlns:a16="http://schemas.microsoft.com/office/drawing/2014/main" id="{3F85BD4D-74A8-F8F6-791D-4DEC2A04426F}"/>
              </a:ext>
            </a:extLst>
          </p:cNvPr>
          <p:cNvSpPr/>
          <p:nvPr/>
        </p:nvSpPr>
        <p:spPr>
          <a:xfrm>
            <a:off x="2236297" y="3937969"/>
            <a:ext cx="854765" cy="233569"/>
          </a:xfrm>
          <a:prstGeom prst="leftArrow">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5" name="Rectángulo 14">
            <a:extLst>
              <a:ext uri="{FF2B5EF4-FFF2-40B4-BE49-F238E27FC236}">
                <a16:creationId xmlns:a16="http://schemas.microsoft.com/office/drawing/2014/main" id="{7A840E4A-DC45-DFC0-01CC-FD2E586DAFE4}"/>
              </a:ext>
            </a:extLst>
          </p:cNvPr>
          <p:cNvSpPr/>
          <p:nvPr/>
        </p:nvSpPr>
        <p:spPr>
          <a:xfrm>
            <a:off x="611925" y="4716289"/>
            <a:ext cx="1003853" cy="32351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3" name="CuadroTexto 12">
            <a:extLst>
              <a:ext uri="{FF2B5EF4-FFF2-40B4-BE49-F238E27FC236}">
                <a16:creationId xmlns:a16="http://schemas.microsoft.com/office/drawing/2014/main" id="{41FEE4A6-504E-2A0B-B736-2612F716878B}"/>
              </a:ext>
            </a:extLst>
          </p:cNvPr>
          <p:cNvSpPr txBox="1"/>
          <p:nvPr/>
        </p:nvSpPr>
        <p:spPr>
          <a:xfrm>
            <a:off x="709987" y="4867310"/>
            <a:ext cx="780220" cy="215444"/>
          </a:xfrm>
          <a:prstGeom prst="rect">
            <a:avLst/>
          </a:prstGeom>
          <a:noFill/>
        </p:spPr>
        <p:txBody>
          <a:bodyPr wrap="square" rtlCol="0">
            <a:spAutoFit/>
          </a:bodyPr>
          <a:lstStyle/>
          <a:p>
            <a:r>
              <a:rPr lang="es-ES" sz="800" b="1" dirty="0"/>
              <a:t>55-55-55</a:t>
            </a:r>
            <a:endParaRPr lang="es-PE" sz="800" b="1" dirty="0"/>
          </a:p>
        </p:txBody>
      </p:sp>
      <p:sp>
        <p:nvSpPr>
          <p:cNvPr id="14" name="CuadroTexto 13">
            <a:extLst>
              <a:ext uri="{FF2B5EF4-FFF2-40B4-BE49-F238E27FC236}">
                <a16:creationId xmlns:a16="http://schemas.microsoft.com/office/drawing/2014/main" id="{C28BDB82-4F5B-686E-006E-99BBFCBDC796}"/>
              </a:ext>
            </a:extLst>
          </p:cNvPr>
          <p:cNvSpPr txBox="1"/>
          <p:nvPr/>
        </p:nvSpPr>
        <p:spPr>
          <a:xfrm>
            <a:off x="730628" y="4714451"/>
            <a:ext cx="780220" cy="215444"/>
          </a:xfrm>
          <a:prstGeom prst="rect">
            <a:avLst/>
          </a:prstGeom>
          <a:noFill/>
        </p:spPr>
        <p:txBody>
          <a:bodyPr wrap="square" rtlCol="0">
            <a:spAutoFit/>
          </a:bodyPr>
          <a:lstStyle/>
          <a:p>
            <a:r>
              <a:rPr lang="es-ES" sz="800" b="1" dirty="0" err="1"/>
              <a:t>aa-aa-aa</a:t>
            </a:r>
            <a:endParaRPr lang="es-PE" sz="800" b="1" dirty="0"/>
          </a:p>
        </p:txBody>
      </p:sp>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Destino en una red remota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10" y="731837"/>
            <a:ext cx="8864806" cy="1589524"/>
          </a:xfrm>
        </p:spPr>
        <p:txBody>
          <a:bodyPr/>
          <a:lstStyle/>
          <a:p>
            <a:pPr marL="0" indent="0" algn="l" rtl="0"/>
            <a:r>
              <a:rPr lang="es-419" sz="1600" dirty="0">
                <a:solidFill>
                  <a:srgbClr val="000000"/>
                </a:solidFill>
              </a:rPr>
              <a:t>Cuando la dirección IP de destino está en una red remota, la dirección MAC de destino es la de la puerta de enlace predeterminada.</a:t>
            </a:r>
          </a:p>
          <a:p>
            <a:pPr marL="415985" lvl="1" indent="-342900" rtl="0">
              <a:buFont typeface="Arial" panose="020B0604020202020204" pitchFamily="34" charset="0"/>
              <a:buChar char="•"/>
            </a:pPr>
            <a:r>
              <a:rPr lang="es-419" sz="1600" dirty="0">
                <a:solidFill>
                  <a:srgbClr val="000000"/>
                </a:solidFill>
              </a:rPr>
              <a:t>IPv4 utiliza ARP para asociar la dirección IPv4 de un dispositivo con la dirección MAC de la NIC del dispositivo.</a:t>
            </a:r>
          </a:p>
          <a:p>
            <a:pPr marL="415985" lvl="1" indent="-342900" rtl="0">
              <a:buFont typeface="Arial" panose="020B0604020202020204" pitchFamily="34" charset="0"/>
              <a:buChar char="•"/>
            </a:pPr>
            <a:r>
              <a:rPr lang="es-419" sz="1600" dirty="0">
                <a:solidFill>
                  <a:srgbClr val="000000"/>
                </a:solidFill>
              </a:rPr>
              <a:t>IPv6 utiliza ICMPv6 para asociar la dirección IPv6 de un dispositivo con la dirección MAC de la NIC del dispositivo.</a:t>
            </a:r>
          </a:p>
        </p:txBody>
      </p:sp>
      <p:pic>
        <p:nvPicPr>
          <p:cNvPr id="5" name="Picture 4">
            <a:extLst>
              <a:ext uri="{FF2B5EF4-FFF2-40B4-BE49-F238E27FC236}">
                <a16:creationId xmlns:a16="http://schemas.microsoft.com/office/drawing/2014/main" id="{650449E9-3366-4B53-A2F7-3D40251C3E6B}"/>
              </a:ext>
            </a:extLst>
          </p:cNvPr>
          <p:cNvPicPr>
            <a:picLocks noChangeAspect="1"/>
          </p:cNvPicPr>
          <p:nvPr/>
        </p:nvPicPr>
        <p:blipFill>
          <a:blip r:embed="rId3"/>
          <a:stretch>
            <a:fillRect/>
          </a:stretch>
        </p:blipFill>
        <p:spPr>
          <a:xfrm>
            <a:off x="827592" y="2326290"/>
            <a:ext cx="7388360" cy="2817210"/>
          </a:xfrm>
          <a:prstGeom prst="rect">
            <a:avLst/>
          </a:prstGeom>
        </p:spPr>
      </p:pic>
    </p:spTree>
    <p:extLst>
      <p:ext uri="{BB962C8B-B14F-4D97-AF65-F5344CB8AC3E}">
        <p14:creationId xmlns:p14="http://schemas.microsoft.com/office/powerpoint/2010/main" val="8030002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Descripción general de ARP </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1"/>
            <a:ext cx="4187253" cy="3039781"/>
          </a:xfrm>
        </p:spPr>
        <p:txBody>
          <a:bodyPr/>
          <a:lstStyle/>
          <a:p>
            <a:pPr marL="0" indent="0" algn="l" rtl="0"/>
            <a:r>
              <a:rPr lang="es-419" sz="1800">
                <a:solidFill>
                  <a:srgbClr val="000000"/>
                </a:solidFill>
              </a:rPr>
              <a:t>Un dispositivo utiliza ARP para determinar la dirección MAC de destino de un dispositivo local cuando conoce su dirección IPv4.</a:t>
            </a:r>
          </a:p>
          <a:p>
            <a:pPr marL="0" indent="0" algn="l"/>
            <a:endParaRPr lang="en-US" sz="1800" dirty="0">
              <a:solidFill>
                <a:srgbClr val="000000"/>
              </a:solidFill>
            </a:endParaRPr>
          </a:p>
          <a:p>
            <a:pPr marL="0" indent="0" algn="l" rtl="0"/>
            <a:r>
              <a:rPr lang="es-419" sz="1800">
                <a:solidFill>
                  <a:srgbClr val="000000"/>
                </a:solidFill>
              </a:rPr>
              <a:t>ARP proporciona dos funciones básicas:</a:t>
            </a:r>
          </a:p>
          <a:p>
            <a:pPr marL="415985" lvl="1" indent="-342900" rtl="0">
              <a:buFont typeface="Arial" panose="020B0604020202020204" pitchFamily="34" charset="0"/>
              <a:buChar char="•"/>
            </a:pPr>
            <a:r>
              <a:rPr lang="es-419" sz="1800">
                <a:solidFill>
                  <a:srgbClr val="000000"/>
                </a:solidFill>
              </a:rPr>
              <a:t>Resolución de direcciones IPv4 a direcciones MAC</a:t>
            </a:r>
          </a:p>
          <a:p>
            <a:pPr marL="415985" lvl="1" indent="-342900" rtl="0">
              <a:buFont typeface="Arial" panose="020B0604020202020204" pitchFamily="34" charset="0"/>
              <a:buChar char="•"/>
            </a:pPr>
            <a:r>
              <a:rPr lang="es-419" sz="1800">
                <a:solidFill>
                  <a:srgbClr val="000000"/>
                </a:solidFill>
              </a:rPr>
              <a:t>Mantenimiento de una tabla ARP de asignaciones de direcciones IPv4 a MAC</a:t>
            </a:r>
          </a:p>
        </p:txBody>
      </p:sp>
      <p:pic>
        <p:nvPicPr>
          <p:cNvPr id="6" name="Picture 5">
            <a:extLst>
              <a:ext uri="{FF2B5EF4-FFF2-40B4-BE49-F238E27FC236}">
                <a16:creationId xmlns:a16="http://schemas.microsoft.com/office/drawing/2014/main" id="{5741986A-C605-432D-B527-C5259DB44374}"/>
              </a:ext>
            </a:extLst>
          </p:cNvPr>
          <p:cNvPicPr>
            <a:picLocks noChangeAspect="1"/>
          </p:cNvPicPr>
          <p:nvPr/>
        </p:nvPicPr>
        <p:blipFill>
          <a:blip r:embed="rId3"/>
          <a:stretch>
            <a:fillRect/>
          </a:stretch>
        </p:blipFill>
        <p:spPr>
          <a:xfrm>
            <a:off x="4629099" y="1146412"/>
            <a:ext cx="4514901" cy="3092835"/>
          </a:xfrm>
          <a:prstGeom prst="rect">
            <a:avLst/>
          </a:prstGeom>
        </p:spPr>
      </p:pic>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Funciones de ARP</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just" rtl="0"/>
            <a:r>
              <a:rPr lang="es-419" sz="1800" dirty="0">
                <a:solidFill>
                  <a:srgbClr val="000000"/>
                </a:solidFill>
              </a:rPr>
              <a:t>Para enviar una trama, un dispositivo </a:t>
            </a:r>
            <a:r>
              <a:rPr lang="es-419" sz="1800" dirty="0">
                <a:solidFill>
                  <a:srgbClr val="0000CC"/>
                </a:solidFill>
              </a:rPr>
              <a:t>buscará en su tabla ARP una dirección IPv4 de destino y una dirección MAC correspondiente</a:t>
            </a:r>
            <a:r>
              <a:rPr lang="es-419" sz="1800" dirty="0">
                <a:solidFill>
                  <a:srgbClr val="000000"/>
                </a:solidFill>
              </a:rPr>
              <a:t>.</a:t>
            </a:r>
          </a:p>
          <a:p>
            <a:pPr marL="415985" lvl="1" indent="-342900" algn="just" rtl="0">
              <a:buFont typeface="Arial" panose="020B0604020202020204" pitchFamily="34" charset="0"/>
              <a:buChar char="•"/>
            </a:pPr>
            <a:r>
              <a:rPr lang="es-419" sz="1800" dirty="0">
                <a:solidFill>
                  <a:srgbClr val="000000"/>
                </a:solidFill>
              </a:rPr>
              <a:t>Si la dirección IPv4 de destino del paquete está en la misma red, el dispositivo buscará en la tabla ARP la dirección IPv4 de destino.</a:t>
            </a:r>
          </a:p>
          <a:p>
            <a:pPr marL="415985" lvl="1" indent="-342900" algn="just" rtl="0">
              <a:buFont typeface="Arial" panose="020B0604020202020204" pitchFamily="34" charset="0"/>
              <a:buChar char="•"/>
            </a:pPr>
            <a:r>
              <a:rPr lang="es-419" sz="1800" dirty="0">
                <a:solidFill>
                  <a:srgbClr val="000000"/>
                </a:solidFill>
              </a:rPr>
              <a:t>Si la dirección IPv4 de destino está en una red diferente, el dispositivo buscará en la tabla ARP la dirección IPv4 de la puerta de enlace predeterminada.</a:t>
            </a:r>
          </a:p>
          <a:p>
            <a:pPr marL="415985" lvl="1" indent="-342900" algn="just" rtl="0">
              <a:buFont typeface="Arial" panose="020B0604020202020204" pitchFamily="34" charset="0"/>
              <a:buChar char="•"/>
            </a:pPr>
            <a:r>
              <a:rPr lang="es-419" sz="1800" dirty="0">
                <a:solidFill>
                  <a:srgbClr val="000000"/>
                </a:solidFill>
              </a:rPr>
              <a:t>Si el dispositivo localiza la dirección IPv4, se utiliza la dirección MAC correspondiente como la dirección MAC de destino de la trama. </a:t>
            </a:r>
          </a:p>
          <a:p>
            <a:pPr marL="415985" lvl="1" indent="-342900" algn="just" rtl="0">
              <a:buFont typeface="Arial" panose="020B0604020202020204" pitchFamily="34" charset="0"/>
              <a:buChar char="•"/>
            </a:pPr>
            <a:r>
              <a:rPr lang="es-419" sz="1800" dirty="0">
                <a:solidFill>
                  <a:srgbClr val="000000"/>
                </a:solidFill>
              </a:rPr>
              <a:t>Si no se encuentra una entrada en la tabla ARP, el dispositivo envía una solicitud ARP.</a:t>
            </a:r>
          </a:p>
        </p:txBody>
      </p:sp>
    </p:spTree>
    <p:extLst>
      <p:ext uri="{BB962C8B-B14F-4D97-AF65-F5344CB8AC3E}">
        <p14:creationId xmlns:p14="http://schemas.microsoft.com/office/powerpoint/2010/main" val="7408956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Eliminación de entradas de una tabla de ARP</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277504" y="844062"/>
            <a:ext cx="8702723" cy="1134506"/>
          </a:xfrm>
        </p:spPr>
        <p:txBody>
          <a:bodyPr/>
          <a:lstStyle/>
          <a:p>
            <a:pPr marL="342900" indent="-342900" algn="just" rtl="0">
              <a:buFont typeface="Arial" panose="020B0604020202020204" pitchFamily="34" charset="0"/>
              <a:buChar char="•"/>
            </a:pPr>
            <a:r>
              <a:rPr lang="es-419" sz="1600" dirty="0">
                <a:solidFill>
                  <a:srgbClr val="000000"/>
                </a:solidFill>
              </a:rPr>
              <a:t>Las entradas de la tabla ARP no son permanentes y se eliminan cuando un temporizador de caché ARP caduca después de un período de tiempo especificado.</a:t>
            </a:r>
          </a:p>
          <a:p>
            <a:pPr marL="342900" indent="-342900" algn="just" rtl="0">
              <a:buFont typeface="Arial" panose="020B0604020202020204" pitchFamily="34" charset="0"/>
              <a:buChar char="•"/>
            </a:pPr>
            <a:r>
              <a:rPr lang="es-419" sz="1600" dirty="0">
                <a:solidFill>
                  <a:srgbClr val="000000"/>
                </a:solidFill>
              </a:rPr>
              <a:t>La duración del temporizador de caché ARP difiere según el sistema operativo.</a:t>
            </a:r>
          </a:p>
          <a:p>
            <a:pPr marL="342900" indent="-342900" algn="just" rtl="0">
              <a:buFont typeface="Arial" panose="020B0604020202020204" pitchFamily="34" charset="0"/>
              <a:buChar char="•"/>
            </a:pPr>
            <a:r>
              <a:rPr lang="es-419" sz="1600" dirty="0">
                <a:solidFill>
                  <a:srgbClr val="000000"/>
                </a:solidFill>
              </a:rPr>
              <a:t>Las entradas de la tabla ARP también pueden ser eliminadas manualmente por el administrador. </a:t>
            </a:r>
          </a:p>
          <a:p>
            <a:pPr marL="0" indent="0" algn="just"/>
            <a:endParaRPr lang="en-US" sz="1600" dirty="0">
              <a:solidFill>
                <a:srgbClr val="000000"/>
              </a:solidFill>
            </a:endParaRPr>
          </a:p>
          <a:p>
            <a:pPr marL="342900" indent="-342900" algn="just">
              <a:buFont typeface="Arial" panose="020B0604020202020204" pitchFamily="34" charset="0"/>
              <a:buChar char="•"/>
            </a:pPr>
            <a:endParaRPr lang="en-US" sz="1600" dirty="0">
              <a:solidFill>
                <a:srgbClr val="000000"/>
              </a:solidFill>
            </a:endParaRPr>
          </a:p>
          <a:p>
            <a:pPr marL="342900" indent="-342900" algn="just">
              <a:buFont typeface="Arial" panose="020B0604020202020204" pitchFamily="34" charset="0"/>
              <a:buChar char="•"/>
            </a:pPr>
            <a:endParaRPr lang="en-US" sz="1600" dirty="0">
              <a:solidFill>
                <a:srgbClr val="000000"/>
              </a:solidFill>
            </a:endParaRPr>
          </a:p>
          <a:p>
            <a:pPr marL="342900" indent="-342900" algn="just">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88E1F9DB-BF06-458F-943E-47F1D805506A}"/>
              </a:ext>
            </a:extLst>
          </p:cNvPr>
          <p:cNvPicPr>
            <a:picLocks noChangeAspect="1"/>
          </p:cNvPicPr>
          <p:nvPr/>
        </p:nvPicPr>
        <p:blipFill>
          <a:blip r:embed="rId3"/>
          <a:stretch>
            <a:fillRect/>
          </a:stretch>
        </p:blipFill>
        <p:spPr>
          <a:xfrm>
            <a:off x="1910687" y="2033116"/>
            <a:ext cx="5751843" cy="3081742"/>
          </a:xfrm>
          <a:prstGeom prst="rect">
            <a:avLst/>
          </a:prstGeom>
        </p:spPr>
      </p:pic>
    </p:spTree>
    <p:extLst>
      <p:ext uri="{BB962C8B-B14F-4D97-AF65-F5344CB8AC3E}">
        <p14:creationId xmlns:p14="http://schemas.microsoft.com/office/powerpoint/2010/main" val="3332036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Tablas ARP en dispositivos de red</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731837"/>
          </a:xfrm>
        </p:spPr>
        <p:txBody>
          <a:bodyPr/>
          <a:lstStyle/>
          <a:p>
            <a:pPr marL="342900" indent="-342900" algn="l" rtl="0">
              <a:buFont typeface="Arial" panose="020B0604020202020204" pitchFamily="34" charset="0"/>
              <a:buChar char="•"/>
            </a:pPr>
            <a:r>
              <a:rPr lang="es-419" sz="1600">
                <a:solidFill>
                  <a:srgbClr val="000000"/>
                </a:solidFill>
              </a:rPr>
              <a:t>El comando </a:t>
            </a:r>
            <a:r>
              <a:rPr lang="es-419" sz="1600" b="1">
                <a:solidFill>
                  <a:srgbClr val="000000"/>
                </a:solidFill>
                <a:latin typeface="Courier New" panose="02070309020205020404" pitchFamily="49" charset="0"/>
                <a:cs typeface="Courier New" panose="02070309020205020404" pitchFamily="49" charset="0"/>
              </a:rPr>
              <a:t>show ip arp </a:t>
            </a:r>
            <a:r>
              <a:rPr lang="es-419" sz="1600">
                <a:solidFill>
                  <a:srgbClr val="000000"/>
                </a:solidFill>
              </a:rPr>
              <a:t>muestra la tabla ARP en un enrutador Cisco.</a:t>
            </a:r>
          </a:p>
          <a:p>
            <a:pPr marL="342900" indent="-342900" algn="l" rtl="0">
              <a:buFont typeface="Arial" panose="020B0604020202020204" pitchFamily="34" charset="0"/>
              <a:buChar char="•"/>
            </a:pPr>
            <a:r>
              <a:rPr lang="es-419" sz="1600">
                <a:solidFill>
                  <a:srgbClr val="000000"/>
                </a:solidFill>
              </a:rPr>
              <a:t>El comando </a:t>
            </a:r>
            <a:r>
              <a:rPr lang="es-419" sz="1600" b="1">
                <a:solidFill>
                  <a:srgbClr val="000000"/>
                </a:solidFill>
                <a:latin typeface="Courier New" panose="02070309020205020404" pitchFamily="49" charset="0"/>
                <a:cs typeface="Courier New" panose="02070309020205020404" pitchFamily="49" charset="0"/>
              </a:rPr>
              <a:t>arp —a</a:t>
            </a:r>
            <a:r>
              <a:rPr lang="es-419" sz="1600">
                <a:solidFill>
                  <a:srgbClr val="000000"/>
                </a:solidFill>
              </a:rPr>
              <a:t> muestra la tabla ARP en un equipo con Windows 10.</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sp>
        <p:nvSpPr>
          <p:cNvPr id="5" name="TextBox 4">
            <a:extLst>
              <a:ext uri="{FF2B5EF4-FFF2-40B4-BE49-F238E27FC236}">
                <a16:creationId xmlns:a16="http://schemas.microsoft.com/office/drawing/2014/main" id="{16A4B50D-6EE1-40FE-8374-1A9F3109A798}"/>
              </a:ext>
            </a:extLst>
          </p:cNvPr>
          <p:cNvSpPr txBox="1"/>
          <p:nvPr/>
        </p:nvSpPr>
        <p:spPr>
          <a:xfrm>
            <a:off x="629914" y="1529322"/>
            <a:ext cx="7715574" cy="830997"/>
          </a:xfrm>
          <a:prstGeom prst="rect">
            <a:avLst/>
          </a:prstGeom>
          <a:solidFill>
            <a:srgbClr val="000000"/>
          </a:solidFill>
        </p:spPr>
        <p:txBody>
          <a:bodyPr wrap="none" rtlCol="0">
            <a:spAutoFit/>
          </a:bodyPr>
          <a:lstStyle/>
          <a:p>
            <a:pPr rtl="0"/>
            <a:r>
              <a:rPr lang="es-419" sz="1200" dirty="0">
                <a:solidFill>
                  <a:schemeClr val="bg1"/>
                </a:solidFill>
                <a:highlight>
                  <a:srgbClr val="000000"/>
                </a:highlight>
                <a:latin typeface="Courier New" panose="02070309020205020404" pitchFamily="49" charset="0"/>
                <a:cs typeface="Courier New" panose="02070309020205020404" pitchFamily="49" charset="0"/>
              </a:rPr>
              <a:t>R1# </a:t>
            </a:r>
            <a:r>
              <a:rPr lang="es-419" sz="1200" b="1" dirty="0">
                <a:solidFill>
                  <a:schemeClr val="bg1"/>
                </a:solidFill>
                <a:highlight>
                  <a:srgbClr val="000000"/>
                </a:highlight>
                <a:latin typeface="Courier New" panose="02070309020205020404" pitchFamily="49" charset="0"/>
                <a:cs typeface="Courier New" panose="02070309020205020404" pitchFamily="49" charset="0"/>
              </a:rPr>
              <a:t>show </a:t>
            </a:r>
            <a:r>
              <a:rPr lang="es-419" sz="1200" b="1" dirty="0" err="1">
                <a:solidFill>
                  <a:schemeClr val="bg1"/>
                </a:solidFill>
                <a:highlight>
                  <a:srgbClr val="000000"/>
                </a:highlight>
                <a:latin typeface="Courier New" panose="02070309020205020404" pitchFamily="49" charset="0"/>
                <a:cs typeface="Courier New" panose="02070309020205020404" pitchFamily="49" charset="0"/>
              </a:rPr>
              <a:t>ip</a:t>
            </a:r>
            <a:r>
              <a:rPr lang="es-419" sz="1200" b="1" dirty="0">
                <a:solidFill>
                  <a:schemeClr val="bg1"/>
                </a:solidFill>
                <a:highlight>
                  <a:srgbClr val="000000"/>
                </a:highlight>
                <a:latin typeface="Courier New" panose="02070309020205020404" pitchFamily="49" charset="0"/>
                <a:cs typeface="Courier New" panose="02070309020205020404" pitchFamily="49" charset="0"/>
              </a:rPr>
              <a:t> </a:t>
            </a:r>
            <a:r>
              <a:rPr lang="es-419" sz="1200" b="1" dirty="0" err="1">
                <a:solidFill>
                  <a:schemeClr val="bg1"/>
                </a:solidFill>
                <a:highlight>
                  <a:srgbClr val="000000"/>
                </a:highlight>
                <a:latin typeface="Courier New" panose="02070309020205020404" pitchFamily="49" charset="0"/>
                <a:cs typeface="Courier New" panose="02070309020205020404" pitchFamily="49" charset="0"/>
              </a:rPr>
              <a:t>arp</a:t>
            </a:r>
            <a:r>
              <a:rPr lang="es-419" sz="1200" b="1" dirty="0">
                <a:solidFill>
                  <a:schemeClr val="bg1"/>
                </a:solidFill>
                <a:highlight>
                  <a:srgbClr val="000000"/>
                </a:highlight>
                <a:latin typeface="Courier New" panose="02070309020205020404" pitchFamily="49" charset="0"/>
                <a:cs typeface="Courier New" panose="02070309020205020404" pitchFamily="49" charset="0"/>
              </a:rPr>
              <a:t> </a:t>
            </a:r>
          </a:p>
          <a:p>
            <a:pPr rtl="0"/>
            <a:r>
              <a:rPr lang="es-419" sz="1200" dirty="0" err="1">
                <a:solidFill>
                  <a:schemeClr val="bg1"/>
                </a:solidFill>
                <a:highlight>
                  <a:srgbClr val="000000"/>
                </a:highlight>
                <a:latin typeface="Courier New" panose="02070309020205020404" pitchFamily="49" charset="0"/>
                <a:cs typeface="Courier New" panose="02070309020205020404" pitchFamily="49" charset="0"/>
              </a:rPr>
              <a:t>Protocol</a:t>
            </a:r>
            <a:r>
              <a:rPr lang="es-419" sz="1200" dirty="0">
                <a:solidFill>
                  <a:schemeClr val="bg1"/>
                </a:solidFill>
                <a:highlight>
                  <a:srgbClr val="000000"/>
                </a:highlight>
                <a:latin typeface="Courier New" panose="02070309020205020404" pitchFamily="49" charset="0"/>
                <a:cs typeface="Courier New" panose="02070309020205020404" pitchFamily="49" charset="0"/>
              </a:rPr>
              <a:t> </a:t>
            </a:r>
            <a:r>
              <a:rPr lang="es-419" sz="1200" dirty="0" err="1">
                <a:solidFill>
                  <a:schemeClr val="bg1"/>
                </a:solidFill>
                <a:highlight>
                  <a:srgbClr val="000000"/>
                </a:highlight>
                <a:latin typeface="Courier New" panose="02070309020205020404" pitchFamily="49" charset="0"/>
                <a:cs typeface="Courier New" panose="02070309020205020404" pitchFamily="49" charset="0"/>
              </a:rPr>
              <a:t>Address</a:t>
            </a:r>
            <a:r>
              <a:rPr lang="es-419" sz="1200" dirty="0">
                <a:solidFill>
                  <a:schemeClr val="bg1"/>
                </a:solidFill>
                <a:highlight>
                  <a:srgbClr val="000000"/>
                </a:highlight>
                <a:latin typeface="Courier New" panose="02070309020205020404" pitchFamily="49" charset="0"/>
                <a:cs typeface="Courier New" panose="02070309020205020404" pitchFamily="49" charset="0"/>
              </a:rPr>
              <a:t> Age (min) Hardware </a:t>
            </a:r>
            <a:r>
              <a:rPr lang="es-419" sz="1200" dirty="0" err="1">
                <a:solidFill>
                  <a:schemeClr val="bg1"/>
                </a:solidFill>
                <a:highlight>
                  <a:srgbClr val="000000"/>
                </a:highlight>
                <a:latin typeface="Courier New" panose="02070309020205020404" pitchFamily="49" charset="0"/>
                <a:cs typeface="Courier New" panose="02070309020205020404" pitchFamily="49" charset="0"/>
              </a:rPr>
              <a:t>Addr</a:t>
            </a:r>
            <a:r>
              <a:rPr lang="es-419" sz="1200" dirty="0">
                <a:solidFill>
                  <a:schemeClr val="bg1"/>
                </a:solidFill>
                <a:highlight>
                  <a:srgbClr val="000000"/>
                </a:highlight>
                <a:latin typeface="Courier New" panose="02070309020205020404" pitchFamily="49" charset="0"/>
                <a:cs typeface="Courier New" panose="02070309020205020404" pitchFamily="49" charset="0"/>
              </a:rPr>
              <a:t> </a:t>
            </a:r>
            <a:r>
              <a:rPr lang="es-419" sz="1200" dirty="0" err="1">
                <a:solidFill>
                  <a:schemeClr val="bg1"/>
                </a:solidFill>
                <a:highlight>
                  <a:srgbClr val="000000"/>
                </a:highlight>
                <a:latin typeface="Courier New" panose="02070309020205020404" pitchFamily="49" charset="0"/>
                <a:cs typeface="Courier New" panose="02070309020205020404" pitchFamily="49" charset="0"/>
              </a:rPr>
              <a:t>Type</a:t>
            </a:r>
            <a:r>
              <a:rPr lang="es-419" sz="1200" dirty="0">
                <a:solidFill>
                  <a:schemeClr val="bg1"/>
                </a:solidFill>
                <a:highlight>
                  <a:srgbClr val="000000"/>
                </a:highlight>
                <a:latin typeface="Courier New" panose="02070309020205020404" pitchFamily="49" charset="0"/>
                <a:cs typeface="Courier New" panose="02070309020205020404" pitchFamily="49" charset="0"/>
              </a:rPr>
              <a:t> Interface</a:t>
            </a:r>
          </a:p>
          <a:p>
            <a:pPr rtl="0"/>
            <a:r>
              <a:rPr lang="es-419" sz="1200" dirty="0">
                <a:solidFill>
                  <a:schemeClr val="bg1"/>
                </a:solidFill>
                <a:highlight>
                  <a:srgbClr val="000000"/>
                </a:highlight>
                <a:latin typeface="Courier New" panose="02070309020205020404" pitchFamily="49" charset="0"/>
                <a:cs typeface="Courier New" panose="02070309020205020404" pitchFamily="49" charset="0"/>
              </a:rPr>
              <a:t>Internet 192.168.10.1 - a0e0.af0d.e140 ARPA GigabiteThernet0/0/0</a:t>
            </a:r>
          </a:p>
          <a:p>
            <a:endParaRPr lang="en-US" sz="1200" dirty="0">
              <a:solidFill>
                <a:schemeClr val="bg1"/>
              </a:solidFill>
              <a:highlight>
                <a:srgbClr val="000000"/>
              </a:highlight>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042B87D4-C52D-48F9-8660-B3A9C2BB16B8}"/>
              </a:ext>
            </a:extLst>
          </p:cNvPr>
          <p:cNvSpPr txBox="1"/>
          <p:nvPr/>
        </p:nvSpPr>
        <p:spPr>
          <a:xfrm>
            <a:off x="629914" y="2499100"/>
            <a:ext cx="7715574" cy="1200329"/>
          </a:xfrm>
          <a:prstGeom prst="rect">
            <a:avLst/>
          </a:prstGeom>
          <a:solidFill>
            <a:srgbClr val="000000"/>
          </a:solidFill>
        </p:spPr>
        <p:txBody>
          <a:bodyPr wrap="square" rtlCol="0">
            <a:spAutoFit/>
          </a:bodyPr>
          <a:lstStyle/>
          <a:p>
            <a:pPr rtl="0"/>
            <a:r>
              <a:rPr lang="es-419" sz="1200">
                <a:solidFill>
                  <a:schemeClr val="bg1"/>
                </a:solidFill>
                <a:latin typeface="Courier New" panose="02070309020205020404" pitchFamily="49" charset="0"/>
                <a:cs typeface="Courier New" panose="02070309020205020404" pitchFamily="49" charset="0"/>
              </a:rPr>
              <a:t>C:\Users\PC &gt; </a:t>
            </a:r>
            <a:r>
              <a:rPr lang="es-419" sz="1200" b="1">
                <a:solidFill>
                  <a:schemeClr val="bg1"/>
                </a:solidFill>
                <a:latin typeface="Courier New" panose="02070309020205020404" pitchFamily="49" charset="0"/>
                <a:cs typeface="Courier New" panose="02070309020205020404" pitchFamily="49" charset="0"/>
              </a:rPr>
              <a:t>arp -a</a:t>
            </a:r>
          </a:p>
          <a:p>
            <a:pPr rtl="0"/>
            <a:r>
              <a:rPr lang="es-419" sz="1200">
                <a:solidFill>
                  <a:schemeClr val="bg1"/>
                </a:solidFill>
                <a:latin typeface="Courier New" panose="02070309020205020404" pitchFamily="49" charset="0"/>
                <a:cs typeface="Courier New" panose="02070309020205020404" pitchFamily="49" charset="0"/>
              </a:rPr>
              <a:t> </a:t>
            </a:r>
          </a:p>
          <a:p>
            <a:pPr rtl="0"/>
            <a:r>
              <a:rPr lang="es-419" sz="1200">
                <a:solidFill>
                  <a:schemeClr val="bg1"/>
                </a:solidFill>
                <a:latin typeface="Courier New" panose="02070309020205020404" pitchFamily="49" charset="0"/>
                <a:cs typeface="Courier New" panose="02070309020205020404" pitchFamily="49" charset="0"/>
              </a:rPr>
              <a:t>Interface: 192.168.1.124 --- 0x10</a:t>
            </a:r>
          </a:p>
          <a:p>
            <a:pPr rtl="0"/>
            <a:r>
              <a:rPr lang="es-419" sz="1200">
                <a:solidFill>
                  <a:schemeClr val="bg1"/>
                </a:solidFill>
                <a:latin typeface="Courier New" panose="02070309020205020404" pitchFamily="49" charset="0"/>
                <a:cs typeface="Courier New" panose="02070309020205020404" pitchFamily="49" charset="0"/>
              </a:rPr>
              <a:t>  Internet Address Physical Address Type</a:t>
            </a:r>
          </a:p>
          <a:p>
            <a:pPr rtl="0"/>
            <a:r>
              <a:rPr lang="es-419" sz="1200">
                <a:solidFill>
                  <a:schemeClr val="bg1"/>
                </a:solidFill>
                <a:latin typeface="Courier New" panose="02070309020205020404" pitchFamily="49" charset="0"/>
                <a:cs typeface="Courier New" panose="02070309020205020404" pitchFamily="49" charset="0"/>
              </a:rPr>
              <a:t>  192.168.1.1 c8-d7-19-cc-a0-86 dynamic</a:t>
            </a:r>
          </a:p>
          <a:p>
            <a:pPr rtl="0"/>
            <a:r>
              <a:rPr lang="es-419" sz="1200">
                <a:solidFill>
                  <a:schemeClr val="bg1"/>
                </a:solidFill>
                <a:latin typeface="Courier New" panose="02070309020205020404" pitchFamily="49" charset="0"/>
                <a:cs typeface="Courier New" panose="02070309020205020404" pitchFamily="49" charset="0"/>
              </a:rPr>
              <a:t>  192.168.1.101 08-3e-0c-f5-f7-77 dynamic</a:t>
            </a:r>
          </a:p>
        </p:txBody>
      </p:sp>
      <p:sp>
        <p:nvSpPr>
          <p:cNvPr id="2" name="CuadroTexto 1">
            <a:extLst>
              <a:ext uri="{FF2B5EF4-FFF2-40B4-BE49-F238E27FC236}">
                <a16:creationId xmlns:a16="http://schemas.microsoft.com/office/drawing/2014/main" id="{3660EC63-18F8-1C75-0C39-651C4DDEF518}"/>
              </a:ext>
            </a:extLst>
          </p:cNvPr>
          <p:cNvSpPr txBox="1"/>
          <p:nvPr/>
        </p:nvSpPr>
        <p:spPr>
          <a:xfrm>
            <a:off x="629914" y="4046386"/>
            <a:ext cx="4669277" cy="369332"/>
          </a:xfrm>
          <a:prstGeom prst="rect">
            <a:avLst/>
          </a:prstGeom>
          <a:solidFill>
            <a:srgbClr val="FFFF00"/>
          </a:solidFill>
        </p:spPr>
        <p:txBody>
          <a:bodyPr wrap="square" rtlCol="0">
            <a:spAutoFit/>
          </a:bodyPr>
          <a:lstStyle/>
          <a:p>
            <a:r>
              <a:rPr lang="es-ES" b="1" dirty="0">
                <a:solidFill>
                  <a:srgbClr val="C00000"/>
                </a:solidFill>
              </a:rPr>
              <a:t>Ver ejemplo de ARP en </a:t>
            </a:r>
            <a:r>
              <a:rPr lang="es-ES" b="1" dirty="0" err="1">
                <a:solidFill>
                  <a:srgbClr val="C00000"/>
                </a:solidFill>
              </a:rPr>
              <a:t>packet</a:t>
            </a:r>
            <a:r>
              <a:rPr lang="es-ES" b="1" dirty="0">
                <a:solidFill>
                  <a:srgbClr val="C00000"/>
                </a:solidFill>
              </a:rPr>
              <a:t> </a:t>
            </a:r>
            <a:r>
              <a:rPr lang="es-ES" b="1" dirty="0" err="1">
                <a:solidFill>
                  <a:srgbClr val="C00000"/>
                </a:solidFill>
              </a:rPr>
              <a:t>tracer</a:t>
            </a:r>
            <a:endParaRPr lang="es-PE" b="1" dirty="0">
              <a:solidFill>
                <a:srgbClr val="C00000"/>
              </a:solidFill>
            </a:endParaRPr>
          </a:p>
        </p:txBody>
      </p:sp>
    </p:spTree>
    <p:extLst>
      <p:ext uri="{BB962C8B-B14F-4D97-AF65-F5344CB8AC3E}">
        <p14:creationId xmlns:p14="http://schemas.microsoft.com/office/powerpoint/2010/main" val="26513258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Problemas ARP — </a:t>
            </a:r>
            <a:r>
              <a:rPr lang="es-419" sz="2400" dirty="0" err="1">
                <a:solidFill>
                  <a:srgbClr val="C00000"/>
                </a:solidFill>
              </a:rPr>
              <a:t>Broadcasting</a:t>
            </a:r>
            <a:r>
              <a:rPr lang="es-419" sz="2400" dirty="0">
                <a:solidFill>
                  <a:srgbClr val="C00000"/>
                </a:solidFill>
              </a:rPr>
              <a:t> ARP y </a:t>
            </a:r>
            <a:r>
              <a:rPr lang="es-419" sz="2400" dirty="0" err="1">
                <a:solidFill>
                  <a:srgbClr val="C00000"/>
                </a:solidFill>
              </a:rPr>
              <a:t>spoofing</a:t>
            </a:r>
            <a:r>
              <a:rPr lang="es-419" sz="2400" dirty="0">
                <a:solidFill>
                  <a:srgbClr val="C00000"/>
                </a:solidFill>
              </a:rPr>
              <a:t> ARP</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775823"/>
            <a:ext cx="8441875" cy="1210981"/>
          </a:xfrm>
        </p:spPr>
        <p:txBody>
          <a:bodyPr/>
          <a:lstStyle/>
          <a:p>
            <a:pPr marL="342900" indent="-342900" algn="l" rtl="0">
              <a:buFont typeface="Arial" panose="020B0604020202020204" pitchFamily="34" charset="0"/>
              <a:buChar char="•"/>
            </a:pPr>
            <a:r>
              <a:rPr lang="es-419" sz="1600" dirty="0">
                <a:solidFill>
                  <a:srgbClr val="000000"/>
                </a:solidFill>
              </a:rPr>
              <a:t>Las solicitudes ARP son recibidas y procesadas por cada dispositivo en la red local.</a:t>
            </a:r>
          </a:p>
          <a:p>
            <a:pPr marL="342900" indent="-342900" algn="l" rtl="0">
              <a:buFont typeface="Arial" panose="020B0604020202020204" pitchFamily="34" charset="0"/>
              <a:buChar char="•"/>
            </a:pPr>
            <a:r>
              <a:rPr lang="es-419" sz="1600" dirty="0">
                <a:solidFill>
                  <a:srgbClr val="000000"/>
                </a:solidFill>
              </a:rPr>
              <a:t>Las emisiones ARP excesivas pueden causar cierta reducción en el rendimiento.</a:t>
            </a:r>
          </a:p>
          <a:p>
            <a:pPr marL="342900" indent="-342900" algn="l" rtl="0">
              <a:buFont typeface="Arial" panose="020B0604020202020204" pitchFamily="34" charset="0"/>
              <a:buChar char="•"/>
            </a:pPr>
            <a:r>
              <a:rPr lang="es-419" sz="1600" dirty="0">
                <a:solidFill>
                  <a:srgbClr val="000000"/>
                </a:solidFill>
              </a:rPr>
              <a:t>Las respuestas de ARP pueden ser suplantadas por un actor de amenazas para realizar un ataque de envenenamiento ARP.</a:t>
            </a:r>
          </a:p>
          <a:p>
            <a:pPr marL="342900" indent="-342900" algn="l" rtl="0">
              <a:buFont typeface="Arial" panose="020B0604020202020204" pitchFamily="34" charset="0"/>
              <a:buChar char="•"/>
            </a:pPr>
            <a:r>
              <a:rPr lang="es-419" sz="1600" dirty="0">
                <a:solidFill>
                  <a:srgbClr val="000000"/>
                </a:solidFill>
              </a:rPr>
              <a:t>Los switches de nivel empresarial incluyen técnicas de mitigación para proteger contra ataques ARP.</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54F65C2E-4429-4EE0-B587-6BE1F19A05B0}"/>
              </a:ext>
            </a:extLst>
          </p:cNvPr>
          <p:cNvPicPr>
            <a:picLocks noChangeAspect="1"/>
          </p:cNvPicPr>
          <p:nvPr/>
        </p:nvPicPr>
        <p:blipFill>
          <a:blip r:embed="rId3"/>
          <a:stretch>
            <a:fillRect/>
          </a:stretch>
        </p:blipFill>
        <p:spPr>
          <a:xfrm>
            <a:off x="2295553" y="2492726"/>
            <a:ext cx="5023104" cy="2650774"/>
          </a:xfrm>
          <a:prstGeom prst="rect">
            <a:avLst/>
          </a:prstGeom>
        </p:spPr>
      </p:pic>
    </p:spTree>
    <p:extLst>
      <p:ext uri="{BB962C8B-B14F-4D97-AF65-F5344CB8AC3E}">
        <p14:creationId xmlns:p14="http://schemas.microsoft.com/office/powerpoint/2010/main" val="29453052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390889" y="1715226"/>
            <a:ext cx="8582097"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5.3 Conceptos de </a:t>
            </a:r>
            <a:r>
              <a:rPr lang="es-ES" sz="4000" dirty="0" err="1">
                <a:solidFill>
                  <a:schemeClr val="bg1"/>
                </a:solidFill>
                <a:effectLst>
                  <a:outerShdw blurRad="38100" dist="38100" dir="2700000" algn="tl">
                    <a:srgbClr val="000000">
                      <a:alpha val="43137"/>
                    </a:srgbClr>
                  </a:outerShdw>
                </a:effectLst>
                <a:latin typeface="Arial"/>
                <a:ea typeface="Arial"/>
                <a:cs typeface="Arial"/>
                <a:sym typeface="Arial"/>
              </a:rPr>
              <a:t>Switching</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24970260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dirty="0">
                <a:solidFill>
                  <a:srgbClr val="C00000"/>
                </a:solidFill>
              </a:rPr>
              <a:t>Dominios de colisiones</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21551"/>
            <a:ext cx="4407195" cy="2846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CEAE900D-3CFF-BD7C-3BB9-0862095555F7}"/>
              </a:ext>
            </a:extLst>
          </p:cNvPr>
          <p:cNvSpPr txBox="1">
            <a:spLocks noChangeArrowheads="1"/>
          </p:cNvSpPr>
          <p:nvPr/>
        </p:nvSpPr>
        <p:spPr bwMode="auto">
          <a:xfrm>
            <a:off x="5247170" y="41393"/>
            <a:ext cx="7239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fr-FR" altLang="en-US" dirty="0" err="1">
                <a:solidFill>
                  <a:srgbClr val="C00000"/>
                </a:solidFill>
              </a:rPr>
              <a:t>Dominios</a:t>
            </a:r>
            <a:r>
              <a:rPr lang="fr-FR" altLang="en-US" dirty="0">
                <a:solidFill>
                  <a:srgbClr val="C00000"/>
                </a:solidFill>
              </a:rPr>
              <a:t> de </a:t>
            </a:r>
            <a:r>
              <a:rPr lang="fr-FR" dirty="0">
                <a:solidFill>
                  <a:srgbClr val="C00000"/>
                </a:solidFill>
              </a:rPr>
              <a:t>Broadcast</a:t>
            </a:r>
          </a:p>
        </p:txBody>
      </p:sp>
      <p:pic>
        <p:nvPicPr>
          <p:cNvPr id="4" name="Picture 2">
            <a:extLst>
              <a:ext uri="{FF2B5EF4-FFF2-40B4-BE49-F238E27FC236}">
                <a16:creationId xmlns:a16="http://schemas.microsoft.com/office/drawing/2014/main" id="{480393CA-AF63-1DA3-FD23-181DD020B0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3637" y="2353223"/>
            <a:ext cx="3833033" cy="2748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a:extLst>
              <a:ext uri="{FF2B5EF4-FFF2-40B4-BE49-F238E27FC236}">
                <a16:creationId xmlns:a16="http://schemas.microsoft.com/office/drawing/2014/main" id="{500ABB34-1903-A8C1-CB05-A1E586475E49}"/>
              </a:ext>
            </a:extLst>
          </p:cNvPr>
          <p:cNvSpPr txBox="1"/>
          <p:nvPr/>
        </p:nvSpPr>
        <p:spPr>
          <a:xfrm>
            <a:off x="0" y="798944"/>
            <a:ext cx="4456112" cy="646331"/>
          </a:xfrm>
          <a:prstGeom prst="rect">
            <a:avLst/>
          </a:prstGeom>
          <a:noFill/>
        </p:spPr>
        <p:txBody>
          <a:bodyPr wrap="square">
            <a:spAutoFit/>
          </a:bodyPr>
          <a:lstStyle/>
          <a:p>
            <a:pPr marL="285750" indent="-285750" algn="just">
              <a:buFont typeface="Arial" panose="020B0604020202020204" pitchFamily="34" charset="0"/>
              <a:buChar char="•"/>
            </a:pPr>
            <a:r>
              <a:rPr lang="es-419" sz="1800" dirty="0">
                <a:solidFill>
                  <a:srgbClr val="0000CC"/>
                </a:solidFill>
              </a:rPr>
              <a:t>Los switch eliminan los dominios de colisión y reducen la congestión</a:t>
            </a:r>
            <a:endParaRPr lang="fr-FR" dirty="0"/>
          </a:p>
        </p:txBody>
      </p:sp>
      <p:sp>
        <p:nvSpPr>
          <p:cNvPr id="7" name="TextBox 6">
            <a:extLst>
              <a:ext uri="{FF2B5EF4-FFF2-40B4-BE49-F238E27FC236}">
                <a16:creationId xmlns:a16="http://schemas.microsoft.com/office/drawing/2014/main" id="{6BF61E21-8AB8-B89E-10D1-18BAA563CA4F}"/>
              </a:ext>
            </a:extLst>
          </p:cNvPr>
          <p:cNvSpPr txBox="1"/>
          <p:nvPr/>
        </p:nvSpPr>
        <p:spPr>
          <a:xfrm>
            <a:off x="4572000" y="673058"/>
            <a:ext cx="4668541" cy="1323439"/>
          </a:xfrm>
          <a:prstGeom prst="rect">
            <a:avLst/>
          </a:prstGeom>
          <a:noFill/>
        </p:spPr>
        <p:txBody>
          <a:bodyPr wrap="square">
            <a:spAutoFit/>
          </a:bodyPr>
          <a:lstStyle/>
          <a:p>
            <a:pPr marL="285750" indent="-285750" algn="just" rtl="0">
              <a:buFont typeface="Arial" panose="020B0604020202020204" pitchFamily="34" charset="0"/>
              <a:buChar char="•"/>
            </a:pPr>
            <a:r>
              <a:rPr lang="es-419" sz="1600" dirty="0"/>
              <a:t>Un dominio de difusión </a:t>
            </a:r>
            <a:r>
              <a:rPr lang="es-419" sz="1600" dirty="0">
                <a:solidFill>
                  <a:srgbClr val="0000CC"/>
                </a:solidFill>
              </a:rPr>
              <a:t>se extiende a todos los dispositivos de Capa 1 o Capa 2 de una LAN.</a:t>
            </a:r>
          </a:p>
          <a:p>
            <a:pPr marL="285750" indent="-285750" algn="just" rtl="0">
              <a:buFont typeface="Arial" panose="020B0604020202020204" pitchFamily="34" charset="0"/>
              <a:buChar char="•"/>
            </a:pPr>
            <a:r>
              <a:rPr lang="es-419" sz="1600" dirty="0"/>
              <a:t>Sólo un dispositivo de capa 3 (enrutador) romperá el dominio de difusión, también llamado dominio de difusión MAC.</a:t>
            </a:r>
          </a:p>
        </p:txBody>
      </p:sp>
      <p:sp>
        <p:nvSpPr>
          <p:cNvPr id="2" name="Slide Number Placeholder 1">
            <a:extLst>
              <a:ext uri="{FF2B5EF4-FFF2-40B4-BE49-F238E27FC236}">
                <a16:creationId xmlns:a16="http://schemas.microsoft.com/office/drawing/2014/main" id="{94AF1BE4-E18C-FF1A-AF06-CCC89CFB014A}"/>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16</a:t>
            </a:fld>
            <a:endParaRPr lang="en-US" sz="800" b="1" dirty="0">
              <a:solidFill>
                <a:srgbClr val="00B0F0"/>
              </a:solidFill>
            </a:endParaRPr>
          </a:p>
        </p:txBody>
      </p:sp>
    </p:spTree>
    <p:custDataLst>
      <p:tags r:id="rId1"/>
    </p:custDataLst>
    <p:extLst>
      <p:ext uri="{BB962C8B-B14F-4D97-AF65-F5344CB8AC3E}">
        <p14:creationId xmlns:p14="http://schemas.microsoft.com/office/powerpoint/2010/main" val="492233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757551"/>
          </a:xfrm>
        </p:spPr>
        <p:txBody>
          <a:bodyPr/>
          <a:lstStyle/>
          <a:p>
            <a:r>
              <a:rPr lang="es-419" dirty="0">
                <a:solidFill>
                  <a:srgbClr val="C00000"/>
                </a:solidFill>
              </a:rPr>
              <a:t>Métodos de reenvío de tramas en Swiches</a:t>
            </a:r>
          </a:p>
        </p:txBody>
      </p:sp>
      <p:sp>
        <p:nvSpPr>
          <p:cNvPr id="8" name="Content Placeholder 3">
            <a:extLst>
              <a:ext uri="{FF2B5EF4-FFF2-40B4-BE49-F238E27FC236}">
                <a16:creationId xmlns:a16="http://schemas.microsoft.com/office/drawing/2014/main" id="{825FB88E-397F-447C-9E37-92A57F471249}"/>
              </a:ext>
            </a:extLst>
          </p:cNvPr>
          <p:cNvSpPr>
            <a:spLocks noGrp="1"/>
          </p:cNvSpPr>
          <p:nvPr>
            <p:ph idx="1"/>
          </p:nvPr>
        </p:nvSpPr>
        <p:spPr>
          <a:xfrm>
            <a:off x="59635" y="545371"/>
            <a:ext cx="8959237" cy="4359590"/>
          </a:xfrm>
        </p:spPr>
        <p:txBody>
          <a:bodyPr/>
          <a:lstStyle/>
          <a:p>
            <a:pPr marL="0" indent="0" algn="l" rtl="0"/>
            <a:r>
              <a:rPr lang="es-419" sz="1400" dirty="0">
                <a:solidFill>
                  <a:srgbClr val="000000"/>
                </a:solidFill>
              </a:rPr>
              <a:t>Los switches utilizan uno de los siguientes métodos de reenvío entre puertos de la red:</a:t>
            </a:r>
          </a:p>
          <a:p>
            <a:pPr marL="285750" indent="-285750" algn="just" rtl="0">
              <a:buFont typeface="Arial" panose="020B0604020202020204" pitchFamily="34" charset="0"/>
              <a:buChar char="•"/>
            </a:pPr>
            <a:r>
              <a:rPr lang="es-419" sz="1400" b="1" dirty="0">
                <a:solidFill>
                  <a:srgbClr val="000000"/>
                </a:solidFill>
              </a:rPr>
              <a:t>Conmutación de almacenamiento y reenvío (</a:t>
            </a:r>
            <a:r>
              <a:rPr lang="es-PE" sz="1400" b="1" dirty="0">
                <a:solidFill>
                  <a:srgbClr val="C00000"/>
                </a:solidFill>
              </a:rPr>
              <a:t>Store and Forward</a:t>
            </a:r>
            <a:r>
              <a:rPr lang="es-419" sz="1400" b="1" dirty="0">
                <a:solidFill>
                  <a:srgbClr val="000000"/>
                </a:solidFill>
              </a:rPr>
              <a:t>)</a:t>
            </a:r>
            <a:r>
              <a:rPr lang="es-419" sz="1400" dirty="0">
                <a:solidFill>
                  <a:srgbClr val="000000"/>
                </a:solidFill>
              </a:rPr>
              <a:t>: recibe toda la trama y garantiza que la trama es válida. Si la CRC es válida, el switch busca la dirección de destino, que determina la interfaz de salida. Luego, la trama se reenvía desde el puerto correcto. Tiene dos características: Comprobación de errores y almacenamiento de búfer.</a:t>
            </a:r>
          </a:p>
          <a:p>
            <a:pPr lvl="1" algn="just" rtl="0">
              <a:buFont typeface="Arial" panose="020B0604020202020204" pitchFamily="34" charset="0"/>
              <a:buChar char="•"/>
            </a:pPr>
            <a:r>
              <a:rPr lang="es-419" b="1" dirty="0">
                <a:solidFill>
                  <a:srgbClr val="000000"/>
                </a:solidFill>
              </a:rPr>
              <a:t>Conmutación de corte </a:t>
            </a:r>
            <a:r>
              <a:rPr lang="es-419" b="1" dirty="0">
                <a:solidFill>
                  <a:srgbClr val="C00000"/>
                </a:solidFill>
              </a:rPr>
              <a:t>(</a:t>
            </a:r>
            <a:r>
              <a:rPr lang="es-PE" b="1" i="0" dirty="0" err="1">
                <a:solidFill>
                  <a:srgbClr val="C00000"/>
                </a:solidFill>
                <a:effectLst/>
                <a:latin typeface="arial" panose="020B0604020202020204" pitchFamily="34" charset="0"/>
              </a:rPr>
              <a:t>cut-through</a:t>
            </a:r>
            <a:r>
              <a:rPr lang="es-PE" b="1" i="0" dirty="0">
                <a:solidFill>
                  <a:srgbClr val="C00000"/>
                </a:solidFill>
                <a:effectLst/>
                <a:latin typeface="arial" panose="020B0604020202020204" pitchFamily="34" charset="0"/>
              </a:rPr>
              <a:t>).</a:t>
            </a:r>
            <a:r>
              <a:rPr lang="es-419" b="1" dirty="0">
                <a:solidFill>
                  <a:srgbClr val="000000"/>
                </a:solidFill>
              </a:rPr>
              <a:t>: </a:t>
            </a:r>
            <a:r>
              <a:rPr lang="es-419" dirty="0">
                <a:solidFill>
                  <a:srgbClr val="000000"/>
                </a:solidFill>
              </a:rPr>
              <a:t> este método de reenvío de trama reenvía la trama antes de que se reciba por completo. Como mínimo, se debe leer la dirección de destino para que la trama se pueda enviar. </a:t>
            </a:r>
            <a:r>
              <a:rPr lang="es-419" dirty="0"/>
              <a:t>Es apropiado para los switches que necesitan latencia de menos de 10 microsegundos. No comprueba el FCS, por lo que puede propagar errores.</a:t>
            </a:r>
            <a:endParaRPr lang="en-US" dirty="0">
              <a:solidFill>
                <a:srgbClr val="000000"/>
              </a:solidFill>
            </a:endParaRPr>
          </a:p>
          <a:p>
            <a:pPr marL="285750" indent="-285750" algn="just" rtl="0">
              <a:buFont typeface="Arial" panose="020B0604020202020204" pitchFamily="34" charset="0"/>
              <a:buChar char="•"/>
            </a:pPr>
            <a:r>
              <a:rPr lang="es-419" sz="1400" dirty="0">
                <a:solidFill>
                  <a:srgbClr val="000000"/>
                </a:solidFill>
              </a:rPr>
              <a:t>Una gran ventaja de la conmutación de almacenamiento y reenvío es que </a:t>
            </a:r>
            <a:r>
              <a:rPr lang="es-419" sz="1400" dirty="0">
                <a:solidFill>
                  <a:srgbClr val="0000CC"/>
                </a:solidFill>
                <a:effectLst>
                  <a:outerShdw blurRad="38100" dist="38100" dir="2700000" algn="tl">
                    <a:srgbClr val="000000">
                      <a:alpha val="43137"/>
                    </a:srgbClr>
                  </a:outerShdw>
                </a:effectLst>
              </a:rPr>
              <a:t>determina si una trama tiene errores antes de propagarla</a:t>
            </a:r>
            <a:r>
              <a:rPr lang="es-419" sz="1400" dirty="0">
                <a:solidFill>
                  <a:srgbClr val="000000"/>
                </a:solidFill>
              </a:rPr>
              <a:t>. Cuando se detecta un error en la trama, el switch la descarta. El proceso de descarte de las tramas con errores reduce el ancho de banda consumido por datos dañados. </a:t>
            </a:r>
          </a:p>
          <a:p>
            <a:pPr marL="285750" indent="-285750" algn="l" rtl="0">
              <a:buFont typeface="Arial" panose="020B0604020202020204" pitchFamily="34" charset="0"/>
              <a:buChar char="•"/>
            </a:pPr>
            <a:r>
              <a:rPr lang="es-419" sz="1400" dirty="0">
                <a:solidFill>
                  <a:srgbClr val="000000"/>
                </a:solidFill>
              </a:rPr>
              <a:t>El switching de almacenamiento y envío </a:t>
            </a:r>
            <a:r>
              <a:rPr lang="es-419" sz="1400" dirty="0">
                <a:solidFill>
                  <a:srgbClr val="0000CC"/>
                </a:solidFill>
                <a:effectLst>
                  <a:outerShdw blurRad="38100" dist="38100" dir="2700000" algn="tl">
                    <a:srgbClr val="000000">
                      <a:alpha val="43137"/>
                    </a:srgbClr>
                  </a:outerShdw>
                </a:effectLst>
              </a:rPr>
              <a:t>se requiere para el análisis de calidad de servicio </a:t>
            </a:r>
            <a:r>
              <a:rPr lang="es-419" sz="1400" dirty="0">
                <a:solidFill>
                  <a:srgbClr val="000000"/>
                </a:solidFill>
              </a:rPr>
              <a:t>(QoS) en las redes convergentes, donde se necesita una clasificación de la trama para decidir el orden de prioridad del tráfico. Por ejemplo, los flujos de datos de voz sobre IP deben tener prioridad sobre el tráfico de navegación web.</a:t>
            </a:r>
          </a:p>
          <a:p>
            <a:pPr marL="285750" indent="-285750" algn="l">
              <a:buFont typeface="Arial" panose="020B0604020202020204" pitchFamily="34" charset="0"/>
              <a:buChar char="•"/>
            </a:pPr>
            <a:endParaRPr lang="en-US" sz="1400" dirty="0">
              <a:solidFill>
                <a:srgbClr val="000000"/>
              </a:solidFill>
            </a:endParaRPr>
          </a:p>
        </p:txBody>
      </p:sp>
      <p:sp>
        <p:nvSpPr>
          <p:cNvPr id="2" name="Marcador de número de diapositiva 1">
            <a:extLst>
              <a:ext uri="{FF2B5EF4-FFF2-40B4-BE49-F238E27FC236}">
                <a16:creationId xmlns:a16="http://schemas.microsoft.com/office/drawing/2014/main" id="{575DC442-9FAE-62D3-078F-6CEC44ABFCFE}"/>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17</a:t>
            </a:fld>
            <a:endParaRPr lang="en-US" kern="0" dirty="0">
              <a:solidFill>
                <a:srgbClr val="595959"/>
              </a:solidFill>
            </a:endParaRPr>
          </a:p>
        </p:txBody>
      </p:sp>
    </p:spTree>
    <p:extLst>
      <p:ext uri="{BB962C8B-B14F-4D97-AF65-F5344CB8AC3E}">
        <p14:creationId xmlns:p14="http://schemas.microsoft.com/office/powerpoint/2010/main" val="4692275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5.4 Switches </a:t>
            </a:r>
            <a:br>
              <a:rPr lang="es-PE" sz="28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14076785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rPr>
              <a:t>Complejidad creciente de las redes</a:t>
            </a:r>
            <a:endParaRPr lang="es-ES" sz="2100" dirty="0">
              <a:solidFill>
                <a:srgbClr val="C00000"/>
              </a:solidFill>
              <a:latin typeface="Arial" charset="0"/>
            </a:endParaRPr>
          </a:p>
        </p:txBody>
      </p:sp>
      <p:sp>
        <p:nvSpPr>
          <p:cNvPr id="3" name="Content Placeholder 2"/>
          <p:cNvSpPr>
            <a:spLocks noGrp="1"/>
          </p:cNvSpPr>
          <p:nvPr>
            <p:ph idx="1"/>
          </p:nvPr>
        </p:nvSpPr>
        <p:spPr>
          <a:xfrm>
            <a:off x="0" y="694311"/>
            <a:ext cx="9143999" cy="2705384"/>
          </a:xfrm>
        </p:spPr>
        <p:txBody>
          <a:bodyPr/>
          <a:lstStyle/>
          <a:p>
            <a:r>
              <a:rPr lang="es-ES" dirty="0"/>
              <a:t>El mundo digital está cambiando, se debe acceder a la información desde cualquier lugar del mundo.</a:t>
            </a:r>
          </a:p>
        </p:txBody>
      </p:sp>
      <p:sp>
        <p:nvSpPr>
          <p:cNvPr id="5" name="Content Placeholder 2">
            <a:extLst>
              <a:ext uri="{FF2B5EF4-FFF2-40B4-BE49-F238E27FC236}">
                <a16:creationId xmlns:a16="http://schemas.microsoft.com/office/drawing/2014/main" id="{EC71F8AA-669F-489B-9B17-3DEDCBB448DB}"/>
              </a:ext>
            </a:extLst>
          </p:cNvPr>
          <p:cNvSpPr txBox="1">
            <a:spLocks/>
          </p:cNvSpPr>
          <p:nvPr/>
        </p:nvSpPr>
        <p:spPr bwMode="auto">
          <a:xfrm>
            <a:off x="1838170" y="4626290"/>
            <a:ext cx="6120194" cy="368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None/>
            </a:pPr>
            <a:endParaRPr lang="es-ES" dirty="0"/>
          </a:p>
        </p:txBody>
      </p:sp>
      <p:pic>
        <p:nvPicPr>
          <p:cNvPr id="4" name="Picture 3">
            <a:extLst>
              <a:ext uri="{FF2B5EF4-FFF2-40B4-BE49-F238E27FC236}">
                <a16:creationId xmlns:a16="http://schemas.microsoft.com/office/drawing/2014/main" id="{458C7962-9C5B-6706-2A3E-1075660A5F91}"/>
              </a:ext>
            </a:extLst>
          </p:cNvPr>
          <p:cNvPicPr>
            <a:picLocks noChangeAspect="1"/>
          </p:cNvPicPr>
          <p:nvPr/>
        </p:nvPicPr>
        <p:blipFill>
          <a:blip r:embed="rId3"/>
          <a:stretch>
            <a:fillRect/>
          </a:stretch>
        </p:blipFill>
        <p:spPr>
          <a:xfrm>
            <a:off x="2004236" y="1015363"/>
            <a:ext cx="4977540" cy="3593851"/>
          </a:xfrm>
          <a:prstGeom prst="rect">
            <a:avLst/>
          </a:prstGeom>
        </p:spPr>
      </p:pic>
      <p:sp>
        <p:nvSpPr>
          <p:cNvPr id="8" name="TextBox 7">
            <a:extLst>
              <a:ext uri="{FF2B5EF4-FFF2-40B4-BE49-F238E27FC236}">
                <a16:creationId xmlns:a16="http://schemas.microsoft.com/office/drawing/2014/main" id="{8518D4BD-D694-6EBA-67DD-6647BACC42D1}"/>
              </a:ext>
            </a:extLst>
          </p:cNvPr>
          <p:cNvSpPr txBox="1"/>
          <p:nvPr/>
        </p:nvSpPr>
        <p:spPr>
          <a:xfrm>
            <a:off x="2533208" y="4609214"/>
            <a:ext cx="4606556" cy="307777"/>
          </a:xfrm>
          <a:prstGeom prst="rect">
            <a:avLst/>
          </a:prstGeom>
          <a:noFill/>
        </p:spPr>
        <p:txBody>
          <a:bodyPr wrap="square">
            <a:spAutoFit/>
          </a:bodyPr>
          <a:lstStyle/>
          <a:p>
            <a:r>
              <a:rPr lang="fr-FR" sz="1400" dirty="0"/>
              <a:t>https://www.itcandor.com/hpe-juniper-acquisition/</a:t>
            </a:r>
          </a:p>
        </p:txBody>
      </p:sp>
      <p:sp>
        <p:nvSpPr>
          <p:cNvPr id="2" name="Slide Number Placeholder 1">
            <a:extLst>
              <a:ext uri="{FF2B5EF4-FFF2-40B4-BE49-F238E27FC236}">
                <a16:creationId xmlns:a16="http://schemas.microsoft.com/office/drawing/2014/main" id="{9A46C7FA-57CE-C04B-0530-8FB93CE989AB}"/>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19</a:t>
            </a:fld>
            <a:endParaRPr lang="en-US"/>
          </a:p>
        </p:txBody>
      </p:sp>
    </p:spTree>
    <p:extLst>
      <p:ext uri="{BB962C8B-B14F-4D97-AF65-F5344CB8AC3E}">
        <p14:creationId xmlns:p14="http://schemas.microsoft.com/office/powerpoint/2010/main" val="27000308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latin typeface="Arial" charset="0"/>
              </a:rPr>
              <a:t>CISCO vs HUAWEI</a:t>
            </a:r>
          </a:p>
        </p:txBody>
      </p:sp>
      <p:sp>
        <p:nvSpPr>
          <p:cNvPr id="4" name="TextBox 3">
            <a:extLst>
              <a:ext uri="{FF2B5EF4-FFF2-40B4-BE49-F238E27FC236}">
                <a16:creationId xmlns:a16="http://schemas.microsoft.com/office/drawing/2014/main" id="{EA6CDC73-7C55-7BF2-A780-584331CF5141}"/>
              </a:ext>
            </a:extLst>
          </p:cNvPr>
          <p:cNvSpPr txBox="1"/>
          <p:nvPr/>
        </p:nvSpPr>
        <p:spPr>
          <a:xfrm>
            <a:off x="-1359639" y="4934886"/>
            <a:ext cx="7547787" cy="215444"/>
          </a:xfrm>
          <a:prstGeom prst="rect">
            <a:avLst/>
          </a:prstGeom>
          <a:noFill/>
        </p:spPr>
        <p:txBody>
          <a:bodyPr wrap="square">
            <a:spAutoFit/>
          </a:bodyPr>
          <a:lstStyle/>
          <a:p>
            <a:pPr algn="ctr"/>
            <a:r>
              <a:rPr lang="fr-FR" sz="800" dirty="0"/>
              <a:t>https://www.gartner.com/reviews/market/data-center-and-cloud-networking/compare/cisco-vs-huawei</a:t>
            </a:r>
          </a:p>
        </p:txBody>
      </p:sp>
      <p:sp>
        <p:nvSpPr>
          <p:cNvPr id="6" name="TextBox 5">
            <a:extLst>
              <a:ext uri="{FF2B5EF4-FFF2-40B4-BE49-F238E27FC236}">
                <a16:creationId xmlns:a16="http://schemas.microsoft.com/office/drawing/2014/main" id="{D6B8C02B-37DD-C0B0-73A6-16CC0F549E14}"/>
              </a:ext>
            </a:extLst>
          </p:cNvPr>
          <p:cNvSpPr txBox="1"/>
          <p:nvPr/>
        </p:nvSpPr>
        <p:spPr>
          <a:xfrm>
            <a:off x="1273913" y="4743089"/>
            <a:ext cx="6436685" cy="215444"/>
          </a:xfrm>
          <a:prstGeom prst="rect">
            <a:avLst/>
          </a:prstGeom>
          <a:noFill/>
        </p:spPr>
        <p:txBody>
          <a:bodyPr wrap="square">
            <a:spAutoFit/>
          </a:bodyPr>
          <a:lstStyle/>
          <a:p>
            <a:pPr algn="ctr"/>
            <a:r>
              <a:rPr lang="fr-FR" sz="800" dirty="0"/>
              <a:t>https://www.trustradius.com/compare-products/cisco-catalyst-9600-series-switches-vs-huawei-ethernet-switches</a:t>
            </a:r>
          </a:p>
        </p:txBody>
      </p:sp>
      <p:pic>
        <p:nvPicPr>
          <p:cNvPr id="9" name="Picture 8">
            <a:extLst>
              <a:ext uri="{FF2B5EF4-FFF2-40B4-BE49-F238E27FC236}">
                <a16:creationId xmlns:a16="http://schemas.microsoft.com/office/drawing/2014/main" id="{1B437CCA-62DE-0583-3C65-D81A99CC1713}"/>
              </a:ext>
            </a:extLst>
          </p:cNvPr>
          <p:cNvPicPr>
            <a:picLocks noChangeAspect="1"/>
          </p:cNvPicPr>
          <p:nvPr/>
        </p:nvPicPr>
        <p:blipFill>
          <a:blip r:embed="rId3"/>
          <a:stretch>
            <a:fillRect/>
          </a:stretch>
        </p:blipFill>
        <p:spPr>
          <a:xfrm>
            <a:off x="47848" y="1017180"/>
            <a:ext cx="4283486" cy="3607874"/>
          </a:xfrm>
          <a:prstGeom prst="rect">
            <a:avLst/>
          </a:prstGeom>
        </p:spPr>
      </p:pic>
      <p:pic>
        <p:nvPicPr>
          <p:cNvPr id="11" name="Picture 10">
            <a:extLst>
              <a:ext uri="{FF2B5EF4-FFF2-40B4-BE49-F238E27FC236}">
                <a16:creationId xmlns:a16="http://schemas.microsoft.com/office/drawing/2014/main" id="{92B77C61-8326-6C4E-CBF9-E96721BF692A}"/>
              </a:ext>
            </a:extLst>
          </p:cNvPr>
          <p:cNvPicPr>
            <a:picLocks noChangeAspect="1"/>
          </p:cNvPicPr>
          <p:nvPr/>
        </p:nvPicPr>
        <p:blipFill>
          <a:blip r:embed="rId4"/>
          <a:stretch>
            <a:fillRect/>
          </a:stretch>
        </p:blipFill>
        <p:spPr>
          <a:xfrm>
            <a:off x="5385391" y="420168"/>
            <a:ext cx="2945218" cy="2096146"/>
          </a:xfrm>
          <a:prstGeom prst="rect">
            <a:avLst/>
          </a:prstGeom>
        </p:spPr>
      </p:pic>
      <p:pic>
        <p:nvPicPr>
          <p:cNvPr id="13" name="Picture 12">
            <a:extLst>
              <a:ext uri="{FF2B5EF4-FFF2-40B4-BE49-F238E27FC236}">
                <a16:creationId xmlns:a16="http://schemas.microsoft.com/office/drawing/2014/main" id="{AFC7B391-4198-A15B-368D-1B90D1780B60}"/>
              </a:ext>
            </a:extLst>
          </p:cNvPr>
          <p:cNvPicPr>
            <a:picLocks noChangeAspect="1"/>
          </p:cNvPicPr>
          <p:nvPr/>
        </p:nvPicPr>
        <p:blipFill>
          <a:blip r:embed="rId5"/>
          <a:stretch>
            <a:fillRect/>
          </a:stretch>
        </p:blipFill>
        <p:spPr>
          <a:xfrm>
            <a:off x="5523613" y="2516314"/>
            <a:ext cx="2945219" cy="1962673"/>
          </a:xfrm>
          <a:prstGeom prst="rect">
            <a:avLst/>
          </a:prstGeom>
        </p:spPr>
      </p:pic>
      <p:sp>
        <p:nvSpPr>
          <p:cNvPr id="15" name="TextBox 14">
            <a:extLst>
              <a:ext uri="{FF2B5EF4-FFF2-40B4-BE49-F238E27FC236}">
                <a16:creationId xmlns:a16="http://schemas.microsoft.com/office/drawing/2014/main" id="{82A2648A-1EEB-FC70-1E69-86B17699DD89}"/>
              </a:ext>
            </a:extLst>
          </p:cNvPr>
          <p:cNvSpPr txBox="1"/>
          <p:nvPr/>
        </p:nvSpPr>
        <p:spPr>
          <a:xfrm>
            <a:off x="5159449" y="4933932"/>
            <a:ext cx="5300330" cy="230832"/>
          </a:xfrm>
          <a:prstGeom prst="rect">
            <a:avLst/>
          </a:prstGeom>
          <a:noFill/>
        </p:spPr>
        <p:txBody>
          <a:bodyPr wrap="square">
            <a:spAutoFit/>
          </a:bodyPr>
          <a:lstStyle/>
          <a:p>
            <a:r>
              <a:rPr lang="fr-FR" sz="900" dirty="0"/>
              <a:t>https://e.huawei.com/en/products/switches/data-center-switches</a:t>
            </a:r>
          </a:p>
        </p:txBody>
      </p:sp>
      <p:sp>
        <p:nvSpPr>
          <p:cNvPr id="2" name="Slide Number Placeholder 1">
            <a:extLst>
              <a:ext uri="{FF2B5EF4-FFF2-40B4-BE49-F238E27FC236}">
                <a16:creationId xmlns:a16="http://schemas.microsoft.com/office/drawing/2014/main" id="{8D05516A-67D9-7BC1-4B14-C289543205E9}"/>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20</a:t>
            </a:fld>
            <a:endParaRPr lang="en-US"/>
          </a:p>
        </p:txBody>
      </p:sp>
    </p:spTree>
    <p:extLst>
      <p:ext uri="{BB962C8B-B14F-4D97-AF65-F5344CB8AC3E}">
        <p14:creationId xmlns:p14="http://schemas.microsoft.com/office/powerpoint/2010/main" val="36572916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rPr>
              <a:t>Función de las redes conmutadas</a:t>
            </a:r>
            <a:endParaRPr lang="es-ES" sz="2100" dirty="0">
              <a:solidFill>
                <a:srgbClr val="C00000"/>
              </a:solidFill>
              <a:latin typeface="Arial" charset="0"/>
            </a:endParaRPr>
          </a:p>
        </p:txBody>
      </p:sp>
      <p:sp>
        <p:nvSpPr>
          <p:cNvPr id="8" name="Content Placeholder 1"/>
          <p:cNvSpPr>
            <a:spLocks noGrp="1"/>
          </p:cNvSpPr>
          <p:nvPr>
            <p:ph idx="1"/>
          </p:nvPr>
        </p:nvSpPr>
        <p:spPr>
          <a:xfrm>
            <a:off x="116118" y="851719"/>
            <a:ext cx="4947201" cy="3440062"/>
          </a:xfrm>
        </p:spPr>
        <p:txBody>
          <a:bodyPr/>
          <a:lstStyle/>
          <a:p>
            <a:pPr algn="just"/>
            <a:r>
              <a:rPr lang="es-ES" sz="1800" dirty="0"/>
              <a:t>Las tecnologías de switching son fundamentales para el diseño de una red. </a:t>
            </a:r>
          </a:p>
          <a:p>
            <a:pPr algn="just"/>
            <a:r>
              <a:rPr lang="es-ES" sz="1800" dirty="0"/>
              <a:t>El switching permite que el tráfico se envíe solo cuando se necesita en la mayoría de los casos, con métodos rápidos.</a:t>
            </a:r>
          </a:p>
          <a:p>
            <a:pPr algn="just"/>
            <a:r>
              <a:rPr lang="es-ES" sz="1800" dirty="0"/>
              <a:t>Una red LAN conmutada:</a:t>
            </a:r>
          </a:p>
          <a:p>
            <a:pPr marL="510778" lvl="1" indent="-257175" algn="just">
              <a:buFont typeface="Wingdings" pitchFamily="2" charset="2"/>
              <a:buChar char="§"/>
            </a:pPr>
            <a:r>
              <a:rPr lang="es-ES" sz="1600" dirty="0"/>
              <a:t>Permite más </a:t>
            </a:r>
            <a:r>
              <a:rPr lang="es-ES" sz="1600" dirty="0">
                <a:solidFill>
                  <a:srgbClr val="0000CC"/>
                </a:solidFill>
              </a:rPr>
              <a:t>flexibilidad </a:t>
            </a:r>
          </a:p>
          <a:p>
            <a:pPr marL="510778" lvl="1" indent="-257175" algn="just">
              <a:buFont typeface="Wingdings" pitchFamily="2" charset="2"/>
              <a:buChar char="§"/>
            </a:pPr>
            <a:r>
              <a:rPr lang="es-ES" sz="1600" dirty="0"/>
              <a:t>Permite más </a:t>
            </a:r>
            <a:r>
              <a:rPr lang="es-ES" sz="1600" dirty="0">
                <a:solidFill>
                  <a:srgbClr val="0000CC"/>
                </a:solidFill>
              </a:rPr>
              <a:t>administración de tráfico</a:t>
            </a:r>
          </a:p>
          <a:p>
            <a:pPr marL="510778" lvl="1" indent="-257175" algn="just">
              <a:buFont typeface="Wingdings" pitchFamily="2" charset="2"/>
              <a:buChar char="§"/>
            </a:pPr>
            <a:r>
              <a:rPr lang="es-ES" sz="1600" dirty="0"/>
              <a:t>Admite </a:t>
            </a:r>
            <a:r>
              <a:rPr lang="es-ES" sz="1600" dirty="0">
                <a:solidFill>
                  <a:srgbClr val="0000CC"/>
                </a:solidFill>
              </a:rPr>
              <a:t>calidad de servicio, seguridad adicional, redes inalámbricas, telefonía IP y servicios de movilidad</a:t>
            </a:r>
          </a:p>
          <a:p>
            <a:pPr marL="0" indent="0" algn="just">
              <a:buNone/>
            </a:pPr>
            <a:endParaRPr lang="es-ES" sz="1600" dirty="0"/>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308980" y="41393"/>
            <a:ext cx="3516129" cy="5060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112FA4D8-087C-AC74-06A8-A8792F4554FE}"/>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21</a:t>
            </a:fld>
            <a:endParaRPr lang="en-US"/>
          </a:p>
        </p:txBody>
      </p:sp>
    </p:spTree>
    <p:extLst>
      <p:ext uri="{BB962C8B-B14F-4D97-AF65-F5344CB8AC3E}">
        <p14:creationId xmlns:p14="http://schemas.microsoft.com/office/powerpoint/2010/main" val="2896611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rPr>
              <a:t>Factores de forma</a:t>
            </a:r>
            <a:endParaRPr lang="es-ES" sz="2100" dirty="0">
              <a:solidFill>
                <a:srgbClr val="C00000"/>
              </a:solidFill>
              <a:latin typeface="Arial" charset="0"/>
            </a:endParaRPr>
          </a:p>
        </p:txBody>
      </p:sp>
      <p:sp>
        <p:nvSpPr>
          <p:cNvPr id="8" name="Content Placeholder 1"/>
          <p:cNvSpPr>
            <a:spLocks noGrp="1"/>
          </p:cNvSpPr>
          <p:nvPr>
            <p:ph idx="1"/>
          </p:nvPr>
        </p:nvSpPr>
        <p:spPr>
          <a:xfrm>
            <a:off x="387478" y="645491"/>
            <a:ext cx="4088987" cy="730046"/>
          </a:xfrm>
        </p:spPr>
        <p:txBody>
          <a:bodyPr/>
          <a:lstStyle/>
          <a:p>
            <a:pPr marL="0" indent="0">
              <a:buNone/>
            </a:pPr>
            <a:r>
              <a:rPr lang="es-ES" b="1" dirty="0"/>
              <a:t>Switches de configuración fija</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1023048"/>
            <a:ext cx="4508310" cy="3793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a:extLst>
              <a:ext uri="{FF2B5EF4-FFF2-40B4-BE49-F238E27FC236}">
                <a16:creationId xmlns:a16="http://schemas.microsoft.com/office/drawing/2014/main" id="{75B3463D-D900-468E-AE49-F232EFCB921F}"/>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tretch>
            <a:fillRect/>
          </a:stretch>
        </p:blipFill>
        <p:spPr bwMode="auto">
          <a:xfrm>
            <a:off x="4572000" y="1032117"/>
            <a:ext cx="4591399" cy="37897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1">
            <a:extLst>
              <a:ext uri="{FF2B5EF4-FFF2-40B4-BE49-F238E27FC236}">
                <a16:creationId xmlns:a16="http://schemas.microsoft.com/office/drawing/2014/main" id="{777360A7-F625-4A59-9154-752090676B08}"/>
              </a:ext>
            </a:extLst>
          </p:cNvPr>
          <p:cNvSpPr txBox="1">
            <a:spLocks/>
          </p:cNvSpPr>
          <p:nvPr/>
        </p:nvSpPr>
        <p:spPr bwMode="auto">
          <a:xfrm>
            <a:off x="5184510" y="658025"/>
            <a:ext cx="3366378" cy="73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Font typeface="Wingdings" panose="05000000000000000000" pitchFamily="2" charset="2"/>
              <a:buNone/>
            </a:pPr>
            <a:r>
              <a:rPr lang="es-ES" b="1" dirty="0"/>
              <a:t>Plataforma Modular</a:t>
            </a:r>
          </a:p>
        </p:txBody>
      </p:sp>
      <p:sp>
        <p:nvSpPr>
          <p:cNvPr id="2" name="Slide Number Placeholder 1">
            <a:extLst>
              <a:ext uri="{FF2B5EF4-FFF2-40B4-BE49-F238E27FC236}">
                <a16:creationId xmlns:a16="http://schemas.microsoft.com/office/drawing/2014/main" id="{230846FC-8C62-4B9C-C5B0-7048E8924681}"/>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22</a:t>
            </a:fld>
            <a:endParaRPr lang="en-US"/>
          </a:p>
        </p:txBody>
      </p:sp>
    </p:spTree>
    <p:extLst>
      <p:ext uri="{BB962C8B-B14F-4D97-AF65-F5344CB8AC3E}">
        <p14:creationId xmlns:p14="http://schemas.microsoft.com/office/powerpoint/2010/main" val="1946862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s-ES" sz="2100" dirty="0">
                <a:solidFill>
                  <a:srgbClr val="C00000"/>
                </a:solidFill>
              </a:rPr>
              <a:t>Factores de forma</a:t>
            </a:r>
            <a:endParaRPr lang="es-ES" sz="2100" dirty="0">
              <a:solidFill>
                <a:srgbClr val="C00000"/>
              </a:solidFill>
              <a:latin typeface="Arial" charset="0"/>
            </a:endParaRPr>
          </a:p>
        </p:txBody>
      </p:sp>
      <p:sp>
        <p:nvSpPr>
          <p:cNvPr id="8" name="Content Placeholder 1"/>
          <p:cNvSpPr>
            <a:spLocks noGrp="1"/>
          </p:cNvSpPr>
          <p:nvPr>
            <p:ph idx="1"/>
          </p:nvPr>
        </p:nvSpPr>
        <p:spPr>
          <a:xfrm>
            <a:off x="2671618" y="358291"/>
            <a:ext cx="4952932" cy="1106129"/>
          </a:xfrm>
        </p:spPr>
        <p:txBody>
          <a:bodyPr/>
          <a:lstStyle/>
          <a:p>
            <a:pPr marL="0" indent="0">
              <a:buNone/>
            </a:pPr>
            <a:r>
              <a:rPr lang="es-ES" b="1" dirty="0"/>
              <a:t>Switches de configuración  apilable</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71099" y="618709"/>
            <a:ext cx="5867005" cy="4524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A2650745-491F-D66D-5366-E8E57C1DE6E5}"/>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23</a:t>
            </a:fld>
            <a:endParaRPr lang="en-US"/>
          </a:p>
        </p:txBody>
      </p:sp>
    </p:spTree>
    <p:extLst>
      <p:ext uri="{BB962C8B-B14F-4D97-AF65-F5344CB8AC3E}">
        <p14:creationId xmlns:p14="http://schemas.microsoft.com/office/powerpoint/2010/main" val="23807137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911611" cy="731837"/>
          </a:xfrm>
        </p:spPr>
        <p:txBody>
          <a:bodyPr/>
          <a:lstStyle/>
          <a:p>
            <a:pPr rtl="0"/>
            <a:r>
              <a:rPr lang="es-419" sz="2400" dirty="0">
                <a:solidFill>
                  <a:srgbClr val="C00000"/>
                </a:solidFill>
              </a:rPr>
              <a:t>Modos de Consola y El acceso a la administración de un switch</a:t>
            </a:r>
          </a:p>
        </p:txBody>
      </p:sp>
      <p:pic>
        <p:nvPicPr>
          <p:cNvPr id="7" name="Picture 6">
            <a:extLst>
              <a:ext uri="{FF2B5EF4-FFF2-40B4-BE49-F238E27FC236}">
                <a16:creationId xmlns:a16="http://schemas.microsoft.com/office/drawing/2014/main" id="{F30D33CE-D938-E74D-A865-30363F7C08B7}"/>
              </a:ext>
            </a:extLst>
          </p:cNvPr>
          <p:cNvPicPr>
            <a:picLocks noChangeAspect="1"/>
          </p:cNvPicPr>
          <p:nvPr/>
        </p:nvPicPr>
        <p:blipFill>
          <a:blip r:embed="rId4"/>
          <a:stretch>
            <a:fillRect/>
          </a:stretch>
        </p:blipFill>
        <p:spPr>
          <a:xfrm>
            <a:off x="5189111" y="1288244"/>
            <a:ext cx="3915564" cy="2426546"/>
          </a:xfrm>
          <a:prstGeom prst="rect">
            <a:avLst/>
          </a:prstGeom>
        </p:spPr>
      </p:pic>
      <p:pic>
        <p:nvPicPr>
          <p:cNvPr id="4" name="Imagen 3" descr="Interfaz de usuario gráfica, Texto&#10;&#10;Descripción generada automáticamente">
            <a:extLst>
              <a:ext uri="{FF2B5EF4-FFF2-40B4-BE49-F238E27FC236}">
                <a16:creationId xmlns:a16="http://schemas.microsoft.com/office/drawing/2014/main" id="{566D68F6-3816-5A44-5465-0BB12A911A8B}"/>
              </a:ext>
            </a:extLst>
          </p:cNvPr>
          <p:cNvPicPr>
            <a:picLocks noChangeAspect="1"/>
          </p:cNvPicPr>
          <p:nvPr/>
        </p:nvPicPr>
        <p:blipFill>
          <a:blip r:embed="rId5"/>
          <a:stretch>
            <a:fillRect/>
          </a:stretch>
        </p:blipFill>
        <p:spPr>
          <a:xfrm>
            <a:off x="-1957" y="1215415"/>
            <a:ext cx="5194387" cy="3041477"/>
          </a:xfrm>
          <a:prstGeom prst="rect">
            <a:avLst/>
          </a:prstGeom>
        </p:spPr>
      </p:pic>
    </p:spTree>
    <p:custDataLst>
      <p:tags r:id="rId1"/>
    </p:custDataLst>
    <p:extLst>
      <p:ext uri="{BB962C8B-B14F-4D97-AF65-F5344CB8AC3E}">
        <p14:creationId xmlns:p14="http://schemas.microsoft.com/office/powerpoint/2010/main" val="42285179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dirty="0">
                <a:solidFill>
                  <a:srgbClr val="C00000"/>
                </a:solidFill>
                <a:latin typeface="Arial" charset="0"/>
              </a:rPr>
              <a:t>Modos de Consola de equipos CISCO</a:t>
            </a:r>
          </a:p>
        </p:txBody>
      </p:sp>
      <p:sp>
        <p:nvSpPr>
          <p:cNvPr id="2" name="Marcador de número de diapositiva 1">
            <a:extLst>
              <a:ext uri="{FF2B5EF4-FFF2-40B4-BE49-F238E27FC236}">
                <a16:creationId xmlns:a16="http://schemas.microsoft.com/office/drawing/2014/main" id="{C13462F4-EC05-D37C-4C4E-FB77B5ECAA6B}"/>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25</a:t>
            </a:fld>
            <a:endParaRPr lang="en-US" kern="0" dirty="0">
              <a:solidFill>
                <a:srgbClr val="595959"/>
              </a:solidFill>
            </a:endParaRPr>
          </a:p>
        </p:txBody>
      </p:sp>
      <p:pic>
        <p:nvPicPr>
          <p:cNvPr id="6" name="Imagen 5">
            <a:extLst>
              <a:ext uri="{FF2B5EF4-FFF2-40B4-BE49-F238E27FC236}">
                <a16:creationId xmlns:a16="http://schemas.microsoft.com/office/drawing/2014/main" id="{95EE0888-C4B6-327E-9421-0885CABC8DDB}"/>
              </a:ext>
            </a:extLst>
          </p:cNvPr>
          <p:cNvPicPr>
            <a:picLocks noChangeAspect="1"/>
          </p:cNvPicPr>
          <p:nvPr/>
        </p:nvPicPr>
        <p:blipFill>
          <a:blip r:embed="rId4"/>
          <a:stretch>
            <a:fillRect/>
          </a:stretch>
        </p:blipFill>
        <p:spPr>
          <a:xfrm>
            <a:off x="645762" y="773849"/>
            <a:ext cx="7852475" cy="4205510"/>
          </a:xfrm>
          <a:prstGeom prst="rect">
            <a:avLst/>
          </a:prstGeom>
        </p:spPr>
      </p:pic>
    </p:spTree>
    <p:custDataLst>
      <p:tags r:id="rId1"/>
    </p:custDataLst>
    <p:extLst>
      <p:ext uri="{BB962C8B-B14F-4D97-AF65-F5344CB8AC3E}">
        <p14:creationId xmlns:p14="http://schemas.microsoft.com/office/powerpoint/2010/main" val="9571531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5.5 VLAN</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28204422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79075"/>
            <a:ext cx="5054047" cy="789880"/>
          </a:xfrm>
        </p:spPr>
        <p:txBody>
          <a:bodyPr/>
          <a:lstStyle/>
          <a:p>
            <a:pPr rtl="0"/>
            <a:r>
              <a:rPr lang="es-419" dirty="0">
                <a:solidFill>
                  <a:srgbClr val="C00000"/>
                </a:solidFill>
              </a:rPr>
              <a:t>Definiciones de VLAN (</a:t>
            </a:r>
            <a:r>
              <a:rPr lang="es-PE" dirty="0">
                <a:solidFill>
                  <a:srgbClr val="C00000"/>
                </a:solidFill>
              </a:rPr>
              <a:t>Virtual LAN</a:t>
            </a:r>
            <a:r>
              <a:rPr lang="es-419" dirty="0">
                <a:solidFill>
                  <a:srgbClr val="C00000"/>
                </a:solidFill>
              </a:rPr>
              <a:t>)</a:t>
            </a:r>
          </a:p>
        </p:txBody>
      </p:sp>
      <p:sp>
        <p:nvSpPr>
          <p:cNvPr id="2" name="Content Placeholder 1"/>
          <p:cNvSpPr>
            <a:spLocks noGrp="1"/>
          </p:cNvSpPr>
          <p:nvPr>
            <p:ph idx="1"/>
          </p:nvPr>
        </p:nvSpPr>
        <p:spPr>
          <a:xfrm>
            <a:off x="4210546" y="605969"/>
            <a:ext cx="4767079" cy="4112335"/>
          </a:xfrm>
        </p:spPr>
        <p:txBody>
          <a:bodyPr/>
          <a:lstStyle/>
          <a:p>
            <a:pPr marL="0" indent="0" algn="just" rtl="0">
              <a:buNone/>
            </a:pPr>
            <a:r>
              <a:rPr lang="es-419" sz="1600" dirty="0"/>
              <a:t>Las VLAN </a:t>
            </a:r>
            <a:r>
              <a:rPr lang="es-419" sz="1600" dirty="0">
                <a:solidFill>
                  <a:srgbClr val="0000CC"/>
                </a:solidFill>
              </a:rPr>
              <a:t>son conexiones lógicas con otros dispositivos similares.</a:t>
            </a:r>
          </a:p>
          <a:p>
            <a:pPr marL="0" indent="0" algn="just" rtl="0">
              <a:buNone/>
            </a:pPr>
            <a:r>
              <a:rPr lang="es-419" sz="1600" dirty="0"/>
              <a:t>La colocación de dispositivos en varias VLAN tiene las siguientes características:</a:t>
            </a:r>
          </a:p>
          <a:p>
            <a:pPr lvl="1" algn="just" rtl="0">
              <a:buFont typeface="Arial" panose="020B0604020202020204" pitchFamily="34" charset="0"/>
              <a:buChar char="•"/>
            </a:pPr>
            <a:r>
              <a:rPr lang="es-419" sz="1600" dirty="0"/>
              <a:t>Proporciona segmentación de los diversos grupos de dispositivos en los mismos conmutadores</a:t>
            </a:r>
          </a:p>
          <a:p>
            <a:pPr lvl="1" algn="just" rtl="0">
              <a:buFont typeface="Arial" panose="020B0604020202020204" pitchFamily="34" charset="0"/>
              <a:buChar char="•"/>
            </a:pPr>
            <a:r>
              <a:rPr lang="es-419" sz="1600" dirty="0">
                <a:solidFill>
                  <a:srgbClr val="0000CC"/>
                </a:solidFill>
              </a:rPr>
              <a:t>Proporcionar una organización más manejable</a:t>
            </a:r>
          </a:p>
          <a:p>
            <a:pPr lvl="3" algn="just" rtl="0">
              <a:buFont typeface="Arial" panose="020B0604020202020204" pitchFamily="34" charset="0"/>
              <a:buChar char="•"/>
            </a:pPr>
            <a:r>
              <a:rPr lang="es-419" sz="1600" dirty="0">
                <a:effectLst>
                  <a:outerShdw blurRad="38100" dist="38100" dir="2700000" algn="tl">
                    <a:srgbClr val="000000">
                      <a:alpha val="43137"/>
                    </a:srgbClr>
                  </a:outerShdw>
                </a:effectLst>
              </a:rPr>
              <a:t>Difusiones, multidifusión y unidifusión se aíslan en la VLAN individual</a:t>
            </a:r>
          </a:p>
          <a:p>
            <a:pPr lvl="3" rtl="0">
              <a:buFont typeface="Arial" panose="020B0604020202020204" pitchFamily="34" charset="0"/>
              <a:buChar char="•"/>
            </a:pPr>
            <a:r>
              <a:rPr lang="es-419" sz="1600" dirty="0"/>
              <a:t>Cada VLAN tendrá su propia gama única de direcciones IP  </a:t>
            </a:r>
            <a:r>
              <a:rPr lang="es-419" sz="1600" b="1" dirty="0">
                <a:solidFill>
                  <a:srgbClr val="FF0000"/>
                </a:solidFill>
              </a:rPr>
              <a:t>(ID de RED)</a:t>
            </a:r>
          </a:p>
          <a:p>
            <a:pPr lvl="3" rtl="0">
              <a:buFont typeface="Arial" panose="020B0604020202020204" pitchFamily="34" charset="0"/>
              <a:buChar char="•"/>
            </a:pPr>
            <a:r>
              <a:rPr lang="es-419" sz="1600" dirty="0"/>
              <a:t>Dominios de difusión más pequeños.</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91709"/>
            <a:ext cx="4280848" cy="2658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Marcador de número de diapositiva 2">
            <a:extLst>
              <a:ext uri="{FF2B5EF4-FFF2-40B4-BE49-F238E27FC236}">
                <a16:creationId xmlns:a16="http://schemas.microsoft.com/office/drawing/2014/main" id="{9ECFFD38-0F25-6554-F55D-14734E24D503}"/>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27</a:t>
            </a:fld>
            <a:endParaRPr lang="en-US" kern="0" dirty="0">
              <a:solidFill>
                <a:srgbClr val="595959"/>
              </a:solidFill>
            </a:endParaRPr>
          </a:p>
        </p:txBody>
      </p:sp>
      <p:pic>
        <p:nvPicPr>
          <p:cNvPr id="4" name="Picture 2" descr="9.1. Introducción — Planificación y Administración de Redes">
            <a:extLst>
              <a:ext uri="{FF2B5EF4-FFF2-40B4-BE49-F238E27FC236}">
                <a16:creationId xmlns:a16="http://schemas.microsoft.com/office/drawing/2014/main" id="{11B7A761-71FC-053C-28DC-66C61CCD70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433" y="3419026"/>
            <a:ext cx="4538963" cy="129927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8606739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 y="2358935"/>
          <a:ext cx="9112154" cy="2793604"/>
        </p:xfrm>
        <a:graphic>
          <a:graphicData uri="http://schemas.openxmlformats.org/drawingml/2006/table">
            <a:tbl>
              <a:tblPr firstRow="1" bandRow="1">
                <a:tableStyleId>{21E4AEA4-8DFA-4A89-87EB-49C32662AFE0}</a:tableStyleId>
              </a:tblPr>
              <a:tblGrid>
                <a:gridCol w="2288393">
                  <a:extLst>
                    <a:ext uri="{9D8B030D-6E8A-4147-A177-3AD203B41FA5}">
                      <a16:colId xmlns:a16="http://schemas.microsoft.com/office/drawing/2014/main" val="20000"/>
                    </a:ext>
                  </a:extLst>
                </a:gridCol>
                <a:gridCol w="6823761">
                  <a:extLst>
                    <a:ext uri="{9D8B030D-6E8A-4147-A177-3AD203B41FA5}">
                      <a16:colId xmlns:a16="http://schemas.microsoft.com/office/drawing/2014/main" val="20001"/>
                    </a:ext>
                  </a:extLst>
                </a:gridCol>
              </a:tblGrid>
              <a:tr h="298590">
                <a:tc>
                  <a:txBody>
                    <a:bodyPr/>
                    <a:lstStyle/>
                    <a:p>
                      <a:pPr rtl="0"/>
                      <a:r>
                        <a:rPr lang="es-419"/>
                        <a:t>Beneficios</a:t>
                      </a:r>
                    </a:p>
                  </a:txBody>
                  <a:tcPr/>
                </a:tc>
                <a:tc>
                  <a:txBody>
                    <a:bodyPr/>
                    <a:lstStyle/>
                    <a:p>
                      <a:pPr rtl="0"/>
                      <a:r>
                        <a:rPr lang="es-419"/>
                        <a:t>Descripción</a:t>
                      </a:r>
                    </a:p>
                  </a:txBody>
                  <a:tcPr/>
                </a:tc>
                <a:extLst>
                  <a:ext uri="{0D108BD9-81ED-4DB2-BD59-A6C34878D82A}">
                    <a16:rowId xmlns:a16="http://schemas.microsoft.com/office/drawing/2014/main" val="10000"/>
                  </a:ext>
                </a:extLst>
              </a:tr>
              <a:tr h="353569">
                <a:tc>
                  <a:txBody>
                    <a:bodyPr/>
                    <a:lstStyle/>
                    <a:p>
                      <a:pPr rtl="0"/>
                      <a:r>
                        <a:rPr lang="es-419" baseline="0" dirty="0"/>
                        <a:t>Dominios de difusión más pequeños</a:t>
                      </a:r>
                    </a:p>
                  </a:txBody>
                  <a:tcPr/>
                </a:tc>
                <a:tc>
                  <a:txBody>
                    <a:bodyPr/>
                    <a:lstStyle/>
                    <a:p>
                      <a:pPr rtl="0"/>
                      <a:r>
                        <a:rPr lang="es-419"/>
                        <a:t>Dividir</a:t>
                      </a:r>
                      <a:r>
                        <a:rPr lang="es-419" baseline="0"/>
                        <a:t> la LAN reduce el número de dominios de difusión</a:t>
                      </a:r>
                    </a:p>
                  </a:txBody>
                  <a:tcPr/>
                </a:tc>
                <a:extLst>
                  <a:ext uri="{0D108BD9-81ED-4DB2-BD59-A6C34878D82A}">
                    <a16:rowId xmlns:a16="http://schemas.microsoft.com/office/drawing/2014/main" val="10001"/>
                  </a:ext>
                </a:extLst>
              </a:tr>
              <a:tr h="310896">
                <a:tc>
                  <a:txBody>
                    <a:bodyPr/>
                    <a:lstStyle/>
                    <a:p>
                      <a:pPr rtl="0"/>
                      <a:r>
                        <a:rPr lang="es-419" baseline="0" dirty="0"/>
                        <a:t>Seguridad</a:t>
                      </a:r>
                      <a:r>
                        <a:rPr lang="es-419" dirty="0"/>
                        <a:t> mejorada</a:t>
                      </a:r>
                    </a:p>
                  </a:txBody>
                  <a:tcPr/>
                </a:tc>
                <a:tc>
                  <a:txBody>
                    <a:bodyPr/>
                    <a:lstStyle/>
                    <a:p>
                      <a:pPr rtl="0"/>
                      <a:r>
                        <a:rPr lang="es-419"/>
                        <a:t>Solo los usuarios</a:t>
                      </a:r>
                      <a:r>
                        <a:rPr lang="es-419" baseline="0"/>
                        <a:t> de la misma VLAN pueden comunicarse juntos</a:t>
                      </a:r>
                    </a:p>
                  </a:txBody>
                  <a:tcPr/>
                </a:tc>
                <a:extLst>
                  <a:ext uri="{0D108BD9-81ED-4DB2-BD59-A6C34878D82A}">
                    <a16:rowId xmlns:a16="http://schemas.microsoft.com/office/drawing/2014/main" val="10002"/>
                  </a:ext>
                </a:extLst>
              </a:tr>
              <a:tr h="530352">
                <a:tc>
                  <a:txBody>
                    <a:bodyPr/>
                    <a:lstStyle/>
                    <a:p>
                      <a:pPr rtl="0"/>
                      <a:r>
                        <a:rPr lang="es-419"/>
                        <a:t>Eficiencia de TI mejorada</a:t>
                      </a:r>
                    </a:p>
                  </a:txBody>
                  <a:tcPr/>
                </a:tc>
                <a:tc>
                  <a:txBody>
                    <a:bodyPr/>
                    <a:lstStyle/>
                    <a:p>
                      <a:pPr rtl="0"/>
                      <a:r>
                        <a:rPr lang="es-419"/>
                        <a:t>Las VLAN pueden agrupar dispositivos con requisitos similares, por ejemplo, profesores frente a estudiantes</a:t>
                      </a:r>
                    </a:p>
                  </a:txBody>
                  <a:tcPr/>
                </a:tc>
                <a:extLst>
                  <a:ext uri="{0D108BD9-81ED-4DB2-BD59-A6C34878D82A}">
                    <a16:rowId xmlns:a16="http://schemas.microsoft.com/office/drawing/2014/main" val="10003"/>
                  </a:ext>
                </a:extLst>
              </a:tr>
              <a:tr h="298590">
                <a:tc>
                  <a:txBody>
                    <a:bodyPr/>
                    <a:lstStyle/>
                    <a:p>
                      <a:pPr rtl="0"/>
                      <a:r>
                        <a:rPr lang="es-419"/>
                        <a:t>Reducción de costos</a:t>
                      </a:r>
                    </a:p>
                  </a:txBody>
                  <a:tcPr/>
                </a:tc>
                <a:tc>
                  <a:txBody>
                    <a:bodyPr/>
                    <a:lstStyle/>
                    <a:p>
                      <a:pPr rtl="0"/>
                      <a:r>
                        <a:rPr lang="es-419"/>
                        <a:t>Un</a:t>
                      </a:r>
                      <a:r>
                        <a:rPr lang="es-419" baseline="0"/>
                        <a:t> switch puede admitir varios grupos o VLAN</a:t>
                      </a:r>
                    </a:p>
                  </a:txBody>
                  <a:tcPr/>
                </a:tc>
                <a:extLst>
                  <a:ext uri="{0D108BD9-81ED-4DB2-BD59-A6C34878D82A}">
                    <a16:rowId xmlns:a16="http://schemas.microsoft.com/office/drawing/2014/main" val="10004"/>
                  </a:ext>
                </a:extLst>
              </a:tr>
              <a:tr h="316992">
                <a:tc>
                  <a:txBody>
                    <a:bodyPr/>
                    <a:lstStyle/>
                    <a:p>
                      <a:pPr rtl="0"/>
                      <a:r>
                        <a:rPr lang="es-419"/>
                        <a:t>Mejor rendimiento</a:t>
                      </a:r>
                    </a:p>
                  </a:txBody>
                  <a:tcPr/>
                </a:tc>
                <a:tc>
                  <a:txBody>
                    <a:bodyPr/>
                    <a:lstStyle/>
                    <a:p>
                      <a:pPr rtl="0"/>
                      <a:r>
                        <a:rPr lang="es-419"/>
                        <a:t>Los pequeños dominios de difusión</a:t>
                      </a:r>
                      <a:r>
                        <a:rPr lang="es-419" baseline="0"/>
                        <a:t> reducen el tráfico y mejoran el ancho de banda</a:t>
                      </a:r>
                    </a:p>
                  </a:txBody>
                  <a:tcPr/>
                </a:tc>
                <a:extLst>
                  <a:ext uri="{0D108BD9-81ED-4DB2-BD59-A6C34878D82A}">
                    <a16:rowId xmlns:a16="http://schemas.microsoft.com/office/drawing/2014/main" val="10005"/>
                  </a:ext>
                </a:extLst>
              </a:tr>
              <a:tr h="507604">
                <a:tc>
                  <a:txBody>
                    <a:bodyPr/>
                    <a:lstStyle/>
                    <a:p>
                      <a:pPr rtl="0"/>
                      <a:r>
                        <a:rPr lang="es-419"/>
                        <a:t>Simpler</a:t>
                      </a:r>
                      <a:r>
                        <a:rPr lang="es-419" baseline="0"/>
                        <a:t> Management</a:t>
                      </a:r>
                    </a:p>
                  </a:txBody>
                  <a:tcPr/>
                </a:tc>
                <a:tc>
                  <a:txBody>
                    <a:bodyPr/>
                    <a:lstStyle/>
                    <a:p>
                      <a:pPr rtl="0"/>
                      <a:r>
                        <a:rPr lang="es-419" dirty="0"/>
                        <a:t>Grupos similares necesitarán aplicaciones similares</a:t>
                      </a:r>
                      <a:r>
                        <a:rPr lang="es-419" baseline="0" dirty="0"/>
                        <a:t> y otros recursos de red</a:t>
                      </a:r>
                    </a:p>
                  </a:txBody>
                  <a:tcPr/>
                </a:tc>
                <a:extLst>
                  <a:ext uri="{0D108BD9-81ED-4DB2-BD59-A6C34878D82A}">
                    <a16:rowId xmlns:a16="http://schemas.microsoft.com/office/drawing/2014/main" val="10006"/>
                  </a:ext>
                </a:extLst>
              </a:tr>
            </a:tbl>
          </a:graphicData>
        </a:graphic>
      </p:graphicFrame>
      <p:sp>
        <p:nvSpPr>
          <p:cNvPr id="2" name="Marcador de número de diapositiva 1">
            <a:extLst>
              <a:ext uri="{FF2B5EF4-FFF2-40B4-BE49-F238E27FC236}">
                <a16:creationId xmlns:a16="http://schemas.microsoft.com/office/drawing/2014/main" id="{25D78403-25D4-484C-7BF9-49D0AA5970F6}"/>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28</a:t>
            </a:fld>
            <a:endParaRPr lang="en-US" kern="0" dirty="0">
              <a:solidFill>
                <a:srgbClr val="595959"/>
              </a:solidFill>
            </a:endParaRPr>
          </a:p>
        </p:txBody>
      </p:sp>
      <p:sp>
        <p:nvSpPr>
          <p:cNvPr id="8194" name="Rectangle 2"/>
          <p:cNvSpPr>
            <a:spLocks noGrp="1" noChangeArrowheads="1"/>
          </p:cNvSpPr>
          <p:nvPr>
            <p:ph type="title"/>
          </p:nvPr>
        </p:nvSpPr>
        <p:spPr>
          <a:xfrm>
            <a:off x="0" y="0"/>
            <a:ext cx="4786313" cy="690127"/>
          </a:xfrm>
        </p:spPr>
        <p:txBody>
          <a:bodyPr/>
          <a:lstStyle/>
          <a:p>
            <a:pPr rtl="0"/>
            <a:r>
              <a:rPr lang="es-419" dirty="0">
                <a:solidFill>
                  <a:srgbClr val="C00000"/>
                </a:solidFill>
              </a:rPr>
              <a:t>Beneficios de un diseño de VLAN</a:t>
            </a:r>
          </a:p>
        </p:txBody>
      </p:sp>
      <p:pic>
        <p:nvPicPr>
          <p:cNvPr id="4" name="Imagen 3">
            <a:extLst>
              <a:ext uri="{FF2B5EF4-FFF2-40B4-BE49-F238E27FC236}">
                <a16:creationId xmlns:a16="http://schemas.microsoft.com/office/drawing/2014/main" id="{88B297EC-28FD-AC61-A9F0-6527530AC59D}"/>
              </a:ext>
            </a:extLst>
          </p:cNvPr>
          <p:cNvPicPr>
            <a:picLocks noChangeAspect="1"/>
          </p:cNvPicPr>
          <p:nvPr/>
        </p:nvPicPr>
        <p:blipFill>
          <a:blip r:embed="rId4"/>
          <a:stretch>
            <a:fillRect/>
          </a:stretch>
        </p:blipFill>
        <p:spPr>
          <a:xfrm>
            <a:off x="4754469" y="79032"/>
            <a:ext cx="4357686" cy="2279903"/>
          </a:xfrm>
          <a:prstGeom prst="rect">
            <a:avLst/>
          </a:prstGeom>
        </p:spPr>
      </p:pic>
    </p:spTree>
    <p:custDataLst>
      <p:tags r:id="rId1"/>
    </p:custDataLst>
    <p:extLst>
      <p:ext uri="{BB962C8B-B14F-4D97-AF65-F5344CB8AC3E}">
        <p14:creationId xmlns:p14="http://schemas.microsoft.com/office/powerpoint/2010/main" val="24173913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6393" y="41393"/>
            <a:ext cx="9107607" cy="750177"/>
          </a:xfrm>
        </p:spPr>
        <p:txBody>
          <a:bodyPr/>
          <a:lstStyle/>
          <a:p>
            <a:pPr rtl="0"/>
            <a:r>
              <a:rPr lang="es-419" dirty="0">
                <a:solidFill>
                  <a:srgbClr val="C00000"/>
                </a:solidFill>
              </a:rPr>
              <a:t>Tipos de VLAN</a:t>
            </a:r>
          </a:p>
        </p:txBody>
      </p:sp>
      <p:sp>
        <p:nvSpPr>
          <p:cNvPr id="8195" name="Rectangle 6"/>
          <p:cNvSpPr>
            <a:spLocks noGrp="1" noChangeArrowheads="1"/>
          </p:cNvSpPr>
          <p:nvPr>
            <p:ph idx="1"/>
          </p:nvPr>
        </p:nvSpPr>
        <p:spPr>
          <a:xfrm>
            <a:off x="36393" y="2043453"/>
            <a:ext cx="5147931" cy="2440894"/>
          </a:xfrm>
        </p:spPr>
        <p:txBody>
          <a:bodyPr/>
          <a:lstStyle/>
          <a:p>
            <a:pPr marL="0" indent="0" rtl="0">
              <a:buNone/>
            </a:pPr>
            <a:r>
              <a:rPr lang="es-419" sz="1800" b="1" dirty="0">
                <a:solidFill>
                  <a:srgbClr val="00B0F0"/>
                </a:solidFill>
              </a:rPr>
              <a:t>VLAN predeterminada</a:t>
            </a:r>
          </a:p>
          <a:p>
            <a:pPr marL="0" indent="0" rtl="0">
              <a:buNone/>
            </a:pPr>
            <a:r>
              <a:rPr lang="es-419" sz="1800" b="1" dirty="0">
                <a:solidFill>
                  <a:srgbClr val="00B0F0"/>
                </a:solidFill>
              </a:rPr>
              <a:t>   La VLAN 1 es la siguiente:</a:t>
            </a:r>
            <a:r>
              <a:rPr lang="es-419" sz="1800" dirty="0"/>
              <a:t> </a:t>
            </a:r>
          </a:p>
          <a:p>
            <a:pPr lvl="1" rtl="0">
              <a:buFont typeface="Arial" panose="020B0604020202020204" pitchFamily="34" charset="0"/>
              <a:buChar char="•"/>
            </a:pPr>
            <a:r>
              <a:rPr lang="es-419" sz="1800" dirty="0"/>
              <a:t>La VLAN predeterminada</a:t>
            </a:r>
          </a:p>
          <a:p>
            <a:pPr lvl="1" rtl="0">
              <a:buFont typeface="Arial" panose="020B0604020202020204" pitchFamily="34" charset="0"/>
              <a:buChar char="•"/>
            </a:pPr>
            <a:r>
              <a:rPr lang="es-419" sz="1800" dirty="0"/>
              <a:t>La VLAN nativa predeterminada</a:t>
            </a:r>
          </a:p>
          <a:p>
            <a:pPr lvl="1" rtl="0">
              <a:buFont typeface="Arial" panose="020B0604020202020204" pitchFamily="34" charset="0"/>
              <a:buChar char="•"/>
            </a:pPr>
            <a:r>
              <a:rPr lang="es-419" sz="1800" dirty="0"/>
              <a:t>La VLAN de administración predeterminada</a:t>
            </a:r>
          </a:p>
          <a:p>
            <a:pPr lvl="1" rtl="0">
              <a:buFont typeface="Arial" panose="020B0604020202020204" pitchFamily="34" charset="0"/>
              <a:buChar char="•"/>
            </a:pPr>
            <a:r>
              <a:rPr lang="es-419" sz="1800" dirty="0"/>
              <a:t>No se puede eliminar ni cambiar el nombre</a:t>
            </a:r>
          </a:p>
          <a:p>
            <a:pPr marL="142875" lvl="1" indent="0">
              <a:buNone/>
            </a:pPr>
            <a:endParaRPr lang="en-US" sz="1800" dirty="0"/>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0696" y="41393"/>
            <a:ext cx="5816911" cy="25303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89414E72-6BB6-4BBB-AD1B-32A7206F8092}"/>
              </a:ext>
            </a:extLst>
          </p:cNvPr>
          <p:cNvSpPr txBox="1"/>
          <p:nvPr/>
        </p:nvSpPr>
        <p:spPr>
          <a:xfrm>
            <a:off x="0" y="4558725"/>
            <a:ext cx="8662916" cy="584775"/>
          </a:xfrm>
          <a:prstGeom prst="rect">
            <a:avLst/>
          </a:prstGeom>
          <a:noFill/>
        </p:spPr>
        <p:txBody>
          <a:bodyPr wrap="square">
            <a:spAutoFit/>
          </a:bodyPr>
          <a:lstStyle/>
          <a:p>
            <a:pPr marL="142875" lvl="1" indent="0" rtl="0">
              <a:buNone/>
            </a:pPr>
            <a:r>
              <a:rPr lang="es-419" sz="1600" b="1" dirty="0"/>
              <a:t>Nota</a:t>
            </a:r>
            <a:r>
              <a:rPr lang="es-419" sz="1600" dirty="0"/>
              <a:t>: Aunque no podemos eliminar VLAN1, Cisco recomendará que asignemos estas características predeterminadas a otras VLAN</a:t>
            </a:r>
          </a:p>
        </p:txBody>
      </p:sp>
      <p:sp>
        <p:nvSpPr>
          <p:cNvPr id="2" name="Marcador de número de diapositiva 1">
            <a:extLst>
              <a:ext uri="{FF2B5EF4-FFF2-40B4-BE49-F238E27FC236}">
                <a16:creationId xmlns:a16="http://schemas.microsoft.com/office/drawing/2014/main" id="{679F5270-D88F-5AEF-3651-26FA3E812C9B}"/>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29</a:t>
            </a:fld>
            <a:endParaRPr lang="en-US" sz="800" b="1" kern="0" dirty="0">
              <a:solidFill>
                <a:srgbClr val="00B0F0"/>
              </a:solidFill>
            </a:endParaRPr>
          </a:p>
        </p:txBody>
      </p:sp>
      <p:sp>
        <p:nvSpPr>
          <p:cNvPr id="3" name="Rectángulo 2">
            <a:extLst>
              <a:ext uri="{FF2B5EF4-FFF2-40B4-BE49-F238E27FC236}">
                <a16:creationId xmlns:a16="http://schemas.microsoft.com/office/drawing/2014/main" id="{19D1A044-6CBD-E809-C10D-E8C133259631}"/>
              </a:ext>
            </a:extLst>
          </p:cNvPr>
          <p:cNvSpPr/>
          <p:nvPr/>
        </p:nvSpPr>
        <p:spPr>
          <a:xfrm>
            <a:off x="3352800" y="41393"/>
            <a:ext cx="1936750" cy="174507"/>
          </a:xfrm>
          <a:prstGeom prst="rect">
            <a:avLst/>
          </a:prstGeom>
          <a:noFill/>
          <a:ln>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Tree>
    <p:custDataLst>
      <p:tags r:id="rId1"/>
    </p:custDataLst>
    <p:extLst>
      <p:ext uri="{BB962C8B-B14F-4D97-AF65-F5344CB8AC3E}">
        <p14:creationId xmlns:p14="http://schemas.microsoft.com/office/powerpoint/2010/main" val="32205492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635263"/>
          </a:xfrm>
        </p:spPr>
        <p:txBody>
          <a:bodyPr/>
          <a:lstStyle/>
          <a:p>
            <a:pPr rtl="0"/>
            <a:r>
              <a:rPr lang="es-419" dirty="0">
                <a:solidFill>
                  <a:srgbClr val="C00000"/>
                </a:solidFill>
              </a:rPr>
              <a:t>Tipos de VLAN</a:t>
            </a:r>
          </a:p>
        </p:txBody>
      </p:sp>
      <p:sp>
        <p:nvSpPr>
          <p:cNvPr id="8195" name="Rectangle 6"/>
          <p:cNvSpPr>
            <a:spLocks noGrp="1" noChangeArrowheads="1"/>
          </p:cNvSpPr>
          <p:nvPr>
            <p:ph idx="1"/>
          </p:nvPr>
        </p:nvSpPr>
        <p:spPr>
          <a:xfrm>
            <a:off x="183088" y="676656"/>
            <a:ext cx="8873087" cy="4371594"/>
          </a:xfrm>
        </p:spPr>
        <p:txBody>
          <a:bodyPr/>
          <a:lstStyle/>
          <a:p>
            <a:pPr marL="0" indent="0" rtl="0">
              <a:buNone/>
            </a:pPr>
            <a:r>
              <a:rPr lang="es-419" sz="1200" b="1" dirty="0"/>
              <a:t>VLAN predeterminada (VLAN 1)</a:t>
            </a:r>
          </a:p>
          <a:p>
            <a:pPr lvl="1" rtl="0">
              <a:buFont typeface="Arial" panose="020B0604020202020204" pitchFamily="34" charset="0"/>
              <a:buChar char="•"/>
            </a:pPr>
            <a:r>
              <a:rPr lang="es-419" sz="1200" dirty="0"/>
              <a:t>La VLAN nativa predeterminada</a:t>
            </a:r>
          </a:p>
          <a:p>
            <a:pPr lvl="1" rtl="0">
              <a:buFont typeface="Arial" panose="020B0604020202020204" pitchFamily="34" charset="0"/>
              <a:buChar char="•"/>
            </a:pPr>
            <a:r>
              <a:rPr lang="es-419" sz="1200" dirty="0"/>
              <a:t>La VLAN de administración predeterminada</a:t>
            </a:r>
          </a:p>
          <a:p>
            <a:pPr lvl="1" rtl="0">
              <a:buFont typeface="Arial" panose="020B0604020202020204" pitchFamily="34" charset="0"/>
              <a:buChar char="•"/>
            </a:pPr>
            <a:r>
              <a:rPr lang="es-419" sz="1200" dirty="0"/>
              <a:t>No se puede eliminar ni cambiar el nombre</a:t>
            </a:r>
          </a:p>
          <a:p>
            <a:pPr marL="0" indent="0" rtl="0">
              <a:buNone/>
            </a:pPr>
            <a:r>
              <a:rPr lang="es-419" sz="1200" b="1" dirty="0"/>
              <a:t>VLAN de datos </a:t>
            </a:r>
          </a:p>
          <a:p>
            <a:pPr rtl="0">
              <a:buFont typeface="Arial" panose="020B0604020202020204" pitchFamily="34" charset="0"/>
              <a:buChar char="•"/>
            </a:pPr>
            <a:r>
              <a:rPr lang="es-419" sz="1200" dirty="0"/>
              <a:t>Dedicado al tráfico generado por el usuario (correo electrónico y tráfico web). </a:t>
            </a:r>
          </a:p>
          <a:p>
            <a:pPr rtl="0">
              <a:buFont typeface="Arial" panose="020B0604020202020204" pitchFamily="34" charset="0"/>
              <a:buChar char="•"/>
            </a:pPr>
            <a:r>
              <a:rPr lang="es-419" sz="1200" dirty="0"/>
              <a:t>VLAN 1 es la VLAN de datos predeterminada porque todas las interfaces están asignadas a esta VLAN.</a:t>
            </a:r>
          </a:p>
          <a:p>
            <a:pPr marL="0" indent="0" rtl="0">
              <a:buNone/>
            </a:pPr>
            <a:r>
              <a:rPr lang="es-419" sz="1200" b="1" dirty="0"/>
              <a:t>VLAN nativa</a:t>
            </a:r>
          </a:p>
          <a:p>
            <a:pPr rtl="0">
              <a:buFont typeface="Arial" panose="020B0604020202020204" pitchFamily="34" charset="0"/>
              <a:buChar char="•"/>
            </a:pPr>
            <a:r>
              <a:rPr lang="es-419" sz="1200" dirty="0"/>
              <a:t>Esto se utiliza sólo para enlaces troncales. </a:t>
            </a:r>
          </a:p>
          <a:p>
            <a:pPr rtl="0">
              <a:buFont typeface="Arial" panose="020B0604020202020204" pitchFamily="34" charset="0"/>
              <a:buChar char="•"/>
            </a:pPr>
            <a:r>
              <a:rPr lang="es-419" sz="1200" dirty="0"/>
              <a:t>Todas las tramas están etiquetadas en un enlace troncal </a:t>
            </a:r>
            <a:r>
              <a:rPr lang="es-419" sz="1200" b="1" dirty="0">
                <a:solidFill>
                  <a:srgbClr val="00B0F0"/>
                </a:solidFill>
              </a:rPr>
              <a:t>802.1Q (PROTOCOLO) </a:t>
            </a:r>
            <a:r>
              <a:rPr lang="es-419" sz="1200" dirty="0"/>
              <a:t>excepto las de la VLAN nativa. </a:t>
            </a:r>
          </a:p>
          <a:p>
            <a:pPr marL="0" indent="0" rtl="0">
              <a:buNone/>
            </a:pPr>
            <a:r>
              <a:rPr lang="es-419" sz="1200" b="1" dirty="0"/>
              <a:t>VLAN de administración </a:t>
            </a:r>
          </a:p>
          <a:p>
            <a:pPr rtl="0">
              <a:buFont typeface="Arial" panose="020B0604020202020204" pitchFamily="34" charset="0"/>
              <a:buChar char="•"/>
            </a:pPr>
            <a:r>
              <a:rPr lang="es-419" sz="1200" dirty="0"/>
              <a:t>Esto se utiliza para el tráfico SSH/Telnet VTY y no debe ser llevado con el tráfico de usuario final.</a:t>
            </a:r>
          </a:p>
          <a:p>
            <a:pPr rtl="0">
              <a:buFont typeface="Arial" panose="020B0604020202020204" pitchFamily="34" charset="0"/>
              <a:buChar char="•"/>
            </a:pPr>
            <a:r>
              <a:rPr lang="es-419" sz="1200" dirty="0"/>
              <a:t>Normalmente, la VLAN que es el SVI para el conmutador de capa 2. </a:t>
            </a:r>
          </a:p>
          <a:p>
            <a:pPr>
              <a:buFont typeface="Arial" panose="020B0604020202020204" pitchFamily="34" charset="0"/>
              <a:buChar char="•"/>
            </a:pPr>
            <a:endParaRPr lang="en-US" sz="1200" dirty="0"/>
          </a:p>
          <a:p>
            <a:pPr marL="0" indent="0" rtl="0">
              <a:buNone/>
            </a:pPr>
            <a:r>
              <a:rPr lang="es-419" sz="1200" dirty="0"/>
              <a:t>   </a:t>
            </a:r>
          </a:p>
        </p:txBody>
      </p:sp>
      <p:sp>
        <p:nvSpPr>
          <p:cNvPr id="2" name="Slide Number Placeholder 1">
            <a:extLst>
              <a:ext uri="{FF2B5EF4-FFF2-40B4-BE49-F238E27FC236}">
                <a16:creationId xmlns:a16="http://schemas.microsoft.com/office/drawing/2014/main" id="{31A86134-C64F-BFFA-16CB-8D472712A3ED}"/>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30</a:t>
            </a:fld>
            <a:endParaRPr lang="en-US"/>
          </a:p>
        </p:txBody>
      </p:sp>
    </p:spTree>
    <p:extLst>
      <p:ext uri="{BB962C8B-B14F-4D97-AF65-F5344CB8AC3E}">
        <p14:creationId xmlns:p14="http://schemas.microsoft.com/office/powerpoint/2010/main" val="7925027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dirty="0">
                <a:solidFill>
                  <a:srgbClr val="C00000"/>
                </a:solidFill>
              </a:rPr>
              <a:t>Tipos de VLAN (Cont.)</a:t>
            </a:r>
          </a:p>
        </p:txBody>
      </p:sp>
      <p:sp>
        <p:nvSpPr>
          <p:cNvPr id="8195" name="Rectangle 6"/>
          <p:cNvSpPr>
            <a:spLocks noGrp="1" noChangeArrowheads="1"/>
          </p:cNvSpPr>
          <p:nvPr>
            <p:ph idx="1"/>
          </p:nvPr>
        </p:nvSpPr>
        <p:spPr>
          <a:xfrm>
            <a:off x="124609" y="894073"/>
            <a:ext cx="4657703" cy="3723647"/>
          </a:xfrm>
        </p:spPr>
        <p:txBody>
          <a:bodyPr/>
          <a:lstStyle/>
          <a:p>
            <a:pPr marL="0" indent="0" rtl="0">
              <a:buNone/>
            </a:pPr>
            <a:r>
              <a:rPr lang="es-419" sz="1600" b="1"/>
              <a:t>VLAN de voz  </a:t>
            </a:r>
          </a:p>
          <a:p>
            <a:pPr lvl="1" rtl="0">
              <a:buFont typeface="Arial" panose="020B0604020202020204" pitchFamily="34" charset="0"/>
              <a:buChar char="•"/>
            </a:pPr>
            <a:r>
              <a:rPr lang="es-419" sz="1600"/>
              <a:t>Se requiere una VLAN separada porque el tráfico de voz requiere:</a:t>
            </a:r>
          </a:p>
          <a:p>
            <a:pPr lvl="3" rtl="0">
              <a:buFont typeface="Arial" panose="020B0604020202020204" pitchFamily="34" charset="0"/>
              <a:buChar char="•"/>
            </a:pPr>
            <a:r>
              <a:rPr lang="es-419" sz="1600"/>
              <a:t>Ancho de banda asegurado</a:t>
            </a:r>
          </a:p>
          <a:p>
            <a:pPr lvl="3" rtl="0">
              <a:buFont typeface="Arial" panose="020B0604020202020204" pitchFamily="34" charset="0"/>
              <a:buChar char="•"/>
            </a:pPr>
            <a:r>
              <a:rPr lang="es-419" sz="1600"/>
              <a:t>Alta prioridad de QoS</a:t>
            </a:r>
          </a:p>
          <a:p>
            <a:pPr lvl="3" rtl="0">
              <a:buFont typeface="Arial" panose="020B0604020202020204" pitchFamily="34" charset="0"/>
              <a:buChar char="•"/>
            </a:pPr>
            <a:r>
              <a:rPr lang="es-419" sz="1600"/>
              <a:t>Capacidad para evitar la congestión</a:t>
            </a:r>
          </a:p>
          <a:p>
            <a:pPr lvl="3" rtl="0">
              <a:buFont typeface="Arial" panose="020B0604020202020204" pitchFamily="34" charset="0"/>
              <a:buChar char="•"/>
            </a:pPr>
            <a:r>
              <a:rPr lang="es-419" sz="1600"/>
              <a:t>Retraso menos de 150 ms desde el origen hasta el destino</a:t>
            </a:r>
          </a:p>
          <a:p>
            <a:pPr lvl="1" rtl="0">
              <a:buFont typeface="Arial" panose="020B0604020202020204" pitchFamily="34" charset="0"/>
              <a:buChar char="•"/>
            </a:pPr>
            <a:r>
              <a:rPr lang="es-419" sz="1600"/>
              <a:t>Toda la red debe estar diseñada para admitir la voz.</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8876" y="923544"/>
            <a:ext cx="3777162" cy="30590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7D31BCBE-C3A4-F6A1-133F-B2F2486000B0}"/>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31</a:t>
            </a:fld>
            <a:endParaRPr lang="en-US"/>
          </a:p>
        </p:txBody>
      </p:sp>
    </p:spTree>
    <p:extLst>
      <p:ext uri="{BB962C8B-B14F-4D97-AF65-F5344CB8AC3E}">
        <p14:creationId xmlns:p14="http://schemas.microsoft.com/office/powerpoint/2010/main" val="24343486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dirty="0">
                <a:solidFill>
                  <a:srgbClr val="C00000"/>
                </a:solidFill>
              </a:rPr>
              <a:t>Definición de troncales de VLAN</a:t>
            </a:r>
          </a:p>
        </p:txBody>
      </p:sp>
      <p:sp>
        <p:nvSpPr>
          <p:cNvPr id="8195" name="Rectangle 6"/>
          <p:cNvSpPr>
            <a:spLocks noGrp="1" noChangeArrowheads="1"/>
          </p:cNvSpPr>
          <p:nvPr>
            <p:ph idx="1"/>
          </p:nvPr>
        </p:nvSpPr>
        <p:spPr>
          <a:xfrm>
            <a:off x="246742" y="798945"/>
            <a:ext cx="8897258" cy="3827919"/>
          </a:xfrm>
        </p:spPr>
        <p:txBody>
          <a:bodyPr/>
          <a:lstStyle/>
          <a:p>
            <a:pPr marL="0" indent="0" rtl="0">
              <a:buNone/>
            </a:pPr>
            <a:r>
              <a:rPr lang="es-419" sz="1600" dirty="0"/>
              <a:t>Un enlace troncal es un enlace punto a punto entre dos dispositivos de red.</a:t>
            </a:r>
          </a:p>
          <a:p>
            <a:pPr marL="0" indent="0" rtl="0">
              <a:buNone/>
            </a:pPr>
            <a:r>
              <a:rPr lang="es-419" sz="1600" dirty="0"/>
              <a:t>Funciones troncal de Cisco:</a:t>
            </a:r>
          </a:p>
          <a:p>
            <a:pPr rtl="0">
              <a:buFont typeface="Arial" panose="020B0604020202020204" pitchFamily="34" charset="0"/>
              <a:buChar char="•"/>
            </a:pPr>
            <a:r>
              <a:rPr lang="es-419" sz="1600" dirty="0"/>
              <a:t>Permitir más de una VLAN</a:t>
            </a:r>
          </a:p>
          <a:p>
            <a:pPr rtl="0">
              <a:buFont typeface="Arial" panose="020B0604020202020204" pitchFamily="34" charset="0"/>
              <a:buChar char="•"/>
            </a:pPr>
            <a:r>
              <a:rPr lang="es-419" sz="1600" dirty="0"/>
              <a:t>Extender la VLAN a través de toda la red</a:t>
            </a:r>
          </a:p>
          <a:p>
            <a:pPr rtl="0">
              <a:buFont typeface="Arial" panose="020B0604020202020204" pitchFamily="34" charset="0"/>
              <a:buChar char="•"/>
            </a:pPr>
            <a:r>
              <a:rPr lang="es-419" sz="1600" dirty="0"/>
              <a:t>De forma predeterminada, admite todas las VLAN</a:t>
            </a:r>
          </a:p>
          <a:p>
            <a:pPr rtl="0">
              <a:buFont typeface="Arial" panose="020B0604020202020204" pitchFamily="34" charset="0"/>
              <a:buChar char="•"/>
            </a:pPr>
            <a:r>
              <a:rPr lang="es-419" sz="1600" dirty="0"/>
              <a:t>Soporta enlace troncal 802.1Q</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2504" y="1327641"/>
            <a:ext cx="4718800" cy="2488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1CAA037-95C4-CA91-61A9-A9BD9DADC316}"/>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32</a:t>
            </a:fld>
            <a:endParaRPr lang="en-US"/>
          </a:p>
        </p:txBody>
      </p:sp>
    </p:spTree>
    <p:custDataLst>
      <p:tags r:id="rId1"/>
    </p:custDataLst>
    <p:extLst>
      <p:ext uri="{BB962C8B-B14F-4D97-AF65-F5344CB8AC3E}">
        <p14:creationId xmlns:p14="http://schemas.microsoft.com/office/powerpoint/2010/main" val="5523988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011652" cy="757551"/>
          </a:xfrm>
        </p:spPr>
        <p:txBody>
          <a:bodyPr/>
          <a:lstStyle/>
          <a:p>
            <a:pPr rtl="0"/>
            <a:r>
              <a:rPr lang="es-419" dirty="0">
                <a:solidFill>
                  <a:srgbClr val="C00000"/>
                </a:solidFill>
              </a:rPr>
              <a:t>Múltiple Redes sin VLAN</a:t>
            </a:r>
          </a:p>
        </p:txBody>
      </p:sp>
      <p:sp>
        <p:nvSpPr>
          <p:cNvPr id="8195" name="Rectangle 6"/>
          <p:cNvSpPr>
            <a:spLocks noGrp="1" noChangeArrowheads="1"/>
          </p:cNvSpPr>
          <p:nvPr>
            <p:ph idx="1"/>
          </p:nvPr>
        </p:nvSpPr>
        <p:spPr>
          <a:xfrm>
            <a:off x="261256" y="856343"/>
            <a:ext cx="8526128" cy="755889"/>
          </a:xfrm>
        </p:spPr>
        <p:txBody>
          <a:bodyPr/>
          <a:lstStyle/>
          <a:p>
            <a:pPr marL="0" indent="0" rtl="0">
              <a:buNone/>
            </a:pPr>
            <a:r>
              <a:rPr lang="es-419" sz="1600"/>
              <a:t>Sin VLAN, todos los dispositivos conectados a los switches recibirán todo el tráfico de unidifusión, multidifusión y difusión.</a:t>
            </a: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0985" y="1923401"/>
            <a:ext cx="4637831" cy="2785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0F67D18-A54C-D1C2-A168-884D7761BE89}"/>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33</a:t>
            </a:fld>
            <a:endParaRPr lang="en-US"/>
          </a:p>
        </p:txBody>
      </p:sp>
    </p:spTree>
    <p:custDataLst>
      <p:tags r:id="rId1"/>
    </p:custDataLst>
    <p:extLst>
      <p:ext uri="{BB962C8B-B14F-4D97-AF65-F5344CB8AC3E}">
        <p14:creationId xmlns:p14="http://schemas.microsoft.com/office/powerpoint/2010/main" val="40279099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pPr rtl="0"/>
            <a:r>
              <a:rPr lang="es-419" dirty="0">
                <a:solidFill>
                  <a:srgbClr val="C00000"/>
                </a:solidFill>
              </a:rPr>
              <a:t>Redes con VLAN</a:t>
            </a:r>
          </a:p>
        </p:txBody>
      </p:sp>
      <p:sp>
        <p:nvSpPr>
          <p:cNvPr id="8195" name="Rectangle 6"/>
          <p:cNvSpPr>
            <a:spLocks noGrp="1" noChangeArrowheads="1"/>
          </p:cNvSpPr>
          <p:nvPr>
            <p:ph idx="1"/>
          </p:nvPr>
        </p:nvSpPr>
        <p:spPr>
          <a:xfrm>
            <a:off x="203200" y="986971"/>
            <a:ext cx="8712199" cy="768677"/>
          </a:xfrm>
        </p:spPr>
        <p:txBody>
          <a:bodyPr/>
          <a:lstStyle/>
          <a:p>
            <a:pPr marL="0" indent="0" rtl="0">
              <a:buNone/>
            </a:pPr>
            <a:r>
              <a:rPr lang="es-419" sz="1600"/>
              <a:t>Con las VLAN, el tráfico de unidifusión, multidifusión y difusión se limita a una VLAN. Sin un dispositivo de capa 3 para conectar las VLAN, los dispositivos de diferentes VLAN no pueden comunicarse. </a:t>
            </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9387" y="1755756"/>
            <a:ext cx="5231599" cy="29322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678BFE85-C981-EB3D-8FC0-5C5E2833AA12}"/>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34</a:t>
            </a:fld>
            <a:endParaRPr lang="en-US"/>
          </a:p>
        </p:txBody>
      </p:sp>
    </p:spTree>
    <p:custDataLst>
      <p:tags r:id="rId1"/>
    </p:custDataLst>
    <p:extLst>
      <p:ext uri="{BB962C8B-B14F-4D97-AF65-F5344CB8AC3E}">
        <p14:creationId xmlns:p14="http://schemas.microsoft.com/office/powerpoint/2010/main" val="25741446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38895"/>
            <a:ext cx="5782101" cy="781567"/>
          </a:xfrm>
        </p:spPr>
        <p:txBody>
          <a:bodyPr/>
          <a:lstStyle/>
          <a:p>
            <a:pPr rtl="0"/>
            <a:r>
              <a:rPr lang="es-419" dirty="0">
                <a:solidFill>
                  <a:srgbClr val="C00000"/>
                </a:solidFill>
              </a:rPr>
              <a:t>Identificación de VLAN con una etiqueta</a:t>
            </a:r>
          </a:p>
        </p:txBody>
      </p:sp>
      <p:sp>
        <p:nvSpPr>
          <p:cNvPr id="8195" name="Rectangle 6"/>
          <p:cNvSpPr>
            <a:spLocks noGrp="1" noChangeArrowheads="1"/>
          </p:cNvSpPr>
          <p:nvPr>
            <p:ph idx="1"/>
          </p:nvPr>
        </p:nvSpPr>
        <p:spPr>
          <a:xfrm>
            <a:off x="175768" y="804090"/>
            <a:ext cx="5307394" cy="1811093"/>
          </a:xfrm>
        </p:spPr>
        <p:txBody>
          <a:bodyPr/>
          <a:lstStyle/>
          <a:p>
            <a:pPr rtl="0">
              <a:buFont typeface="Arial" panose="020B0604020202020204" pitchFamily="34" charset="0"/>
              <a:buChar char="•"/>
            </a:pPr>
            <a:r>
              <a:rPr lang="es-419" sz="1600"/>
              <a:t>El encabezado IEEE 802.1Q es de 4 Bytes</a:t>
            </a:r>
          </a:p>
          <a:p>
            <a:pPr rtl="0">
              <a:buFont typeface="Arial" panose="020B0604020202020204" pitchFamily="34" charset="0"/>
              <a:buChar char="•"/>
            </a:pPr>
            <a:r>
              <a:rPr lang="es-419" sz="1600"/>
              <a:t>Cuando se crea la etiqueta, se debe volver a calcular el FCS.</a:t>
            </a:r>
          </a:p>
          <a:p>
            <a:pPr rtl="0">
              <a:buFont typeface="Arial" panose="020B0604020202020204" pitchFamily="34" charset="0"/>
              <a:buChar char="•"/>
            </a:pPr>
            <a:r>
              <a:rPr lang="es-419" sz="1600"/>
              <a:t>Cuando se envía a los dispositivos finales, esta etiqueta debe eliminarse y el FCS vuelve a calcular su número original.</a:t>
            </a:r>
          </a:p>
          <a:p>
            <a:pPr marL="0" indent="0">
              <a:buNone/>
            </a:pPr>
            <a:endParaRPr lang="en-US" altLang="ja-JP" dirty="0"/>
          </a:p>
        </p:txBody>
      </p:sp>
      <p:graphicFrame>
        <p:nvGraphicFramePr>
          <p:cNvPr id="2" name="Table 1"/>
          <p:cNvGraphicFramePr>
            <a:graphicFrameLocks noGrp="1"/>
          </p:cNvGraphicFramePr>
          <p:nvPr/>
        </p:nvGraphicFramePr>
        <p:xfrm>
          <a:off x="14964" y="2793292"/>
          <a:ext cx="9115385" cy="2207622"/>
        </p:xfrm>
        <a:graphic>
          <a:graphicData uri="http://schemas.openxmlformats.org/drawingml/2006/table">
            <a:tbl>
              <a:tblPr firstRow="1" bandRow="1">
                <a:tableStyleId>{21E4AEA4-8DFA-4A89-87EB-49C32662AFE0}</a:tableStyleId>
              </a:tblPr>
              <a:tblGrid>
                <a:gridCol w="2341395">
                  <a:extLst>
                    <a:ext uri="{9D8B030D-6E8A-4147-A177-3AD203B41FA5}">
                      <a16:colId xmlns:a16="http://schemas.microsoft.com/office/drawing/2014/main" val="20000"/>
                    </a:ext>
                  </a:extLst>
                </a:gridCol>
                <a:gridCol w="6773990">
                  <a:extLst>
                    <a:ext uri="{9D8B030D-6E8A-4147-A177-3AD203B41FA5}">
                      <a16:colId xmlns:a16="http://schemas.microsoft.com/office/drawing/2014/main" val="20001"/>
                    </a:ext>
                  </a:extLst>
                </a:gridCol>
              </a:tblGrid>
              <a:tr h="302463">
                <a:tc>
                  <a:txBody>
                    <a:bodyPr/>
                    <a:lstStyle/>
                    <a:p>
                      <a:pPr rtl="0"/>
                      <a:r>
                        <a:rPr lang="es-419" sz="1400"/>
                        <a:t>Campo de etiqueta VLAN 802.1Q</a:t>
                      </a:r>
                    </a:p>
                  </a:txBody>
                  <a:tcPr/>
                </a:tc>
                <a:tc>
                  <a:txBody>
                    <a:bodyPr/>
                    <a:lstStyle/>
                    <a:p>
                      <a:pPr rtl="0"/>
                      <a:r>
                        <a:rPr lang="es-419" sz="1400"/>
                        <a:t>Función</a:t>
                      </a:r>
                    </a:p>
                  </a:txBody>
                  <a:tcPr/>
                </a:tc>
                <a:extLst>
                  <a:ext uri="{0D108BD9-81ED-4DB2-BD59-A6C34878D82A}">
                    <a16:rowId xmlns:a16="http://schemas.microsoft.com/office/drawing/2014/main" val="10000"/>
                  </a:ext>
                </a:extLst>
              </a:tr>
              <a:tr h="323562">
                <a:tc>
                  <a:txBody>
                    <a:bodyPr/>
                    <a:lstStyle/>
                    <a:p>
                      <a:pPr rtl="0"/>
                      <a:r>
                        <a:rPr lang="es-419" sz="1400" b="1"/>
                        <a:t>Tipo</a:t>
                      </a:r>
                    </a:p>
                  </a:txBody>
                  <a:tcPr/>
                </a:tc>
                <a:tc>
                  <a:txBody>
                    <a:bodyPr/>
                    <a:lstStyle/>
                    <a:p>
                      <a:pPr marL="285750" indent="-285750" rtl="0">
                        <a:buFont typeface="Arial" panose="020B0604020202020204" pitchFamily="34" charset="0"/>
                        <a:buChar char="•"/>
                      </a:pPr>
                      <a:r>
                        <a:rPr lang="es-419" sz="1400"/>
                        <a:t>Campo de 2 bytes</a:t>
                      </a:r>
                      <a:r>
                        <a:rPr lang="es-419" sz="1400" baseline="0"/>
                        <a:t> con hexadecimal 0x8100</a:t>
                      </a:r>
                    </a:p>
                    <a:p>
                      <a:pPr marL="285750" indent="-285750" rtl="0">
                        <a:buFont typeface="Arial" panose="020B0604020202020204" pitchFamily="34" charset="0"/>
                        <a:buChar char="•"/>
                      </a:pPr>
                      <a:r>
                        <a:rPr lang="es-419" sz="1400"/>
                        <a:t>Esto se conoce como ID de protocolo de etiqueta (TPID)</a:t>
                      </a:r>
                    </a:p>
                  </a:txBody>
                  <a:tcPr/>
                </a:tc>
                <a:extLst>
                  <a:ext uri="{0D108BD9-81ED-4DB2-BD59-A6C34878D82A}">
                    <a16:rowId xmlns:a16="http://schemas.microsoft.com/office/drawing/2014/main" val="10001"/>
                  </a:ext>
                </a:extLst>
              </a:tr>
              <a:tr h="333828">
                <a:tc>
                  <a:txBody>
                    <a:bodyPr/>
                    <a:lstStyle/>
                    <a:p>
                      <a:pPr rtl="0"/>
                      <a:r>
                        <a:rPr lang="es-419" sz="1400" b="1" baseline="0"/>
                        <a:t>Prioridad</a:t>
                      </a:r>
                      <a:r>
                        <a:rPr lang="es-419" sz="1400" b="1"/>
                        <a:t> de usuario</a:t>
                      </a:r>
                    </a:p>
                  </a:txBody>
                  <a:tcPr/>
                </a:tc>
                <a:tc>
                  <a:txBody>
                    <a:bodyPr/>
                    <a:lstStyle/>
                    <a:p>
                      <a:pPr marL="285750" indent="-285750" rtl="0">
                        <a:buFont typeface="Arial" panose="020B0604020202020204" pitchFamily="34" charset="0"/>
                        <a:buChar char="•"/>
                      </a:pPr>
                      <a:r>
                        <a:rPr lang="es-419" sz="1400"/>
                        <a:t>Valor de 3 bits</a:t>
                      </a:r>
                      <a:r>
                        <a:rPr lang="es-419" sz="1400" baseline="0"/>
                        <a:t> que admite </a:t>
                      </a:r>
                    </a:p>
                  </a:txBody>
                  <a:tcPr/>
                </a:tc>
                <a:extLst>
                  <a:ext uri="{0D108BD9-81ED-4DB2-BD59-A6C34878D82A}">
                    <a16:rowId xmlns:a16="http://schemas.microsoft.com/office/drawing/2014/main" val="10002"/>
                  </a:ext>
                </a:extLst>
              </a:tr>
              <a:tr h="335320">
                <a:tc>
                  <a:txBody>
                    <a:bodyPr/>
                    <a:lstStyle/>
                    <a:p>
                      <a:pPr rtl="0"/>
                      <a:r>
                        <a:rPr lang="es-419" sz="1400" b="1"/>
                        <a:t>Identificador de</a:t>
                      </a:r>
                      <a:r>
                        <a:rPr lang="es-419" sz="1400" b="1" baseline="0"/>
                        <a:t> formato canónico (CFI)</a:t>
                      </a:r>
                    </a:p>
                  </a:txBody>
                  <a:tcPr/>
                </a:tc>
                <a:tc>
                  <a:txBody>
                    <a:bodyPr/>
                    <a:lstStyle/>
                    <a:p>
                      <a:pPr marL="285750" indent="-285750" rtl="0">
                        <a:buFont typeface="Arial" panose="020B0604020202020204" pitchFamily="34" charset="0"/>
                        <a:buChar char="•"/>
                      </a:pPr>
                      <a:r>
                        <a:rPr lang="es-419" sz="1400" baseline="0"/>
                        <a:t> Valor de 1 bit que puede admitir marcos de anillo de tokens en Ethernet</a:t>
                      </a:r>
                    </a:p>
                  </a:txBody>
                  <a:tcPr/>
                </a:tc>
                <a:extLst>
                  <a:ext uri="{0D108BD9-81ED-4DB2-BD59-A6C34878D82A}">
                    <a16:rowId xmlns:a16="http://schemas.microsoft.com/office/drawing/2014/main" val="10003"/>
                  </a:ext>
                </a:extLst>
              </a:tr>
              <a:tr h="319314">
                <a:tc>
                  <a:txBody>
                    <a:bodyPr/>
                    <a:lstStyle/>
                    <a:p>
                      <a:pPr rtl="0"/>
                      <a:r>
                        <a:rPr lang="es-419" sz="1400" b="1"/>
                        <a:t>VLAN ID (VID)</a:t>
                      </a:r>
                    </a:p>
                  </a:txBody>
                  <a:tcPr/>
                </a:tc>
                <a:tc>
                  <a:txBody>
                    <a:bodyPr/>
                    <a:lstStyle/>
                    <a:p>
                      <a:pPr marL="285750" indent="-285750" rtl="0">
                        <a:buFont typeface="Arial" panose="020B0604020202020204" pitchFamily="34" charset="0"/>
                        <a:buChar char="•"/>
                      </a:pPr>
                      <a:r>
                        <a:rPr lang="es-419" sz="1400" baseline="0" dirty="0"/>
                        <a:t> Identificador de VLAN de 12 bits que puede admitir hasta 4096 VLAN</a:t>
                      </a:r>
                    </a:p>
                  </a:txBody>
                  <a:tcPr/>
                </a:tc>
                <a:extLst>
                  <a:ext uri="{0D108BD9-81ED-4DB2-BD59-A6C34878D82A}">
                    <a16:rowId xmlns:a16="http://schemas.microsoft.com/office/drawing/2014/main" val="10004"/>
                  </a:ext>
                </a:extLst>
              </a:tr>
            </a:tbl>
          </a:graphicData>
        </a:graphic>
      </p:graphicFrame>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2386" y="149893"/>
            <a:ext cx="3341210" cy="2193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a:extLst>
              <a:ext uri="{FF2B5EF4-FFF2-40B4-BE49-F238E27FC236}">
                <a16:creationId xmlns:a16="http://schemas.microsoft.com/office/drawing/2014/main" id="{FFB2BEC3-EC8C-909A-AEA2-B5EB76DAC968}"/>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35</a:t>
            </a:fld>
            <a:endParaRPr lang="en-US"/>
          </a:p>
        </p:txBody>
      </p:sp>
    </p:spTree>
    <p:custDataLst>
      <p:tags r:id="rId1"/>
    </p:custDataLst>
    <p:extLst>
      <p:ext uri="{BB962C8B-B14F-4D97-AF65-F5344CB8AC3E}">
        <p14:creationId xmlns:p14="http://schemas.microsoft.com/office/powerpoint/2010/main" val="12253273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9006840" cy="829464"/>
          </a:xfrm>
        </p:spPr>
        <p:txBody>
          <a:bodyPr/>
          <a:lstStyle/>
          <a:p>
            <a:pPr rtl="0"/>
            <a:r>
              <a:rPr lang="es-419" dirty="0">
                <a:solidFill>
                  <a:srgbClr val="C00000"/>
                </a:solidFill>
              </a:rPr>
              <a:t>VLAN nativas y etiquetado 802.1Q</a:t>
            </a:r>
          </a:p>
        </p:txBody>
      </p:sp>
      <p:sp>
        <p:nvSpPr>
          <p:cNvPr id="8195" name="Rectangle 6"/>
          <p:cNvSpPr>
            <a:spLocks noGrp="1" noChangeArrowheads="1"/>
          </p:cNvSpPr>
          <p:nvPr>
            <p:ph idx="1"/>
          </p:nvPr>
        </p:nvSpPr>
        <p:spPr>
          <a:xfrm>
            <a:off x="203201" y="986970"/>
            <a:ext cx="4572000" cy="3414045"/>
          </a:xfrm>
        </p:spPr>
        <p:txBody>
          <a:bodyPr/>
          <a:lstStyle/>
          <a:p>
            <a:pPr marL="0" indent="0" rtl="0">
              <a:buNone/>
            </a:pPr>
            <a:r>
              <a:rPr lang="es-419" sz="1600"/>
              <a:t>Conceptos básicos del tronco 802.1Q:</a:t>
            </a:r>
          </a:p>
          <a:p>
            <a:pPr rtl="0">
              <a:buFont typeface="Arial" panose="020B0604020202020204" pitchFamily="34" charset="0"/>
              <a:buChar char="•"/>
            </a:pPr>
            <a:r>
              <a:rPr lang="es-419" sz="1600"/>
              <a:t>El etiquetado se realiza normalmente en todas las VLAN.</a:t>
            </a:r>
          </a:p>
          <a:p>
            <a:pPr rtl="0">
              <a:buFont typeface="Arial" panose="020B0604020202020204" pitchFamily="34" charset="0"/>
              <a:buChar char="•"/>
            </a:pPr>
            <a:r>
              <a:rPr lang="es-419" sz="1600"/>
              <a:t>El uso de una VLAN nativa se diseñó para uso heredado, como el concentrador en el ejemplo.</a:t>
            </a:r>
          </a:p>
          <a:p>
            <a:pPr rtl="0">
              <a:buFont typeface="Arial" panose="020B0604020202020204" pitchFamily="34" charset="0"/>
              <a:buChar char="•"/>
            </a:pPr>
            <a:r>
              <a:rPr lang="es-419" sz="1600"/>
              <a:t>A menos que se modifique, VLAN1 es la VLAN nativa.</a:t>
            </a:r>
          </a:p>
          <a:p>
            <a:pPr rtl="0">
              <a:buFont typeface="Arial" panose="020B0604020202020204" pitchFamily="34" charset="0"/>
              <a:buChar char="•"/>
            </a:pPr>
            <a:r>
              <a:rPr lang="es-419" sz="1600"/>
              <a:t>Ambos extremos de un enlace troncal deben configurarse con la misma VLAN nativa.</a:t>
            </a:r>
          </a:p>
          <a:p>
            <a:pPr rtl="0">
              <a:buFont typeface="Arial" panose="020B0604020202020204" pitchFamily="34" charset="0"/>
              <a:buChar char="•"/>
            </a:pPr>
            <a:r>
              <a:rPr lang="es-419" sz="1600"/>
              <a:t>Cada troncal se configura por separado, por lo que es posible tener una VLAN nativa diferente en troncos separados.</a:t>
            </a:r>
          </a:p>
        </p:txBody>
      </p:sp>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2789" y="1317324"/>
            <a:ext cx="3962848" cy="279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8DDEF58-39A5-6C97-074A-41332BB3295C}"/>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36</a:t>
            </a:fld>
            <a:endParaRPr lang="en-US"/>
          </a:p>
        </p:txBody>
      </p:sp>
    </p:spTree>
    <p:custDataLst>
      <p:tags r:id="rId1"/>
    </p:custDataLst>
    <p:extLst>
      <p:ext uri="{BB962C8B-B14F-4D97-AF65-F5344CB8AC3E}">
        <p14:creationId xmlns:p14="http://schemas.microsoft.com/office/powerpoint/2010/main" val="13087407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5197642" cy="829464"/>
          </a:xfrm>
        </p:spPr>
        <p:txBody>
          <a:bodyPr/>
          <a:lstStyle/>
          <a:p>
            <a:pPr rtl="0"/>
            <a:r>
              <a:rPr lang="es-419" dirty="0">
                <a:solidFill>
                  <a:srgbClr val="C00000"/>
                </a:solidFill>
              </a:rPr>
              <a:t>Etiquetado de VLAN de voz</a:t>
            </a:r>
          </a:p>
        </p:txBody>
      </p:sp>
      <p:sp>
        <p:nvSpPr>
          <p:cNvPr id="3" name="Marcador de número de diapositiva 2">
            <a:extLst>
              <a:ext uri="{FF2B5EF4-FFF2-40B4-BE49-F238E27FC236}">
                <a16:creationId xmlns:a16="http://schemas.microsoft.com/office/drawing/2014/main" id="{E39CFCE4-9F25-7A28-B36F-5BB53F0D2D58}"/>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37</a:t>
            </a:fld>
            <a:endParaRPr lang="en-US" sz="800" b="1" kern="0" dirty="0">
              <a:solidFill>
                <a:srgbClr val="00B0F0"/>
              </a:solidFill>
            </a:endParaRPr>
          </a:p>
        </p:txBody>
      </p:sp>
      <p:pic>
        <p:nvPicPr>
          <p:cNvPr id="1028" name="Picture 4" descr="VLAN de Voz y Datos">
            <a:extLst>
              <a:ext uri="{FF2B5EF4-FFF2-40B4-BE49-F238E27FC236}">
                <a16:creationId xmlns:a16="http://schemas.microsoft.com/office/drawing/2014/main" id="{9BAE339A-07BF-1729-8588-792AC0ED78D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582"/>
          <a:stretch/>
        </p:blipFill>
        <p:spPr bwMode="auto">
          <a:xfrm>
            <a:off x="1079499" y="835934"/>
            <a:ext cx="6683376" cy="2341317"/>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316BC09A-9031-BB72-172B-CD2D4F178EC8}"/>
              </a:ext>
            </a:extLst>
          </p:cNvPr>
          <p:cNvSpPr txBox="1"/>
          <p:nvPr/>
        </p:nvSpPr>
        <p:spPr>
          <a:xfrm>
            <a:off x="249237" y="3723200"/>
            <a:ext cx="8732838" cy="1077218"/>
          </a:xfrm>
          <a:prstGeom prst="rect">
            <a:avLst/>
          </a:prstGeom>
          <a:noFill/>
        </p:spPr>
        <p:txBody>
          <a:bodyPr wrap="square">
            <a:spAutoFit/>
          </a:bodyPr>
          <a:lstStyle/>
          <a:p>
            <a:pPr algn="l"/>
            <a:r>
              <a:rPr lang="es-ES" sz="1600" b="1" i="0" dirty="0">
                <a:solidFill>
                  <a:srgbClr val="212121"/>
                </a:solidFill>
                <a:effectLst/>
                <a:latin typeface="Arial" panose="020B0604020202020204" pitchFamily="34" charset="0"/>
              </a:rPr>
              <a:t>VLAN de Datos:</a:t>
            </a:r>
            <a:r>
              <a:rPr lang="es-ES" sz="1600" b="0" i="0" dirty="0">
                <a:solidFill>
                  <a:srgbClr val="212121"/>
                </a:solidFill>
                <a:effectLst/>
                <a:latin typeface="Arial" panose="020B0604020202020204" pitchFamily="34" charset="0"/>
              </a:rPr>
              <a:t> La idea y la configuración, es igual que una </a:t>
            </a:r>
            <a:r>
              <a:rPr lang="es-ES" sz="1600" b="0" i="0" u="sng" dirty="0">
                <a:solidFill>
                  <a:srgbClr val="C5112E"/>
                </a:solidFill>
                <a:effectLst/>
                <a:latin typeface="Arial" panose="020B0604020202020204" pitchFamily="34" charset="0"/>
              </a:rPr>
              <a:t>VLAN de acceso, en un puerto de acceso</a:t>
            </a:r>
            <a:r>
              <a:rPr lang="es-ES" sz="1600" b="0" i="0" dirty="0">
                <a:solidFill>
                  <a:srgbClr val="212121"/>
                </a:solidFill>
                <a:effectLst/>
                <a:latin typeface="Arial" panose="020B0604020202020204" pitchFamily="34" charset="0"/>
              </a:rPr>
              <a:t> para la PC, conectada al switch del teléfono IP.</a:t>
            </a:r>
          </a:p>
          <a:p>
            <a:pPr algn="l"/>
            <a:r>
              <a:rPr lang="es-ES" sz="1600" b="1" i="0" dirty="0">
                <a:solidFill>
                  <a:srgbClr val="212121"/>
                </a:solidFill>
                <a:effectLst/>
                <a:latin typeface="Arial" panose="020B0604020202020204" pitchFamily="34" charset="0"/>
              </a:rPr>
              <a:t>VLAN de Voz:</a:t>
            </a:r>
            <a:r>
              <a:rPr lang="es-ES" sz="1600" b="0" i="0" dirty="0">
                <a:solidFill>
                  <a:srgbClr val="212121"/>
                </a:solidFill>
                <a:effectLst/>
                <a:latin typeface="Arial" panose="020B0604020202020204" pitchFamily="34" charset="0"/>
              </a:rPr>
              <a:t> Es la VLAN definida en el enlace para reenviar el tráfico del teléfono. El tráfico en esta VLAN usa usualmente un encabezado de etiqueta 802.1Q.</a:t>
            </a:r>
          </a:p>
        </p:txBody>
      </p:sp>
    </p:spTree>
    <p:custDataLst>
      <p:tags r:id="rId1"/>
    </p:custDataLst>
    <p:extLst>
      <p:ext uri="{BB962C8B-B14F-4D97-AF65-F5344CB8AC3E}">
        <p14:creationId xmlns:p14="http://schemas.microsoft.com/office/powerpoint/2010/main" val="13097985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5197642" cy="829464"/>
          </a:xfrm>
        </p:spPr>
        <p:txBody>
          <a:bodyPr/>
          <a:lstStyle/>
          <a:p>
            <a:pPr rtl="0"/>
            <a:r>
              <a:rPr lang="es-419" dirty="0">
                <a:solidFill>
                  <a:srgbClr val="C00000"/>
                </a:solidFill>
              </a:rPr>
              <a:t>Etiquetado de VLAN de voz</a:t>
            </a:r>
          </a:p>
        </p:txBody>
      </p:sp>
      <p:sp>
        <p:nvSpPr>
          <p:cNvPr id="8195" name="Rectangle 6"/>
          <p:cNvSpPr>
            <a:spLocks noGrp="1" noChangeArrowheads="1"/>
          </p:cNvSpPr>
          <p:nvPr>
            <p:ph idx="1"/>
          </p:nvPr>
        </p:nvSpPr>
        <p:spPr>
          <a:xfrm>
            <a:off x="203199" y="986969"/>
            <a:ext cx="5054601" cy="2182931"/>
          </a:xfrm>
        </p:spPr>
        <p:txBody>
          <a:bodyPr/>
          <a:lstStyle/>
          <a:p>
            <a:pPr marL="0" indent="0" rtl="0">
              <a:buNone/>
            </a:pPr>
            <a:r>
              <a:rPr lang="es-419" sz="1600" dirty="0"/>
              <a:t>El teléfono VoIP es un conmutador de tres puertos:</a:t>
            </a:r>
          </a:p>
          <a:p>
            <a:pPr>
              <a:buFont typeface="Arial" panose="020B0604020202020204" pitchFamily="34" charset="0"/>
              <a:buChar char="•"/>
            </a:pPr>
            <a:r>
              <a:rPr lang="es-419" sz="1400" dirty="0"/>
              <a:t>El conmutador utilizará CDP </a:t>
            </a:r>
            <a:r>
              <a:rPr lang="es-419" sz="1400" b="1" dirty="0">
                <a:solidFill>
                  <a:srgbClr val="FF0000"/>
                </a:solidFill>
              </a:rPr>
              <a:t>(</a:t>
            </a:r>
            <a:r>
              <a:rPr lang="es-PE" sz="1600" b="1" i="0" u="none" strike="noStrike" dirty="0">
                <a:solidFill>
                  <a:srgbClr val="FF0000"/>
                </a:solidFill>
                <a:effectLst/>
                <a:latin typeface="Montserrat" panose="00000500000000000000" pitchFamily="2" charset="0"/>
              </a:rPr>
              <a:t>Cisco Discovery </a:t>
            </a:r>
            <a:r>
              <a:rPr lang="es-PE" sz="1600" b="1" i="0" u="none" strike="noStrike" dirty="0" err="1">
                <a:solidFill>
                  <a:srgbClr val="FF0000"/>
                </a:solidFill>
                <a:effectLst/>
                <a:latin typeface="Montserrat" panose="00000500000000000000" pitchFamily="2" charset="0"/>
              </a:rPr>
              <a:t>Protocol</a:t>
            </a:r>
            <a:r>
              <a:rPr lang="es-PE" sz="1600" b="1" i="0" u="none" strike="noStrike" dirty="0">
                <a:solidFill>
                  <a:srgbClr val="FF0000"/>
                </a:solidFill>
                <a:effectLst/>
                <a:latin typeface="Montserrat" panose="00000500000000000000" pitchFamily="2" charset="0"/>
              </a:rPr>
              <a:t>) </a:t>
            </a:r>
            <a:r>
              <a:rPr lang="es-419" sz="1400" dirty="0"/>
              <a:t>para informar al teléfono de la VLAN de voz.</a:t>
            </a:r>
          </a:p>
          <a:p>
            <a:pPr rtl="0">
              <a:buFont typeface="Arial" panose="020B0604020202020204" pitchFamily="34" charset="0"/>
              <a:buChar char="•"/>
            </a:pPr>
            <a:r>
              <a:rPr lang="es-419" sz="1400" dirty="0"/>
              <a:t>El teléfono etiquetará su propio tráfico (Voz) y puede establecer el coste de servicio (</a:t>
            </a:r>
            <a:r>
              <a:rPr lang="es-419" sz="1400" dirty="0" err="1"/>
              <a:t>CoS</a:t>
            </a:r>
            <a:r>
              <a:rPr lang="es-419" sz="1400" dirty="0"/>
              <a:t>). </a:t>
            </a:r>
            <a:r>
              <a:rPr lang="es-419" sz="1400" dirty="0" err="1"/>
              <a:t>CoS</a:t>
            </a:r>
            <a:r>
              <a:rPr lang="es-419" sz="1400" dirty="0"/>
              <a:t> es </a:t>
            </a:r>
            <a:r>
              <a:rPr lang="es-419" sz="1400" dirty="0" err="1"/>
              <a:t>QoS</a:t>
            </a:r>
            <a:r>
              <a:rPr lang="es-419" sz="1400" dirty="0"/>
              <a:t> para la capa 2.</a:t>
            </a:r>
          </a:p>
          <a:p>
            <a:pPr rtl="0">
              <a:buFont typeface="Arial" panose="020B0604020202020204" pitchFamily="34" charset="0"/>
              <a:buChar char="•"/>
            </a:pPr>
            <a:r>
              <a:rPr lang="es-419" sz="1400" dirty="0"/>
              <a:t>El teléfono puede o no etiquetar marcos de la PC.</a:t>
            </a:r>
          </a:p>
          <a:p>
            <a:pPr marL="0" indent="0">
              <a:buNone/>
            </a:pPr>
            <a:endParaRPr lang="en-US" altLang="ja-JP" dirty="0"/>
          </a:p>
        </p:txBody>
      </p:sp>
      <p:graphicFrame>
        <p:nvGraphicFramePr>
          <p:cNvPr id="2" name="Table 1"/>
          <p:cNvGraphicFramePr>
            <a:graphicFrameLocks noGrp="1"/>
          </p:cNvGraphicFramePr>
          <p:nvPr/>
        </p:nvGraphicFramePr>
        <p:xfrm>
          <a:off x="204608" y="3398087"/>
          <a:ext cx="8734783" cy="1327990"/>
        </p:xfrm>
        <a:graphic>
          <a:graphicData uri="http://schemas.openxmlformats.org/drawingml/2006/table">
            <a:tbl>
              <a:tblPr firstRow="1" bandRow="1">
                <a:tableStyleId>{21E4AEA4-8DFA-4A89-87EB-49C32662AFE0}</a:tableStyleId>
              </a:tblPr>
              <a:tblGrid>
                <a:gridCol w="1924640">
                  <a:extLst>
                    <a:ext uri="{9D8B030D-6E8A-4147-A177-3AD203B41FA5}">
                      <a16:colId xmlns:a16="http://schemas.microsoft.com/office/drawing/2014/main" val="20000"/>
                    </a:ext>
                  </a:extLst>
                </a:gridCol>
                <a:gridCol w="6810143">
                  <a:extLst>
                    <a:ext uri="{9D8B030D-6E8A-4147-A177-3AD203B41FA5}">
                      <a16:colId xmlns:a16="http://schemas.microsoft.com/office/drawing/2014/main" val="20001"/>
                    </a:ext>
                  </a:extLst>
                </a:gridCol>
              </a:tblGrid>
              <a:tr h="302463">
                <a:tc>
                  <a:txBody>
                    <a:bodyPr/>
                    <a:lstStyle/>
                    <a:p>
                      <a:pPr rtl="0"/>
                      <a:r>
                        <a:rPr lang="es-419" sz="1600"/>
                        <a:t>saliente</a:t>
                      </a:r>
                    </a:p>
                  </a:txBody>
                  <a:tcPr/>
                </a:tc>
                <a:tc>
                  <a:txBody>
                    <a:bodyPr/>
                    <a:lstStyle/>
                    <a:p>
                      <a:pPr rtl="0"/>
                      <a:r>
                        <a:rPr lang="es-419" sz="1600"/>
                        <a:t>Función de etiquetado</a:t>
                      </a:r>
                    </a:p>
                  </a:txBody>
                  <a:tcPr/>
                </a:tc>
                <a:extLst>
                  <a:ext uri="{0D108BD9-81ED-4DB2-BD59-A6C34878D82A}">
                    <a16:rowId xmlns:a16="http://schemas.microsoft.com/office/drawing/2014/main" val="10000"/>
                  </a:ext>
                </a:extLst>
              </a:tr>
              <a:tr h="323562">
                <a:tc>
                  <a:txBody>
                    <a:bodyPr/>
                    <a:lstStyle/>
                    <a:p>
                      <a:pPr rtl="0"/>
                      <a:r>
                        <a:rPr lang="es-419" sz="1400" dirty="0">
                          <a:solidFill>
                            <a:srgbClr val="000000"/>
                          </a:solidFill>
                        </a:rPr>
                        <a:t>VLAN de voz</a:t>
                      </a:r>
                    </a:p>
                  </a:txBody>
                  <a:tcPr/>
                </a:tc>
                <a:tc>
                  <a:txBody>
                    <a:bodyPr/>
                    <a:lstStyle/>
                    <a:p>
                      <a:pPr marL="0" indent="0" rtl="0">
                        <a:buFont typeface="Arial" panose="020B0604020202020204" pitchFamily="34" charset="0"/>
                        <a:buNone/>
                      </a:pPr>
                      <a:r>
                        <a:rPr lang="es-419" sz="1400"/>
                        <a:t>etiquetado con un valor de prioridad de clase de servicio (CoS) de capa 2 apropiado</a:t>
                      </a:r>
                    </a:p>
                  </a:txBody>
                  <a:tcPr/>
                </a:tc>
                <a:extLst>
                  <a:ext uri="{0D108BD9-81ED-4DB2-BD59-A6C34878D82A}">
                    <a16:rowId xmlns:a16="http://schemas.microsoft.com/office/drawing/2014/main" val="10001"/>
                  </a:ext>
                </a:extLst>
              </a:tr>
              <a:tr h="333828">
                <a:tc>
                  <a:txBody>
                    <a:bodyPr/>
                    <a:lstStyle/>
                    <a:p>
                      <a:pPr rtl="0"/>
                      <a:r>
                        <a:rPr lang="es-419" sz="1400"/>
                        <a:t>VLAN de acceso</a:t>
                      </a:r>
                    </a:p>
                  </a:txBody>
                  <a:tcPr/>
                </a:tc>
                <a:tc>
                  <a:txBody>
                    <a:bodyPr/>
                    <a:lstStyle/>
                    <a:p>
                      <a:pPr marL="0" indent="0" rtl="0">
                        <a:buFont typeface="Arial" panose="020B0604020202020204" pitchFamily="34" charset="0"/>
                        <a:buNone/>
                      </a:pPr>
                      <a:r>
                        <a:rPr lang="es-419" sz="1400"/>
                        <a:t>también se puede etiquetar con un valor de prioridad CoS de capa 2</a:t>
                      </a:r>
                    </a:p>
                  </a:txBody>
                  <a:tcPr/>
                </a:tc>
                <a:extLst>
                  <a:ext uri="{0D108BD9-81ED-4DB2-BD59-A6C34878D82A}">
                    <a16:rowId xmlns:a16="http://schemas.microsoft.com/office/drawing/2014/main" val="10002"/>
                  </a:ext>
                </a:extLst>
              </a:tr>
              <a:tr h="335320">
                <a:tc>
                  <a:txBody>
                    <a:bodyPr/>
                    <a:lstStyle/>
                    <a:p>
                      <a:pPr rtl="0"/>
                      <a:r>
                        <a:rPr lang="es-419" sz="1400"/>
                        <a:t>VLAN de acceso</a:t>
                      </a:r>
                    </a:p>
                  </a:txBody>
                  <a:tcPr/>
                </a:tc>
                <a:tc>
                  <a:txBody>
                    <a:bodyPr/>
                    <a:lstStyle/>
                    <a:p>
                      <a:pPr rtl="0"/>
                      <a:r>
                        <a:rPr lang="es-419" sz="1400" dirty="0"/>
                        <a:t>no está etiquetado (sin valor de prioridad </a:t>
                      </a:r>
                      <a:r>
                        <a:rPr lang="es-419" sz="1400" dirty="0" err="1"/>
                        <a:t>CoS</a:t>
                      </a:r>
                      <a:r>
                        <a:rPr lang="es-419" sz="1400" dirty="0"/>
                        <a:t> de capa 2)</a:t>
                      </a:r>
                    </a:p>
                  </a:txBody>
                  <a:tcPr/>
                </a:tc>
                <a:extLst>
                  <a:ext uri="{0D108BD9-81ED-4DB2-BD59-A6C34878D82A}">
                    <a16:rowId xmlns:a16="http://schemas.microsoft.com/office/drawing/2014/main" val="10003"/>
                  </a:ext>
                </a:extLst>
              </a:tr>
            </a:tbl>
          </a:graphicData>
        </a:graphic>
      </p:graphicFrame>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8274" y="503544"/>
            <a:ext cx="3578571" cy="2317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Marcador de número de diapositiva 2">
            <a:extLst>
              <a:ext uri="{FF2B5EF4-FFF2-40B4-BE49-F238E27FC236}">
                <a16:creationId xmlns:a16="http://schemas.microsoft.com/office/drawing/2014/main" id="{E39CFCE4-9F25-7A28-B36F-5BB53F0D2D58}"/>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38</a:t>
            </a:fld>
            <a:endParaRPr lang="en-US" kern="0" dirty="0">
              <a:solidFill>
                <a:srgbClr val="595959"/>
              </a:solidFill>
            </a:endParaRPr>
          </a:p>
        </p:txBody>
      </p:sp>
    </p:spTree>
    <p:custDataLst>
      <p:tags r:id="rId1"/>
    </p:custDataLst>
    <p:extLst>
      <p:ext uri="{BB962C8B-B14F-4D97-AF65-F5344CB8AC3E}">
        <p14:creationId xmlns:p14="http://schemas.microsoft.com/office/powerpoint/2010/main" val="19262465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829464"/>
          </a:xfrm>
        </p:spPr>
        <p:txBody>
          <a:bodyPr/>
          <a:lstStyle/>
          <a:p>
            <a:pPr rtl="0"/>
            <a:r>
              <a:rPr lang="es-419" sz="1600"/>
              <a:t>VLAN en un entorno de conmutación múltiple</a:t>
            </a:r>
            <a:br>
              <a:rPr lang="en-US" altLang="en-US" dirty="0"/>
            </a:br>
            <a:r>
              <a:rPr lang="es-419"/>
              <a:t>Ejemplo de verificación de VLAN de voz</a:t>
            </a:r>
          </a:p>
        </p:txBody>
      </p:sp>
      <p:sp>
        <p:nvSpPr>
          <p:cNvPr id="8195" name="Rectangle 6"/>
          <p:cNvSpPr>
            <a:spLocks noGrp="1" noChangeArrowheads="1"/>
          </p:cNvSpPr>
          <p:nvPr>
            <p:ph idx="1"/>
          </p:nvPr>
        </p:nvSpPr>
        <p:spPr>
          <a:xfrm>
            <a:off x="203200" y="986971"/>
            <a:ext cx="8212253" cy="990512"/>
          </a:xfrm>
        </p:spPr>
        <p:txBody>
          <a:bodyPr/>
          <a:lstStyle/>
          <a:p>
            <a:pPr marL="0" indent="0" rtl="0">
              <a:buNone/>
            </a:pPr>
            <a:r>
              <a:rPr lang="es-419" sz="1600" dirty="0"/>
              <a:t>El comando </a:t>
            </a:r>
            <a:r>
              <a:rPr lang="es-419" sz="1600" b="1" dirty="0"/>
              <a:t>show interfaces fa0/18 </a:t>
            </a:r>
            <a:r>
              <a:rPr lang="es-419" sz="1600" b="1" dirty="0" err="1"/>
              <a:t>switchport</a:t>
            </a:r>
            <a:r>
              <a:rPr lang="es-419" sz="1600" b="1" dirty="0"/>
              <a:t> </a:t>
            </a:r>
            <a:r>
              <a:rPr lang="es-419" sz="1600" dirty="0"/>
              <a:t>puede mostrarnos las VLAN de datos y voz asignadas a la interfaz.</a:t>
            </a:r>
          </a:p>
          <a:p>
            <a:pPr marL="0" indent="0">
              <a:buNone/>
            </a:pPr>
            <a:endParaRPr lang="en-US" altLang="ja-JP" dirty="0"/>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3591" y="2420395"/>
            <a:ext cx="5898730" cy="2416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Marcador de número de diapositiva 1">
            <a:extLst>
              <a:ext uri="{FF2B5EF4-FFF2-40B4-BE49-F238E27FC236}">
                <a16:creationId xmlns:a16="http://schemas.microsoft.com/office/drawing/2014/main" id="{C5F3EC12-1256-64CF-9623-911F3CAE6A12}"/>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39</a:t>
            </a:fld>
            <a:endParaRPr lang="en-US" sz="800" b="1" kern="0" dirty="0">
              <a:solidFill>
                <a:srgbClr val="00B0F0"/>
              </a:solidFill>
            </a:endParaRPr>
          </a:p>
        </p:txBody>
      </p:sp>
      <p:sp>
        <p:nvSpPr>
          <p:cNvPr id="4" name="CuadroTexto 3">
            <a:extLst>
              <a:ext uri="{FF2B5EF4-FFF2-40B4-BE49-F238E27FC236}">
                <a16:creationId xmlns:a16="http://schemas.microsoft.com/office/drawing/2014/main" id="{8090D489-6EC5-A730-AEA5-F36AD7FD3E55}"/>
              </a:ext>
            </a:extLst>
          </p:cNvPr>
          <p:cNvSpPr txBox="1"/>
          <p:nvPr/>
        </p:nvSpPr>
        <p:spPr>
          <a:xfrm>
            <a:off x="258366" y="1720334"/>
            <a:ext cx="6504384" cy="369332"/>
          </a:xfrm>
          <a:prstGeom prst="rect">
            <a:avLst/>
          </a:prstGeom>
          <a:noFill/>
        </p:spPr>
        <p:txBody>
          <a:bodyPr wrap="square">
            <a:spAutoFit/>
          </a:bodyPr>
          <a:lstStyle/>
          <a:p>
            <a:r>
              <a:rPr lang="es-PE" sz="1800" b="1" dirty="0">
                <a:solidFill>
                  <a:srgbClr val="FF0000"/>
                </a:solidFill>
              </a:rPr>
              <a:t>Switch #</a:t>
            </a:r>
            <a:r>
              <a:rPr lang="es-419" sz="1800" b="1" dirty="0">
                <a:solidFill>
                  <a:srgbClr val="FF0000"/>
                </a:solidFill>
              </a:rPr>
              <a:t>show interfaces </a:t>
            </a:r>
            <a:r>
              <a:rPr lang="es-419" sz="1800" b="1" dirty="0">
                <a:solidFill>
                  <a:schemeClr val="accent5"/>
                </a:solidFill>
              </a:rPr>
              <a:t>fa0/1</a:t>
            </a:r>
            <a:r>
              <a:rPr lang="es-419" sz="1800" b="1" dirty="0">
                <a:solidFill>
                  <a:srgbClr val="FF0000"/>
                </a:solidFill>
              </a:rPr>
              <a:t> </a:t>
            </a:r>
            <a:r>
              <a:rPr lang="es-419" sz="1800" b="1" dirty="0" err="1">
                <a:solidFill>
                  <a:srgbClr val="FF0000"/>
                </a:solidFill>
              </a:rPr>
              <a:t>switchport</a:t>
            </a:r>
            <a:r>
              <a:rPr lang="es-419" sz="1800" b="1" dirty="0">
                <a:solidFill>
                  <a:srgbClr val="FF0000"/>
                </a:solidFill>
              </a:rPr>
              <a:t> </a:t>
            </a:r>
            <a:endParaRPr lang="es-PE" dirty="0">
              <a:solidFill>
                <a:srgbClr val="FF0000"/>
              </a:solidFill>
            </a:endParaRPr>
          </a:p>
        </p:txBody>
      </p:sp>
    </p:spTree>
    <p:custDataLst>
      <p:tags r:id="rId1"/>
    </p:custDataLst>
    <p:extLst>
      <p:ext uri="{BB962C8B-B14F-4D97-AF65-F5344CB8AC3E}">
        <p14:creationId xmlns:p14="http://schemas.microsoft.com/office/powerpoint/2010/main" val="6360821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419" sz="4000" dirty="0">
                <a:solidFill>
                  <a:schemeClr val="bg1"/>
                </a:solidFill>
              </a:rPr>
              <a:t>Configuración de VLAN</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24475942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118872"/>
            <a:ext cx="5472752" cy="757551"/>
          </a:xfrm>
        </p:spPr>
        <p:txBody>
          <a:bodyPr/>
          <a:lstStyle/>
          <a:p>
            <a:pPr rtl="0"/>
            <a:r>
              <a:rPr lang="es-419" dirty="0">
                <a:solidFill>
                  <a:srgbClr val="C00000"/>
                </a:solidFill>
              </a:rPr>
              <a:t>Rangos de VLAN en switches </a:t>
            </a:r>
            <a:r>
              <a:rPr lang="es-419" dirty="0" err="1">
                <a:solidFill>
                  <a:srgbClr val="C00000"/>
                </a:solidFill>
              </a:rPr>
              <a:t>Catalyst</a:t>
            </a:r>
            <a:endParaRPr lang="es-419" dirty="0">
              <a:solidFill>
                <a:srgbClr val="C00000"/>
              </a:solidFill>
            </a:endParaRPr>
          </a:p>
        </p:txBody>
      </p:sp>
      <p:sp>
        <p:nvSpPr>
          <p:cNvPr id="13315" name="Content Placeholder 2"/>
          <p:cNvSpPr>
            <a:spLocks noGrp="1"/>
          </p:cNvSpPr>
          <p:nvPr>
            <p:ph idx="1"/>
          </p:nvPr>
        </p:nvSpPr>
        <p:spPr>
          <a:xfrm>
            <a:off x="116633" y="1200665"/>
            <a:ext cx="4738831" cy="627520"/>
          </a:xfrm>
        </p:spPr>
        <p:txBody>
          <a:bodyPr/>
          <a:lstStyle/>
          <a:p>
            <a:pPr marL="142875" lvl="1" indent="0" rtl="0">
              <a:buNone/>
            </a:pPr>
            <a:r>
              <a:rPr lang="es-419" sz="1600"/>
              <a:t>Los switches Catalyst 2960 y 3650 admiten más de 4000 VLAN.</a:t>
            </a:r>
          </a:p>
          <a:p>
            <a:pPr marL="142875" lvl="1" indent="0">
              <a:buNone/>
            </a:pPr>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graphicFrame>
        <p:nvGraphicFramePr>
          <p:cNvPr id="2" name="Table 1"/>
          <p:cNvGraphicFramePr>
            <a:graphicFrameLocks noGrp="1"/>
          </p:cNvGraphicFramePr>
          <p:nvPr/>
        </p:nvGraphicFramePr>
        <p:xfrm>
          <a:off x="68239" y="2192590"/>
          <a:ext cx="8892881" cy="2641600"/>
        </p:xfrm>
        <a:graphic>
          <a:graphicData uri="http://schemas.openxmlformats.org/drawingml/2006/table">
            <a:tbl>
              <a:tblPr firstRow="1" bandRow="1">
                <a:tableStyleId>{21E4AEA4-8DFA-4A89-87EB-49C32662AFE0}</a:tableStyleId>
              </a:tblPr>
              <a:tblGrid>
                <a:gridCol w="4963236">
                  <a:extLst>
                    <a:ext uri="{9D8B030D-6E8A-4147-A177-3AD203B41FA5}">
                      <a16:colId xmlns:a16="http://schemas.microsoft.com/office/drawing/2014/main" val="20000"/>
                    </a:ext>
                  </a:extLst>
                </a:gridCol>
                <a:gridCol w="3929645">
                  <a:extLst>
                    <a:ext uri="{9D8B030D-6E8A-4147-A177-3AD203B41FA5}">
                      <a16:colId xmlns:a16="http://schemas.microsoft.com/office/drawing/2014/main" val="20001"/>
                    </a:ext>
                  </a:extLst>
                </a:gridCol>
              </a:tblGrid>
              <a:tr h="370840">
                <a:tc>
                  <a:txBody>
                    <a:bodyPr/>
                    <a:lstStyle/>
                    <a:p>
                      <a:pPr rtl="0"/>
                      <a:r>
                        <a:rPr lang="es-419" baseline="0" dirty="0">
                          <a:solidFill>
                            <a:srgbClr val="0070C0"/>
                          </a:solidFill>
                        </a:rPr>
                        <a:t>Rango normal VLAN 1 - 1005 </a:t>
                      </a:r>
                    </a:p>
                  </a:txBody>
                  <a:tcPr/>
                </a:tc>
                <a:tc>
                  <a:txBody>
                    <a:bodyPr/>
                    <a:lstStyle/>
                    <a:p>
                      <a:pPr rtl="0"/>
                      <a:r>
                        <a:rPr lang="es-419"/>
                        <a:t>Rango extendido VLAN</a:t>
                      </a:r>
                      <a:r>
                        <a:rPr lang="es-419" baseline="0"/>
                        <a:t> 1006 - 4095</a:t>
                      </a:r>
                    </a:p>
                  </a:txBody>
                  <a:tcPr/>
                </a:tc>
                <a:extLst>
                  <a:ext uri="{0D108BD9-81ED-4DB2-BD59-A6C34878D82A}">
                    <a16:rowId xmlns:a16="http://schemas.microsoft.com/office/drawing/2014/main" val="10000"/>
                  </a:ext>
                </a:extLst>
              </a:tr>
              <a:tr h="370840">
                <a:tc>
                  <a:txBody>
                    <a:bodyPr/>
                    <a:lstStyle/>
                    <a:p>
                      <a:pPr marL="285750" indent="-285750" rtl="0">
                        <a:buFont typeface="Arial" panose="020B0604020202020204" pitchFamily="34" charset="0"/>
                        <a:buChar char="•"/>
                      </a:pPr>
                      <a:r>
                        <a:rPr lang="es-419" sz="1600" dirty="0">
                          <a:solidFill>
                            <a:srgbClr val="0070C0"/>
                          </a:solidFill>
                        </a:rPr>
                        <a:t>Utilizado en pequeñas y medianas empresas</a:t>
                      </a:r>
                    </a:p>
                  </a:txBody>
                  <a:tcPr/>
                </a:tc>
                <a:tc>
                  <a:txBody>
                    <a:bodyPr/>
                    <a:lstStyle/>
                    <a:p>
                      <a:pPr rtl="0"/>
                      <a:r>
                        <a:rPr lang="es-419" sz="1600"/>
                        <a:t>Usado por los proveedores de servicios</a:t>
                      </a:r>
                    </a:p>
                  </a:txBody>
                  <a:tcPr/>
                </a:tc>
                <a:extLst>
                  <a:ext uri="{0D108BD9-81ED-4DB2-BD59-A6C34878D82A}">
                    <a16:rowId xmlns:a16="http://schemas.microsoft.com/office/drawing/2014/main" val="10001"/>
                  </a:ext>
                </a:extLst>
              </a:tr>
              <a:tr h="370840">
                <a:tc>
                  <a:txBody>
                    <a:bodyPr/>
                    <a:lstStyle/>
                    <a:p>
                      <a:pPr marL="285750" indent="-285750" rtl="0">
                        <a:buFont typeface="Arial" panose="020B0604020202020204" pitchFamily="34" charset="0"/>
                        <a:buChar char="•"/>
                      </a:pPr>
                      <a:r>
                        <a:rPr lang="es-419" sz="1600" dirty="0"/>
                        <a:t>1002 — 1005 están reservados para VLAN heredadas</a:t>
                      </a:r>
                    </a:p>
                  </a:txBody>
                  <a:tcPr/>
                </a:tc>
                <a:tc>
                  <a:txBody>
                    <a:bodyPr/>
                    <a:lstStyle/>
                    <a:p>
                      <a:pPr rtl="0"/>
                      <a:r>
                        <a:rPr lang="es-419" sz="1600" dirty="0"/>
                        <a:t>Están en </a:t>
                      </a:r>
                      <a:r>
                        <a:rPr lang="es-419" sz="1600" baseline="0" dirty="0"/>
                        <a:t>Running-</a:t>
                      </a:r>
                      <a:r>
                        <a:rPr lang="es-419" sz="1600" baseline="0" dirty="0" err="1"/>
                        <a:t>Config</a:t>
                      </a:r>
                      <a:endParaRPr lang="es-419" sz="1600" baseline="0" dirty="0"/>
                    </a:p>
                  </a:txBody>
                  <a:tcPr/>
                </a:tc>
                <a:extLst>
                  <a:ext uri="{0D108BD9-81ED-4DB2-BD59-A6C34878D82A}">
                    <a16:rowId xmlns:a16="http://schemas.microsoft.com/office/drawing/2014/main" val="10002"/>
                  </a:ext>
                </a:extLst>
              </a:tr>
              <a:tr h="370840">
                <a:tc>
                  <a:txBody>
                    <a:bodyPr/>
                    <a:lstStyle/>
                    <a:p>
                      <a:pPr marL="285750" indent="-285750" rtl="0">
                        <a:buFont typeface="Arial" panose="020B0604020202020204" pitchFamily="34" charset="0"/>
                        <a:buChar char="•"/>
                      </a:pPr>
                      <a:r>
                        <a:rPr lang="es-419" sz="1600" dirty="0"/>
                        <a:t>1, 1002 — 1005 se crean automáticamente</a:t>
                      </a:r>
                      <a:r>
                        <a:rPr lang="es-419" sz="1600" baseline="0" dirty="0"/>
                        <a:t> y no se pueden eliminar</a:t>
                      </a:r>
                    </a:p>
                  </a:txBody>
                  <a:tcPr/>
                </a:tc>
                <a:tc>
                  <a:txBody>
                    <a:bodyPr/>
                    <a:lstStyle/>
                    <a:p>
                      <a:pPr rtl="0"/>
                      <a:r>
                        <a:rPr lang="es-419" sz="1600"/>
                        <a:t>Admite menos</a:t>
                      </a:r>
                      <a:r>
                        <a:rPr lang="es-419" sz="1600" baseline="0"/>
                        <a:t> funciones de VLAN</a:t>
                      </a:r>
                    </a:p>
                  </a:txBody>
                  <a:tcPr/>
                </a:tc>
                <a:extLst>
                  <a:ext uri="{0D108BD9-81ED-4DB2-BD59-A6C34878D82A}">
                    <a16:rowId xmlns:a16="http://schemas.microsoft.com/office/drawing/2014/main" val="10003"/>
                  </a:ext>
                </a:extLst>
              </a:tr>
              <a:tr h="370840">
                <a:tc>
                  <a:txBody>
                    <a:bodyPr/>
                    <a:lstStyle/>
                    <a:p>
                      <a:pPr marL="285750" indent="-285750" rtl="0">
                        <a:buFont typeface="Arial" panose="020B0604020202020204" pitchFamily="34" charset="0"/>
                        <a:buChar char="•"/>
                      </a:pPr>
                      <a:r>
                        <a:rPr lang="es-419" sz="1600" dirty="0"/>
                        <a:t>Almacenado en el</a:t>
                      </a:r>
                      <a:r>
                        <a:rPr lang="es-419" sz="1600" baseline="0" dirty="0"/>
                        <a:t> archivo vlan.dat en flash</a:t>
                      </a:r>
                    </a:p>
                  </a:txBody>
                  <a:tcPr/>
                </a:tc>
                <a:tc>
                  <a:txBody>
                    <a:bodyPr/>
                    <a:lstStyle/>
                    <a:p>
                      <a:pPr rtl="0"/>
                      <a:r>
                        <a:rPr lang="es-419" sz="1600"/>
                        <a:t>Requiere configuraciones de VTP</a:t>
                      </a:r>
                    </a:p>
                  </a:txBody>
                  <a:tcPr/>
                </a:tc>
                <a:extLst>
                  <a:ext uri="{0D108BD9-81ED-4DB2-BD59-A6C34878D82A}">
                    <a16:rowId xmlns:a16="http://schemas.microsoft.com/office/drawing/2014/main" val="10004"/>
                  </a:ext>
                </a:extLst>
              </a:tr>
              <a:tr h="370840">
                <a:tc>
                  <a:txBody>
                    <a:bodyPr/>
                    <a:lstStyle/>
                    <a:p>
                      <a:pPr marL="285750" indent="-285750" rtl="0">
                        <a:buFont typeface="Arial" panose="020B0604020202020204" pitchFamily="34" charset="0"/>
                        <a:buChar char="•"/>
                      </a:pPr>
                      <a:r>
                        <a:rPr lang="es-419" sz="1600" dirty="0"/>
                        <a:t>VTP puede sincronizar entre conmutadores</a:t>
                      </a:r>
                    </a:p>
                  </a:txBody>
                  <a:tcPr/>
                </a:tc>
                <a:tc>
                  <a:txBody>
                    <a:bodyPr/>
                    <a:lstStyle/>
                    <a:p>
                      <a:endParaRPr lang="en-US" sz="1600" dirty="0"/>
                    </a:p>
                  </a:txBody>
                  <a:tcPr/>
                </a:tc>
                <a:extLst>
                  <a:ext uri="{0D108BD9-81ED-4DB2-BD59-A6C34878D82A}">
                    <a16:rowId xmlns:a16="http://schemas.microsoft.com/office/drawing/2014/main" val="10005"/>
                  </a:ext>
                </a:extLst>
              </a:tr>
            </a:tbl>
          </a:graphicData>
        </a:graphic>
      </p:graphicFrame>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5244" y="118872"/>
            <a:ext cx="3555875" cy="1887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Marcador de número de diapositiva 2">
            <a:extLst>
              <a:ext uri="{FF2B5EF4-FFF2-40B4-BE49-F238E27FC236}">
                <a16:creationId xmlns:a16="http://schemas.microsoft.com/office/drawing/2014/main" id="{E283FFE2-557D-BA62-8A5D-8170B50F20CB}"/>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41</a:t>
            </a:fld>
            <a:endParaRPr lang="en-US" sz="800" b="1" kern="0" dirty="0">
              <a:solidFill>
                <a:srgbClr val="00B0F0"/>
              </a:solidFill>
            </a:endParaRPr>
          </a:p>
        </p:txBody>
      </p:sp>
    </p:spTree>
    <p:custDataLst>
      <p:tags r:id="rId1"/>
    </p:custDataLst>
    <p:extLst>
      <p:ext uri="{BB962C8B-B14F-4D97-AF65-F5344CB8AC3E}">
        <p14:creationId xmlns:p14="http://schemas.microsoft.com/office/powerpoint/2010/main" val="10471031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34195"/>
            <a:ext cx="9144000" cy="757551"/>
          </a:xfrm>
        </p:spPr>
        <p:txBody>
          <a:bodyPr/>
          <a:lstStyle/>
          <a:p>
            <a:pPr rtl="0"/>
            <a:r>
              <a:rPr lang="es-419" dirty="0">
                <a:solidFill>
                  <a:srgbClr val="C00000"/>
                </a:solidFill>
              </a:rPr>
              <a:t>Comandos de creación de VLAN</a:t>
            </a:r>
            <a:endParaRPr lang="es-419" sz="1600" dirty="0">
              <a:solidFill>
                <a:srgbClr val="C00000"/>
              </a:solidFill>
            </a:endParaRPr>
          </a:p>
        </p:txBody>
      </p:sp>
      <p:sp>
        <p:nvSpPr>
          <p:cNvPr id="13315" name="Content Placeholder 2"/>
          <p:cNvSpPr>
            <a:spLocks noGrp="1"/>
          </p:cNvSpPr>
          <p:nvPr>
            <p:ph idx="1"/>
          </p:nvPr>
        </p:nvSpPr>
        <p:spPr>
          <a:xfrm>
            <a:off x="124426" y="791746"/>
            <a:ext cx="8178325" cy="688137"/>
          </a:xfrm>
        </p:spPr>
        <p:txBody>
          <a:bodyPr/>
          <a:lstStyle/>
          <a:p>
            <a:pPr marL="142875" lvl="1" indent="0" rtl="0">
              <a:buNone/>
            </a:pPr>
            <a:r>
              <a:rPr lang="es-419" sz="1600"/>
              <a:t>Los detalles de la VLAN se almacenan en el archivo vlan.dat. Crea VLAN en el modo de configuración global.</a:t>
            </a:r>
          </a:p>
        </p:txBody>
      </p:sp>
      <p:graphicFrame>
        <p:nvGraphicFramePr>
          <p:cNvPr id="2" name="Table 1"/>
          <p:cNvGraphicFramePr>
            <a:graphicFrameLocks noGrp="1"/>
          </p:cNvGraphicFramePr>
          <p:nvPr/>
        </p:nvGraphicFramePr>
        <p:xfrm>
          <a:off x="658367" y="1479883"/>
          <a:ext cx="7644384" cy="3022600"/>
        </p:xfrm>
        <a:graphic>
          <a:graphicData uri="http://schemas.openxmlformats.org/drawingml/2006/table">
            <a:tbl>
              <a:tblPr firstRow="1" bandRow="1">
                <a:tableStyleId>{21E4AEA4-8DFA-4A89-87EB-49C32662AFE0}</a:tableStyleId>
              </a:tblPr>
              <a:tblGrid>
                <a:gridCol w="3822192">
                  <a:extLst>
                    <a:ext uri="{9D8B030D-6E8A-4147-A177-3AD203B41FA5}">
                      <a16:colId xmlns:a16="http://schemas.microsoft.com/office/drawing/2014/main" val="20000"/>
                    </a:ext>
                  </a:extLst>
                </a:gridCol>
                <a:gridCol w="3822192">
                  <a:extLst>
                    <a:ext uri="{9D8B030D-6E8A-4147-A177-3AD203B41FA5}">
                      <a16:colId xmlns:a16="http://schemas.microsoft.com/office/drawing/2014/main" val="20001"/>
                    </a:ext>
                  </a:extLst>
                </a:gridCol>
              </a:tblGrid>
              <a:tr h="370840">
                <a:tc>
                  <a:txBody>
                    <a:bodyPr/>
                    <a:lstStyle/>
                    <a:p>
                      <a:pPr rtl="0"/>
                      <a:r>
                        <a:rPr lang="es-419" sz="1600"/>
                        <a:t>Tarea</a:t>
                      </a:r>
                    </a:p>
                  </a:txBody>
                  <a:tcPr/>
                </a:tc>
                <a:tc>
                  <a:txBody>
                    <a:bodyPr/>
                    <a:lstStyle/>
                    <a:p>
                      <a:pPr rtl="0"/>
                      <a:r>
                        <a:rPr lang="es-419" sz="1600"/>
                        <a:t>Comando de IOS</a:t>
                      </a:r>
                    </a:p>
                  </a:txBody>
                  <a:tcPr/>
                </a:tc>
                <a:extLst>
                  <a:ext uri="{0D108BD9-81ED-4DB2-BD59-A6C34878D82A}">
                    <a16:rowId xmlns:a16="http://schemas.microsoft.com/office/drawing/2014/main" val="10000"/>
                  </a:ext>
                </a:extLst>
              </a:tr>
              <a:tr h="370840">
                <a:tc>
                  <a:txBody>
                    <a:bodyPr/>
                    <a:lstStyle/>
                    <a:p>
                      <a:pPr rtl="0"/>
                      <a:r>
                        <a:rPr lang="es-419" sz="1600"/>
                        <a:t>Ingresa al modo de configuración global.</a:t>
                      </a:r>
                    </a:p>
                  </a:txBody>
                  <a:tcPr anchor="ctr"/>
                </a:tc>
                <a:tc>
                  <a:txBody>
                    <a:bodyPr/>
                    <a:lstStyle/>
                    <a:p>
                      <a:pPr rtl="0"/>
                      <a:r>
                        <a:rPr lang="es-419" sz="1600" dirty="0"/>
                        <a:t>Switch# </a:t>
                      </a:r>
                      <a:r>
                        <a:rPr lang="es-419" sz="1600" b="1" dirty="0"/>
                        <a:t>configure terminal</a:t>
                      </a:r>
                    </a:p>
                  </a:txBody>
                  <a:tcPr anchor="ctr"/>
                </a:tc>
                <a:extLst>
                  <a:ext uri="{0D108BD9-81ED-4DB2-BD59-A6C34878D82A}">
                    <a16:rowId xmlns:a16="http://schemas.microsoft.com/office/drawing/2014/main" val="10001"/>
                  </a:ext>
                </a:extLst>
              </a:tr>
              <a:tr h="370840">
                <a:tc>
                  <a:txBody>
                    <a:bodyPr/>
                    <a:lstStyle/>
                    <a:p>
                      <a:pPr rtl="0"/>
                      <a:r>
                        <a:rPr lang="es-419" sz="1600"/>
                        <a:t>Cree una VLAN con un número de identificación válido.</a:t>
                      </a:r>
                    </a:p>
                  </a:txBody>
                  <a:tcPr anchor="ctr"/>
                </a:tc>
                <a:tc>
                  <a:txBody>
                    <a:bodyPr/>
                    <a:lstStyle/>
                    <a:p>
                      <a:pPr rtl="0"/>
                      <a:r>
                        <a:rPr lang="es-419" sz="1600" dirty="0"/>
                        <a:t>Switch(</a:t>
                      </a:r>
                      <a:r>
                        <a:rPr lang="es-419" sz="1600" dirty="0" err="1"/>
                        <a:t>config</a:t>
                      </a:r>
                      <a:r>
                        <a:rPr lang="es-419" sz="1600" dirty="0"/>
                        <a:t>)# </a:t>
                      </a:r>
                      <a:r>
                        <a:rPr lang="es-419" sz="1600" b="1" dirty="0" err="1"/>
                        <a:t>vlan</a:t>
                      </a:r>
                      <a:r>
                        <a:rPr lang="es-419" sz="1600" dirty="0"/>
                        <a:t> </a:t>
                      </a:r>
                      <a:r>
                        <a:rPr lang="es-419" sz="1600" b="1" dirty="0" err="1">
                          <a:solidFill>
                            <a:srgbClr val="00B0F0"/>
                          </a:solidFill>
                          <a:effectLst>
                            <a:outerShdw blurRad="38100" dist="38100" dir="2700000" algn="tl">
                              <a:srgbClr val="000000">
                                <a:alpha val="43137"/>
                              </a:srgbClr>
                            </a:outerShdw>
                          </a:effectLst>
                        </a:rPr>
                        <a:t>vlan</a:t>
                      </a:r>
                      <a:r>
                        <a:rPr lang="es-419" sz="1600" b="1" dirty="0">
                          <a:solidFill>
                            <a:srgbClr val="00B0F0"/>
                          </a:solidFill>
                          <a:effectLst>
                            <a:outerShdw blurRad="38100" dist="38100" dir="2700000" algn="tl">
                              <a:srgbClr val="000000">
                                <a:alpha val="43137"/>
                              </a:srgbClr>
                            </a:outerShdw>
                          </a:effectLst>
                        </a:rPr>
                        <a:t>-id</a:t>
                      </a:r>
                      <a:endParaRPr lang="es-419" sz="1600" b="1" i="1" dirty="0">
                        <a:solidFill>
                          <a:srgbClr val="00B0F0"/>
                        </a:solidFill>
                        <a:effectLst>
                          <a:outerShdw blurRad="38100" dist="38100" dir="2700000" algn="tl">
                            <a:srgbClr val="000000">
                              <a:alpha val="43137"/>
                            </a:srgbClr>
                          </a:outerShdw>
                        </a:effectLst>
                      </a:endParaRPr>
                    </a:p>
                  </a:txBody>
                  <a:tcPr anchor="ctr"/>
                </a:tc>
                <a:extLst>
                  <a:ext uri="{0D108BD9-81ED-4DB2-BD59-A6C34878D82A}">
                    <a16:rowId xmlns:a16="http://schemas.microsoft.com/office/drawing/2014/main" val="10002"/>
                  </a:ext>
                </a:extLst>
              </a:tr>
              <a:tr h="370840">
                <a:tc>
                  <a:txBody>
                    <a:bodyPr/>
                    <a:lstStyle/>
                    <a:p>
                      <a:pPr rtl="0"/>
                      <a:r>
                        <a:rPr lang="es-419" sz="1600"/>
                        <a:t>Especificar un nombre único para identificar la VLAN.</a:t>
                      </a:r>
                    </a:p>
                  </a:txBody>
                  <a:tcPr anchor="ctr"/>
                </a:tc>
                <a:tc>
                  <a:txBody>
                    <a:bodyPr/>
                    <a:lstStyle/>
                    <a:p>
                      <a:pPr rtl="0"/>
                      <a:r>
                        <a:rPr lang="es-419" sz="1600" dirty="0"/>
                        <a:t>Switch(</a:t>
                      </a:r>
                      <a:r>
                        <a:rPr lang="es-419" sz="1600" dirty="0" err="1"/>
                        <a:t>config-vlan</a:t>
                      </a:r>
                      <a:r>
                        <a:rPr lang="es-419" sz="1600" dirty="0"/>
                        <a:t>)# </a:t>
                      </a:r>
                      <a:r>
                        <a:rPr lang="es-419" sz="1600" b="1" dirty="0" err="1"/>
                        <a:t>name</a:t>
                      </a:r>
                      <a:r>
                        <a:rPr lang="es-419" sz="1600" dirty="0"/>
                        <a:t> </a:t>
                      </a:r>
                      <a:r>
                        <a:rPr lang="es-419" sz="1600" b="1" dirty="0" err="1">
                          <a:solidFill>
                            <a:srgbClr val="00B0F0"/>
                          </a:solidFill>
                          <a:effectLst>
                            <a:outerShdw blurRad="38100" dist="38100" dir="2700000" algn="tl">
                              <a:srgbClr val="000000">
                                <a:alpha val="43137"/>
                              </a:srgbClr>
                            </a:outerShdw>
                          </a:effectLst>
                        </a:rPr>
                        <a:t>vlan-name</a:t>
                      </a:r>
                      <a:endParaRPr lang="es-419" sz="1600" b="1" i="1" dirty="0">
                        <a:solidFill>
                          <a:srgbClr val="00B0F0"/>
                        </a:solidFill>
                        <a:effectLst>
                          <a:outerShdw blurRad="38100" dist="38100" dir="2700000" algn="tl">
                            <a:srgbClr val="000000">
                              <a:alpha val="43137"/>
                            </a:srgbClr>
                          </a:outerShdw>
                        </a:effectLst>
                      </a:endParaRPr>
                    </a:p>
                  </a:txBody>
                  <a:tcPr anchor="ctr"/>
                </a:tc>
                <a:extLst>
                  <a:ext uri="{0D108BD9-81ED-4DB2-BD59-A6C34878D82A}">
                    <a16:rowId xmlns:a16="http://schemas.microsoft.com/office/drawing/2014/main" val="10003"/>
                  </a:ext>
                </a:extLst>
              </a:tr>
              <a:tr h="185420">
                <a:tc>
                  <a:txBody>
                    <a:bodyPr/>
                    <a:lstStyle/>
                    <a:p>
                      <a:pPr rtl="0"/>
                      <a:r>
                        <a:rPr lang="es-419" sz="1600"/>
                        <a:t>Vuelva al modo EXEC con privilegios.</a:t>
                      </a:r>
                    </a:p>
                  </a:txBody>
                  <a:tcPr anchor="ctr"/>
                </a:tc>
                <a:tc>
                  <a:txBody>
                    <a:bodyPr/>
                    <a:lstStyle/>
                    <a:p>
                      <a:pPr rtl="0"/>
                      <a:r>
                        <a:rPr lang="es-419" sz="1600" dirty="0"/>
                        <a:t>Conmutador (</a:t>
                      </a:r>
                      <a:r>
                        <a:rPr lang="es-419" sz="1600" dirty="0" err="1"/>
                        <a:t>config-vlan</a:t>
                      </a:r>
                      <a:r>
                        <a:rPr lang="es-419" sz="1600" dirty="0"/>
                        <a:t>) # </a:t>
                      </a:r>
                      <a:r>
                        <a:rPr lang="es-419" sz="1600" b="1" dirty="0" err="1">
                          <a:solidFill>
                            <a:schemeClr val="tx1"/>
                          </a:solidFill>
                        </a:rPr>
                        <a:t>exit</a:t>
                      </a:r>
                      <a:endParaRPr lang="es-419" sz="1600" b="1" dirty="0">
                        <a:solidFill>
                          <a:schemeClr val="tx1"/>
                        </a:solidFill>
                      </a:endParaRPr>
                    </a:p>
                  </a:txBody>
                  <a:tcPr anchor="ctr"/>
                </a:tc>
                <a:extLst>
                  <a:ext uri="{0D108BD9-81ED-4DB2-BD59-A6C34878D82A}">
                    <a16:rowId xmlns:a16="http://schemas.microsoft.com/office/drawing/2014/main" val="10004"/>
                  </a:ext>
                </a:extLst>
              </a:tr>
              <a:tr h="185420">
                <a:tc>
                  <a:txBody>
                    <a:bodyPr/>
                    <a:lstStyle/>
                    <a:p>
                      <a:pPr rtl="0"/>
                      <a:r>
                        <a:rPr lang="es-419" sz="1600"/>
                        <a:t>Ingresa al modo de configuración global.</a:t>
                      </a:r>
                    </a:p>
                  </a:txBody>
                  <a:tcPr anchor="ctr"/>
                </a:tc>
                <a:tc>
                  <a:txBody>
                    <a:bodyPr/>
                    <a:lstStyle/>
                    <a:p>
                      <a:pPr rtl="0"/>
                      <a:r>
                        <a:rPr lang="es-419" sz="1600" dirty="0"/>
                        <a:t>Switch# </a:t>
                      </a:r>
                      <a:r>
                        <a:rPr lang="es-419" sz="1600" b="1" dirty="0"/>
                        <a:t>configure terminal</a:t>
                      </a:r>
                    </a:p>
                  </a:txBody>
                  <a:tcPr anchor="ctr"/>
                </a:tc>
                <a:extLst>
                  <a:ext uri="{0D108BD9-81ED-4DB2-BD59-A6C34878D82A}">
                    <a16:rowId xmlns:a16="http://schemas.microsoft.com/office/drawing/2014/main" val="10005"/>
                  </a:ext>
                </a:extLst>
              </a:tr>
            </a:tbl>
          </a:graphicData>
        </a:graphic>
      </p:graphicFrame>
      <p:sp>
        <p:nvSpPr>
          <p:cNvPr id="3" name="Marcador de número de diapositiva 2">
            <a:extLst>
              <a:ext uri="{FF2B5EF4-FFF2-40B4-BE49-F238E27FC236}">
                <a16:creationId xmlns:a16="http://schemas.microsoft.com/office/drawing/2014/main" id="{709485E2-B9D3-9DA7-F76A-6D16BD835266}"/>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42</a:t>
            </a:fld>
            <a:endParaRPr lang="en-US" sz="800" b="1" kern="0" dirty="0">
              <a:solidFill>
                <a:srgbClr val="00B0F0"/>
              </a:solidFill>
            </a:endParaRPr>
          </a:p>
        </p:txBody>
      </p:sp>
      <p:sp>
        <p:nvSpPr>
          <p:cNvPr id="4" name="CuadroTexto 3">
            <a:extLst>
              <a:ext uri="{FF2B5EF4-FFF2-40B4-BE49-F238E27FC236}">
                <a16:creationId xmlns:a16="http://schemas.microsoft.com/office/drawing/2014/main" id="{196DC2C6-F138-1BBC-29AD-8D256A9C08A2}"/>
              </a:ext>
            </a:extLst>
          </p:cNvPr>
          <p:cNvSpPr txBox="1"/>
          <p:nvPr/>
        </p:nvSpPr>
        <p:spPr>
          <a:xfrm>
            <a:off x="723253" y="4584931"/>
            <a:ext cx="5990063" cy="400110"/>
          </a:xfrm>
          <a:prstGeom prst="rect">
            <a:avLst/>
          </a:prstGeom>
          <a:solidFill>
            <a:srgbClr val="FFFF00"/>
          </a:solidFill>
        </p:spPr>
        <p:txBody>
          <a:bodyPr wrap="square" rtlCol="0">
            <a:spAutoFit/>
          </a:bodyPr>
          <a:lstStyle/>
          <a:p>
            <a:r>
              <a:rPr lang="es-PE" sz="2000" b="1" u="sng" dirty="0">
                <a:solidFill>
                  <a:srgbClr val="FF0000"/>
                </a:solidFill>
              </a:rPr>
              <a:t>Nota :</a:t>
            </a:r>
            <a:r>
              <a:rPr lang="es-PE" sz="2000" b="1" dirty="0">
                <a:solidFill>
                  <a:srgbClr val="FF0000"/>
                </a:solidFill>
              </a:rPr>
              <a:t> </a:t>
            </a:r>
            <a:r>
              <a:rPr lang="es-PE" sz="2000" dirty="0">
                <a:solidFill>
                  <a:srgbClr val="FF0000"/>
                </a:solidFill>
              </a:rPr>
              <a:t>ver el comando  </a:t>
            </a:r>
            <a:r>
              <a:rPr lang="es-PE" sz="2000" b="1" dirty="0" err="1">
                <a:solidFill>
                  <a:srgbClr val="FF0000"/>
                </a:solidFill>
              </a:rPr>
              <a:t>Switch#show</a:t>
            </a:r>
            <a:r>
              <a:rPr lang="es-PE" sz="2000" b="1" dirty="0">
                <a:solidFill>
                  <a:srgbClr val="FF0000"/>
                </a:solidFill>
              </a:rPr>
              <a:t> </a:t>
            </a:r>
            <a:r>
              <a:rPr lang="es-PE" sz="2000" b="1" dirty="0" err="1">
                <a:solidFill>
                  <a:srgbClr val="FF0000"/>
                </a:solidFill>
              </a:rPr>
              <a:t>vlan</a:t>
            </a:r>
            <a:r>
              <a:rPr lang="es-PE" sz="2000" b="1" dirty="0">
                <a:solidFill>
                  <a:srgbClr val="FF0000"/>
                </a:solidFill>
              </a:rPr>
              <a:t> </a:t>
            </a:r>
            <a:r>
              <a:rPr lang="es-PE" sz="2000" b="1" dirty="0" err="1">
                <a:solidFill>
                  <a:srgbClr val="FF0000"/>
                </a:solidFill>
              </a:rPr>
              <a:t>brief</a:t>
            </a:r>
            <a:endParaRPr lang="es-PE" sz="2000" b="1" dirty="0">
              <a:solidFill>
                <a:srgbClr val="FF0000"/>
              </a:solidFill>
            </a:endParaRPr>
          </a:p>
        </p:txBody>
      </p:sp>
    </p:spTree>
    <p:custDataLst>
      <p:tags r:id="rId1"/>
    </p:custDataLst>
    <p:extLst>
      <p:ext uri="{BB962C8B-B14F-4D97-AF65-F5344CB8AC3E}">
        <p14:creationId xmlns:p14="http://schemas.microsoft.com/office/powerpoint/2010/main" val="31616302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4553711" cy="757551"/>
          </a:xfrm>
        </p:spPr>
        <p:txBody>
          <a:bodyPr/>
          <a:lstStyle/>
          <a:p>
            <a:pPr rtl="0"/>
            <a:r>
              <a:rPr lang="es-419" dirty="0">
                <a:solidFill>
                  <a:srgbClr val="C00000"/>
                </a:solidFill>
              </a:rPr>
              <a:t>Ejemplo de creación de VLAN</a:t>
            </a:r>
          </a:p>
        </p:txBody>
      </p:sp>
      <p:sp>
        <p:nvSpPr>
          <p:cNvPr id="13315" name="Content Placeholder 2"/>
          <p:cNvSpPr>
            <a:spLocks noGrp="1"/>
          </p:cNvSpPr>
          <p:nvPr>
            <p:ph idx="1"/>
          </p:nvPr>
        </p:nvSpPr>
        <p:spPr>
          <a:xfrm>
            <a:off x="61788" y="1401347"/>
            <a:ext cx="4416684" cy="1939261"/>
          </a:xfrm>
        </p:spPr>
        <p:txBody>
          <a:bodyPr/>
          <a:lstStyle/>
          <a:p>
            <a:pPr rtl="0">
              <a:buFont typeface="Arial" panose="020B0604020202020204" pitchFamily="34" charset="0"/>
              <a:buChar char="•"/>
            </a:pPr>
            <a:r>
              <a:rPr lang="es-419" sz="1800"/>
              <a:t>Si el Student PC va a estar en VLAN 20, primero crearemos la VLAN y luego la nombraremos.</a:t>
            </a:r>
          </a:p>
          <a:p>
            <a:pPr rtl="0">
              <a:buFont typeface="Arial" panose="020B0604020202020204" pitchFamily="34" charset="0"/>
              <a:buChar char="•"/>
            </a:pPr>
            <a:r>
              <a:rPr lang="es-419" sz="1800"/>
              <a:t>Si no lo nombra, Cisco IOS le dará un nombre predeterminado de vlan y el número de cuatro dígitos de la VLAN. Por ejemplo, vlan0020 para VLAN 20.</a:t>
            </a:r>
          </a:p>
        </p:txBody>
      </p:sp>
      <p:graphicFrame>
        <p:nvGraphicFramePr>
          <p:cNvPr id="2" name="Table 1"/>
          <p:cNvGraphicFramePr>
            <a:graphicFrameLocks noGrp="1"/>
          </p:cNvGraphicFramePr>
          <p:nvPr>
            <p:extLst>
              <p:ext uri="{D42A27DB-BD31-4B8C-83A1-F6EECF244321}">
                <p14:modId xmlns:p14="http://schemas.microsoft.com/office/powerpoint/2010/main" val="3037015992"/>
              </p:ext>
            </p:extLst>
          </p:nvPr>
        </p:nvGraphicFramePr>
        <p:xfrm>
          <a:off x="4791360" y="2667380"/>
          <a:ext cx="3895439" cy="1854200"/>
        </p:xfrm>
        <a:graphic>
          <a:graphicData uri="http://schemas.openxmlformats.org/drawingml/2006/table">
            <a:tbl>
              <a:tblPr firstRow="1" bandRow="1">
                <a:tableStyleId>{21E4AEA4-8DFA-4A89-87EB-49C32662AFE0}</a:tableStyleId>
              </a:tblPr>
              <a:tblGrid>
                <a:gridCol w="1915530">
                  <a:extLst>
                    <a:ext uri="{9D8B030D-6E8A-4147-A177-3AD203B41FA5}">
                      <a16:colId xmlns:a16="http://schemas.microsoft.com/office/drawing/2014/main" val="20000"/>
                    </a:ext>
                  </a:extLst>
                </a:gridCol>
                <a:gridCol w="1979909">
                  <a:extLst>
                    <a:ext uri="{9D8B030D-6E8A-4147-A177-3AD203B41FA5}">
                      <a16:colId xmlns:a16="http://schemas.microsoft.com/office/drawing/2014/main" val="20001"/>
                    </a:ext>
                  </a:extLst>
                </a:gridCol>
              </a:tblGrid>
              <a:tr h="370840">
                <a:tc>
                  <a:txBody>
                    <a:bodyPr/>
                    <a:lstStyle/>
                    <a:p>
                      <a:pPr rtl="0"/>
                      <a:r>
                        <a:rPr lang="es-419" sz="1600"/>
                        <a:t>Indicador</a:t>
                      </a:r>
                    </a:p>
                  </a:txBody>
                  <a:tcPr/>
                </a:tc>
                <a:tc>
                  <a:txBody>
                    <a:bodyPr/>
                    <a:lstStyle/>
                    <a:p>
                      <a:pPr rtl="0"/>
                      <a:r>
                        <a:rPr lang="es-419" sz="1600"/>
                        <a:t>Comando</a:t>
                      </a:r>
                    </a:p>
                  </a:txBody>
                  <a:tcPr/>
                </a:tc>
                <a:extLst>
                  <a:ext uri="{0D108BD9-81ED-4DB2-BD59-A6C34878D82A}">
                    <a16:rowId xmlns:a16="http://schemas.microsoft.com/office/drawing/2014/main" val="10000"/>
                  </a:ext>
                </a:extLst>
              </a:tr>
              <a:tr h="370840">
                <a:tc>
                  <a:txBody>
                    <a:bodyPr/>
                    <a:lstStyle/>
                    <a:p>
                      <a:pPr rtl="0"/>
                      <a:r>
                        <a:rPr lang="es-419" sz="1600"/>
                        <a:t>S1#</a:t>
                      </a:r>
                    </a:p>
                  </a:txBody>
                  <a:tcPr/>
                </a:tc>
                <a:tc>
                  <a:txBody>
                    <a:bodyPr/>
                    <a:lstStyle/>
                    <a:p>
                      <a:pPr rtl="0"/>
                      <a:r>
                        <a:rPr lang="es-419" sz="1600" dirty="0"/>
                        <a:t>Configure terminal</a:t>
                      </a:r>
                    </a:p>
                  </a:txBody>
                  <a:tcPr/>
                </a:tc>
                <a:extLst>
                  <a:ext uri="{0D108BD9-81ED-4DB2-BD59-A6C34878D82A}">
                    <a16:rowId xmlns:a16="http://schemas.microsoft.com/office/drawing/2014/main" val="10001"/>
                  </a:ext>
                </a:extLst>
              </a:tr>
              <a:tr h="370840">
                <a:tc>
                  <a:txBody>
                    <a:bodyPr/>
                    <a:lstStyle/>
                    <a:p>
                      <a:pPr rtl="0"/>
                      <a:r>
                        <a:rPr lang="es-419" sz="1600" dirty="0"/>
                        <a:t>S1(</a:t>
                      </a:r>
                      <a:r>
                        <a:rPr lang="es-419" sz="1600" dirty="0" err="1"/>
                        <a:t>config</a:t>
                      </a:r>
                      <a:r>
                        <a:rPr lang="es-419" sz="1600" dirty="0"/>
                        <a:t>)#</a:t>
                      </a:r>
                    </a:p>
                  </a:txBody>
                  <a:tcPr/>
                </a:tc>
                <a:tc>
                  <a:txBody>
                    <a:bodyPr/>
                    <a:lstStyle/>
                    <a:p>
                      <a:pPr rtl="0"/>
                      <a:r>
                        <a:rPr lang="es-419" sz="1600" dirty="0" err="1"/>
                        <a:t>vlan</a:t>
                      </a:r>
                      <a:r>
                        <a:rPr lang="es-419" sz="1600" dirty="0"/>
                        <a:t> </a:t>
                      </a:r>
                      <a:r>
                        <a:rPr lang="es-419" sz="1600" b="1" dirty="0">
                          <a:solidFill>
                            <a:srgbClr val="00B0F0"/>
                          </a:solidFill>
                        </a:rPr>
                        <a:t>20</a:t>
                      </a:r>
                    </a:p>
                  </a:txBody>
                  <a:tcPr/>
                </a:tc>
                <a:extLst>
                  <a:ext uri="{0D108BD9-81ED-4DB2-BD59-A6C34878D82A}">
                    <a16:rowId xmlns:a16="http://schemas.microsoft.com/office/drawing/2014/main" val="10002"/>
                  </a:ext>
                </a:extLst>
              </a:tr>
              <a:tr h="370840">
                <a:tc>
                  <a:txBody>
                    <a:bodyPr/>
                    <a:lstStyle/>
                    <a:p>
                      <a:pPr rtl="0"/>
                      <a:r>
                        <a:rPr lang="es-419" sz="1600" dirty="0"/>
                        <a:t>S1(</a:t>
                      </a:r>
                      <a:r>
                        <a:rPr lang="es-419" sz="1600" dirty="0" err="1"/>
                        <a:t>config-</a:t>
                      </a:r>
                      <a:r>
                        <a:rPr lang="es-419" sz="1600" dirty="0" err="1">
                          <a:solidFill>
                            <a:srgbClr val="FF0000"/>
                          </a:solidFill>
                        </a:rPr>
                        <a:t>vlan</a:t>
                      </a:r>
                      <a:r>
                        <a:rPr lang="es-419" sz="1600" dirty="0"/>
                        <a:t>)#</a:t>
                      </a:r>
                    </a:p>
                  </a:txBody>
                  <a:tcPr/>
                </a:tc>
                <a:tc>
                  <a:txBody>
                    <a:bodyPr/>
                    <a:lstStyle/>
                    <a:p>
                      <a:pPr rtl="0"/>
                      <a:r>
                        <a:rPr lang="es-419" sz="1600" dirty="0" err="1"/>
                        <a:t>name</a:t>
                      </a:r>
                      <a:r>
                        <a:rPr lang="es-419" sz="1600" dirty="0"/>
                        <a:t> </a:t>
                      </a:r>
                      <a:r>
                        <a:rPr lang="es-419" sz="1600" b="1" dirty="0" err="1">
                          <a:solidFill>
                            <a:srgbClr val="00B0F0"/>
                          </a:solidFill>
                        </a:rPr>
                        <a:t>student</a:t>
                      </a:r>
                      <a:endParaRPr lang="es-419" sz="1600" b="1" dirty="0">
                        <a:solidFill>
                          <a:srgbClr val="00B0F0"/>
                        </a:solidFill>
                      </a:endParaRPr>
                    </a:p>
                  </a:txBody>
                  <a:tcPr/>
                </a:tc>
                <a:extLst>
                  <a:ext uri="{0D108BD9-81ED-4DB2-BD59-A6C34878D82A}">
                    <a16:rowId xmlns:a16="http://schemas.microsoft.com/office/drawing/2014/main" val="10003"/>
                  </a:ext>
                </a:extLst>
              </a:tr>
              <a:tr h="370840">
                <a:tc>
                  <a:txBody>
                    <a:bodyPr/>
                    <a:lstStyle/>
                    <a:p>
                      <a:pPr rtl="0"/>
                      <a:r>
                        <a:rPr lang="es-419" sz="1600"/>
                        <a:t>S1(config-vlan)#</a:t>
                      </a:r>
                    </a:p>
                  </a:txBody>
                  <a:tcPr/>
                </a:tc>
                <a:tc>
                  <a:txBody>
                    <a:bodyPr/>
                    <a:lstStyle/>
                    <a:p>
                      <a:pPr rtl="0"/>
                      <a:r>
                        <a:rPr lang="es-419" sz="1600" b="0" dirty="0" err="1">
                          <a:solidFill>
                            <a:srgbClr val="000000"/>
                          </a:solidFill>
                        </a:rPr>
                        <a:t>end</a:t>
                      </a:r>
                      <a:endParaRPr lang="es-419" sz="1600" b="0" dirty="0">
                        <a:solidFill>
                          <a:srgbClr val="000000"/>
                        </a:solidFill>
                      </a:endParaRPr>
                    </a:p>
                  </a:txBody>
                  <a:tcPr/>
                </a:tc>
                <a:extLst>
                  <a:ext uri="{0D108BD9-81ED-4DB2-BD59-A6C34878D82A}">
                    <a16:rowId xmlns:a16="http://schemas.microsoft.com/office/drawing/2014/main" val="10004"/>
                  </a:ext>
                </a:extLst>
              </a:tr>
            </a:tbl>
          </a:graphicData>
        </a:graphic>
      </p:graphicFrame>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0258" y="109727"/>
            <a:ext cx="4533448"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Marcador de número de diapositiva 2">
            <a:extLst>
              <a:ext uri="{FF2B5EF4-FFF2-40B4-BE49-F238E27FC236}">
                <a16:creationId xmlns:a16="http://schemas.microsoft.com/office/drawing/2014/main" id="{15E0E603-35E8-270A-11BB-AFD615708783}"/>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43</a:t>
            </a:fld>
            <a:endParaRPr lang="en-US" sz="800" b="1" kern="0" dirty="0">
              <a:solidFill>
                <a:srgbClr val="00B0F0"/>
              </a:solidFill>
            </a:endParaRPr>
          </a:p>
        </p:txBody>
      </p:sp>
    </p:spTree>
    <p:custDataLst>
      <p:tags r:id="rId1"/>
    </p:custDataLst>
    <p:extLst>
      <p:ext uri="{BB962C8B-B14F-4D97-AF65-F5344CB8AC3E}">
        <p14:creationId xmlns:p14="http://schemas.microsoft.com/office/powerpoint/2010/main" val="26227251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es-419" dirty="0">
                <a:solidFill>
                  <a:srgbClr val="C00000"/>
                </a:solidFill>
              </a:rPr>
              <a:t>Comandos de asignación de puertos de VLAN</a:t>
            </a:r>
            <a:endParaRPr lang="es-419" sz="1600" dirty="0">
              <a:solidFill>
                <a:srgbClr val="C00000"/>
              </a:solidFill>
            </a:endParaRPr>
          </a:p>
        </p:txBody>
      </p:sp>
      <p:sp>
        <p:nvSpPr>
          <p:cNvPr id="13315" name="Content Placeholder 2"/>
          <p:cNvSpPr>
            <a:spLocks noGrp="1"/>
          </p:cNvSpPr>
          <p:nvPr>
            <p:ph idx="1"/>
          </p:nvPr>
        </p:nvSpPr>
        <p:spPr>
          <a:xfrm>
            <a:off x="176260" y="896522"/>
            <a:ext cx="8583692" cy="596998"/>
          </a:xfrm>
        </p:spPr>
        <p:txBody>
          <a:bodyPr/>
          <a:lstStyle/>
          <a:p>
            <a:pPr marL="0" indent="0" rtl="0">
              <a:buNone/>
            </a:pPr>
            <a:r>
              <a:rPr lang="es-419" sz="1800"/>
              <a:t>Una vez creada la VLAN, podemos asignarla a las interfaces correctas.</a:t>
            </a:r>
          </a:p>
          <a:p>
            <a:pPr lvl="1"/>
            <a:endParaRPr lang="en-CA" altLang="en-US" dirty="0"/>
          </a:p>
        </p:txBody>
      </p:sp>
      <p:graphicFrame>
        <p:nvGraphicFramePr>
          <p:cNvPr id="2" name="Table 1"/>
          <p:cNvGraphicFramePr>
            <a:graphicFrameLocks noGrp="1"/>
          </p:cNvGraphicFramePr>
          <p:nvPr>
            <p:extLst>
              <p:ext uri="{D42A27DB-BD31-4B8C-83A1-F6EECF244321}">
                <p14:modId xmlns:p14="http://schemas.microsoft.com/office/powerpoint/2010/main" val="3627596592"/>
              </p:ext>
            </p:extLst>
          </p:nvPr>
        </p:nvGraphicFramePr>
        <p:xfrm>
          <a:off x="283464" y="1838198"/>
          <a:ext cx="8476488" cy="2225040"/>
        </p:xfrm>
        <a:graphic>
          <a:graphicData uri="http://schemas.openxmlformats.org/drawingml/2006/table">
            <a:tbl>
              <a:tblPr firstRow="1" bandRow="1">
                <a:tableStyleId>{21E4AEA4-8DFA-4A89-87EB-49C32662AFE0}</a:tableStyleId>
              </a:tblPr>
              <a:tblGrid>
                <a:gridCol w="4238244">
                  <a:extLst>
                    <a:ext uri="{9D8B030D-6E8A-4147-A177-3AD203B41FA5}">
                      <a16:colId xmlns:a16="http://schemas.microsoft.com/office/drawing/2014/main" val="20000"/>
                    </a:ext>
                  </a:extLst>
                </a:gridCol>
                <a:gridCol w="4238244">
                  <a:extLst>
                    <a:ext uri="{9D8B030D-6E8A-4147-A177-3AD203B41FA5}">
                      <a16:colId xmlns:a16="http://schemas.microsoft.com/office/drawing/2014/main" val="20001"/>
                    </a:ext>
                  </a:extLst>
                </a:gridCol>
              </a:tblGrid>
              <a:tr h="370840">
                <a:tc>
                  <a:txBody>
                    <a:bodyPr/>
                    <a:lstStyle/>
                    <a:p>
                      <a:pPr rtl="0"/>
                      <a:r>
                        <a:rPr lang="es-419" sz="1600"/>
                        <a:t>Tarea </a:t>
                      </a:r>
                    </a:p>
                  </a:txBody>
                  <a:tcPr/>
                </a:tc>
                <a:tc>
                  <a:txBody>
                    <a:bodyPr/>
                    <a:lstStyle/>
                    <a:p>
                      <a:pPr rtl="0"/>
                      <a:r>
                        <a:rPr lang="es-419" sz="1600"/>
                        <a:t>Comando</a:t>
                      </a:r>
                    </a:p>
                  </a:txBody>
                  <a:tcPr/>
                </a:tc>
                <a:extLst>
                  <a:ext uri="{0D108BD9-81ED-4DB2-BD59-A6C34878D82A}">
                    <a16:rowId xmlns:a16="http://schemas.microsoft.com/office/drawing/2014/main" val="10000"/>
                  </a:ext>
                </a:extLst>
              </a:tr>
              <a:tr h="370840">
                <a:tc>
                  <a:txBody>
                    <a:bodyPr/>
                    <a:lstStyle/>
                    <a:p>
                      <a:pPr rtl="0"/>
                      <a:r>
                        <a:rPr lang="es-419"/>
                        <a:t>Ingresa al modo de configuración global.</a:t>
                      </a:r>
                    </a:p>
                  </a:txBody>
                  <a:tcPr anchor="ctr"/>
                </a:tc>
                <a:tc>
                  <a:txBody>
                    <a:bodyPr/>
                    <a:lstStyle/>
                    <a:p>
                      <a:pPr rtl="0"/>
                      <a:r>
                        <a:rPr lang="es-419" dirty="0"/>
                        <a:t>Switch# </a:t>
                      </a:r>
                      <a:r>
                        <a:rPr lang="es-419" b="1" dirty="0"/>
                        <a:t>configure terminal</a:t>
                      </a:r>
                    </a:p>
                  </a:txBody>
                  <a:tcPr anchor="ctr"/>
                </a:tc>
                <a:extLst>
                  <a:ext uri="{0D108BD9-81ED-4DB2-BD59-A6C34878D82A}">
                    <a16:rowId xmlns:a16="http://schemas.microsoft.com/office/drawing/2014/main" val="10001"/>
                  </a:ext>
                </a:extLst>
              </a:tr>
              <a:tr h="370840">
                <a:tc>
                  <a:txBody>
                    <a:bodyPr/>
                    <a:lstStyle/>
                    <a:p>
                      <a:pPr rtl="0"/>
                      <a:r>
                        <a:rPr lang="es-419"/>
                        <a:t>Ingrese el modo de configuración de interfaz.</a:t>
                      </a:r>
                    </a:p>
                  </a:txBody>
                  <a:tcPr anchor="ctr"/>
                </a:tc>
                <a:tc>
                  <a:txBody>
                    <a:bodyPr/>
                    <a:lstStyle/>
                    <a:p>
                      <a:pPr rtl="0"/>
                      <a:r>
                        <a:rPr lang="es-419" dirty="0"/>
                        <a:t>Switch(</a:t>
                      </a:r>
                      <a:r>
                        <a:rPr lang="es-419" dirty="0" err="1"/>
                        <a:t>config</a:t>
                      </a:r>
                      <a:r>
                        <a:rPr lang="es-419" dirty="0"/>
                        <a:t>)# </a:t>
                      </a:r>
                      <a:r>
                        <a:rPr lang="es-419" b="1" dirty="0"/>
                        <a:t>interface </a:t>
                      </a:r>
                      <a:r>
                        <a:rPr lang="es-419" b="1" dirty="0">
                          <a:solidFill>
                            <a:srgbClr val="00B0F0"/>
                          </a:solidFill>
                        </a:rPr>
                        <a:t>interface-id</a:t>
                      </a:r>
                      <a:endParaRPr lang="es-419" b="1" i="1" dirty="0">
                        <a:solidFill>
                          <a:srgbClr val="00B0F0"/>
                        </a:solidFill>
                      </a:endParaRPr>
                    </a:p>
                  </a:txBody>
                  <a:tcPr anchor="ctr"/>
                </a:tc>
                <a:extLst>
                  <a:ext uri="{0D108BD9-81ED-4DB2-BD59-A6C34878D82A}">
                    <a16:rowId xmlns:a16="http://schemas.microsoft.com/office/drawing/2014/main" val="10002"/>
                  </a:ext>
                </a:extLst>
              </a:tr>
              <a:tr h="370840">
                <a:tc>
                  <a:txBody>
                    <a:bodyPr/>
                    <a:lstStyle/>
                    <a:p>
                      <a:pPr rtl="0"/>
                      <a:r>
                        <a:rPr lang="es-419"/>
                        <a:t>Establezca el puerto en modo de acceso.</a:t>
                      </a:r>
                    </a:p>
                  </a:txBody>
                  <a:tcPr anchor="ctr"/>
                </a:tc>
                <a:tc>
                  <a:txBody>
                    <a:bodyPr/>
                    <a:lstStyle/>
                    <a:p>
                      <a:pPr rtl="0"/>
                      <a:r>
                        <a:rPr lang="es-419" dirty="0"/>
                        <a:t>Switch(</a:t>
                      </a:r>
                      <a:r>
                        <a:rPr lang="es-419" dirty="0" err="1"/>
                        <a:t>config-</a:t>
                      </a:r>
                      <a:r>
                        <a:rPr lang="es-419" sz="1600" b="1" dirty="0" err="1">
                          <a:solidFill>
                            <a:srgbClr val="FF0000"/>
                          </a:solidFill>
                          <a:effectLst>
                            <a:outerShdw blurRad="38100" dist="38100" dir="2700000" algn="tl">
                              <a:srgbClr val="000000">
                                <a:alpha val="43137"/>
                              </a:srgbClr>
                            </a:outerShdw>
                          </a:effectLst>
                        </a:rPr>
                        <a:t>if</a:t>
                      </a:r>
                      <a:r>
                        <a:rPr lang="es-419" dirty="0"/>
                        <a:t>)# </a:t>
                      </a:r>
                      <a:r>
                        <a:rPr lang="es-419" b="1" dirty="0" err="1"/>
                        <a:t>switchport</a:t>
                      </a:r>
                      <a:r>
                        <a:rPr lang="es-419" b="1" dirty="0"/>
                        <a:t> </a:t>
                      </a:r>
                      <a:r>
                        <a:rPr lang="es-419" b="1" dirty="0" err="1"/>
                        <a:t>mode</a:t>
                      </a:r>
                      <a:r>
                        <a:rPr lang="es-419" b="1" dirty="0"/>
                        <a:t> </a:t>
                      </a:r>
                      <a:r>
                        <a:rPr lang="es-419" b="1" dirty="0" err="1">
                          <a:solidFill>
                            <a:srgbClr val="00B0F0"/>
                          </a:solidFill>
                        </a:rPr>
                        <a:t>access</a:t>
                      </a:r>
                      <a:endParaRPr lang="es-419" b="1" dirty="0">
                        <a:solidFill>
                          <a:srgbClr val="00B0F0"/>
                        </a:solidFill>
                      </a:endParaRPr>
                    </a:p>
                  </a:txBody>
                  <a:tcPr anchor="ctr"/>
                </a:tc>
                <a:extLst>
                  <a:ext uri="{0D108BD9-81ED-4DB2-BD59-A6C34878D82A}">
                    <a16:rowId xmlns:a16="http://schemas.microsoft.com/office/drawing/2014/main" val="10003"/>
                  </a:ext>
                </a:extLst>
              </a:tr>
              <a:tr h="370840">
                <a:tc>
                  <a:txBody>
                    <a:bodyPr/>
                    <a:lstStyle/>
                    <a:p>
                      <a:pPr rtl="0"/>
                      <a:r>
                        <a:rPr lang="es-419"/>
                        <a:t>Asigne el puerto a una VLAN.</a:t>
                      </a:r>
                    </a:p>
                  </a:txBody>
                  <a:tcPr anchor="ctr"/>
                </a:tc>
                <a:tc>
                  <a:txBody>
                    <a:bodyPr/>
                    <a:lstStyle/>
                    <a:p>
                      <a:pPr rtl="0"/>
                      <a:r>
                        <a:rPr lang="es-419" dirty="0"/>
                        <a:t>Switch(</a:t>
                      </a:r>
                      <a:r>
                        <a:rPr lang="es-419" dirty="0" err="1"/>
                        <a:t>config-if</a:t>
                      </a:r>
                      <a:r>
                        <a:rPr lang="es-419" dirty="0"/>
                        <a:t>)# </a:t>
                      </a:r>
                      <a:r>
                        <a:rPr lang="es-419" b="1" dirty="0" err="1"/>
                        <a:t>switchport</a:t>
                      </a:r>
                      <a:r>
                        <a:rPr lang="es-419" b="1" dirty="0"/>
                        <a:t> </a:t>
                      </a:r>
                      <a:r>
                        <a:rPr lang="es-419" b="1" dirty="0" err="1"/>
                        <a:t>access</a:t>
                      </a:r>
                      <a:r>
                        <a:rPr lang="es-419" b="1" dirty="0"/>
                        <a:t> </a:t>
                      </a:r>
                      <a:r>
                        <a:rPr lang="es-419" b="1" dirty="0" err="1"/>
                        <a:t>vlan</a:t>
                      </a:r>
                      <a:r>
                        <a:rPr lang="es-419" dirty="0"/>
                        <a:t> </a:t>
                      </a:r>
                      <a:r>
                        <a:rPr lang="es-419" b="1" dirty="0" err="1">
                          <a:solidFill>
                            <a:srgbClr val="00B0F0"/>
                          </a:solidFill>
                        </a:rPr>
                        <a:t>vlan</a:t>
                      </a:r>
                      <a:r>
                        <a:rPr lang="es-419" b="1" dirty="0">
                          <a:solidFill>
                            <a:srgbClr val="00B0F0"/>
                          </a:solidFill>
                        </a:rPr>
                        <a:t>-id</a:t>
                      </a:r>
                      <a:endParaRPr lang="es-419" b="1" i="1" dirty="0">
                        <a:solidFill>
                          <a:srgbClr val="00B0F0"/>
                        </a:solidFill>
                      </a:endParaRPr>
                    </a:p>
                  </a:txBody>
                  <a:tcPr anchor="ctr"/>
                </a:tc>
                <a:extLst>
                  <a:ext uri="{0D108BD9-81ED-4DB2-BD59-A6C34878D82A}">
                    <a16:rowId xmlns:a16="http://schemas.microsoft.com/office/drawing/2014/main" val="10004"/>
                  </a:ext>
                </a:extLst>
              </a:tr>
              <a:tr h="370840">
                <a:tc>
                  <a:txBody>
                    <a:bodyPr/>
                    <a:lstStyle/>
                    <a:p>
                      <a:pPr rtl="0"/>
                      <a:r>
                        <a:rPr lang="es-419"/>
                        <a:t>Vuelva al modo EXEC con privilegios.</a:t>
                      </a:r>
                    </a:p>
                  </a:txBody>
                  <a:tcPr anchor="ctr"/>
                </a:tc>
                <a:tc>
                  <a:txBody>
                    <a:bodyPr/>
                    <a:lstStyle/>
                    <a:p>
                      <a:pPr rtl="0"/>
                      <a:r>
                        <a:rPr lang="es-419" dirty="0"/>
                        <a:t>Switch(</a:t>
                      </a:r>
                      <a:r>
                        <a:rPr lang="es-419" dirty="0" err="1"/>
                        <a:t>config-if</a:t>
                      </a:r>
                      <a:r>
                        <a:rPr lang="es-419" dirty="0"/>
                        <a:t>)# </a:t>
                      </a:r>
                      <a:r>
                        <a:rPr lang="es-419" b="0" dirty="0" err="1">
                          <a:solidFill>
                            <a:srgbClr val="000000"/>
                          </a:solidFill>
                        </a:rPr>
                        <a:t>end</a:t>
                      </a:r>
                      <a:endParaRPr lang="es-419" b="0" dirty="0">
                        <a:solidFill>
                          <a:srgbClr val="000000"/>
                        </a:solidFill>
                      </a:endParaRPr>
                    </a:p>
                  </a:txBody>
                  <a:tcPr anchor="ctr"/>
                </a:tc>
                <a:extLst>
                  <a:ext uri="{0D108BD9-81ED-4DB2-BD59-A6C34878D82A}">
                    <a16:rowId xmlns:a16="http://schemas.microsoft.com/office/drawing/2014/main" val="10005"/>
                  </a:ext>
                </a:extLst>
              </a:tr>
            </a:tbl>
          </a:graphicData>
        </a:graphic>
      </p:graphicFrame>
      <p:sp>
        <p:nvSpPr>
          <p:cNvPr id="3" name="Marcador de número de diapositiva 2">
            <a:extLst>
              <a:ext uri="{FF2B5EF4-FFF2-40B4-BE49-F238E27FC236}">
                <a16:creationId xmlns:a16="http://schemas.microsoft.com/office/drawing/2014/main" id="{2BA7474A-6B6C-7CCF-5A89-941D0391D977}"/>
              </a:ext>
            </a:extLst>
          </p:cNvPr>
          <p:cNvSpPr>
            <a:spLocks noGrp="1"/>
          </p:cNvSpPr>
          <p:nvPr>
            <p:ph type="sldNum" sz="quarter" idx="4"/>
          </p:nvPr>
        </p:nvSpPr>
        <p:spPr/>
        <p:txBody>
          <a:bodyPr/>
          <a:lstStyle/>
          <a:p>
            <a:pPr defTabSz="385763">
              <a:defRPr/>
            </a:pPr>
            <a:fld id="{2F5CCB13-0A32-4557-88E9-079F0C330695}" type="slidenum">
              <a:rPr lang="en-US" sz="800" kern="0" smtClean="0">
                <a:solidFill>
                  <a:srgbClr val="00B0F0"/>
                </a:solidFill>
              </a:rPr>
              <a:pPr defTabSz="385763">
                <a:defRPr/>
              </a:pPr>
              <a:t>44</a:t>
            </a:fld>
            <a:endParaRPr lang="en-US" sz="800" kern="0" dirty="0">
              <a:solidFill>
                <a:srgbClr val="00B0F0"/>
              </a:solidFill>
            </a:endParaRPr>
          </a:p>
        </p:txBody>
      </p:sp>
    </p:spTree>
    <p:custDataLst>
      <p:tags r:id="rId1"/>
    </p:custDataLst>
    <p:extLst>
      <p:ext uri="{BB962C8B-B14F-4D97-AF65-F5344CB8AC3E}">
        <p14:creationId xmlns:p14="http://schemas.microsoft.com/office/powerpoint/2010/main" val="26600413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es-419" dirty="0">
                <a:solidFill>
                  <a:srgbClr val="C00000"/>
                </a:solidFill>
              </a:rPr>
              <a:t>Ejemplo de asignación de puerto VLAN</a:t>
            </a:r>
          </a:p>
        </p:txBody>
      </p:sp>
      <p:sp>
        <p:nvSpPr>
          <p:cNvPr id="13315" name="Content Placeholder 2"/>
          <p:cNvSpPr>
            <a:spLocks noGrp="1"/>
          </p:cNvSpPr>
          <p:nvPr>
            <p:ph idx="1"/>
          </p:nvPr>
        </p:nvSpPr>
        <p:spPr>
          <a:xfrm>
            <a:off x="164517" y="1354716"/>
            <a:ext cx="4361340" cy="2942054"/>
          </a:xfrm>
        </p:spPr>
        <p:txBody>
          <a:bodyPr/>
          <a:lstStyle/>
          <a:p>
            <a:pPr marL="0" indent="0" rtl="0">
              <a:buNone/>
            </a:pPr>
            <a:r>
              <a:rPr lang="es-419" sz="1800" dirty="0"/>
              <a:t>Podemos asignar la VLAN a la interfaz del puerto.</a:t>
            </a:r>
          </a:p>
          <a:p>
            <a:pPr rtl="0">
              <a:buFont typeface="Arial" panose="020B0604020202020204" pitchFamily="34" charset="0"/>
              <a:buChar char="•"/>
            </a:pPr>
            <a:r>
              <a:rPr lang="es-419" sz="1800" dirty="0"/>
              <a:t>Una vez que el dispositivo se asigna la VLAN, el dispositivo final necesitará la información de dirección IP para esa VLAN</a:t>
            </a:r>
          </a:p>
          <a:p>
            <a:pPr rtl="0">
              <a:buFont typeface="Arial" panose="020B0604020202020204" pitchFamily="34" charset="0"/>
              <a:buChar char="•"/>
            </a:pPr>
            <a:r>
              <a:rPr lang="es-419" sz="1800" dirty="0"/>
              <a:t>Aquí, </a:t>
            </a:r>
            <a:r>
              <a:rPr lang="es-419" sz="1800" dirty="0" err="1"/>
              <a:t>Student</a:t>
            </a:r>
            <a:r>
              <a:rPr lang="es-419" sz="1800" dirty="0"/>
              <a:t> PC recibe 172.17.20.22</a:t>
            </a:r>
          </a:p>
        </p:txBody>
      </p:sp>
      <p:graphicFrame>
        <p:nvGraphicFramePr>
          <p:cNvPr id="2" name="Table 1"/>
          <p:cNvGraphicFramePr>
            <a:graphicFrameLocks noGrp="1"/>
          </p:cNvGraphicFramePr>
          <p:nvPr>
            <p:extLst>
              <p:ext uri="{D42A27DB-BD31-4B8C-83A1-F6EECF244321}">
                <p14:modId xmlns:p14="http://schemas.microsoft.com/office/powerpoint/2010/main" val="3991516700"/>
              </p:ext>
            </p:extLst>
          </p:nvPr>
        </p:nvGraphicFramePr>
        <p:xfrm>
          <a:off x="4572000" y="2546550"/>
          <a:ext cx="4453719" cy="2225040"/>
        </p:xfrm>
        <a:graphic>
          <a:graphicData uri="http://schemas.openxmlformats.org/drawingml/2006/table">
            <a:tbl>
              <a:tblPr firstRow="1" bandRow="1">
                <a:tableStyleId>{21E4AEA4-8DFA-4A89-87EB-49C32662AFE0}</a:tableStyleId>
              </a:tblPr>
              <a:tblGrid>
                <a:gridCol w="1754987">
                  <a:extLst>
                    <a:ext uri="{9D8B030D-6E8A-4147-A177-3AD203B41FA5}">
                      <a16:colId xmlns:a16="http://schemas.microsoft.com/office/drawing/2014/main" val="20000"/>
                    </a:ext>
                  </a:extLst>
                </a:gridCol>
                <a:gridCol w="2698732">
                  <a:extLst>
                    <a:ext uri="{9D8B030D-6E8A-4147-A177-3AD203B41FA5}">
                      <a16:colId xmlns:a16="http://schemas.microsoft.com/office/drawing/2014/main" val="20001"/>
                    </a:ext>
                  </a:extLst>
                </a:gridCol>
              </a:tblGrid>
              <a:tr h="370840">
                <a:tc>
                  <a:txBody>
                    <a:bodyPr/>
                    <a:lstStyle/>
                    <a:p>
                      <a:pPr rtl="0"/>
                      <a:r>
                        <a:rPr lang="es-419" sz="1600"/>
                        <a:t>Indicador</a:t>
                      </a:r>
                    </a:p>
                  </a:txBody>
                  <a:tcPr/>
                </a:tc>
                <a:tc>
                  <a:txBody>
                    <a:bodyPr/>
                    <a:lstStyle/>
                    <a:p>
                      <a:pPr rtl="0"/>
                      <a:r>
                        <a:rPr lang="es-419" sz="1600"/>
                        <a:t>Comando</a:t>
                      </a:r>
                    </a:p>
                  </a:txBody>
                  <a:tcPr/>
                </a:tc>
                <a:extLst>
                  <a:ext uri="{0D108BD9-81ED-4DB2-BD59-A6C34878D82A}">
                    <a16:rowId xmlns:a16="http://schemas.microsoft.com/office/drawing/2014/main" val="10000"/>
                  </a:ext>
                </a:extLst>
              </a:tr>
              <a:tr h="370840">
                <a:tc>
                  <a:txBody>
                    <a:bodyPr/>
                    <a:lstStyle/>
                    <a:p>
                      <a:pPr rtl="0"/>
                      <a:r>
                        <a:rPr lang="es-419" sz="1600"/>
                        <a:t>S1#</a:t>
                      </a:r>
                    </a:p>
                  </a:txBody>
                  <a:tcPr/>
                </a:tc>
                <a:tc>
                  <a:txBody>
                    <a:bodyPr/>
                    <a:lstStyle/>
                    <a:p>
                      <a:pPr rtl="0"/>
                      <a:r>
                        <a:rPr lang="es-419" sz="1600" dirty="0"/>
                        <a:t>Configure terminal</a:t>
                      </a:r>
                    </a:p>
                  </a:txBody>
                  <a:tcPr/>
                </a:tc>
                <a:extLst>
                  <a:ext uri="{0D108BD9-81ED-4DB2-BD59-A6C34878D82A}">
                    <a16:rowId xmlns:a16="http://schemas.microsoft.com/office/drawing/2014/main" val="10001"/>
                  </a:ext>
                </a:extLst>
              </a:tr>
              <a:tr h="370840">
                <a:tc>
                  <a:txBody>
                    <a:bodyPr/>
                    <a:lstStyle/>
                    <a:p>
                      <a:pPr rtl="0"/>
                      <a:r>
                        <a:rPr lang="es-419" sz="1600" dirty="0"/>
                        <a:t>S1(</a:t>
                      </a:r>
                      <a:r>
                        <a:rPr lang="es-419" sz="1600" dirty="0" err="1"/>
                        <a:t>config</a:t>
                      </a:r>
                      <a:r>
                        <a:rPr lang="es-419" sz="1600" dirty="0"/>
                        <a:t>)#</a:t>
                      </a:r>
                    </a:p>
                  </a:txBody>
                  <a:tcPr/>
                </a:tc>
                <a:tc>
                  <a:txBody>
                    <a:bodyPr/>
                    <a:lstStyle/>
                    <a:p>
                      <a:pPr rtl="0"/>
                      <a:r>
                        <a:rPr lang="es-419" sz="1600" dirty="0"/>
                        <a:t>Interface</a:t>
                      </a:r>
                      <a:r>
                        <a:rPr lang="es-419" sz="1600" baseline="0" dirty="0"/>
                        <a:t> </a:t>
                      </a:r>
                      <a:r>
                        <a:rPr lang="es-419" sz="1600" b="1" baseline="0" dirty="0">
                          <a:solidFill>
                            <a:srgbClr val="00B0F0"/>
                          </a:solidFill>
                        </a:rPr>
                        <a:t>fa0/18</a:t>
                      </a:r>
                    </a:p>
                  </a:txBody>
                  <a:tcPr/>
                </a:tc>
                <a:extLst>
                  <a:ext uri="{0D108BD9-81ED-4DB2-BD59-A6C34878D82A}">
                    <a16:rowId xmlns:a16="http://schemas.microsoft.com/office/drawing/2014/main" val="10002"/>
                  </a:ext>
                </a:extLst>
              </a:tr>
              <a:tr h="370840">
                <a:tc>
                  <a:txBody>
                    <a:bodyPr/>
                    <a:lstStyle/>
                    <a:p>
                      <a:pPr rtl="0"/>
                      <a:r>
                        <a:rPr lang="es-419" sz="1600" dirty="0"/>
                        <a:t>S1(</a:t>
                      </a:r>
                      <a:r>
                        <a:rPr lang="es-419" sz="1600" dirty="0" err="1"/>
                        <a:t>config</a:t>
                      </a:r>
                      <a:r>
                        <a:rPr lang="es-419" sz="1600" dirty="0" err="1">
                          <a:solidFill>
                            <a:srgbClr val="FF0000"/>
                          </a:solidFill>
                        </a:rPr>
                        <a:t>-if</a:t>
                      </a:r>
                      <a:r>
                        <a:rPr lang="es-419" sz="1600" dirty="0"/>
                        <a:t>)#</a:t>
                      </a:r>
                    </a:p>
                  </a:txBody>
                  <a:tcPr/>
                </a:tc>
                <a:tc>
                  <a:txBody>
                    <a:bodyPr/>
                    <a:lstStyle/>
                    <a:p>
                      <a:pPr rtl="0"/>
                      <a:r>
                        <a:rPr lang="es-419" sz="1600" dirty="0" err="1"/>
                        <a:t>Switchport</a:t>
                      </a:r>
                      <a:r>
                        <a:rPr lang="es-419" sz="1600" dirty="0"/>
                        <a:t> </a:t>
                      </a:r>
                      <a:r>
                        <a:rPr lang="es-419" sz="1600" dirty="0" err="1"/>
                        <a:t>mode</a:t>
                      </a:r>
                      <a:r>
                        <a:rPr lang="es-419" sz="1600" baseline="0" dirty="0"/>
                        <a:t> </a:t>
                      </a:r>
                      <a:r>
                        <a:rPr lang="es-419" sz="1600" baseline="0" dirty="0" err="1"/>
                        <a:t>access</a:t>
                      </a:r>
                      <a:endParaRPr lang="es-419" sz="1600" baseline="0" dirty="0"/>
                    </a:p>
                  </a:txBody>
                  <a:tcPr/>
                </a:tc>
                <a:extLst>
                  <a:ext uri="{0D108BD9-81ED-4DB2-BD59-A6C34878D82A}">
                    <a16:rowId xmlns:a16="http://schemas.microsoft.com/office/drawing/2014/main" val="10003"/>
                  </a:ext>
                </a:extLst>
              </a:tr>
              <a:tr h="370840">
                <a:tc>
                  <a:txBody>
                    <a:bodyPr/>
                    <a:lstStyle/>
                    <a:p>
                      <a:pPr rtl="0"/>
                      <a:r>
                        <a:rPr lang="es-419" sz="1600"/>
                        <a:t>S1(config-if)#</a:t>
                      </a:r>
                    </a:p>
                  </a:txBody>
                  <a:tcPr/>
                </a:tc>
                <a:tc>
                  <a:txBody>
                    <a:bodyPr/>
                    <a:lstStyle/>
                    <a:p>
                      <a:pPr rtl="0"/>
                      <a:r>
                        <a:rPr lang="es-419" sz="1600" dirty="0" err="1"/>
                        <a:t>Switchport</a:t>
                      </a:r>
                      <a:r>
                        <a:rPr lang="es-419" sz="1600" baseline="0" dirty="0"/>
                        <a:t> </a:t>
                      </a:r>
                      <a:r>
                        <a:rPr lang="es-419" sz="1600" baseline="0" dirty="0" err="1"/>
                        <a:t>access</a:t>
                      </a:r>
                      <a:r>
                        <a:rPr lang="es-419" sz="1600" baseline="0" dirty="0"/>
                        <a:t> </a:t>
                      </a:r>
                      <a:r>
                        <a:rPr lang="es-419" sz="1600" baseline="0" dirty="0" err="1"/>
                        <a:t>vlan</a:t>
                      </a:r>
                      <a:r>
                        <a:rPr lang="es-419" sz="1600" baseline="0" dirty="0"/>
                        <a:t> </a:t>
                      </a:r>
                      <a:r>
                        <a:rPr lang="es-419" sz="1600" b="1" baseline="0" dirty="0">
                          <a:solidFill>
                            <a:srgbClr val="00B0F0"/>
                          </a:solidFill>
                        </a:rPr>
                        <a:t>20</a:t>
                      </a:r>
                    </a:p>
                  </a:txBody>
                  <a:tcPr/>
                </a:tc>
                <a:extLst>
                  <a:ext uri="{0D108BD9-81ED-4DB2-BD59-A6C34878D82A}">
                    <a16:rowId xmlns:a16="http://schemas.microsoft.com/office/drawing/2014/main" val="10004"/>
                  </a:ext>
                </a:extLst>
              </a:tr>
              <a:tr h="370840">
                <a:tc>
                  <a:txBody>
                    <a:bodyPr/>
                    <a:lstStyle/>
                    <a:p>
                      <a:pPr rtl="0"/>
                      <a:r>
                        <a:rPr lang="es-419" sz="1600"/>
                        <a:t>S1(config-if)#</a:t>
                      </a:r>
                    </a:p>
                  </a:txBody>
                  <a:tcPr/>
                </a:tc>
                <a:tc>
                  <a:txBody>
                    <a:bodyPr/>
                    <a:lstStyle/>
                    <a:p>
                      <a:pPr rtl="0"/>
                      <a:r>
                        <a:rPr lang="es-419" sz="1600" b="0" dirty="0" err="1">
                          <a:solidFill>
                            <a:srgbClr val="000000"/>
                          </a:solidFill>
                        </a:rPr>
                        <a:t>end</a:t>
                      </a:r>
                      <a:endParaRPr lang="es-419" sz="1600" b="0" dirty="0">
                        <a:solidFill>
                          <a:srgbClr val="000000"/>
                        </a:solidFill>
                      </a:endParaRPr>
                    </a:p>
                  </a:txBody>
                  <a:tcPr/>
                </a:tc>
                <a:extLst>
                  <a:ext uri="{0D108BD9-81ED-4DB2-BD59-A6C34878D82A}">
                    <a16:rowId xmlns:a16="http://schemas.microsoft.com/office/drawing/2014/main" val="10005"/>
                  </a:ext>
                </a:extLst>
              </a:tr>
            </a:tbl>
          </a:graphicData>
        </a:graphic>
      </p:graphicFrame>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0071" y="263857"/>
            <a:ext cx="3643928" cy="2136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Marcador de número de diapositiva 2">
            <a:extLst>
              <a:ext uri="{FF2B5EF4-FFF2-40B4-BE49-F238E27FC236}">
                <a16:creationId xmlns:a16="http://schemas.microsoft.com/office/drawing/2014/main" id="{B8A97189-32F3-8B57-1B5C-D2A2742FDA30}"/>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45</a:t>
            </a:fld>
            <a:endParaRPr lang="en-US" sz="800" b="1" kern="0" dirty="0">
              <a:solidFill>
                <a:srgbClr val="00B0F0"/>
              </a:solidFill>
            </a:endParaRPr>
          </a:p>
        </p:txBody>
      </p:sp>
      <p:sp>
        <p:nvSpPr>
          <p:cNvPr id="5" name="CuadroTexto 4">
            <a:extLst>
              <a:ext uri="{FF2B5EF4-FFF2-40B4-BE49-F238E27FC236}">
                <a16:creationId xmlns:a16="http://schemas.microsoft.com/office/drawing/2014/main" id="{0369FB99-71F2-030C-EB64-113D1A7717B3}"/>
              </a:ext>
            </a:extLst>
          </p:cNvPr>
          <p:cNvSpPr txBox="1"/>
          <p:nvPr/>
        </p:nvSpPr>
        <p:spPr>
          <a:xfrm>
            <a:off x="1099038" y="4452432"/>
            <a:ext cx="3085211" cy="400110"/>
          </a:xfrm>
          <a:prstGeom prst="rect">
            <a:avLst/>
          </a:prstGeom>
          <a:solidFill>
            <a:srgbClr val="FFFF00"/>
          </a:solidFill>
        </p:spPr>
        <p:txBody>
          <a:bodyPr wrap="square" rtlCol="0">
            <a:spAutoFit/>
          </a:bodyPr>
          <a:lstStyle/>
          <a:p>
            <a:pPr algn="ctr"/>
            <a:r>
              <a:rPr lang="es-PE" sz="2000" dirty="0" err="1">
                <a:solidFill>
                  <a:srgbClr val="FF0000"/>
                </a:solidFill>
              </a:rPr>
              <a:t>Switch#show</a:t>
            </a:r>
            <a:r>
              <a:rPr lang="es-PE" sz="2000" dirty="0">
                <a:solidFill>
                  <a:srgbClr val="FF0000"/>
                </a:solidFill>
              </a:rPr>
              <a:t> </a:t>
            </a:r>
            <a:r>
              <a:rPr lang="es-PE" sz="2000" dirty="0" err="1">
                <a:solidFill>
                  <a:srgbClr val="FF0000"/>
                </a:solidFill>
              </a:rPr>
              <a:t>vlan</a:t>
            </a:r>
            <a:r>
              <a:rPr lang="es-PE" sz="2000" dirty="0">
                <a:solidFill>
                  <a:srgbClr val="FF0000"/>
                </a:solidFill>
              </a:rPr>
              <a:t> </a:t>
            </a:r>
            <a:r>
              <a:rPr lang="es-PE" sz="2000" dirty="0" err="1">
                <a:solidFill>
                  <a:srgbClr val="FF0000"/>
                </a:solidFill>
              </a:rPr>
              <a:t>brief</a:t>
            </a:r>
            <a:endParaRPr lang="es-PE" sz="2000" dirty="0">
              <a:solidFill>
                <a:srgbClr val="FF0000"/>
              </a:solidFill>
            </a:endParaRPr>
          </a:p>
        </p:txBody>
      </p:sp>
    </p:spTree>
    <p:custDataLst>
      <p:tags r:id="rId1"/>
    </p:custDataLst>
    <p:extLst>
      <p:ext uri="{BB962C8B-B14F-4D97-AF65-F5344CB8AC3E}">
        <p14:creationId xmlns:p14="http://schemas.microsoft.com/office/powerpoint/2010/main" val="15327525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es-419" dirty="0">
                <a:solidFill>
                  <a:srgbClr val="C00000"/>
                </a:solidFill>
              </a:rPr>
              <a:t>Ejemplo de Configuración de VLAN</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0071" y="263857"/>
            <a:ext cx="3643928" cy="2136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Marcador de número de diapositiva 2">
            <a:extLst>
              <a:ext uri="{FF2B5EF4-FFF2-40B4-BE49-F238E27FC236}">
                <a16:creationId xmlns:a16="http://schemas.microsoft.com/office/drawing/2014/main" id="{B8A97189-32F3-8B57-1B5C-D2A2742FDA30}"/>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46</a:t>
            </a:fld>
            <a:endParaRPr lang="en-US" sz="800" b="1" kern="0" dirty="0">
              <a:solidFill>
                <a:srgbClr val="00B0F0"/>
              </a:solidFill>
            </a:endParaRPr>
          </a:p>
        </p:txBody>
      </p:sp>
      <p:sp>
        <p:nvSpPr>
          <p:cNvPr id="5" name="CuadroTexto 4">
            <a:extLst>
              <a:ext uri="{FF2B5EF4-FFF2-40B4-BE49-F238E27FC236}">
                <a16:creationId xmlns:a16="http://schemas.microsoft.com/office/drawing/2014/main" id="{BD267430-150C-D0DC-2E1A-ACB8E6C14F0E}"/>
              </a:ext>
            </a:extLst>
          </p:cNvPr>
          <p:cNvSpPr txBox="1"/>
          <p:nvPr/>
        </p:nvSpPr>
        <p:spPr>
          <a:xfrm>
            <a:off x="5265467" y="1332276"/>
            <a:ext cx="1440133" cy="276999"/>
          </a:xfrm>
          <a:prstGeom prst="rect">
            <a:avLst/>
          </a:prstGeom>
          <a:solidFill>
            <a:schemeClr val="bg1"/>
          </a:solidFill>
        </p:spPr>
        <p:txBody>
          <a:bodyPr wrap="square" rtlCol="0">
            <a:spAutoFit/>
          </a:bodyPr>
          <a:lstStyle/>
          <a:p>
            <a:r>
              <a:rPr lang="es-PE" sz="1200" b="1" dirty="0"/>
              <a:t>192.168.1.10 /24</a:t>
            </a:r>
          </a:p>
        </p:txBody>
      </p:sp>
      <p:sp>
        <p:nvSpPr>
          <p:cNvPr id="7" name="CuadroTexto 6">
            <a:extLst>
              <a:ext uri="{FF2B5EF4-FFF2-40B4-BE49-F238E27FC236}">
                <a16:creationId xmlns:a16="http://schemas.microsoft.com/office/drawing/2014/main" id="{B159EE46-562F-A0B2-A5D2-4CDB33E85FB6}"/>
              </a:ext>
            </a:extLst>
          </p:cNvPr>
          <p:cNvSpPr txBox="1"/>
          <p:nvPr/>
        </p:nvSpPr>
        <p:spPr>
          <a:xfrm>
            <a:off x="7046660" y="3463551"/>
            <a:ext cx="1440133" cy="276999"/>
          </a:xfrm>
          <a:prstGeom prst="rect">
            <a:avLst/>
          </a:prstGeom>
          <a:solidFill>
            <a:schemeClr val="bg1"/>
          </a:solidFill>
        </p:spPr>
        <p:txBody>
          <a:bodyPr wrap="square" rtlCol="0">
            <a:spAutoFit/>
          </a:bodyPr>
          <a:lstStyle/>
          <a:p>
            <a:r>
              <a:rPr lang="es-PE" sz="1200" b="1" dirty="0"/>
              <a:t>192.168.2.15 /24</a:t>
            </a:r>
          </a:p>
        </p:txBody>
      </p:sp>
      <p:sp>
        <p:nvSpPr>
          <p:cNvPr id="10" name="CuadroTexto 9">
            <a:extLst>
              <a:ext uri="{FF2B5EF4-FFF2-40B4-BE49-F238E27FC236}">
                <a16:creationId xmlns:a16="http://schemas.microsoft.com/office/drawing/2014/main" id="{FEDCB262-065A-C1B9-2E2E-09B98BFCC427}"/>
              </a:ext>
            </a:extLst>
          </p:cNvPr>
          <p:cNvSpPr txBox="1"/>
          <p:nvPr/>
        </p:nvSpPr>
        <p:spPr>
          <a:xfrm>
            <a:off x="6555848" y="1693239"/>
            <a:ext cx="766187" cy="276999"/>
          </a:xfrm>
          <a:prstGeom prst="rect">
            <a:avLst/>
          </a:prstGeom>
          <a:solidFill>
            <a:schemeClr val="bg1"/>
          </a:solidFill>
        </p:spPr>
        <p:txBody>
          <a:bodyPr wrap="square" rtlCol="0">
            <a:spAutoFit/>
          </a:bodyPr>
          <a:lstStyle/>
          <a:p>
            <a:r>
              <a:rPr lang="es-PE" sz="1200" b="1" dirty="0"/>
              <a:t>Fa 0/4</a:t>
            </a:r>
          </a:p>
        </p:txBody>
      </p:sp>
      <p:pic>
        <p:nvPicPr>
          <p:cNvPr id="12" name="Picture 2">
            <a:extLst>
              <a:ext uri="{FF2B5EF4-FFF2-40B4-BE49-F238E27FC236}">
                <a16:creationId xmlns:a16="http://schemas.microsoft.com/office/drawing/2014/main" id="{F4C6BB2D-FD09-3268-511B-CF9DEFFF92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4547" r="79918" b="12168"/>
          <a:stretch/>
        </p:blipFill>
        <p:spPr bwMode="auto">
          <a:xfrm>
            <a:off x="7280807" y="2916330"/>
            <a:ext cx="731762" cy="497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ectángulo 14">
            <a:extLst>
              <a:ext uri="{FF2B5EF4-FFF2-40B4-BE49-F238E27FC236}">
                <a16:creationId xmlns:a16="http://schemas.microsoft.com/office/drawing/2014/main" id="{2291BD05-36B4-2011-E1E1-EE1B8BC7D1E2}"/>
              </a:ext>
            </a:extLst>
          </p:cNvPr>
          <p:cNvSpPr/>
          <p:nvPr/>
        </p:nvSpPr>
        <p:spPr>
          <a:xfrm>
            <a:off x="7225294" y="2073815"/>
            <a:ext cx="961814" cy="49754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14" name="Conector recto 13">
            <a:extLst>
              <a:ext uri="{FF2B5EF4-FFF2-40B4-BE49-F238E27FC236}">
                <a16:creationId xmlns:a16="http://schemas.microsoft.com/office/drawing/2014/main" id="{503A49E6-3597-D581-A28E-EC3D0E053609}"/>
              </a:ext>
            </a:extLst>
          </p:cNvPr>
          <p:cNvCxnSpPr>
            <a:stCxn id="12" idx="0"/>
          </p:cNvCxnSpPr>
          <p:nvPr/>
        </p:nvCxnSpPr>
        <p:spPr>
          <a:xfrm flipV="1">
            <a:off x="7646688" y="2054317"/>
            <a:ext cx="6591" cy="86201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5D75620D-FF24-1D7D-5982-6C96A4AD98AF}"/>
              </a:ext>
            </a:extLst>
          </p:cNvPr>
          <p:cNvSpPr txBox="1"/>
          <p:nvPr/>
        </p:nvSpPr>
        <p:spPr>
          <a:xfrm>
            <a:off x="6555846" y="1666021"/>
            <a:ext cx="766187" cy="276999"/>
          </a:xfrm>
          <a:prstGeom prst="rect">
            <a:avLst/>
          </a:prstGeom>
          <a:solidFill>
            <a:schemeClr val="bg1"/>
          </a:solidFill>
        </p:spPr>
        <p:txBody>
          <a:bodyPr wrap="square" rtlCol="0">
            <a:spAutoFit/>
          </a:bodyPr>
          <a:lstStyle/>
          <a:p>
            <a:r>
              <a:rPr lang="es-PE" sz="1200" b="1" dirty="0"/>
              <a:t>Fa 0/4</a:t>
            </a:r>
          </a:p>
        </p:txBody>
      </p:sp>
      <p:sp>
        <p:nvSpPr>
          <p:cNvPr id="18" name="CuadroTexto 17">
            <a:extLst>
              <a:ext uri="{FF2B5EF4-FFF2-40B4-BE49-F238E27FC236}">
                <a16:creationId xmlns:a16="http://schemas.microsoft.com/office/drawing/2014/main" id="{7533E7E3-A8CD-5E8C-D58D-724B68F11ABA}"/>
              </a:ext>
            </a:extLst>
          </p:cNvPr>
          <p:cNvSpPr txBox="1"/>
          <p:nvPr/>
        </p:nvSpPr>
        <p:spPr>
          <a:xfrm>
            <a:off x="7720606" y="2111879"/>
            <a:ext cx="766187" cy="276999"/>
          </a:xfrm>
          <a:prstGeom prst="rect">
            <a:avLst/>
          </a:prstGeom>
          <a:solidFill>
            <a:schemeClr val="bg1"/>
          </a:solidFill>
        </p:spPr>
        <p:txBody>
          <a:bodyPr wrap="square" rtlCol="0">
            <a:spAutoFit/>
          </a:bodyPr>
          <a:lstStyle/>
          <a:p>
            <a:r>
              <a:rPr lang="es-PE" sz="1200" b="1" dirty="0"/>
              <a:t>Fa 0/10</a:t>
            </a:r>
          </a:p>
        </p:txBody>
      </p:sp>
      <p:sp>
        <p:nvSpPr>
          <p:cNvPr id="19" name="Elipse 18">
            <a:extLst>
              <a:ext uri="{FF2B5EF4-FFF2-40B4-BE49-F238E27FC236}">
                <a16:creationId xmlns:a16="http://schemas.microsoft.com/office/drawing/2014/main" id="{82DC9403-15D4-B8CB-DBD8-8D824A75B802}"/>
              </a:ext>
            </a:extLst>
          </p:cNvPr>
          <p:cNvSpPr/>
          <p:nvPr/>
        </p:nvSpPr>
        <p:spPr>
          <a:xfrm>
            <a:off x="4748182" y="1021408"/>
            <a:ext cx="2621340" cy="1821633"/>
          </a:xfrm>
          <a:prstGeom prst="ellipse">
            <a:avLst/>
          </a:prstGeom>
          <a:solidFill>
            <a:srgbClr val="36A4D7">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0" name="CuadroTexto 19">
            <a:extLst>
              <a:ext uri="{FF2B5EF4-FFF2-40B4-BE49-F238E27FC236}">
                <a16:creationId xmlns:a16="http://schemas.microsoft.com/office/drawing/2014/main" id="{1B286C87-221F-B5F2-6784-01BE5AEED9FC}"/>
              </a:ext>
            </a:extLst>
          </p:cNvPr>
          <p:cNvSpPr txBox="1"/>
          <p:nvPr/>
        </p:nvSpPr>
        <p:spPr>
          <a:xfrm>
            <a:off x="5025957" y="2216029"/>
            <a:ext cx="1792685" cy="646331"/>
          </a:xfrm>
          <a:prstGeom prst="rect">
            <a:avLst/>
          </a:prstGeom>
          <a:noFill/>
        </p:spPr>
        <p:txBody>
          <a:bodyPr wrap="square" rtlCol="0">
            <a:spAutoFit/>
          </a:bodyPr>
          <a:lstStyle/>
          <a:p>
            <a:pPr algn="ctr"/>
            <a:r>
              <a:rPr lang="es-PE" b="1" dirty="0">
                <a:solidFill>
                  <a:srgbClr val="FF0000"/>
                </a:solidFill>
              </a:rPr>
              <a:t>VLAN X =100</a:t>
            </a:r>
          </a:p>
          <a:p>
            <a:pPr algn="ctr"/>
            <a:r>
              <a:rPr lang="es-PE" b="1" dirty="0" err="1">
                <a:solidFill>
                  <a:srgbClr val="FF0000"/>
                </a:solidFill>
              </a:rPr>
              <a:t>TeamSanchez</a:t>
            </a:r>
            <a:endParaRPr lang="es-PE" b="1" dirty="0">
              <a:solidFill>
                <a:srgbClr val="FF0000"/>
              </a:solidFill>
            </a:endParaRPr>
          </a:p>
        </p:txBody>
      </p:sp>
      <p:sp>
        <p:nvSpPr>
          <p:cNvPr id="22" name="Elipse 21">
            <a:extLst>
              <a:ext uri="{FF2B5EF4-FFF2-40B4-BE49-F238E27FC236}">
                <a16:creationId xmlns:a16="http://schemas.microsoft.com/office/drawing/2014/main" id="{8811D67A-EBCE-B0BA-538C-72469E72E1DA}"/>
              </a:ext>
            </a:extLst>
          </p:cNvPr>
          <p:cNvSpPr/>
          <p:nvPr/>
        </p:nvSpPr>
        <p:spPr>
          <a:xfrm>
            <a:off x="6705600" y="2052098"/>
            <a:ext cx="1998134" cy="1986420"/>
          </a:xfrm>
          <a:prstGeom prst="ellipse">
            <a:avLst/>
          </a:prstGeom>
          <a:solidFill>
            <a:schemeClr val="bg2">
              <a:lumMod val="75000"/>
              <a:alpha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PE" dirty="0">
              <a:solidFill>
                <a:srgbClr val="FF0000"/>
              </a:solidFill>
            </a:endParaRPr>
          </a:p>
        </p:txBody>
      </p:sp>
      <p:sp>
        <p:nvSpPr>
          <p:cNvPr id="24" name="CuadroTexto 23">
            <a:extLst>
              <a:ext uri="{FF2B5EF4-FFF2-40B4-BE49-F238E27FC236}">
                <a16:creationId xmlns:a16="http://schemas.microsoft.com/office/drawing/2014/main" id="{6EC71AAD-2E70-7E4B-6C72-755AABE014DB}"/>
              </a:ext>
            </a:extLst>
          </p:cNvPr>
          <p:cNvSpPr txBox="1"/>
          <p:nvPr/>
        </p:nvSpPr>
        <p:spPr>
          <a:xfrm>
            <a:off x="7632125" y="2482555"/>
            <a:ext cx="1621015" cy="646331"/>
          </a:xfrm>
          <a:prstGeom prst="rect">
            <a:avLst/>
          </a:prstGeom>
          <a:noFill/>
        </p:spPr>
        <p:txBody>
          <a:bodyPr wrap="square" rtlCol="0">
            <a:spAutoFit/>
          </a:bodyPr>
          <a:lstStyle/>
          <a:p>
            <a:pPr algn="ctr"/>
            <a:r>
              <a:rPr lang="es-PE" b="1" dirty="0">
                <a:solidFill>
                  <a:srgbClr val="FF0000"/>
                </a:solidFill>
              </a:rPr>
              <a:t>VLAN Y=200</a:t>
            </a:r>
          </a:p>
          <a:p>
            <a:pPr algn="ctr"/>
            <a:r>
              <a:rPr lang="es-PE" b="1" dirty="0" err="1">
                <a:solidFill>
                  <a:srgbClr val="FF0000"/>
                </a:solidFill>
              </a:rPr>
              <a:t>TeamPorky</a:t>
            </a:r>
            <a:endParaRPr lang="es-PE" b="1" dirty="0">
              <a:solidFill>
                <a:srgbClr val="FF0000"/>
              </a:solidFill>
            </a:endParaRPr>
          </a:p>
        </p:txBody>
      </p:sp>
    </p:spTree>
    <p:custDataLst>
      <p:tags r:id="rId1"/>
    </p:custDataLst>
    <p:extLst>
      <p:ext uri="{BB962C8B-B14F-4D97-AF65-F5344CB8AC3E}">
        <p14:creationId xmlns:p14="http://schemas.microsoft.com/office/powerpoint/2010/main" val="25806976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6105" y="164423"/>
            <a:ext cx="4370509" cy="2666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314" name="Title 1"/>
          <p:cNvSpPr>
            <a:spLocks noGrp="1"/>
          </p:cNvSpPr>
          <p:nvPr>
            <p:ph type="title"/>
          </p:nvPr>
        </p:nvSpPr>
        <p:spPr>
          <a:xfrm>
            <a:off x="1" y="41393"/>
            <a:ext cx="5935850" cy="757551"/>
          </a:xfrm>
        </p:spPr>
        <p:txBody>
          <a:bodyPr/>
          <a:lstStyle/>
          <a:p>
            <a:pPr rtl="0"/>
            <a:r>
              <a:rPr lang="es-419" sz="2000" b="1" dirty="0">
                <a:solidFill>
                  <a:srgbClr val="C00000"/>
                </a:solidFill>
              </a:rPr>
              <a:t>Cambiar pertenencia al puerto VLAN</a:t>
            </a:r>
          </a:p>
        </p:txBody>
      </p:sp>
      <p:sp>
        <p:nvSpPr>
          <p:cNvPr id="13315" name="Content Placeholder 2"/>
          <p:cNvSpPr>
            <a:spLocks noGrp="1"/>
          </p:cNvSpPr>
          <p:nvPr>
            <p:ph idx="1"/>
          </p:nvPr>
        </p:nvSpPr>
        <p:spPr>
          <a:xfrm>
            <a:off x="121589" y="1062680"/>
            <a:ext cx="4604516" cy="4000100"/>
          </a:xfrm>
        </p:spPr>
        <p:txBody>
          <a:bodyPr/>
          <a:lstStyle/>
          <a:p>
            <a:pPr marL="0" indent="0" rtl="0">
              <a:buNone/>
            </a:pPr>
            <a:r>
              <a:rPr lang="es-419" sz="1600" dirty="0"/>
              <a:t>Hay varias formas de cambiar la membresía de VLAN:</a:t>
            </a:r>
          </a:p>
          <a:p>
            <a:pPr rtl="0">
              <a:buFont typeface="Arial" panose="020B0604020202020204" pitchFamily="34" charset="0"/>
              <a:buChar char="•"/>
            </a:pPr>
            <a:r>
              <a:rPr lang="es-419" sz="1600" dirty="0"/>
              <a:t>Vuelva a ingresar el comando </a:t>
            </a:r>
          </a:p>
          <a:p>
            <a:pPr marL="0" indent="0" rtl="0">
              <a:buNone/>
            </a:pPr>
            <a:r>
              <a:rPr lang="es-419" sz="1600" b="1" dirty="0">
                <a:solidFill>
                  <a:srgbClr val="0070C0"/>
                </a:solidFill>
              </a:rPr>
              <a:t>S1(</a:t>
            </a:r>
            <a:r>
              <a:rPr lang="es-419" sz="1600" b="1" dirty="0" err="1">
                <a:solidFill>
                  <a:srgbClr val="0070C0"/>
                </a:solidFill>
              </a:rPr>
              <a:t>config-if</a:t>
            </a:r>
            <a:r>
              <a:rPr lang="es-419" sz="1600" b="1" dirty="0">
                <a:solidFill>
                  <a:srgbClr val="0070C0"/>
                </a:solidFill>
              </a:rPr>
              <a:t>)#switchport </a:t>
            </a:r>
            <a:r>
              <a:rPr lang="es-419" sz="1600" b="1" dirty="0" err="1">
                <a:solidFill>
                  <a:srgbClr val="0070C0"/>
                </a:solidFill>
              </a:rPr>
              <a:t>access</a:t>
            </a:r>
            <a:r>
              <a:rPr lang="es-419" sz="1600" b="1" dirty="0">
                <a:solidFill>
                  <a:srgbClr val="0070C0"/>
                </a:solidFill>
              </a:rPr>
              <a:t> </a:t>
            </a:r>
            <a:r>
              <a:rPr lang="es-419" sz="1600" b="1" dirty="0" err="1">
                <a:solidFill>
                  <a:srgbClr val="0070C0"/>
                </a:solidFill>
              </a:rPr>
              <a:t>vlan</a:t>
            </a:r>
            <a:r>
              <a:rPr lang="es-419" sz="1600" dirty="0">
                <a:solidFill>
                  <a:srgbClr val="0070C0"/>
                </a:solidFill>
              </a:rPr>
              <a:t> </a:t>
            </a:r>
            <a:r>
              <a:rPr lang="es-419" sz="1600" b="1" i="1" dirty="0" err="1">
                <a:solidFill>
                  <a:srgbClr val="FF0000"/>
                </a:solidFill>
              </a:rPr>
              <a:t>vlan</a:t>
            </a:r>
            <a:r>
              <a:rPr lang="es-419" sz="1600" b="1" i="1" dirty="0">
                <a:solidFill>
                  <a:srgbClr val="FF0000"/>
                </a:solidFill>
              </a:rPr>
              <a:t>-id</a:t>
            </a:r>
            <a:r>
              <a:rPr lang="es-419" sz="1600" i="1" dirty="0">
                <a:solidFill>
                  <a:srgbClr val="0070C0"/>
                </a:solidFill>
              </a:rPr>
              <a:t> </a:t>
            </a:r>
          </a:p>
          <a:p>
            <a:pPr rtl="0">
              <a:buFont typeface="Arial" panose="020B0604020202020204" pitchFamily="34" charset="0"/>
              <a:buChar char="•"/>
            </a:pPr>
            <a:r>
              <a:rPr lang="es-419" sz="1600" dirty="0"/>
              <a:t>use la </a:t>
            </a:r>
            <a:r>
              <a:rPr lang="es-419" sz="1600" b="1" dirty="0" err="1"/>
              <a:t>vlan</a:t>
            </a:r>
            <a:r>
              <a:rPr lang="es-419" sz="1600" b="1" dirty="0"/>
              <a:t> de acceso sin puerto de conmutación </a:t>
            </a:r>
            <a:r>
              <a:rPr lang="es-419" sz="1600" dirty="0"/>
              <a:t>para volver a colocar la interfaz en la VLAN 1</a:t>
            </a:r>
          </a:p>
          <a:p>
            <a:pPr marL="0" indent="0" rtl="0">
              <a:buNone/>
            </a:pPr>
            <a:r>
              <a:rPr lang="es-419" sz="1600" dirty="0"/>
              <a:t>Utilice los comandos:</a:t>
            </a:r>
          </a:p>
          <a:p>
            <a:pPr marL="0" indent="0" rtl="0">
              <a:buNone/>
            </a:pPr>
            <a:r>
              <a:rPr lang="es-419" sz="1600" b="1" dirty="0"/>
              <a:t>show </a:t>
            </a:r>
            <a:r>
              <a:rPr lang="es-419" sz="1600" b="1" dirty="0" err="1"/>
              <a:t>vlan</a:t>
            </a:r>
            <a:r>
              <a:rPr lang="es-419" sz="1600" b="1" dirty="0"/>
              <a:t> </a:t>
            </a:r>
            <a:r>
              <a:rPr lang="es-419" sz="1600" b="1" dirty="0" err="1"/>
              <a:t>brief</a:t>
            </a:r>
            <a:endParaRPr lang="es-419" sz="1600" dirty="0"/>
          </a:p>
          <a:p>
            <a:pPr marL="0" indent="0" rtl="0">
              <a:buNone/>
            </a:pPr>
            <a:r>
              <a:rPr lang="es-419" sz="1600" b="1" dirty="0"/>
              <a:t>show interface fa0/18 </a:t>
            </a:r>
            <a:r>
              <a:rPr lang="es-419" sz="1600" b="1" dirty="0" err="1"/>
              <a:t>switchport</a:t>
            </a:r>
            <a:r>
              <a:rPr lang="es-419" sz="1600" b="1" dirty="0"/>
              <a:t> </a:t>
            </a:r>
          </a:p>
          <a:p>
            <a:pPr marL="0" indent="0" rtl="0">
              <a:buNone/>
            </a:pPr>
            <a:r>
              <a:rPr lang="es-419" sz="1600" dirty="0"/>
              <a:t>Para verificar la asociación correcta de VLAN.</a:t>
            </a:r>
          </a:p>
        </p:txBody>
      </p:sp>
      <p:pic>
        <p:nvPicPr>
          <p:cNvPr id="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6392" y="2962529"/>
            <a:ext cx="3914775" cy="184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Marcador de número de diapositiva 1">
            <a:extLst>
              <a:ext uri="{FF2B5EF4-FFF2-40B4-BE49-F238E27FC236}">
                <a16:creationId xmlns:a16="http://schemas.microsoft.com/office/drawing/2014/main" id="{B7AFA089-A5FC-78E7-8502-DEE1BCA14621}"/>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47</a:t>
            </a:fld>
            <a:endParaRPr lang="en-US" kern="0" dirty="0">
              <a:solidFill>
                <a:srgbClr val="595959"/>
              </a:solidFill>
            </a:endParaRPr>
          </a:p>
        </p:txBody>
      </p:sp>
    </p:spTree>
    <p:custDataLst>
      <p:tags r:id="rId1"/>
    </p:custDataLst>
    <p:extLst>
      <p:ext uri="{BB962C8B-B14F-4D97-AF65-F5344CB8AC3E}">
        <p14:creationId xmlns:p14="http://schemas.microsoft.com/office/powerpoint/2010/main" val="40838556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4330699" cy="757551"/>
          </a:xfrm>
        </p:spPr>
        <p:txBody>
          <a:bodyPr/>
          <a:lstStyle/>
          <a:p>
            <a:pPr rtl="0"/>
            <a:r>
              <a:rPr lang="es-419" b="1" dirty="0">
                <a:solidFill>
                  <a:srgbClr val="C00000"/>
                </a:solidFill>
              </a:rPr>
              <a:t>Eliminar VLAN</a:t>
            </a:r>
          </a:p>
        </p:txBody>
      </p:sp>
      <p:sp>
        <p:nvSpPr>
          <p:cNvPr id="13315" name="Content Placeholder 2"/>
          <p:cNvSpPr>
            <a:spLocks noGrp="1"/>
          </p:cNvSpPr>
          <p:nvPr>
            <p:ph idx="1"/>
          </p:nvPr>
        </p:nvSpPr>
        <p:spPr>
          <a:xfrm>
            <a:off x="123573" y="867946"/>
            <a:ext cx="8891273" cy="2588485"/>
          </a:xfrm>
        </p:spPr>
        <p:txBody>
          <a:bodyPr/>
          <a:lstStyle/>
          <a:p>
            <a:pPr marL="0" indent="0" rtl="0">
              <a:buNone/>
            </a:pPr>
            <a:r>
              <a:rPr lang="es-419" sz="1600" dirty="0"/>
              <a:t>Elimine las VLAN con el</a:t>
            </a:r>
            <a:r>
              <a:rPr lang="es-419" sz="1600" u="sng" dirty="0"/>
              <a:t> </a:t>
            </a:r>
            <a:r>
              <a:rPr lang="es-419" sz="1600" dirty="0"/>
              <a:t>comando -&gt; SW(</a:t>
            </a:r>
            <a:r>
              <a:rPr lang="es-419" sz="1600" dirty="0" err="1"/>
              <a:t>configt</a:t>
            </a:r>
            <a:r>
              <a:rPr lang="es-419" sz="1600" dirty="0"/>
              <a:t>)</a:t>
            </a:r>
            <a:r>
              <a:rPr lang="es-PE" sz="1600" dirty="0"/>
              <a:t>#</a:t>
            </a:r>
            <a:r>
              <a:rPr lang="es-419" sz="1600" b="1" dirty="0"/>
              <a:t>no </a:t>
            </a:r>
            <a:r>
              <a:rPr lang="es-419" sz="1600" b="1" dirty="0" err="1"/>
              <a:t>vlan</a:t>
            </a:r>
            <a:r>
              <a:rPr lang="es-419" sz="1600" b="1" dirty="0"/>
              <a:t> </a:t>
            </a:r>
            <a:r>
              <a:rPr lang="es-419" sz="1600" b="1" i="1" dirty="0" err="1">
                <a:solidFill>
                  <a:srgbClr val="FF0000"/>
                </a:solidFill>
              </a:rPr>
              <a:t>vlan</a:t>
            </a:r>
            <a:r>
              <a:rPr lang="es-419" sz="1600" b="1" i="1" dirty="0">
                <a:solidFill>
                  <a:srgbClr val="FF0000"/>
                </a:solidFill>
              </a:rPr>
              <a:t>-id </a:t>
            </a:r>
            <a:r>
              <a:rPr lang="es-419" sz="1600" b="1" dirty="0">
                <a:solidFill>
                  <a:srgbClr val="FF0000"/>
                </a:solidFill>
              </a:rPr>
              <a:t>.</a:t>
            </a:r>
          </a:p>
          <a:p>
            <a:pPr marL="0" indent="0" rtl="0">
              <a:buNone/>
            </a:pPr>
            <a:r>
              <a:rPr lang="es-419" sz="1600" b="1" dirty="0"/>
              <a:t>Precaución:</a:t>
            </a:r>
            <a:r>
              <a:rPr lang="es-419" sz="1600" dirty="0"/>
              <a:t> antes de eliminar una VLAN, reasigne todos los puertos miembros a una VLAN diferente..</a:t>
            </a:r>
          </a:p>
          <a:p>
            <a:pPr marL="0" indent="0" rtl="0">
              <a:buNone/>
            </a:pPr>
            <a:r>
              <a:rPr lang="es-PE" sz="2000" i="0" dirty="0" err="1">
                <a:solidFill>
                  <a:srgbClr val="00B0F0"/>
                </a:solidFill>
                <a:effectLst/>
                <a:latin typeface="Arial" panose="020B0604020202020204" pitchFamily="34" charset="0"/>
              </a:rPr>
              <a:t>Switch#sh</a:t>
            </a:r>
            <a:r>
              <a:rPr lang="es-PE" sz="2000" i="0" dirty="0">
                <a:solidFill>
                  <a:srgbClr val="00B0F0"/>
                </a:solidFill>
                <a:effectLst/>
                <a:latin typeface="Arial" panose="020B0604020202020204" pitchFamily="34" charset="0"/>
              </a:rPr>
              <a:t> flash</a:t>
            </a:r>
            <a:endParaRPr lang="es-419" sz="1600" dirty="0">
              <a:solidFill>
                <a:srgbClr val="00B0F0"/>
              </a:solidFill>
            </a:endParaRPr>
          </a:p>
          <a:p>
            <a:pPr>
              <a:buFont typeface="Arial" panose="020B0604020202020204" pitchFamily="34" charset="0"/>
              <a:buChar char="•"/>
            </a:pPr>
            <a:r>
              <a:rPr lang="es-419" sz="1600" dirty="0"/>
              <a:t>Elimine todas las VLAN con los comandos -&gt; </a:t>
            </a:r>
            <a:r>
              <a:rPr lang="es-419" sz="1600" b="1" dirty="0" err="1">
                <a:solidFill>
                  <a:srgbClr val="00B0F0"/>
                </a:solidFill>
              </a:rPr>
              <a:t>SW#delete</a:t>
            </a:r>
            <a:r>
              <a:rPr lang="es-419" sz="1600" b="1" dirty="0">
                <a:solidFill>
                  <a:srgbClr val="00B0F0"/>
                </a:solidFill>
              </a:rPr>
              <a:t> vlan.dat .</a:t>
            </a:r>
          </a:p>
          <a:p>
            <a:pPr marL="0" indent="0" rtl="0">
              <a:buNone/>
            </a:pPr>
            <a:r>
              <a:rPr lang="es-419" sz="1600" dirty="0" err="1"/>
              <a:t>SW#</a:t>
            </a:r>
            <a:r>
              <a:rPr lang="es-419" sz="1600" b="1" dirty="0" err="1"/>
              <a:t>delete</a:t>
            </a:r>
            <a:r>
              <a:rPr lang="es-419" sz="1600" b="1" dirty="0"/>
              <a:t> </a:t>
            </a:r>
            <a:r>
              <a:rPr lang="es-419" sz="1600" b="1" dirty="0" err="1"/>
              <a:t>flash:vlan.dat</a:t>
            </a:r>
            <a:endParaRPr lang="es-419" sz="1600" dirty="0"/>
          </a:p>
          <a:p>
            <a:pPr rtl="0">
              <a:buFont typeface="Arial" panose="020B0604020202020204" pitchFamily="34" charset="0"/>
              <a:buChar char="•"/>
            </a:pPr>
            <a:r>
              <a:rPr lang="es-419" sz="1600" dirty="0"/>
              <a:t>Vuelva a cargar el switch al eliminar todas las VLAN.</a:t>
            </a:r>
          </a:p>
          <a:p>
            <a:pPr marL="0" indent="0" rtl="0">
              <a:buNone/>
            </a:pPr>
            <a:r>
              <a:rPr lang="es-419" sz="1600" b="1" dirty="0"/>
              <a:t>Nota</a:t>
            </a:r>
            <a:r>
              <a:rPr lang="es-419" sz="1600" dirty="0"/>
              <a:t>: Para restaurar el valor predeterminado de fábrica, desconecte todos los cables de datos, borre la configuración de inicio y elimine el archivo vlan.dat y, a continuación, vuelva a cargar el dispositivo. </a:t>
            </a:r>
          </a:p>
        </p:txBody>
      </p:sp>
      <p:sp>
        <p:nvSpPr>
          <p:cNvPr id="2" name="Marcador de número de diapositiva 1">
            <a:extLst>
              <a:ext uri="{FF2B5EF4-FFF2-40B4-BE49-F238E27FC236}">
                <a16:creationId xmlns:a16="http://schemas.microsoft.com/office/drawing/2014/main" id="{EC91A2A4-4B11-C10B-BAEE-19AA180EBB0A}"/>
              </a:ext>
            </a:extLst>
          </p:cNvPr>
          <p:cNvSpPr>
            <a:spLocks noGrp="1"/>
          </p:cNvSpPr>
          <p:nvPr>
            <p:ph type="sldNum" sz="quarter" idx="4"/>
          </p:nvPr>
        </p:nvSpPr>
        <p:spPr/>
        <p:txBody>
          <a:bodyPr/>
          <a:lstStyle/>
          <a:p>
            <a:pPr defTabSz="385763">
              <a:defRPr/>
            </a:pPr>
            <a:fld id="{2F5CCB13-0A32-4557-88E9-079F0C330695}" type="slidenum">
              <a:rPr lang="en-US" sz="800" b="1" kern="0" smtClean="0">
                <a:solidFill>
                  <a:srgbClr val="00B0F0"/>
                </a:solidFill>
              </a:rPr>
              <a:pPr defTabSz="385763">
                <a:defRPr/>
              </a:pPr>
              <a:t>48</a:t>
            </a:fld>
            <a:endParaRPr lang="en-US" sz="800" b="1" kern="0" dirty="0">
              <a:solidFill>
                <a:srgbClr val="00B0F0"/>
              </a:solidFill>
            </a:endParaRPr>
          </a:p>
        </p:txBody>
      </p:sp>
    </p:spTree>
    <p:custDataLst>
      <p:tags r:id="rId1"/>
    </p:custDataLst>
    <p:extLst>
      <p:ext uri="{BB962C8B-B14F-4D97-AF65-F5344CB8AC3E}">
        <p14:creationId xmlns:p14="http://schemas.microsoft.com/office/powerpoint/2010/main" val="28711497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143001" y="1715226"/>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5.6 </a:t>
            </a:r>
            <a:r>
              <a:rPr lang="es-ES" sz="4000" dirty="0" err="1">
                <a:solidFill>
                  <a:schemeClr val="bg1"/>
                </a:solidFill>
                <a:effectLst>
                  <a:outerShdw blurRad="38100" dist="38100" dir="2700000" algn="tl">
                    <a:srgbClr val="000000">
                      <a:alpha val="43137"/>
                    </a:srgbClr>
                  </a:outerShdw>
                </a:effectLst>
                <a:latin typeface="Arial"/>
                <a:ea typeface="Arial"/>
                <a:cs typeface="Arial"/>
                <a:sym typeface="Arial"/>
              </a:rPr>
              <a:t>Trunking</a:t>
            </a: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 VLAN</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16265597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1"/>
            <a:ext cx="9144000" cy="676656"/>
          </a:xfrm>
        </p:spPr>
        <p:txBody>
          <a:bodyPr/>
          <a:lstStyle/>
          <a:p>
            <a:pPr rtl="0"/>
            <a:r>
              <a:rPr lang="es-419" sz="2000" dirty="0">
                <a:solidFill>
                  <a:srgbClr val="C00000"/>
                </a:solidFill>
              </a:rPr>
              <a:t>Comandos de configuración troncal (</a:t>
            </a:r>
            <a:r>
              <a:rPr lang="es-419" sz="2000" dirty="0">
                <a:solidFill>
                  <a:srgbClr val="00B0F0"/>
                </a:solidFill>
              </a:rPr>
              <a:t>Interfaz TRUNK</a:t>
            </a:r>
            <a:r>
              <a:rPr lang="es-419" sz="2000" dirty="0">
                <a:solidFill>
                  <a:srgbClr val="C00000"/>
                </a:solidFill>
              </a:rPr>
              <a:t>) de VLAN</a:t>
            </a:r>
          </a:p>
        </p:txBody>
      </p:sp>
      <p:sp>
        <p:nvSpPr>
          <p:cNvPr id="3" name="Marcador de número de diapositiva 2">
            <a:extLst>
              <a:ext uri="{FF2B5EF4-FFF2-40B4-BE49-F238E27FC236}">
                <a16:creationId xmlns:a16="http://schemas.microsoft.com/office/drawing/2014/main" id="{8DF9FF51-A50D-611E-4881-202A7393D723}"/>
              </a:ext>
            </a:extLst>
          </p:cNvPr>
          <p:cNvSpPr>
            <a:spLocks noGrp="1"/>
          </p:cNvSpPr>
          <p:nvPr>
            <p:ph type="sldNum" sz="quarter" idx="4"/>
          </p:nvPr>
        </p:nvSpPr>
        <p:spPr/>
        <p:txBody>
          <a:bodyPr/>
          <a:lstStyle/>
          <a:p>
            <a:pPr defTabSz="385763">
              <a:defRPr/>
            </a:pPr>
            <a:fld id="{2F5CCB13-0A32-4557-88E9-079F0C330695}" type="slidenum">
              <a:rPr lang="en-US" sz="900" b="1" kern="0" smtClean="0">
                <a:solidFill>
                  <a:srgbClr val="00B0F0"/>
                </a:solidFill>
              </a:rPr>
              <a:pPr defTabSz="385763">
                <a:defRPr/>
              </a:pPr>
              <a:t>50</a:t>
            </a:fld>
            <a:endParaRPr lang="en-US" sz="900" b="1" kern="0" dirty="0">
              <a:solidFill>
                <a:srgbClr val="00B0F0"/>
              </a:solidFill>
            </a:endParaRPr>
          </a:p>
        </p:txBody>
      </p:sp>
      <p:pic>
        <p:nvPicPr>
          <p:cNvPr id="8" name="Imagen 7">
            <a:extLst>
              <a:ext uri="{FF2B5EF4-FFF2-40B4-BE49-F238E27FC236}">
                <a16:creationId xmlns:a16="http://schemas.microsoft.com/office/drawing/2014/main" id="{5B52DC60-8B23-F6A2-8AB6-5194411FCE59}"/>
              </a:ext>
            </a:extLst>
          </p:cNvPr>
          <p:cNvPicPr>
            <a:picLocks noChangeAspect="1"/>
          </p:cNvPicPr>
          <p:nvPr/>
        </p:nvPicPr>
        <p:blipFill>
          <a:blip r:embed="rId4"/>
          <a:stretch>
            <a:fillRect/>
          </a:stretch>
        </p:blipFill>
        <p:spPr>
          <a:xfrm>
            <a:off x="1112738" y="676657"/>
            <a:ext cx="6682910" cy="4171018"/>
          </a:xfrm>
          <a:prstGeom prst="rect">
            <a:avLst/>
          </a:prstGeom>
        </p:spPr>
      </p:pic>
    </p:spTree>
    <p:custDataLst>
      <p:tags r:id="rId1"/>
    </p:custDataLst>
    <p:extLst>
      <p:ext uri="{BB962C8B-B14F-4D97-AF65-F5344CB8AC3E}">
        <p14:creationId xmlns:p14="http://schemas.microsoft.com/office/powerpoint/2010/main" val="15924217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1"/>
            <a:ext cx="9144000" cy="676656"/>
          </a:xfrm>
        </p:spPr>
        <p:txBody>
          <a:bodyPr/>
          <a:lstStyle/>
          <a:p>
            <a:pPr rtl="0"/>
            <a:r>
              <a:rPr lang="es-419" sz="2000" dirty="0">
                <a:solidFill>
                  <a:srgbClr val="C00000"/>
                </a:solidFill>
              </a:rPr>
              <a:t>Comandos de configuración troncal (</a:t>
            </a:r>
            <a:r>
              <a:rPr lang="es-419" sz="2000" dirty="0">
                <a:solidFill>
                  <a:srgbClr val="00B0F0"/>
                </a:solidFill>
              </a:rPr>
              <a:t>Interfaz TRUNK</a:t>
            </a:r>
            <a:r>
              <a:rPr lang="es-419" sz="2000" dirty="0">
                <a:solidFill>
                  <a:srgbClr val="C00000"/>
                </a:solidFill>
              </a:rPr>
              <a:t>) de VLAN</a:t>
            </a:r>
          </a:p>
        </p:txBody>
      </p:sp>
      <p:sp>
        <p:nvSpPr>
          <p:cNvPr id="3" name="Marcador de número de diapositiva 2">
            <a:extLst>
              <a:ext uri="{FF2B5EF4-FFF2-40B4-BE49-F238E27FC236}">
                <a16:creationId xmlns:a16="http://schemas.microsoft.com/office/drawing/2014/main" id="{8DF9FF51-A50D-611E-4881-202A7393D723}"/>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51</a:t>
            </a:fld>
            <a:endParaRPr lang="en-US" kern="0" dirty="0">
              <a:solidFill>
                <a:srgbClr val="595959"/>
              </a:solidFill>
            </a:endParaRPr>
          </a:p>
        </p:txBody>
      </p:sp>
      <p:pic>
        <p:nvPicPr>
          <p:cNvPr id="4" name="Imagen 3">
            <a:extLst>
              <a:ext uri="{FF2B5EF4-FFF2-40B4-BE49-F238E27FC236}">
                <a16:creationId xmlns:a16="http://schemas.microsoft.com/office/drawing/2014/main" id="{5E7B3D4B-0017-D345-9F46-F19D2F3E5145}"/>
              </a:ext>
            </a:extLst>
          </p:cNvPr>
          <p:cNvPicPr>
            <a:picLocks noChangeAspect="1"/>
          </p:cNvPicPr>
          <p:nvPr/>
        </p:nvPicPr>
        <p:blipFill>
          <a:blip r:embed="rId4"/>
          <a:stretch>
            <a:fillRect/>
          </a:stretch>
        </p:blipFill>
        <p:spPr>
          <a:xfrm>
            <a:off x="904067" y="918650"/>
            <a:ext cx="7650997" cy="3793619"/>
          </a:xfrm>
          <a:prstGeom prst="rect">
            <a:avLst/>
          </a:prstGeom>
        </p:spPr>
      </p:pic>
    </p:spTree>
    <p:custDataLst>
      <p:tags r:id="rId1"/>
    </p:custDataLst>
    <p:extLst>
      <p:ext uri="{BB962C8B-B14F-4D97-AF65-F5344CB8AC3E}">
        <p14:creationId xmlns:p14="http://schemas.microsoft.com/office/powerpoint/2010/main" val="24515681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1"/>
            <a:ext cx="9144000" cy="676656"/>
          </a:xfrm>
        </p:spPr>
        <p:txBody>
          <a:bodyPr/>
          <a:lstStyle/>
          <a:p>
            <a:pPr rtl="0"/>
            <a:r>
              <a:rPr lang="es-419" dirty="0">
                <a:solidFill>
                  <a:srgbClr val="C00000"/>
                </a:solidFill>
              </a:rPr>
              <a:t>Comandos de configuración troncal de VLAN</a:t>
            </a:r>
          </a:p>
        </p:txBody>
      </p:sp>
      <p:sp>
        <p:nvSpPr>
          <p:cNvPr id="55299" name="Rectangle 3"/>
          <p:cNvSpPr>
            <a:spLocks noGrp="1" noChangeArrowheads="1"/>
          </p:cNvSpPr>
          <p:nvPr>
            <p:ph type="body" idx="1"/>
          </p:nvPr>
        </p:nvSpPr>
        <p:spPr>
          <a:xfrm>
            <a:off x="201168" y="872067"/>
            <a:ext cx="8805672" cy="563541"/>
          </a:xfrm>
        </p:spPr>
        <p:txBody>
          <a:bodyPr/>
          <a:lstStyle/>
          <a:p>
            <a:pPr marL="0" indent="0" algn="just" rtl="0">
              <a:buNone/>
            </a:pPr>
            <a:r>
              <a:rPr lang="es-419" sz="1600" dirty="0"/>
              <a:t>Configure y verifique las troncales VLAN. Las troncales son de capa 2 y transportan tráfico para todas las VLAN.</a:t>
            </a:r>
          </a:p>
        </p:txBody>
      </p:sp>
      <p:graphicFrame>
        <p:nvGraphicFramePr>
          <p:cNvPr id="2" name="Table 1"/>
          <p:cNvGraphicFramePr>
            <a:graphicFrameLocks noGrp="1"/>
          </p:cNvGraphicFramePr>
          <p:nvPr>
            <p:extLst>
              <p:ext uri="{D42A27DB-BD31-4B8C-83A1-F6EECF244321}">
                <p14:modId xmlns:p14="http://schemas.microsoft.com/office/powerpoint/2010/main" val="3404695582"/>
              </p:ext>
            </p:extLst>
          </p:nvPr>
        </p:nvGraphicFramePr>
        <p:xfrm>
          <a:off x="182880" y="1573022"/>
          <a:ext cx="8759952" cy="3220720"/>
        </p:xfrm>
        <a:graphic>
          <a:graphicData uri="http://schemas.openxmlformats.org/drawingml/2006/table">
            <a:tbl>
              <a:tblPr firstRow="1" bandRow="1">
                <a:tableStyleId>{21E4AEA4-8DFA-4A89-87EB-49C32662AFE0}</a:tableStyleId>
              </a:tblPr>
              <a:tblGrid>
                <a:gridCol w="4123944">
                  <a:extLst>
                    <a:ext uri="{9D8B030D-6E8A-4147-A177-3AD203B41FA5}">
                      <a16:colId xmlns:a16="http://schemas.microsoft.com/office/drawing/2014/main" val="20000"/>
                    </a:ext>
                  </a:extLst>
                </a:gridCol>
                <a:gridCol w="4636008">
                  <a:extLst>
                    <a:ext uri="{9D8B030D-6E8A-4147-A177-3AD203B41FA5}">
                      <a16:colId xmlns:a16="http://schemas.microsoft.com/office/drawing/2014/main" val="20001"/>
                    </a:ext>
                  </a:extLst>
                </a:gridCol>
              </a:tblGrid>
              <a:tr h="370840">
                <a:tc>
                  <a:txBody>
                    <a:bodyPr/>
                    <a:lstStyle/>
                    <a:p>
                      <a:pPr rtl="0"/>
                      <a:r>
                        <a:rPr lang="es-419" sz="1600" b="1">
                          <a:effectLst/>
                        </a:rPr>
                        <a:t>Tarea</a:t>
                      </a:r>
                    </a:p>
                  </a:txBody>
                  <a:tcPr anchor="ctr"/>
                </a:tc>
                <a:tc>
                  <a:txBody>
                    <a:bodyPr/>
                    <a:lstStyle/>
                    <a:p>
                      <a:pPr rtl="0"/>
                      <a:r>
                        <a:rPr lang="es-419" sz="1600" b="1"/>
                        <a:t>Comando de IOS</a:t>
                      </a:r>
                    </a:p>
                  </a:txBody>
                  <a:tcPr anchor="ctr"/>
                </a:tc>
                <a:extLst>
                  <a:ext uri="{0D108BD9-81ED-4DB2-BD59-A6C34878D82A}">
                    <a16:rowId xmlns:a16="http://schemas.microsoft.com/office/drawing/2014/main" val="10000"/>
                  </a:ext>
                </a:extLst>
              </a:tr>
              <a:tr h="370840">
                <a:tc>
                  <a:txBody>
                    <a:bodyPr/>
                    <a:lstStyle/>
                    <a:p>
                      <a:pPr rtl="0"/>
                      <a:r>
                        <a:rPr lang="es-419" sz="1600"/>
                        <a:t>Ingresa al modo de configuración global.</a:t>
                      </a:r>
                    </a:p>
                  </a:txBody>
                  <a:tcPr anchor="ctr"/>
                </a:tc>
                <a:tc>
                  <a:txBody>
                    <a:bodyPr/>
                    <a:lstStyle/>
                    <a:p>
                      <a:pPr rtl="0"/>
                      <a:r>
                        <a:rPr lang="es-419" sz="1600" dirty="0"/>
                        <a:t>Switch# </a:t>
                      </a:r>
                      <a:r>
                        <a:rPr lang="es-419" sz="1600" b="1" dirty="0"/>
                        <a:t>configure terminal</a:t>
                      </a:r>
                    </a:p>
                  </a:txBody>
                  <a:tcPr anchor="ctr"/>
                </a:tc>
                <a:extLst>
                  <a:ext uri="{0D108BD9-81ED-4DB2-BD59-A6C34878D82A}">
                    <a16:rowId xmlns:a16="http://schemas.microsoft.com/office/drawing/2014/main" val="10001"/>
                  </a:ext>
                </a:extLst>
              </a:tr>
              <a:tr h="370840">
                <a:tc>
                  <a:txBody>
                    <a:bodyPr/>
                    <a:lstStyle/>
                    <a:p>
                      <a:pPr rtl="0"/>
                      <a:r>
                        <a:rPr lang="es-419" sz="1600" dirty="0"/>
                        <a:t>Ingrese el modo de configuración de interfaz.</a:t>
                      </a:r>
                    </a:p>
                  </a:txBody>
                  <a:tcPr anchor="ctr"/>
                </a:tc>
                <a:tc>
                  <a:txBody>
                    <a:bodyPr/>
                    <a:lstStyle/>
                    <a:p>
                      <a:pPr rtl="0"/>
                      <a:r>
                        <a:rPr lang="es-419" sz="1600" dirty="0"/>
                        <a:t>Switch(</a:t>
                      </a:r>
                      <a:r>
                        <a:rPr lang="es-419" sz="1600" dirty="0" err="1"/>
                        <a:t>config</a:t>
                      </a:r>
                      <a:r>
                        <a:rPr lang="es-419" sz="1600" dirty="0"/>
                        <a:t>)# </a:t>
                      </a:r>
                      <a:r>
                        <a:rPr lang="es-419" sz="1600" b="1" dirty="0"/>
                        <a:t>interface </a:t>
                      </a:r>
                      <a:r>
                        <a:rPr lang="es-419" sz="1600" b="1" dirty="0">
                          <a:solidFill>
                            <a:srgbClr val="00B0F0"/>
                          </a:solidFill>
                        </a:rPr>
                        <a:t>interface-id</a:t>
                      </a:r>
                      <a:endParaRPr lang="es-419" sz="1600" b="1" i="1" dirty="0">
                        <a:solidFill>
                          <a:srgbClr val="00B0F0"/>
                        </a:solidFill>
                      </a:endParaRPr>
                    </a:p>
                  </a:txBody>
                  <a:tcPr anchor="ctr"/>
                </a:tc>
                <a:extLst>
                  <a:ext uri="{0D108BD9-81ED-4DB2-BD59-A6C34878D82A}">
                    <a16:rowId xmlns:a16="http://schemas.microsoft.com/office/drawing/2014/main" val="10002"/>
                  </a:ext>
                </a:extLst>
              </a:tr>
              <a:tr h="370840">
                <a:tc>
                  <a:txBody>
                    <a:bodyPr/>
                    <a:lstStyle/>
                    <a:p>
                      <a:pPr rtl="0"/>
                      <a:r>
                        <a:rPr lang="es-419" sz="1600"/>
                        <a:t>Establezca el puerto en modo de enlace permanente.</a:t>
                      </a:r>
                    </a:p>
                  </a:txBody>
                  <a:tcPr anchor="ctr"/>
                </a:tc>
                <a:tc>
                  <a:txBody>
                    <a:bodyPr/>
                    <a:lstStyle/>
                    <a:p>
                      <a:pPr rtl="0"/>
                      <a:r>
                        <a:rPr lang="es-419" sz="1600" dirty="0"/>
                        <a:t>Conmutador(</a:t>
                      </a:r>
                      <a:r>
                        <a:rPr lang="es-419" sz="1600" dirty="0" err="1"/>
                        <a:t>config-if</a:t>
                      </a:r>
                      <a:r>
                        <a:rPr lang="es-419" sz="1600" dirty="0"/>
                        <a:t>) # </a:t>
                      </a:r>
                      <a:r>
                        <a:rPr lang="es-419" sz="1600" b="1" dirty="0" err="1"/>
                        <a:t>switchport</a:t>
                      </a:r>
                      <a:r>
                        <a:rPr lang="es-419" sz="1600" b="1" dirty="0"/>
                        <a:t> </a:t>
                      </a:r>
                      <a:r>
                        <a:rPr lang="es-419" sz="1600" b="1" dirty="0" err="1"/>
                        <a:t>mode</a:t>
                      </a:r>
                      <a:r>
                        <a:rPr lang="es-419" sz="1600" b="1" dirty="0"/>
                        <a:t> </a:t>
                      </a:r>
                      <a:r>
                        <a:rPr lang="es-419" sz="1600" b="1" dirty="0" err="1"/>
                        <a:t>trunk</a:t>
                      </a:r>
                      <a:endParaRPr lang="es-419" sz="1600" b="1" dirty="0"/>
                    </a:p>
                  </a:txBody>
                  <a:tcPr anchor="ctr"/>
                </a:tc>
                <a:extLst>
                  <a:ext uri="{0D108BD9-81ED-4DB2-BD59-A6C34878D82A}">
                    <a16:rowId xmlns:a16="http://schemas.microsoft.com/office/drawing/2014/main" val="10003"/>
                  </a:ext>
                </a:extLst>
              </a:tr>
              <a:tr h="370840">
                <a:tc>
                  <a:txBody>
                    <a:bodyPr/>
                    <a:lstStyle/>
                    <a:p>
                      <a:pPr rtl="0"/>
                      <a:endParaRPr lang="es-419" sz="1600" dirty="0"/>
                    </a:p>
                  </a:txBody>
                  <a:tcPr anchor="ctr"/>
                </a:tc>
                <a:tc>
                  <a:txBody>
                    <a:bodyPr/>
                    <a:lstStyle/>
                    <a:p>
                      <a:pPr rtl="0"/>
                      <a:endParaRPr lang="es-419" sz="1600" i="1" dirty="0"/>
                    </a:p>
                  </a:txBody>
                  <a:tcPr anchor="ctr"/>
                </a:tc>
                <a:extLst>
                  <a:ext uri="{0D108BD9-81ED-4DB2-BD59-A6C34878D82A}">
                    <a16:rowId xmlns:a16="http://schemas.microsoft.com/office/drawing/2014/main" val="10004"/>
                  </a:ext>
                </a:extLst>
              </a:tr>
              <a:tr h="370840">
                <a:tc>
                  <a:txBody>
                    <a:bodyPr/>
                    <a:lstStyle/>
                    <a:p>
                      <a:pPr rtl="0"/>
                      <a:r>
                        <a:rPr lang="es-419" sz="1600"/>
                        <a:t>Especificar la lista de VLAN que se permitirán en el enlace troncal.</a:t>
                      </a:r>
                    </a:p>
                  </a:txBody>
                  <a:tcPr anchor="ctr"/>
                </a:tc>
                <a:tc>
                  <a:txBody>
                    <a:bodyPr/>
                    <a:lstStyle/>
                    <a:p>
                      <a:pPr rtl="0"/>
                      <a:r>
                        <a:rPr lang="es-419" sz="1400" dirty="0"/>
                        <a:t>Switch(</a:t>
                      </a:r>
                      <a:r>
                        <a:rPr lang="es-419" sz="1400" dirty="0" err="1"/>
                        <a:t>config-if</a:t>
                      </a:r>
                      <a:r>
                        <a:rPr lang="es-419" sz="1400" dirty="0"/>
                        <a:t>)# </a:t>
                      </a:r>
                      <a:r>
                        <a:rPr lang="es-419" sz="1400" b="1" dirty="0" err="1"/>
                        <a:t>switchport</a:t>
                      </a:r>
                      <a:r>
                        <a:rPr lang="es-419" sz="1400" b="1" dirty="0"/>
                        <a:t> </a:t>
                      </a:r>
                      <a:r>
                        <a:rPr lang="es-419" sz="1400" b="1" dirty="0" err="1"/>
                        <a:t>trunk</a:t>
                      </a:r>
                      <a:r>
                        <a:rPr lang="es-419" sz="1400" b="1" dirty="0"/>
                        <a:t> </a:t>
                      </a:r>
                      <a:r>
                        <a:rPr lang="es-419" sz="1400" b="1" dirty="0" err="1"/>
                        <a:t>allowed</a:t>
                      </a:r>
                      <a:r>
                        <a:rPr lang="es-419" sz="1400" b="1" dirty="0"/>
                        <a:t> </a:t>
                      </a:r>
                      <a:r>
                        <a:rPr lang="es-419" sz="1400" b="1" dirty="0" err="1"/>
                        <a:t>vlan</a:t>
                      </a:r>
                      <a:r>
                        <a:rPr lang="es-419" sz="1400" b="1" dirty="0"/>
                        <a:t> </a:t>
                      </a:r>
                      <a:r>
                        <a:rPr lang="es-419" sz="1400" b="1" dirty="0" err="1">
                          <a:solidFill>
                            <a:srgbClr val="00B0F0"/>
                          </a:solidFill>
                        </a:rPr>
                        <a:t>all</a:t>
                      </a:r>
                      <a:endParaRPr lang="es-419" sz="1400" b="1" i="1" dirty="0">
                        <a:solidFill>
                          <a:srgbClr val="00B0F0"/>
                        </a:solidFill>
                      </a:endParaRPr>
                    </a:p>
                  </a:txBody>
                  <a:tcPr anchor="ctr"/>
                </a:tc>
                <a:extLst>
                  <a:ext uri="{0D108BD9-81ED-4DB2-BD59-A6C34878D82A}">
                    <a16:rowId xmlns:a16="http://schemas.microsoft.com/office/drawing/2014/main" val="10005"/>
                  </a:ext>
                </a:extLst>
              </a:tr>
              <a:tr h="370840">
                <a:tc>
                  <a:txBody>
                    <a:bodyPr/>
                    <a:lstStyle/>
                    <a:p>
                      <a:pPr rtl="0"/>
                      <a:r>
                        <a:rPr lang="es-419" sz="1600"/>
                        <a:t>Vuelva al modo EXEC con privilegios.</a:t>
                      </a:r>
                    </a:p>
                  </a:txBody>
                  <a:tcPr anchor="ctr"/>
                </a:tc>
                <a:tc>
                  <a:txBody>
                    <a:bodyPr/>
                    <a:lstStyle/>
                    <a:p>
                      <a:pPr rtl="0"/>
                      <a:r>
                        <a:rPr lang="es-419" sz="1600" dirty="0"/>
                        <a:t>Switch(</a:t>
                      </a:r>
                      <a:r>
                        <a:rPr lang="es-419" sz="1600" dirty="0" err="1"/>
                        <a:t>config-if</a:t>
                      </a:r>
                      <a:r>
                        <a:rPr lang="es-419" sz="1600" dirty="0"/>
                        <a:t>)# </a:t>
                      </a:r>
                      <a:r>
                        <a:rPr lang="es-419" sz="1600" b="1" dirty="0" err="1"/>
                        <a:t>end</a:t>
                      </a:r>
                      <a:endParaRPr lang="es-419" sz="1600" b="1" dirty="0"/>
                    </a:p>
                  </a:txBody>
                  <a:tcPr anchor="ctr"/>
                </a:tc>
                <a:extLst>
                  <a:ext uri="{0D108BD9-81ED-4DB2-BD59-A6C34878D82A}">
                    <a16:rowId xmlns:a16="http://schemas.microsoft.com/office/drawing/2014/main" val="10006"/>
                  </a:ext>
                </a:extLst>
              </a:tr>
            </a:tbl>
          </a:graphicData>
        </a:graphic>
      </p:graphicFrame>
      <p:sp>
        <p:nvSpPr>
          <p:cNvPr id="3" name="Slide Number Placeholder 2">
            <a:extLst>
              <a:ext uri="{FF2B5EF4-FFF2-40B4-BE49-F238E27FC236}">
                <a16:creationId xmlns:a16="http://schemas.microsoft.com/office/drawing/2014/main" id="{6A6653EE-B369-2FE0-E6B2-9CC6352D1CD8}"/>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52</a:t>
            </a:fld>
            <a:endParaRPr lang="en-US"/>
          </a:p>
        </p:txBody>
      </p:sp>
    </p:spTree>
    <p:custDataLst>
      <p:tags r:id="rId1"/>
    </p:custDataLst>
    <p:extLst>
      <p:ext uri="{BB962C8B-B14F-4D97-AF65-F5344CB8AC3E}">
        <p14:creationId xmlns:p14="http://schemas.microsoft.com/office/powerpoint/2010/main" val="7008307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 y="0"/>
            <a:ext cx="4873751" cy="757551"/>
          </a:xfrm>
        </p:spPr>
        <p:txBody>
          <a:bodyPr/>
          <a:lstStyle/>
          <a:p>
            <a:pPr rtl="0"/>
            <a:r>
              <a:rPr lang="es-419" dirty="0">
                <a:solidFill>
                  <a:srgbClr val="C00000"/>
                </a:solidFill>
              </a:rPr>
              <a:t>Troncales de VLAN</a:t>
            </a:r>
          </a:p>
        </p:txBody>
      </p:sp>
      <p:sp>
        <p:nvSpPr>
          <p:cNvPr id="55299" name="Rectangle 3"/>
          <p:cNvSpPr>
            <a:spLocks noGrp="1" noChangeArrowheads="1"/>
          </p:cNvSpPr>
          <p:nvPr>
            <p:ph type="body" idx="1"/>
          </p:nvPr>
        </p:nvSpPr>
        <p:spPr>
          <a:xfrm>
            <a:off x="0" y="796595"/>
            <a:ext cx="4398264" cy="1672285"/>
          </a:xfrm>
        </p:spPr>
        <p:txBody>
          <a:bodyPr/>
          <a:lstStyle/>
          <a:p>
            <a:pPr marL="0" indent="0" rtl="0">
              <a:buNone/>
            </a:pPr>
            <a:r>
              <a:rPr lang="es-419" sz="1600" dirty="0"/>
              <a:t>Las subredes asociadas a cada VLAN son:</a:t>
            </a:r>
          </a:p>
          <a:p>
            <a:pPr lvl="1" rtl="0"/>
            <a:r>
              <a:rPr lang="es-419" sz="1600" dirty="0"/>
              <a:t>VLAN 10 - </a:t>
            </a:r>
            <a:r>
              <a:rPr lang="es-419" sz="1600" dirty="0" err="1"/>
              <a:t>Faculty</a:t>
            </a:r>
            <a:r>
              <a:rPr lang="es-419" sz="1600" dirty="0"/>
              <a:t>/Staff - 172.17.10.0/24</a:t>
            </a:r>
          </a:p>
          <a:p>
            <a:pPr lvl="1" rtl="0"/>
            <a:r>
              <a:rPr lang="es-419" sz="1600" dirty="0"/>
              <a:t>VLAN 20 - </a:t>
            </a:r>
            <a:r>
              <a:rPr lang="es-419" sz="1600" dirty="0" err="1"/>
              <a:t>Students</a:t>
            </a:r>
            <a:r>
              <a:rPr lang="es-419" sz="1600" dirty="0"/>
              <a:t> - 172.17.20.0/24</a:t>
            </a:r>
          </a:p>
          <a:p>
            <a:pPr lvl="1" rtl="0"/>
            <a:r>
              <a:rPr lang="es-419" sz="1600" dirty="0"/>
              <a:t>VLAN 30 - </a:t>
            </a:r>
            <a:r>
              <a:rPr lang="es-419" sz="1600" dirty="0" err="1"/>
              <a:t>Guests</a:t>
            </a:r>
            <a:r>
              <a:rPr lang="es-419" sz="1600" dirty="0"/>
              <a:t> - 172.17.30.0/24</a:t>
            </a:r>
          </a:p>
          <a:p>
            <a:pPr lvl="1" rtl="0"/>
            <a:r>
              <a:rPr lang="es-419" sz="1600" b="1" dirty="0">
                <a:solidFill>
                  <a:srgbClr val="C00000"/>
                </a:solidFill>
              </a:rPr>
              <a:t>VLAN 99 - Native - 172.17.99.0/24</a:t>
            </a:r>
          </a:p>
        </p:txBody>
      </p:sp>
      <p:sp>
        <p:nvSpPr>
          <p:cNvPr id="3" name="Rectangle 4"/>
          <p:cNvSpPr txBox="1"/>
          <p:nvPr/>
        </p:nvSpPr>
        <p:spPr>
          <a:xfrm>
            <a:off x="109728" y="2986779"/>
            <a:ext cx="3740520" cy="2308324"/>
          </a:xfrm>
          <a:prstGeom prst="rect">
            <a:avLst/>
          </a:prstGeom>
          <a:noFill/>
        </p:spPr>
        <p:txBody>
          <a:bodyPr wrap="square" rtlCol="0">
            <a:spAutoFit/>
          </a:bodyPr>
          <a:lstStyle/>
          <a:p>
            <a:pPr algn="just" rtl="0"/>
            <a:r>
              <a:rPr lang="es-419" sz="1600" b="1" dirty="0">
                <a:solidFill>
                  <a:srgbClr val="00B0F0"/>
                </a:solidFill>
              </a:rPr>
              <a:t>La interface F0/1 en S1 esta configurado como un puerto TRUNK.</a:t>
            </a:r>
          </a:p>
          <a:p>
            <a:pPr algn="just"/>
            <a:endParaRPr lang="en-US" sz="1600" dirty="0">
              <a:solidFill>
                <a:srgbClr val="000000"/>
              </a:solidFill>
            </a:endParaRPr>
          </a:p>
          <a:p>
            <a:pPr algn="just" rtl="0"/>
            <a:r>
              <a:rPr lang="es-419" sz="1600" b="1" dirty="0">
                <a:solidFill>
                  <a:srgbClr val="000000"/>
                </a:solidFill>
              </a:rPr>
              <a:t>Nota</a:t>
            </a:r>
            <a:r>
              <a:rPr lang="es-419" sz="1600" dirty="0">
                <a:solidFill>
                  <a:srgbClr val="000000"/>
                </a:solidFill>
              </a:rPr>
              <a:t>: Esto supone un conmutador 2960 que utiliza el etiquetado 802.1q. Los switches de capa 3 requieren que la encapsulación se configure antes del modo troncal. </a:t>
            </a:r>
            <a:r>
              <a:rPr lang="es-419" sz="1600" b="1" dirty="0">
                <a:solidFill>
                  <a:srgbClr val="000000"/>
                </a:solidFill>
              </a:rPr>
              <a:t> </a:t>
            </a:r>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0236" y="9315"/>
            <a:ext cx="3481659" cy="1989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arcador de número de diapositiva 3">
            <a:extLst>
              <a:ext uri="{FF2B5EF4-FFF2-40B4-BE49-F238E27FC236}">
                <a16:creationId xmlns:a16="http://schemas.microsoft.com/office/drawing/2014/main" id="{0B067F61-DE89-3D6D-DA3B-C0004324A44C}"/>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53</a:t>
            </a:fld>
            <a:endParaRPr lang="en-US" kern="0" dirty="0">
              <a:solidFill>
                <a:srgbClr val="595959"/>
              </a:solidFill>
            </a:endParaRPr>
          </a:p>
        </p:txBody>
      </p:sp>
      <p:pic>
        <p:nvPicPr>
          <p:cNvPr id="8" name="Imagen 7">
            <a:extLst>
              <a:ext uri="{FF2B5EF4-FFF2-40B4-BE49-F238E27FC236}">
                <a16:creationId xmlns:a16="http://schemas.microsoft.com/office/drawing/2014/main" id="{CB047C7A-A73F-BE95-F430-8925A473209F}"/>
              </a:ext>
            </a:extLst>
          </p:cNvPr>
          <p:cNvPicPr>
            <a:picLocks noChangeAspect="1"/>
          </p:cNvPicPr>
          <p:nvPr/>
        </p:nvPicPr>
        <p:blipFill>
          <a:blip r:embed="rId5"/>
          <a:stretch>
            <a:fillRect/>
          </a:stretch>
        </p:blipFill>
        <p:spPr>
          <a:xfrm>
            <a:off x="4633428" y="2012842"/>
            <a:ext cx="3481659" cy="2018879"/>
          </a:xfrm>
          <a:prstGeom prst="rect">
            <a:avLst/>
          </a:prstGeom>
        </p:spPr>
      </p:pic>
      <p:pic>
        <p:nvPicPr>
          <p:cNvPr id="10" name="Imagen 9">
            <a:extLst>
              <a:ext uri="{FF2B5EF4-FFF2-40B4-BE49-F238E27FC236}">
                <a16:creationId xmlns:a16="http://schemas.microsoft.com/office/drawing/2014/main" id="{DAB77BDF-C8FA-9E91-886B-1D1ECD368122}"/>
              </a:ext>
            </a:extLst>
          </p:cNvPr>
          <p:cNvPicPr>
            <a:picLocks noChangeAspect="1"/>
          </p:cNvPicPr>
          <p:nvPr/>
        </p:nvPicPr>
        <p:blipFill>
          <a:blip r:embed="rId6"/>
          <a:stretch>
            <a:fillRect/>
          </a:stretch>
        </p:blipFill>
        <p:spPr>
          <a:xfrm>
            <a:off x="3850248" y="4033268"/>
            <a:ext cx="4919725" cy="1100917"/>
          </a:xfrm>
          <a:prstGeom prst="rect">
            <a:avLst/>
          </a:prstGeom>
        </p:spPr>
      </p:pic>
    </p:spTree>
    <p:custDataLst>
      <p:tags r:id="rId1"/>
    </p:custDataLst>
    <p:extLst>
      <p:ext uri="{BB962C8B-B14F-4D97-AF65-F5344CB8AC3E}">
        <p14:creationId xmlns:p14="http://schemas.microsoft.com/office/powerpoint/2010/main" val="387831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 y="0"/>
            <a:ext cx="4873751" cy="757551"/>
          </a:xfrm>
        </p:spPr>
        <p:txBody>
          <a:bodyPr/>
          <a:lstStyle/>
          <a:p>
            <a:pPr rtl="0"/>
            <a:r>
              <a:rPr lang="es-419" dirty="0">
                <a:solidFill>
                  <a:srgbClr val="C00000"/>
                </a:solidFill>
              </a:rPr>
              <a:t>Troncales de VLAN</a:t>
            </a:r>
          </a:p>
        </p:txBody>
      </p:sp>
      <p:sp>
        <p:nvSpPr>
          <p:cNvPr id="55299" name="Rectangle 3"/>
          <p:cNvSpPr>
            <a:spLocks noGrp="1" noChangeArrowheads="1"/>
          </p:cNvSpPr>
          <p:nvPr>
            <p:ph type="body" idx="1"/>
          </p:nvPr>
        </p:nvSpPr>
        <p:spPr>
          <a:xfrm>
            <a:off x="0" y="796595"/>
            <a:ext cx="4398264" cy="1672285"/>
          </a:xfrm>
        </p:spPr>
        <p:txBody>
          <a:bodyPr/>
          <a:lstStyle/>
          <a:p>
            <a:pPr marL="0" indent="0" rtl="0">
              <a:buNone/>
            </a:pPr>
            <a:r>
              <a:rPr lang="es-419" sz="1600"/>
              <a:t>Las subredes asociadas a cada VLAN son:</a:t>
            </a:r>
          </a:p>
          <a:p>
            <a:pPr lvl="1" rtl="0"/>
            <a:r>
              <a:rPr lang="es-419" sz="1600"/>
              <a:t>VLAN 10 - Faculty/Staff - 172.17.10.0/24</a:t>
            </a:r>
          </a:p>
          <a:p>
            <a:pPr lvl="1" rtl="0"/>
            <a:r>
              <a:rPr lang="es-419" sz="1600"/>
              <a:t>VLAN 20 - Students - 172.17.20.0/24</a:t>
            </a:r>
          </a:p>
          <a:p>
            <a:pPr lvl="1" rtl="0"/>
            <a:r>
              <a:rPr lang="es-419" sz="1600"/>
              <a:t>VLAN 30 - Guests - 172.17.30.0/24</a:t>
            </a:r>
          </a:p>
          <a:p>
            <a:pPr lvl="1" rtl="0"/>
            <a:r>
              <a:rPr lang="es-419" sz="1600"/>
              <a:t>VLAN 99 - Native - 172.17.99.0/24</a:t>
            </a:r>
          </a:p>
        </p:txBody>
      </p:sp>
      <p:sp>
        <p:nvSpPr>
          <p:cNvPr id="3" name="Rectangle 4"/>
          <p:cNvSpPr txBox="1"/>
          <p:nvPr/>
        </p:nvSpPr>
        <p:spPr>
          <a:xfrm>
            <a:off x="109728" y="2569464"/>
            <a:ext cx="3136392" cy="2062103"/>
          </a:xfrm>
          <a:prstGeom prst="rect">
            <a:avLst/>
          </a:prstGeom>
          <a:noFill/>
        </p:spPr>
        <p:txBody>
          <a:bodyPr wrap="square" rtlCol="0">
            <a:spAutoFit/>
          </a:bodyPr>
          <a:lstStyle/>
          <a:p>
            <a:pPr rtl="0"/>
            <a:r>
              <a:rPr lang="es-419" sz="1600">
                <a:solidFill>
                  <a:srgbClr val="000000"/>
                </a:solidFill>
              </a:rPr>
              <a:t>F0/1 port on S1 is configured as a trunk port.</a:t>
            </a:r>
          </a:p>
          <a:p>
            <a:endParaRPr lang="en-US" sz="1600" dirty="0">
              <a:solidFill>
                <a:srgbClr val="000000"/>
              </a:solidFill>
            </a:endParaRPr>
          </a:p>
          <a:p>
            <a:pPr rtl="0"/>
            <a:r>
              <a:rPr lang="es-419" sz="1600" b="1">
                <a:solidFill>
                  <a:srgbClr val="000000"/>
                </a:solidFill>
              </a:rPr>
              <a:t>Nota</a:t>
            </a:r>
            <a:r>
              <a:rPr lang="es-419" sz="1600">
                <a:solidFill>
                  <a:srgbClr val="000000"/>
                </a:solidFill>
              </a:rPr>
              <a:t>: Esto supone un conmutador 2960 que utiliza el etiquetado 802.1q. Los switches de capa 3 requieren que la encapsulación se configure antes del modo troncal. </a:t>
            </a:r>
            <a:r>
              <a:rPr lang="es-419" sz="1600" b="1">
                <a:solidFill>
                  <a:srgbClr val="000000"/>
                </a:solidFill>
              </a:rPr>
              <a:t> </a:t>
            </a:r>
          </a:p>
        </p:txBody>
      </p:sp>
      <p:graphicFrame>
        <p:nvGraphicFramePr>
          <p:cNvPr id="2" name="Table 1"/>
          <p:cNvGraphicFramePr>
            <a:graphicFrameLocks noGrp="1"/>
          </p:cNvGraphicFramePr>
          <p:nvPr>
            <p:extLst>
              <p:ext uri="{D42A27DB-BD31-4B8C-83A1-F6EECF244321}">
                <p14:modId xmlns:p14="http://schemas.microsoft.com/office/powerpoint/2010/main" val="2198717285"/>
              </p:ext>
            </p:extLst>
          </p:nvPr>
        </p:nvGraphicFramePr>
        <p:xfrm>
          <a:off x="3305442" y="2558606"/>
          <a:ext cx="5629656" cy="2225040"/>
        </p:xfrm>
        <a:graphic>
          <a:graphicData uri="http://schemas.openxmlformats.org/drawingml/2006/table">
            <a:tbl>
              <a:tblPr firstRow="1" bandRow="1">
                <a:tableStyleId>{21E4AEA4-8DFA-4A89-87EB-49C32662AFE0}</a:tableStyleId>
              </a:tblPr>
              <a:tblGrid>
                <a:gridCol w="1432560">
                  <a:extLst>
                    <a:ext uri="{9D8B030D-6E8A-4147-A177-3AD203B41FA5}">
                      <a16:colId xmlns:a16="http://schemas.microsoft.com/office/drawing/2014/main" val="20000"/>
                    </a:ext>
                  </a:extLst>
                </a:gridCol>
                <a:gridCol w="4197096">
                  <a:extLst>
                    <a:ext uri="{9D8B030D-6E8A-4147-A177-3AD203B41FA5}">
                      <a16:colId xmlns:a16="http://schemas.microsoft.com/office/drawing/2014/main" val="20001"/>
                    </a:ext>
                  </a:extLst>
                </a:gridCol>
              </a:tblGrid>
              <a:tr h="370840">
                <a:tc>
                  <a:txBody>
                    <a:bodyPr/>
                    <a:lstStyle/>
                    <a:p>
                      <a:pPr rtl="0"/>
                      <a:r>
                        <a:rPr lang="es-419" sz="1600"/>
                        <a:t>Indicador</a:t>
                      </a:r>
                    </a:p>
                  </a:txBody>
                  <a:tcPr/>
                </a:tc>
                <a:tc>
                  <a:txBody>
                    <a:bodyPr/>
                    <a:lstStyle/>
                    <a:p>
                      <a:pPr rtl="0"/>
                      <a:r>
                        <a:rPr lang="es-419" sz="1600"/>
                        <a:t>Comando</a:t>
                      </a:r>
                    </a:p>
                  </a:txBody>
                  <a:tcPr/>
                </a:tc>
                <a:extLst>
                  <a:ext uri="{0D108BD9-81ED-4DB2-BD59-A6C34878D82A}">
                    <a16:rowId xmlns:a16="http://schemas.microsoft.com/office/drawing/2014/main" val="10000"/>
                  </a:ext>
                </a:extLst>
              </a:tr>
              <a:tr h="370840">
                <a:tc>
                  <a:txBody>
                    <a:bodyPr/>
                    <a:lstStyle/>
                    <a:p>
                      <a:pPr rtl="0"/>
                      <a:r>
                        <a:rPr lang="es-419" sz="1600" dirty="0"/>
                        <a:t>S1(</a:t>
                      </a:r>
                      <a:r>
                        <a:rPr lang="es-419" sz="1600" dirty="0" err="1"/>
                        <a:t>config</a:t>
                      </a:r>
                      <a:r>
                        <a:rPr lang="es-419" sz="1600" dirty="0"/>
                        <a:t>)#</a:t>
                      </a:r>
                    </a:p>
                  </a:txBody>
                  <a:tcPr/>
                </a:tc>
                <a:tc>
                  <a:txBody>
                    <a:bodyPr/>
                    <a:lstStyle/>
                    <a:p>
                      <a:pPr rtl="0"/>
                      <a:r>
                        <a:rPr lang="es-419" sz="1600" dirty="0"/>
                        <a:t>Interfaz</a:t>
                      </a:r>
                      <a:r>
                        <a:rPr lang="es-419" sz="1600" baseline="0" dirty="0"/>
                        <a:t> </a:t>
                      </a:r>
                      <a:r>
                        <a:rPr lang="es-419" sz="1600" b="1" baseline="0" dirty="0">
                          <a:solidFill>
                            <a:srgbClr val="00B0F0"/>
                          </a:solidFill>
                        </a:rPr>
                        <a:t>fa0/1</a:t>
                      </a:r>
                    </a:p>
                  </a:txBody>
                  <a:tcPr/>
                </a:tc>
                <a:extLst>
                  <a:ext uri="{0D108BD9-81ED-4DB2-BD59-A6C34878D82A}">
                    <a16:rowId xmlns:a16="http://schemas.microsoft.com/office/drawing/2014/main" val="10001"/>
                  </a:ext>
                </a:extLst>
              </a:tr>
              <a:tr h="370840">
                <a:tc>
                  <a:txBody>
                    <a:bodyPr/>
                    <a:lstStyle/>
                    <a:p>
                      <a:pPr rtl="0"/>
                      <a:r>
                        <a:rPr lang="es-419" sz="1600"/>
                        <a:t>S1(config-if)#</a:t>
                      </a:r>
                    </a:p>
                  </a:txBody>
                  <a:tcPr/>
                </a:tc>
                <a:tc>
                  <a:txBody>
                    <a:bodyPr/>
                    <a:lstStyle/>
                    <a:p>
                      <a:pPr rtl="0"/>
                      <a:r>
                        <a:rPr lang="es-419" sz="1600"/>
                        <a:t>Switchport mode</a:t>
                      </a:r>
                      <a:r>
                        <a:rPr lang="es-419" sz="1600" baseline="0"/>
                        <a:t> trunk</a:t>
                      </a:r>
                    </a:p>
                  </a:txBody>
                  <a:tcPr/>
                </a:tc>
                <a:extLst>
                  <a:ext uri="{0D108BD9-81ED-4DB2-BD59-A6C34878D82A}">
                    <a16:rowId xmlns:a16="http://schemas.microsoft.com/office/drawing/2014/main" val="10002"/>
                  </a:ext>
                </a:extLst>
              </a:tr>
              <a:tr h="370840">
                <a:tc>
                  <a:txBody>
                    <a:bodyPr/>
                    <a:lstStyle/>
                    <a:p>
                      <a:pPr rtl="0"/>
                      <a:r>
                        <a:rPr lang="es-419" sz="1600"/>
                        <a:t>S1(config-if)#</a:t>
                      </a:r>
                    </a:p>
                  </a:txBody>
                  <a:tcPr/>
                </a:tc>
                <a:tc>
                  <a:txBody>
                    <a:bodyPr/>
                    <a:lstStyle/>
                    <a:p>
                      <a:pPr rtl="0"/>
                      <a:r>
                        <a:rPr lang="es-419" sz="1600"/>
                        <a:t>Switchport </a:t>
                      </a:r>
                      <a:r>
                        <a:rPr lang="es-419" sz="1600" baseline="0"/>
                        <a:t>trunk native vlan 99</a:t>
                      </a:r>
                    </a:p>
                  </a:txBody>
                  <a:tcPr/>
                </a:tc>
                <a:extLst>
                  <a:ext uri="{0D108BD9-81ED-4DB2-BD59-A6C34878D82A}">
                    <a16:rowId xmlns:a16="http://schemas.microsoft.com/office/drawing/2014/main" val="10003"/>
                  </a:ext>
                </a:extLst>
              </a:tr>
              <a:tr h="370840">
                <a:tc>
                  <a:txBody>
                    <a:bodyPr/>
                    <a:lstStyle/>
                    <a:p>
                      <a:pPr rtl="0"/>
                      <a:r>
                        <a:rPr lang="es-419" sz="1600"/>
                        <a:t>S1(config-if)#</a:t>
                      </a:r>
                    </a:p>
                  </a:txBody>
                  <a:tcPr/>
                </a:tc>
                <a:tc>
                  <a:txBody>
                    <a:bodyPr/>
                    <a:lstStyle/>
                    <a:p>
                      <a:pPr rtl="0"/>
                      <a:r>
                        <a:rPr lang="es-419" sz="1600" dirty="0" err="1"/>
                        <a:t>Switchport</a:t>
                      </a:r>
                      <a:r>
                        <a:rPr lang="es-419" sz="1600" baseline="0" dirty="0"/>
                        <a:t> </a:t>
                      </a:r>
                      <a:r>
                        <a:rPr lang="es-419" sz="1600" baseline="0" dirty="0" err="1"/>
                        <a:t>trunk</a:t>
                      </a:r>
                      <a:r>
                        <a:rPr lang="es-419" sz="1600" baseline="0" dirty="0"/>
                        <a:t> </a:t>
                      </a:r>
                      <a:r>
                        <a:rPr lang="es-419" sz="1600" baseline="0" dirty="0" err="1"/>
                        <a:t>allowed</a:t>
                      </a:r>
                      <a:r>
                        <a:rPr lang="es-419" sz="1600" baseline="0" dirty="0"/>
                        <a:t> </a:t>
                      </a:r>
                      <a:r>
                        <a:rPr lang="es-419" sz="1600" baseline="0" dirty="0" err="1"/>
                        <a:t>vlan</a:t>
                      </a:r>
                      <a:r>
                        <a:rPr lang="es-419" sz="1600" baseline="0" dirty="0"/>
                        <a:t> </a:t>
                      </a:r>
                      <a:r>
                        <a:rPr lang="es-419" sz="1600" b="1" baseline="0" dirty="0">
                          <a:solidFill>
                            <a:srgbClr val="00B0F0"/>
                          </a:solidFill>
                        </a:rPr>
                        <a:t>10,20,30,99</a:t>
                      </a:r>
                    </a:p>
                  </a:txBody>
                  <a:tcPr/>
                </a:tc>
                <a:extLst>
                  <a:ext uri="{0D108BD9-81ED-4DB2-BD59-A6C34878D82A}">
                    <a16:rowId xmlns:a16="http://schemas.microsoft.com/office/drawing/2014/main" val="10004"/>
                  </a:ext>
                </a:extLst>
              </a:tr>
              <a:tr h="370840">
                <a:tc>
                  <a:txBody>
                    <a:bodyPr/>
                    <a:lstStyle/>
                    <a:p>
                      <a:pPr rtl="0"/>
                      <a:r>
                        <a:rPr lang="es-419" sz="1600"/>
                        <a:t>S1(config-if)#</a:t>
                      </a:r>
                    </a:p>
                  </a:txBody>
                  <a:tcPr/>
                </a:tc>
                <a:tc>
                  <a:txBody>
                    <a:bodyPr/>
                    <a:lstStyle/>
                    <a:p>
                      <a:pPr rtl="0"/>
                      <a:r>
                        <a:rPr lang="es-419" sz="1600" dirty="0" err="1"/>
                        <a:t>end</a:t>
                      </a:r>
                      <a:endParaRPr lang="es-419" sz="1600" dirty="0"/>
                    </a:p>
                  </a:txBody>
                  <a:tcPr/>
                </a:tc>
                <a:extLst>
                  <a:ext uri="{0D108BD9-81ED-4DB2-BD59-A6C34878D82A}">
                    <a16:rowId xmlns:a16="http://schemas.microsoft.com/office/drawing/2014/main" val="10005"/>
                  </a:ext>
                </a:extLst>
              </a:tr>
            </a:tbl>
          </a:graphicData>
        </a:graphic>
      </p:graphicFrame>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752" y="81154"/>
            <a:ext cx="4061346" cy="23212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a:extLst>
              <a:ext uri="{FF2B5EF4-FFF2-40B4-BE49-F238E27FC236}">
                <a16:creationId xmlns:a16="http://schemas.microsoft.com/office/drawing/2014/main" id="{598AE003-72BA-AD1F-F217-C6DE6E79C6F5}"/>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54</a:t>
            </a:fld>
            <a:endParaRPr lang="en-US"/>
          </a:p>
        </p:txBody>
      </p:sp>
    </p:spTree>
    <p:custDataLst>
      <p:tags r:id="rId1"/>
    </p:custDataLst>
    <p:extLst>
      <p:ext uri="{BB962C8B-B14F-4D97-AF65-F5344CB8AC3E}">
        <p14:creationId xmlns:p14="http://schemas.microsoft.com/office/powerpoint/2010/main" val="41216432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 y="0"/>
            <a:ext cx="5904931" cy="757551"/>
          </a:xfrm>
        </p:spPr>
        <p:txBody>
          <a:bodyPr/>
          <a:lstStyle/>
          <a:p>
            <a:pPr rtl="0"/>
            <a:r>
              <a:rPr lang="es-419" dirty="0">
                <a:solidFill>
                  <a:srgbClr val="C00000"/>
                </a:solidFill>
              </a:rPr>
              <a:t>Verifique la configuración de troncales</a:t>
            </a:r>
          </a:p>
        </p:txBody>
      </p:sp>
      <p:sp>
        <p:nvSpPr>
          <p:cNvPr id="55299" name="Rectangle 3"/>
          <p:cNvSpPr>
            <a:spLocks noGrp="1" noChangeArrowheads="1"/>
          </p:cNvSpPr>
          <p:nvPr>
            <p:ph type="body" idx="1"/>
          </p:nvPr>
        </p:nvSpPr>
        <p:spPr>
          <a:xfrm>
            <a:off x="113464" y="828130"/>
            <a:ext cx="4515308" cy="3672114"/>
          </a:xfrm>
        </p:spPr>
        <p:txBody>
          <a:bodyPr/>
          <a:lstStyle/>
          <a:p>
            <a:pPr marL="0" indent="0" rtl="0">
              <a:buNone/>
            </a:pPr>
            <a:r>
              <a:rPr lang="es-419" sz="1600" dirty="0"/>
              <a:t>Establezca el modo troncal y la </a:t>
            </a:r>
            <a:r>
              <a:rPr lang="es-419" sz="1600" dirty="0" err="1"/>
              <a:t>vlan</a:t>
            </a:r>
            <a:r>
              <a:rPr lang="es-419" sz="1600" dirty="0"/>
              <a:t> nativa.</a:t>
            </a:r>
          </a:p>
          <a:p>
            <a:pPr marL="0" indent="0" rtl="0">
              <a:buNone/>
            </a:pPr>
            <a:r>
              <a:rPr lang="es-419" sz="1600" dirty="0"/>
              <a:t>Observe el comando </a:t>
            </a:r>
            <a:r>
              <a:rPr lang="es-419" sz="1600" b="1" dirty="0" err="1"/>
              <a:t>sh</a:t>
            </a:r>
            <a:r>
              <a:rPr lang="es-419" sz="1600" b="1" dirty="0"/>
              <a:t> </a:t>
            </a:r>
            <a:r>
              <a:rPr lang="es-419" sz="1600" b="1" dirty="0" err="1"/>
              <a:t>int</a:t>
            </a:r>
            <a:r>
              <a:rPr lang="es-419" sz="1600" b="1" dirty="0"/>
              <a:t> fa0/1 </a:t>
            </a:r>
            <a:r>
              <a:rPr lang="es-419" sz="1600" b="1" dirty="0" err="1"/>
              <a:t>switchport</a:t>
            </a:r>
            <a:r>
              <a:rPr lang="es-419" sz="1600" b="1" dirty="0"/>
              <a:t> </a:t>
            </a:r>
            <a:r>
              <a:rPr lang="es-419" sz="1600" dirty="0"/>
              <a:t>:</a:t>
            </a:r>
          </a:p>
          <a:p>
            <a:pPr rtl="0">
              <a:buFont typeface="Arial" panose="020B0604020202020204" pitchFamily="34" charset="0"/>
              <a:buChar char="•"/>
            </a:pPr>
            <a:r>
              <a:rPr lang="es-419" sz="1600" dirty="0"/>
              <a:t>Se establece en troncal administrativamente</a:t>
            </a:r>
          </a:p>
          <a:p>
            <a:pPr rtl="0">
              <a:buFont typeface="Arial" panose="020B0604020202020204" pitchFamily="34" charset="0"/>
              <a:buChar char="•"/>
            </a:pPr>
            <a:r>
              <a:rPr lang="es-419" sz="1600" dirty="0"/>
              <a:t>Se establece como troncal operacionalmente (en funcionamiento)</a:t>
            </a:r>
          </a:p>
          <a:p>
            <a:pPr rtl="0">
              <a:buFont typeface="Arial" panose="020B0604020202020204" pitchFamily="34" charset="0"/>
              <a:buChar char="•"/>
            </a:pPr>
            <a:r>
              <a:rPr lang="es-419" sz="1600" dirty="0"/>
              <a:t>La encapsulación es dot1q</a:t>
            </a:r>
          </a:p>
          <a:p>
            <a:pPr rtl="0">
              <a:buFont typeface="Arial" panose="020B0604020202020204" pitchFamily="34" charset="0"/>
              <a:buChar char="•"/>
            </a:pPr>
            <a:r>
              <a:rPr lang="es-419" sz="1600" dirty="0"/>
              <a:t>VLAN nativa establecida en VLAN 99 </a:t>
            </a:r>
          </a:p>
          <a:p>
            <a:pPr rtl="0">
              <a:buFont typeface="Arial" panose="020B0604020202020204" pitchFamily="34" charset="0"/>
              <a:buChar char="•"/>
            </a:pPr>
            <a:r>
              <a:rPr lang="es-419" sz="1600" dirty="0"/>
              <a:t>Todas las VLAN creadas en el switch pasarán tráfico en este troncal</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8772" y="913449"/>
            <a:ext cx="4445889" cy="4189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Marcador de número de diapositiva 1">
            <a:extLst>
              <a:ext uri="{FF2B5EF4-FFF2-40B4-BE49-F238E27FC236}">
                <a16:creationId xmlns:a16="http://schemas.microsoft.com/office/drawing/2014/main" id="{8D14E666-626D-B259-0C77-C92AB3E6C115}"/>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55</a:t>
            </a:fld>
            <a:endParaRPr lang="en-US" kern="0" dirty="0">
              <a:solidFill>
                <a:srgbClr val="595959"/>
              </a:solidFill>
            </a:endParaRPr>
          </a:p>
        </p:txBody>
      </p:sp>
    </p:spTree>
    <p:custDataLst>
      <p:tags r:id="rId1"/>
    </p:custDataLst>
    <p:extLst>
      <p:ext uri="{BB962C8B-B14F-4D97-AF65-F5344CB8AC3E}">
        <p14:creationId xmlns:p14="http://schemas.microsoft.com/office/powerpoint/2010/main" val="32512115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es-419" dirty="0">
                <a:solidFill>
                  <a:srgbClr val="C00000"/>
                </a:solidFill>
              </a:rPr>
              <a:t>Restablezca el tronco al estado predeterminado</a:t>
            </a:r>
          </a:p>
        </p:txBody>
      </p:sp>
      <p:sp>
        <p:nvSpPr>
          <p:cNvPr id="55299" name="Rectangle 3"/>
          <p:cNvSpPr>
            <a:spLocks noGrp="1" noChangeArrowheads="1"/>
          </p:cNvSpPr>
          <p:nvPr>
            <p:ph type="body" idx="1"/>
          </p:nvPr>
        </p:nvSpPr>
        <p:spPr>
          <a:xfrm>
            <a:off x="116115" y="821051"/>
            <a:ext cx="4236429" cy="2260477"/>
          </a:xfrm>
        </p:spPr>
        <p:txBody>
          <a:bodyPr/>
          <a:lstStyle/>
          <a:p>
            <a:pPr rtl="0">
              <a:buFont typeface="Arial" panose="020B0604020202020204" pitchFamily="34" charset="0"/>
              <a:buChar char="•"/>
            </a:pPr>
            <a:r>
              <a:rPr lang="es-419" sz="1800"/>
              <a:t>Restablezca la configuración predeterminada del tronco con el comando no.</a:t>
            </a:r>
          </a:p>
          <a:p>
            <a:pPr lvl="1" rtl="0">
              <a:buFont typeface="Arial" panose="020B0604020202020204" pitchFamily="34" charset="0"/>
              <a:buChar char="•"/>
            </a:pPr>
            <a:r>
              <a:rPr lang="es-419" sz="1700"/>
              <a:t>Todas las VLAN permitidas para pasar tráfico</a:t>
            </a:r>
          </a:p>
          <a:p>
            <a:pPr lvl="1" rtl="0">
              <a:buFont typeface="Arial" panose="020B0604020202020204" pitchFamily="34" charset="0"/>
              <a:buChar char="•"/>
            </a:pPr>
            <a:r>
              <a:rPr lang="es-419" sz="1700"/>
              <a:t>VLAN nativa = VLAN 1</a:t>
            </a:r>
          </a:p>
          <a:p>
            <a:pPr rtl="0">
              <a:buFont typeface="Arial" panose="020B0604020202020204" pitchFamily="34" charset="0"/>
              <a:buChar char="•"/>
            </a:pPr>
            <a:r>
              <a:rPr lang="es-419" sz="1800"/>
              <a:t>Verifique la configuración predeterminada con un comando </a:t>
            </a:r>
            <a:r>
              <a:rPr lang="es-419" sz="1800" b="1"/>
              <a:t>sh int fa0/1 switchport </a:t>
            </a:r>
            <a:r>
              <a:rPr lang="es-419" sz="1800"/>
              <a:t>.</a:t>
            </a:r>
          </a:p>
          <a:p>
            <a:pPr>
              <a:buFont typeface="Arial" panose="020B0604020202020204" pitchFamily="34" charset="0"/>
              <a:buChar char="•"/>
            </a:pPr>
            <a:endParaRPr lang="en-US" sz="1800"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 y="3680852"/>
            <a:ext cx="4196334" cy="1126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3034" y="853630"/>
            <a:ext cx="4587210" cy="3789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Marcador de número de diapositiva 1">
            <a:extLst>
              <a:ext uri="{FF2B5EF4-FFF2-40B4-BE49-F238E27FC236}">
                <a16:creationId xmlns:a16="http://schemas.microsoft.com/office/drawing/2014/main" id="{163E1A1F-8276-680C-3B5D-AF8A5BD27D41}"/>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56</a:t>
            </a:fld>
            <a:endParaRPr lang="en-US" kern="0" dirty="0">
              <a:solidFill>
                <a:srgbClr val="595959"/>
              </a:solidFill>
            </a:endParaRPr>
          </a:p>
        </p:txBody>
      </p:sp>
    </p:spTree>
    <p:extLst>
      <p:ext uri="{BB962C8B-B14F-4D97-AF65-F5344CB8AC3E}">
        <p14:creationId xmlns:p14="http://schemas.microsoft.com/office/powerpoint/2010/main" val="12651914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391237" y="1715226"/>
            <a:ext cx="8316036"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5.7 Inter-VLAN </a:t>
            </a:r>
            <a:r>
              <a:rPr lang="es-ES" sz="4000" dirty="0" err="1">
                <a:solidFill>
                  <a:schemeClr val="bg1"/>
                </a:solidFill>
                <a:effectLst>
                  <a:outerShdw blurRad="38100" dist="38100" dir="2700000" algn="tl">
                    <a:srgbClr val="000000">
                      <a:alpha val="43137"/>
                    </a:srgbClr>
                  </a:outerShdw>
                </a:effectLst>
                <a:latin typeface="Arial"/>
                <a:ea typeface="Arial"/>
                <a:cs typeface="Arial"/>
                <a:sym typeface="Arial"/>
              </a:rPr>
              <a:t>Routing</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2045756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n-US" sz="2400" dirty="0">
                <a:solidFill>
                  <a:srgbClr val="C00000"/>
                </a:solidFill>
              </a:rPr>
              <a:t>¿</a:t>
            </a:r>
            <a:r>
              <a:rPr lang="es-419" sz="2400" dirty="0">
                <a:solidFill>
                  <a:srgbClr val="C00000"/>
                </a:solidFill>
              </a:rPr>
              <a:t>Qué es Inter-VLAN </a:t>
            </a:r>
            <a:r>
              <a:rPr lang="es-419" sz="2400" dirty="0" err="1">
                <a:solidFill>
                  <a:srgbClr val="C00000"/>
                </a:solidFill>
              </a:rPr>
              <a:t>Routing</a:t>
            </a:r>
            <a:r>
              <a:rPr lang="es-419" sz="2400" dirty="0">
                <a:solidFill>
                  <a:srgbClr val="C00000"/>
                </a:solidFill>
              </a:rPr>
              <a:t>?</a:t>
            </a:r>
          </a:p>
        </p:txBody>
      </p:sp>
      <p:sp>
        <p:nvSpPr>
          <p:cNvPr id="5" name="Content Placeholder 4">
            <a:extLst>
              <a:ext uri="{FF2B5EF4-FFF2-40B4-BE49-F238E27FC236}">
                <a16:creationId xmlns:a16="http://schemas.microsoft.com/office/drawing/2014/main" id="{88A9C66E-E200-0744-A063-593632BE68AD}"/>
              </a:ext>
            </a:extLst>
          </p:cNvPr>
          <p:cNvSpPr>
            <a:spLocks noGrp="1"/>
          </p:cNvSpPr>
          <p:nvPr>
            <p:ph idx="1"/>
          </p:nvPr>
        </p:nvSpPr>
        <p:spPr>
          <a:xfrm>
            <a:off x="474662" y="731838"/>
            <a:ext cx="8280057" cy="1554162"/>
          </a:xfrm>
        </p:spPr>
        <p:txBody>
          <a:bodyPr/>
          <a:lstStyle/>
          <a:p>
            <a:pPr marL="0" indent="0" algn="just" rtl="0"/>
            <a:r>
              <a:rPr lang="es-419" sz="1400" dirty="0">
                <a:solidFill>
                  <a:srgbClr val="000000"/>
                </a:solidFill>
              </a:rPr>
              <a:t>Inter-VLA </a:t>
            </a:r>
            <a:r>
              <a:rPr lang="es-419" sz="1400" dirty="0" err="1">
                <a:solidFill>
                  <a:srgbClr val="000000"/>
                </a:solidFill>
              </a:rPr>
              <a:t>routing</a:t>
            </a:r>
            <a:r>
              <a:rPr lang="es-419" sz="1400" dirty="0">
                <a:solidFill>
                  <a:srgbClr val="000000"/>
                </a:solidFill>
              </a:rPr>
              <a:t> es el </a:t>
            </a:r>
            <a:r>
              <a:rPr lang="es-419" sz="1400" dirty="0">
                <a:solidFill>
                  <a:srgbClr val="0000CC"/>
                </a:solidFill>
              </a:rPr>
              <a:t>proceso de reenviar el tráfico de red de una VLAN </a:t>
            </a:r>
            <a:r>
              <a:rPr lang="es-419" sz="1400" dirty="0">
                <a:solidFill>
                  <a:srgbClr val="000000"/>
                </a:solidFill>
              </a:rPr>
              <a:t>a otra VLAN.</a:t>
            </a:r>
            <a:endParaRPr lang="en-US" sz="1400" dirty="0">
              <a:solidFill>
                <a:srgbClr val="000000"/>
              </a:solidFill>
            </a:endParaRPr>
          </a:p>
          <a:p>
            <a:pPr marL="0" indent="0" algn="just" rtl="0"/>
            <a:r>
              <a:rPr lang="es-419" sz="1400" b="1" dirty="0">
                <a:solidFill>
                  <a:srgbClr val="000000"/>
                </a:solidFill>
              </a:rPr>
              <a:t>Hay tres opciones inter-VLAN </a:t>
            </a:r>
            <a:r>
              <a:rPr lang="es-419" sz="1400" b="1" dirty="0" err="1">
                <a:solidFill>
                  <a:srgbClr val="000000"/>
                </a:solidFill>
              </a:rPr>
              <a:t>routing</a:t>
            </a:r>
            <a:r>
              <a:rPr lang="es-419" sz="1400" dirty="0">
                <a:solidFill>
                  <a:srgbClr val="000000"/>
                </a:solidFill>
              </a:rPr>
              <a:t>:</a:t>
            </a:r>
          </a:p>
          <a:p>
            <a:pPr marL="358835" lvl="1" indent="-285750" algn="just" rtl="0">
              <a:buFont typeface="Arial" panose="020B0604020202020204" pitchFamily="34" charset="0"/>
              <a:buChar char="•"/>
            </a:pPr>
            <a:r>
              <a:rPr lang="es-419" b="1" dirty="0">
                <a:solidFill>
                  <a:srgbClr val="000000"/>
                </a:solidFill>
              </a:rPr>
              <a:t>Enrutamiento entre VLAN (Antiguo </a:t>
            </a:r>
            <a:r>
              <a:rPr lang="es-419" dirty="0">
                <a:solidFill>
                  <a:srgbClr val="000000"/>
                </a:solidFill>
              </a:rPr>
              <a:t>o heredado) - No escala bien</a:t>
            </a:r>
          </a:p>
          <a:p>
            <a:pPr marL="358835" lvl="1" indent="-285750" algn="just" rtl="0">
              <a:buFont typeface="Arial" panose="020B0604020202020204" pitchFamily="34" charset="0"/>
              <a:buChar char="•"/>
            </a:pPr>
            <a:r>
              <a:rPr lang="es-419" b="1" dirty="0" err="1">
                <a:solidFill>
                  <a:srgbClr val="000000"/>
                </a:solidFill>
              </a:rPr>
              <a:t>Router</a:t>
            </a:r>
            <a:r>
              <a:rPr lang="es-419" b="1" dirty="0">
                <a:solidFill>
                  <a:srgbClr val="000000"/>
                </a:solidFill>
              </a:rPr>
              <a:t>-</a:t>
            </a:r>
            <a:r>
              <a:rPr lang="es-419" b="1" dirty="0" err="1">
                <a:solidFill>
                  <a:srgbClr val="000000"/>
                </a:solidFill>
              </a:rPr>
              <a:t>on</a:t>
            </a:r>
            <a:r>
              <a:rPr lang="es-419" b="1" dirty="0">
                <a:solidFill>
                  <a:srgbClr val="000000"/>
                </a:solidFill>
              </a:rPr>
              <a:t>-a-</a:t>
            </a:r>
            <a:r>
              <a:rPr lang="es-419" b="1" dirty="0" err="1">
                <a:solidFill>
                  <a:srgbClr val="000000"/>
                </a:solidFill>
              </a:rPr>
              <a:t>stick</a:t>
            </a:r>
            <a:r>
              <a:rPr lang="es-419" b="1" dirty="0">
                <a:solidFill>
                  <a:srgbClr val="000000"/>
                </a:solidFill>
              </a:rPr>
              <a:t> </a:t>
            </a:r>
            <a:r>
              <a:rPr lang="es-419" dirty="0">
                <a:solidFill>
                  <a:srgbClr val="000000"/>
                </a:solidFill>
              </a:rPr>
              <a:t>- Esta es una solución aceptable para una red pequeña y mediana. </a:t>
            </a:r>
          </a:p>
          <a:p>
            <a:pPr marL="358835" lvl="1" indent="-285750" algn="just" rtl="0">
              <a:buFont typeface="Arial" panose="020B0604020202020204" pitchFamily="34" charset="0"/>
              <a:buChar char="•"/>
            </a:pPr>
            <a:r>
              <a:rPr lang="es-419" b="1" dirty="0">
                <a:solidFill>
                  <a:srgbClr val="000000"/>
                </a:solidFill>
              </a:rPr>
              <a:t>Conmutador de nivel 3 </a:t>
            </a:r>
            <a:r>
              <a:rPr lang="es-419" dirty="0">
                <a:solidFill>
                  <a:srgbClr val="000000"/>
                </a:solidFill>
              </a:rPr>
              <a:t>con interfaces virtuales conmutadas (</a:t>
            </a:r>
            <a:r>
              <a:rPr lang="es-419" dirty="0" err="1">
                <a:solidFill>
                  <a:srgbClr val="000000"/>
                </a:solidFill>
              </a:rPr>
              <a:t>SVIs</a:t>
            </a:r>
            <a:r>
              <a:rPr lang="es-419" dirty="0">
                <a:solidFill>
                  <a:srgbClr val="000000"/>
                </a:solidFill>
              </a:rPr>
              <a:t>) : esta es la solución más escalable para organizaciones medianas y grandes. </a:t>
            </a:r>
          </a:p>
        </p:txBody>
      </p:sp>
      <p:sp>
        <p:nvSpPr>
          <p:cNvPr id="2" name="CuadroTexto 1">
            <a:extLst>
              <a:ext uri="{FF2B5EF4-FFF2-40B4-BE49-F238E27FC236}">
                <a16:creationId xmlns:a16="http://schemas.microsoft.com/office/drawing/2014/main" id="{860C5A60-3E51-B70D-D967-D7C7ED66E291}"/>
              </a:ext>
            </a:extLst>
          </p:cNvPr>
          <p:cNvSpPr txBox="1"/>
          <p:nvPr/>
        </p:nvSpPr>
        <p:spPr>
          <a:xfrm>
            <a:off x="8699715" y="4830305"/>
            <a:ext cx="583770" cy="276999"/>
          </a:xfrm>
          <a:prstGeom prst="rect">
            <a:avLst/>
          </a:prstGeom>
          <a:noFill/>
        </p:spPr>
        <p:txBody>
          <a:bodyPr wrap="square" rtlCol="0">
            <a:spAutoFit/>
          </a:bodyPr>
          <a:lstStyle/>
          <a:p>
            <a:r>
              <a:rPr lang="es-ES" sz="1200" dirty="0">
                <a:solidFill>
                  <a:srgbClr val="00B0F0"/>
                </a:solidFill>
              </a:rPr>
              <a:t>58</a:t>
            </a:r>
            <a:endParaRPr lang="es-PE" sz="1200" dirty="0">
              <a:solidFill>
                <a:srgbClr val="00B0F0"/>
              </a:solidFill>
            </a:endParaRPr>
          </a:p>
        </p:txBody>
      </p:sp>
      <p:pic>
        <p:nvPicPr>
          <p:cNvPr id="6" name="Imagen 5">
            <a:extLst>
              <a:ext uri="{FF2B5EF4-FFF2-40B4-BE49-F238E27FC236}">
                <a16:creationId xmlns:a16="http://schemas.microsoft.com/office/drawing/2014/main" id="{1AF0DE0F-9B84-4EEE-D38E-20E10DC2EEAF}"/>
              </a:ext>
            </a:extLst>
          </p:cNvPr>
          <p:cNvPicPr>
            <a:picLocks noChangeAspect="1"/>
          </p:cNvPicPr>
          <p:nvPr/>
        </p:nvPicPr>
        <p:blipFill>
          <a:blip r:embed="rId3"/>
          <a:stretch>
            <a:fillRect/>
          </a:stretch>
        </p:blipFill>
        <p:spPr>
          <a:xfrm>
            <a:off x="40092" y="2612101"/>
            <a:ext cx="3837288" cy="2098122"/>
          </a:xfrm>
          <a:prstGeom prst="rect">
            <a:avLst/>
          </a:prstGeom>
        </p:spPr>
      </p:pic>
      <p:sp>
        <p:nvSpPr>
          <p:cNvPr id="12" name="CuadroTexto 11">
            <a:extLst>
              <a:ext uri="{FF2B5EF4-FFF2-40B4-BE49-F238E27FC236}">
                <a16:creationId xmlns:a16="http://schemas.microsoft.com/office/drawing/2014/main" id="{5BF57242-D73A-E1FB-3BEC-FDBC031B7F10}"/>
              </a:ext>
            </a:extLst>
          </p:cNvPr>
          <p:cNvSpPr txBox="1"/>
          <p:nvPr/>
        </p:nvSpPr>
        <p:spPr>
          <a:xfrm>
            <a:off x="1418681" y="4771199"/>
            <a:ext cx="1164345" cy="369332"/>
          </a:xfrm>
          <a:prstGeom prst="rect">
            <a:avLst/>
          </a:prstGeom>
          <a:noFill/>
        </p:spPr>
        <p:txBody>
          <a:bodyPr wrap="square">
            <a:spAutoFit/>
          </a:bodyPr>
          <a:lstStyle/>
          <a:p>
            <a:r>
              <a:rPr lang="es-419" b="1" dirty="0">
                <a:solidFill>
                  <a:srgbClr val="0000CC"/>
                </a:solidFill>
              </a:rPr>
              <a:t>Antiguo</a:t>
            </a:r>
            <a:endParaRPr lang="es-PE" dirty="0">
              <a:solidFill>
                <a:srgbClr val="0000CC"/>
              </a:solidFill>
            </a:endParaRPr>
          </a:p>
        </p:txBody>
      </p:sp>
      <p:grpSp>
        <p:nvGrpSpPr>
          <p:cNvPr id="4" name="Grupo 3">
            <a:extLst>
              <a:ext uri="{FF2B5EF4-FFF2-40B4-BE49-F238E27FC236}">
                <a16:creationId xmlns:a16="http://schemas.microsoft.com/office/drawing/2014/main" id="{50370817-D918-3D7F-7276-65D93E32B8EF}"/>
              </a:ext>
            </a:extLst>
          </p:cNvPr>
          <p:cNvGrpSpPr/>
          <p:nvPr/>
        </p:nvGrpSpPr>
        <p:grpSpPr>
          <a:xfrm>
            <a:off x="3797597" y="2531399"/>
            <a:ext cx="2829049" cy="2669518"/>
            <a:chOff x="3797597" y="2531399"/>
            <a:chExt cx="2829049" cy="2669518"/>
          </a:xfrm>
        </p:grpSpPr>
        <p:pic>
          <p:nvPicPr>
            <p:cNvPr id="8" name="Imagen 7">
              <a:extLst>
                <a:ext uri="{FF2B5EF4-FFF2-40B4-BE49-F238E27FC236}">
                  <a16:creationId xmlns:a16="http://schemas.microsoft.com/office/drawing/2014/main" id="{D1F69520-C8D3-344B-E8AD-10A68B4D7BEC}"/>
                </a:ext>
              </a:extLst>
            </p:cNvPr>
            <p:cNvPicPr>
              <a:picLocks noChangeAspect="1"/>
            </p:cNvPicPr>
            <p:nvPr/>
          </p:nvPicPr>
          <p:blipFill>
            <a:blip r:embed="rId4"/>
            <a:stretch>
              <a:fillRect/>
            </a:stretch>
          </p:blipFill>
          <p:spPr>
            <a:xfrm>
              <a:off x="3797597" y="2531399"/>
              <a:ext cx="2829049" cy="2457117"/>
            </a:xfrm>
            <a:prstGeom prst="rect">
              <a:avLst/>
            </a:prstGeom>
          </p:spPr>
        </p:pic>
        <p:sp>
          <p:nvSpPr>
            <p:cNvPr id="14" name="CuadroTexto 13">
              <a:extLst>
                <a:ext uri="{FF2B5EF4-FFF2-40B4-BE49-F238E27FC236}">
                  <a16:creationId xmlns:a16="http://schemas.microsoft.com/office/drawing/2014/main" id="{B8B06ECE-D6EE-78CE-FFAF-159FF54476C1}"/>
                </a:ext>
              </a:extLst>
            </p:cNvPr>
            <p:cNvSpPr txBox="1"/>
            <p:nvPr/>
          </p:nvSpPr>
          <p:spPr>
            <a:xfrm>
              <a:off x="4380450" y="4893140"/>
              <a:ext cx="2063250" cy="307777"/>
            </a:xfrm>
            <a:prstGeom prst="rect">
              <a:avLst/>
            </a:prstGeom>
            <a:noFill/>
          </p:spPr>
          <p:txBody>
            <a:bodyPr wrap="square">
              <a:spAutoFit/>
            </a:bodyPr>
            <a:lstStyle/>
            <a:p>
              <a:r>
                <a:rPr lang="es-419" sz="1400" b="1" dirty="0" err="1">
                  <a:solidFill>
                    <a:srgbClr val="7030A0"/>
                  </a:solidFill>
                </a:rPr>
                <a:t>Router</a:t>
              </a:r>
              <a:r>
                <a:rPr lang="es-419" sz="1400" b="1" dirty="0">
                  <a:solidFill>
                    <a:srgbClr val="7030A0"/>
                  </a:solidFill>
                </a:rPr>
                <a:t>-</a:t>
              </a:r>
              <a:r>
                <a:rPr lang="es-419" sz="1400" b="1" dirty="0" err="1">
                  <a:solidFill>
                    <a:srgbClr val="7030A0"/>
                  </a:solidFill>
                </a:rPr>
                <a:t>on</a:t>
              </a:r>
              <a:r>
                <a:rPr lang="es-419" sz="1400" b="1" dirty="0">
                  <a:solidFill>
                    <a:srgbClr val="7030A0"/>
                  </a:solidFill>
                </a:rPr>
                <a:t>-a-</a:t>
              </a:r>
              <a:r>
                <a:rPr lang="es-419" sz="1400" b="1" dirty="0" err="1">
                  <a:solidFill>
                    <a:srgbClr val="7030A0"/>
                  </a:solidFill>
                </a:rPr>
                <a:t>stick</a:t>
              </a:r>
              <a:endParaRPr lang="es-PE" sz="1400" b="1" dirty="0">
                <a:solidFill>
                  <a:srgbClr val="7030A0"/>
                </a:solidFill>
              </a:endParaRPr>
            </a:p>
          </p:txBody>
        </p:sp>
      </p:grpSp>
      <p:grpSp>
        <p:nvGrpSpPr>
          <p:cNvPr id="7" name="Grupo 6">
            <a:extLst>
              <a:ext uri="{FF2B5EF4-FFF2-40B4-BE49-F238E27FC236}">
                <a16:creationId xmlns:a16="http://schemas.microsoft.com/office/drawing/2014/main" id="{26316D11-E713-034F-3737-DD87F39A894B}"/>
              </a:ext>
            </a:extLst>
          </p:cNvPr>
          <p:cNvGrpSpPr/>
          <p:nvPr/>
        </p:nvGrpSpPr>
        <p:grpSpPr>
          <a:xfrm>
            <a:off x="6575069" y="2857501"/>
            <a:ext cx="2607746" cy="2252605"/>
            <a:chOff x="6575069" y="2857501"/>
            <a:chExt cx="2607746" cy="2252605"/>
          </a:xfrm>
        </p:grpSpPr>
        <p:pic>
          <p:nvPicPr>
            <p:cNvPr id="10" name="Imagen 9">
              <a:extLst>
                <a:ext uri="{FF2B5EF4-FFF2-40B4-BE49-F238E27FC236}">
                  <a16:creationId xmlns:a16="http://schemas.microsoft.com/office/drawing/2014/main" id="{1A42B075-160A-EF61-C065-49A647620307}"/>
                </a:ext>
              </a:extLst>
            </p:cNvPr>
            <p:cNvPicPr>
              <a:picLocks noChangeAspect="1"/>
            </p:cNvPicPr>
            <p:nvPr/>
          </p:nvPicPr>
          <p:blipFill>
            <a:blip r:embed="rId5"/>
            <a:stretch>
              <a:fillRect/>
            </a:stretch>
          </p:blipFill>
          <p:spPr>
            <a:xfrm>
              <a:off x="6575069" y="2857501"/>
              <a:ext cx="2607746" cy="2035639"/>
            </a:xfrm>
            <a:prstGeom prst="rect">
              <a:avLst/>
            </a:prstGeom>
          </p:spPr>
        </p:pic>
        <p:sp>
          <p:nvSpPr>
            <p:cNvPr id="16" name="CuadroTexto 15">
              <a:extLst>
                <a:ext uri="{FF2B5EF4-FFF2-40B4-BE49-F238E27FC236}">
                  <a16:creationId xmlns:a16="http://schemas.microsoft.com/office/drawing/2014/main" id="{51A05A8D-B023-797C-2435-90987E435EAD}"/>
                </a:ext>
              </a:extLst>
            </p:cNvPr>
            <p:cNvSpPr txBox="1"/>
            <p:nvPr/>
          </p:nvSpPr>
          <p:spPr>
            <a:xfrm>
              <a:off x="6626646" y="4802329"/>
              <a:ext cx="2128073" cy="307777"/>
            </a:xfrm>
            <a:prstGeom prst="rect">
              <a:avLst/>
            </a:prstGeom>
            <a:noFill/>
          </p:spPr>
          <p:txBody>
            <a:bodyPr wrap="square">
              <a:spAutoFit/>
            </a:bodyPr>
            <a:lstStyle/>
            <a:p>
              <a:r>
                <a:rPr lang="es-419" sz="1400" b="1" dirty="0">
                  <a:solidFill>
                    <a:schemeClr val="bg2">
                      <a:lumMod val="75000"/>
                    </a:schemeClr>
                  </a:solidFill>
                </a:rPr>
                <a:t>Conmutador de nivel 3</a:t>
              </a:r>
              <a:endParaRPr lang="es-PE" sz="1400" b="1" dirty="0">
                <a:solidFill>
                  <a:schemeClr val="bg2">
                    <a:lumMod val="75000"/>
                  </a:schemeClr>
                </a:solidFill>
              </a:endParaRPr>
            </a:p>
          </p:txBody>
        </p:sp>
      </p:gr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Inter-VLAN </a:t>
            </a:r>
            <a:r>
              <a:rPr lang="es-419" sz="2400" dirty="0" err="1">
                <a:solidFill>
                  <a:srgbClr val="C00000"/>
                </a:solidFill>
              </a:rPr>
              <a:t>Routing</a:t>
            </a:r>
            <a:r>
              <a:rPr lang="es-419" sz="2400" dirty="0">
                <a:solidFill>
                  <a:srgbClr val="C00000"/>
                </a:solidFill>
              </a:rPr>
              <a:t> en el Switch capa 3</a:t>
            </a:r>
          </a:p>
        </p:txBody>
      </p:sp>
      <p:sp>
        <p:nvSpPr>
          <p:cNvPr id="4" name="Content Placeholder 3">
            <a:extLst>
              <a:ext uri="{FF2B5EF4-FFF2-40B4-BE49-F238E27FC236}">
                <a16:creationId xmlns:a16="http://schemas.microsoft.com/office/drawing/2014/main" id="{48826254-EE24-7943-9316-7EFCA38FE816}"/>
              </a:ext>
            </a:extLst>
          </p:cNvPr>
          <p:cNvSpPr>
            <a:spLocks noGrp="1"/>
          </p:cNvSpPr>
          <p:nvPr>
            <p:ph idx="1"/>
          </p:nvPr>
        </p:nvSpPr>
        <p:spPr>
          <a:xfrm>
            <a:off x="474662" y="731838"/>
            <a:ext cx="8280057" cy="1337626"/>
          </a:xfrm>
        </p:spPr>
        <p:txBody>
          <a:bodyPr/>
          <a:lstStyle/>
          <a:p>
            <a:pPr marL="0" indent="0" algn="l" rtl="0"/>
            <a:r>
              <a:rPr lang="es-419" sz="1400">
                <a:solidFill>
                  <a:srgbClr val="000000"/>
                </a:solidFill>
              </a:rPr>
              <a:t>El método moderno para realizar el enrutamiento entre VLAN es utilizar conmutadores de capa 3 e interfaces virtuales conmutadas (SVI). Una SVI es una interfaz virtual configurada en un switch multicapa, como se muestra en la figura.</a:t>
            </a:r>
          </a:p>
          <a:p>
            <a:pPr marL="0" indent="0" algn="l"/>
            <a:endParaRPr lang="en-US" sz="1400" b="1" dirty="0">
              <a:solidFill>
                <a:srgbClr val="000000"/>
              </a:solidFill>
            </a:endParaRPr>
          </a:p>
          <a:p>
            <a:pPr marL="0" indent="0" algn="l" rtl="0"/>
            <a:r>
              <a:rPr lang="es-419" sz="1400" b="1">
                <a:solidFill>
                  <a:srgbClr val="000000"/>
                </a:solidFill>
              </a:rPr>
              <a:t>Nota</a:t>
            </a:r>
            <a:r>
              <a:rPr lang="es-419" sz="1400">
                <a:solidFill>
                  <a:srgbClr val="000000"/>
                </a:solidFill>
              </a:rPr>
              <a:t>: Un conmutador de capa 3 también se denomina conmutador multicapa ya que funciona en la capa 2 y la capa 3. Sin embargo, en este curso usamos el término Layer 3 switch. </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5B6DF6E-1A76-DA43-AD91-742D3B35BFA4}"/>
              </a:ext>
            </a:extLst>
          </p:cNvPr>
          <p:cNvPicPr>
            <a:picLocks noChangeAspect="1"/>
          </p:cNvPicPr>
          <p:nvPr/>
        </p:nvPicPr>
        <p:blipFill>
          <a:blip r:embed="rId3"/>
          <a:stretch>
            <a:fillRect/>
          </a:stretch>
        </p:blipFill>
        <p:spPr>
          <a:xfrm>
            <a:off x="2470150" y="2268969"/>
            <a:ext cx="4203700" cy="2501900"/>
          </a:xfrm>
          <a:prstGeom prst="rect">
            <a:avLst/>
          </a:prstGeom>
        </p:spPr>
      </p:pic>
    </p:spTree>
    <p:extLst>
      <p:ext uri="{BB962C8B-B14F-4D97-AF65-F5344CB8AC3E}">
        <p14:creationId xmlns:p14="http://schemas.microsoft.com/office/powerpoint/2010/main" val="38389408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Inter-VLAN </a:t>
            </a:r>
            <a:r>
              <a:rPr lang="es-419" sz="2400" dirty="0" err="1">
                <a:solidFill>
                  <a:srgbClr val="C00000"/>
                </a:solidFill>
              </a:rPr>
              <a:t>Routing</a:t>
            </a:r>
            <a:r>
              <a:rPr lang="es-419" sz="2400" dirty="0">
                <a:solidFill>
                  <a:srgbClr val="C00000"/>
                </a:solidFill>
              </a:rPr>
              <a:t> en el Switch capa 3 (Cont.)</a:t>
            </a:r>
          </a:p>
        </p:txBody>
      </p:sp>
      <p:sp>
        <p:nvSpPr>
          <p:cNvPr id="5" name="Content Placeholder 4">
            <a:extLst>
              <a:ext uri="{FF2B5EF4-FFF2-40B4-BE49-F238E27FC236}">
                <a16:creationId xmlns:a16="http://schemas.microsoft.com/office/drawing/2014/main" id="{3AA16A1B-27DD-E847-9D2D-EC7E3FD04156}"/>
              </a:ext>
            </a:extLst>
          </p:cNvPr>
          <p:cNvSpPr>
            <a:spLocks noGrp="1"/>
          </p:cNvSpPr>
          <p:nvPr>
            <p:ph idx="1"/>
          </p:nvPr>
        </p:nvSpPr>
        <p:spPr>
          <a:xfrm>
            <a:off x="474662" y="731837"/>
            <a:ext cx="8280057" cy="3689897"/>
          </a:xfrm>
        </p:spPr>
        <p:txBody>
          <a:bodyPr/>
          <a:lstStyle/>
          <a:p>
            <a:pPr marL="0" indent="0" algn="l" rtl="0"/>
            <a:r>
              <a:rPr lang="es-419" sz="1400">
                <a:solidFill>
                  <a:srgbClr val="000000"/>
                </a:solidFill>
              </a:rPr>
              <a:t>Los SVIs entre VLAN se crean de la misma manera que se configura la interfaz de VLAN de administración. El SVI se crea para una VLAN que existe en el switch. Aunque es virtual, el SVI realiza las mismas funciones para la VLAN que lo haría una interfaz de enrutador. Específicamente, proporciona el procesamiento de Capa 3 para los paquetes que se envían hacia o desde todos los puertos de switch asociados con esa VLAN.</a:t>
            </a:r>
          </a:p>
          <a:p>
            <a:pPr marL="0" indent="0" algn="l"/>
            <a:endParaRPr lang="en-US" sz="1400" dirty="0">
              <a:solidFill>
                <a:srgbClr val="000000"/>
              </a:solidFill>
            </a:endParaRPr>
          </a:p>
          <a:p>
            <a:pPr marL="0" indent="0" algn="l" rtl="0"/>
            <a:r>
              <a:rPr lang="es-419" sz="1400">
                <a:solidFill>
                  <a:srgbClr val="000000"/>
                </a:solidFill>
              </a:rPr>
              <a:t>A continuación se presentan las ventajas del uso de conmutadores de capa 3 para el enrutamiento entre VLAN:</a:t>
            </a:r>
          </a:p>
          <a:p>
            <a:pPr marL="415985" lvl="1" indent="-342900" rtl="0">
              <a:buFont typeface="Arial" panose="020B0604020202020204" pitchFamily="34" charset="0"/>
              <a:buChar char="•"/>
            </a:pPr>
            <a:r>
              <a:rPr lang="es-419">
                <a:solidFill>
                  <a:srgbClr val="000000"/>
                </a:solidFill>
              </a:rPr>
              <a:t>Es mucho más veloz que router-on-a-stick, porque todo el switching y el routing se realizan por hardware.</a:t>
            </a:r>
          </a:p>
          <a:p>
            <a:pPr marL="415985" lvl="1" indent="-342900" rtl="0">
              <a:buFont typeface="Arial" panose="020B0604020202020204" pitchFamily="34" charset="0"/>
              <a:buChar char="•"/>
            </a:pPr>
            <a:r>
              <a:rPr lang="es-419">
                <a:solidFill>
                  <a:srgbClr val="000000"/>
                </a:solidFill>
              </a:rPr>
              <a:t>El routing no requiere enlaces externos del switch al router.</a:t>
            </a:r>
          </a:p>
          <a:p>
            <a:pPr marL="415985" lvl="1" indent="-342900" rtl="0">
              <a:buFont typeface="Arial" panose="020B0604020202020204" pitchFamily="34" charset="0"/>
              <a:buChar char="•"/>
            </a:pPr>
            <a:r>
              <a:rPr lang="es-419">
                <a:solidFill>
                  <a:srgbClr val="000000"/>
                </a:solidFill>
              </a:rPr>
              <a:t>No se limitan a un enlace porque los EtherChannels de Capa 2 se pueden utilizar como enlaces troncal entre los switches para aumentar el ancho de banda.</a:t>
            </a:r>
          </a:p>
          <a:p>
            <a:pPr marL="415985" lvl="1" indent="-342900" rtl="0">
              <a:buFont typeface="Arial" panose="020B0604020202020204" pitchFamily="34" charset="0"/>
              <a:buChar char="•"/>
            </a:pPr>
            <a:r>
              <a:rPr lang="es-419">
                <a:solidFill>
                  <a:srgbClr val="000000"/>
                </a:solidFill>
              </a:rPr>
              <a:t>La latencia es mucho más baja, dado que los datos no necesitan salir del switch para ser enrutados a una red diferente.</a:t>
            </a:r>
          </a:p>
          <a:p>
            <a:pPr marL="415985" lvl="1" indent="-342900" rtl="0">
              <a:buFont typeface="Arial" panose="020B0604020202020204" pitchFamily="34" charset="0"/>
              <a:buChar char="•"/>
            </a:pPr>
            <a:r>
              <a:rPr lang="es-419">
                <a:solidFill>
                  <a:srgbClr val="000000"/>
                </a:solidFill>
              </a:rPr>
              <a:t>Se implementan con mayor frecuencia en una LAN de campus que en enrutadores.</a:t>
            </a:r>
          </a:p>
          <a:p>
            <a:pPr marL="342900" indent="-342900" algn="l" rtl="0">
              <a:buFont typeface="Arial" panose="020B0604020202020204" pitchFamily="34" charset="0"/>
              <a:buChar char="•"/>
            </a:pPr>
            <a:r>
              <a:rPr lang="es-419" sz="1400">
                <a:solidFill>
                  <a:srgbClr val="000000"/>
                </a:solidFill>
              </a:rPr>
              <a:t>La única desventaja es que los switches de capa 3 son más caros.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35183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478810" y="1765268"/>
            <a:ext cx="7787184"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419" sz="4000" dirty="0" err="1">
                <a:solidFill>
                  <a:schemeClr val="bg1"/>
                </a:solidFill>
              </a:rPr>
              <a:t>Router</a:t>
            </a:r>
            <a:r>
              <a:rPr lang="es-419" sz="4000" dirty="0">
                <a:solidFill>
                  <a:schemeClr val="bg1"/>
                </a:solidFill>
              </a:rPr>
              <a:t>-</a:t>
            </a:r>
            <a:r>
              <a:rPr lang="es-419" sz="4000" dirty="0" err="1">
                <a:solidFill>
                  <a:schemeClr val="bg1"/>
                </a:solidFill>
              </a:rPr>
              <a:t>on</a:t>
            </a:r>
            <a:r>
              <a:rPr lang="es-419" sz="4000" dirty="0">
                <a:solidFill>
                  <a:schemeClr val="bg1"/>
                </a:solidFill>
              </a:rPr>
              <a:t>-a-</a:t>
            </a:r>
            <a:r>
              <a:rPr lang="es-419" sz="4000" dirty="0" err="1">
                <a:solidFill>
                  <a:schemeClr val="bg1"/>
                </a:solidFill>
              </a:rPr>
              <a:t>Stick</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18684894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ube 9">
            <a:extLst>
              <a:ext uri="{FF2B5EF4-FFF2-40B4-BE49-F238E27FC236}">
                <a16:creationId xmlns:a16="http://schemas.microsoft.com/office/drawing/2014/main" id="{6E9181B7-A647-DA37-2303-212C15BA6813}"/>
              </a:ext>
            </a:extLst>
          </p:cNvPr>
          <p:cNvSpPr/>
          <p:nvPr/>
        </p:nvSpPr>
        <p:spPr>
          <a:xfrm>
            <a:off x="4644483" y="1137423"/>
            <a:ext cx="2029522" cy="551985"/>
          </a:xfrm>
          <a:prstGeom prst="cloud">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600" b="1" dirty="0"/>
              <a:t>INTERNET</a:t>
            </a: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0084" y="0"/>
            <a:ext cx="9002972" cy="731837"/>
          </a:xfrm>
        </p:spPr>
        <p:txBody>
          <a:bodyPr/>
          <a:lstStyle/>
          <a:p>
            <a:pPr rtl="0"/>
            <a:r>
              <a:rPr lang="es-419" sz="2400" dirty="0">
                <a:solidFill>
                  <a:srgbClr val="C00000"/>
                </a:solidFill>
              </a:rPr>
              <a:t>Configuración de Dirección IP en un </a:t>
            </a:r>
            <a:r>
              <a:rPr lang="es-419" sz="2400" dirty="0" err="1">
                <a:solidFill>
                  <a:srgbClr val="C00000"/>
                </a:solidFill>
              </a:rPr>
              <a:t>Router</a:t>
            </a:r>
            <a:endParaRPr lang="es-419" sz="2400" dirty="0">
              <a:solidFill>
                <a:srgbClr val="C00000"/>
              </a:solidFill>
            </a:endParaRPr>
          </a:p>
        </p:txBody>
      </p:sp>
      <p:pic>
        <p:nvPicPr>
          <p:cNvPr id="8" name="Imagen 7">
            <a:extLst>
              <a:ext uri="{FF2B5EF4-FFF2-40B4-BE49-F238E27FC236}">
                <a16:creationId xmlns:a16="http://schemas.microsoft.com/office/drawing/2014/main" id="{4E045365-425B-0231-98EC-AA89289A316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64" b="89899" l="4705" r="94194">
                        <a14:foregroundMark x1="45045" y1="26936" x2="49349" y2="26263"/>
                        <a14:foregroundMark x1="14715" y1="19865" x2="16416" y2="26599"/>
                        <a14:foregroundMark x1="19219" y1="35690" x2="19219" y2="35690"/>
                        <a14:foregroundMark x1="28428" y1="24242" x2="27728" y2="23906"/>
                        <a14:foregroundMark x1="33133" y1="25253" x2="31832" y2="24242"/>
                        <a14:foregroundMark x1="35135" y1="24242" x2="39840" y2="24916"/>
                        <a14:foregroundMark x1="63664" y1="24242" x2="63664" y2="24242"/>
                        <a14:foregroundMark x1="71972" y1="23906" x2="74174" y2="24242"/>
                      </a14:backgroundRemoval>
                    </a14:imgEffect>
                  </a14:imgLayer>
                </a14:imgProps>
              </a:ext>
            </a:extLst>
          </a:blip>
          <a:stretch>
            <a:fillRect/>
          </a:stretch>
        </p:blipFill>
        <p:spPr>
          <a:xfrm>
            <a:off x="529683" y="1019168"/>
            <a:ext cx="4861932" cy="1445439"/>
          </a:xfrm>
          <a:prstGeom prst="rect">
            <a:avLst/>
          </a:prstGeom>
        </p:spPr>
      </p:pic>
      <p:sp>
        <p:nvSpPr>
          <p:cNvPr id="12" name="CuadroTexto 11">
            <a:extLst>
              <a:ext uri="{FF2B5EF4-FFF2-40B4-BE49-F238E27FC236}">
                <a16:creationId xmlns:a16="http://schemas.microsoft.com/office/drawing/2014/main" id="{4B103092-FC15-03C7-1AC7-0F2DEF403B27}"/>
              </a:ext>
            </a:extLst>
          </p:cNvPr>
          <p:cNvSpPr txBox="1"/>
          <p:nvPr/>
        </p:nvSpPr>
        <p:spPr>
          <a:xfrm>
            <a:off x="3625837" y="788335"/>
            <a:ext cx="1408937" cy="461665"/>
          </a:xfrm>
          <a:prstGeom prst="rect">
            <a:avLst/>
          </a:prstGeom>
          <a:noFill/>
        </p:spPr>
        <p:txBody>
          <a:bodyPr wrap="square" rtlCol="0">
            <a:spAutoFit/>
          </a:bodyPr>
          <a:lstStyle/>
          <a:p>
            <a:pPr algn="ctr"/>
            <a:r>
              <a:rPr lang="es-PE" sz="1200" dirty="0"/>
              <a:t>Fa 0/1</a:t>
            </a:r>
          </a:p>
          <a:p>
            <a:pPr algn="ctr"/>
            <a:r>
              <a:rPr lang="es-PE" sz="1200" b="1" dirty="0"/>
              <a:t>192.168.1.1 /24</a:t>
            </a:r>
          </a:p>
        </p:txBody>
      </p:sp>
      <p:sp>
        <p:nvSpPr>
          <p:cNvPr id="16" name="CuadroTexto 15">
            <a:extLst>
              <a:ext uri="{FF2B5EF4-FFF2-40B4-BE49-F238E27FC236}">
                <a16:creationId xmlns:a16="http://schemas.microsoft.com/office/drawing/2014/main" id="{C3F2F9B6-5D43-3D4C-1570-EDFC7A408F02}"/>
              </a:ext>
            </a:extLst>
          </p:cNvPr>
          <p:cNvSpPr txBox="1"/>
          <p:nvPr/>
        </p:nvSpPr>
        <p:spPr>
          <a:xfrm>
            <a:off x="611291" y="1593082"/>
            <a:ext cx="1408937" cy="276999"/>
          </a:xfrm>
          <a:prstGeom prst="rect">
            <a:avLst/>
          </a:prstGeom>
          <a:noFill/>
        </p:spPr>
        <p:txBody>
          <a:bodyPr wrap="square" rtlCol="0">
            <a:spAutoFit/>
          </a:bodyPr>
          <a:lstStyle/>
          <a:p>
            <a:pPr algn="ctr"/>
            <a:r>
              <a:rPr lang="es-PE" sz="1200" b="1" dirty="0"/>
              <a:t>192.168.1.11 /24</a:t>
            </a:r>
          </a:p>
        </p:txBody>
      </p:sp>
      <p:sp>
        <p:nvSpPr>
          <p:cNvPr id="18" name="CuadroTexto 17">
            <a:extLst>
              <a:ext uri="{FF2B5EF4-FFF2-40B4-BE49-F238E27FC236}">
                <a16:creationId xmlns:a16="http://schemas.microsoft.com/office/drawing/2014/main" id="{3A9F4A98-B66F-B46E-5DDC-9820E5FEA1E8}"/>
              </a:ext>
            </a:extLst>
          </p:cNvPr>
          <p:cNvSpPr txBox="1"/>
          <p:nvPr/>
        </p:nvSpPr>
        <p:spPr>
          <a:xfrm>
            <a:off x="611291" y="2591228"/>
            <a:ext cx="6254440" cy="1200329"/>
          </a:xfrm>
          <a:prstGeom prst="rect">
            <a:avLst/>
          </a:prstGeom>
          <a:noFill/>
        </p:spPr>
        <p:txBody>
          <a:bodyPr wrap="square">
            <a:spAutoFit/>
          </a:bodyPr>
          <a:lstStyle/>
          <a:p>
            <a:pPr algn="just">
              <a:spcBef>
                <a:spcPts val="40"/>
              </a:spcBef>
            </a:pPr>
            <a:r>
              <a:rPr lang="en-US" sz="1800" dirty="0">
                <a:solidFill>
                  <a:srgbClr val="000000"/>
                </a:solidFill>
                <a:effectLst/>
                <a:latin typeface="Arial" panose="020B0604020202020204" pitchFamily="34" charset="0"/>
                <a:ea typeface="Times New Roman" panose="02020603050405020304" pitchFamily="18" charset="0"/>
              </a:rPr>
              <a:t>R1(config)#interface </a:t>
            </a:r>
            <a:r>
              <a:rPr lang="en-US" sz="1800" dirty="0" err="1">
                <a:solidFill>
                  <a:srgbClr val="000000"/>
                </a:solidFill>
                <a:effectLst/>
                <a:latin typeface="Arial" panose="020B0604020202020204" pitchFamily="34" charset="0"/>
                <a:ea typeface="Times New Roman" panose="02020603050405020304" pitchFamily="18" charset="0"/>
              </a:rPr>
              <a:t>fastEthernet</a:t>
            </a:r>
            <a:r>
              <a:rPr lang="en-US" sz="1800" dirty="0">
                <a:solidFill>
                  <a:srgbClr val="000000"/>
                </a:solidFill>
                <a:effectLst/>
                <a:latin typeface="Arial" panose="020B0604020202020204" pitchFamily="34" charset="0"/>
                <a:ea typeface="Times New Roman" panose="02020603050405020304" pitchFamily="18" charset="0"/>
              </a:rPr>
              <a:t> 0/1</a:t>
            </a:r>
            <a:endParaRPr lang="es-PE" sz="1800" dirty="0">
              <a:effectLst/>
              <a:latin typeface="Times New Roman" panose="02020603050405020304" pitchFamily="18" charset="0"/>
              <a:ea typeface="Times New Roman" panose="02020603050405020304" pitchFamily="18" charset="0"/>
            </a:endParaRPr>
          </a:p>
          <a:p>
            <a:pPr algn="just">
              <a:spcBef>
                <a:spcPts val="40"/>
              </a:spcBef>
            </a:pPr>
            <a:r>
              <a:rPr lang="en-US" sz="1800" dirty="0">
                <a:solidFill>
                  <a:srgbClr val="000000"/>
                </a:solidFill>
                <a:effectLst/>
                <a:latin typeface="Arial" panose="020B0604020202020204" pitchFamily="34" charset="0"/>
                <a:ea typeface="Times New Roman" panose="02020603050405020304" pitchFamily="18" charset="0"/>
              </a:rPr>
              <a:t>R1(config-if)#ip address 192.168.1.1 255.255.255.0</a:t>
            </a:r>
          </a:p>
          <a:p>
            <a:pPr algn="just">
              <a:spcBef>
                <a:spcPts val="40"/>
              </a:spcBef>
            </a:pPr>
            <a:r>
              <a:rPr lang="en-US" sz="1800" dirty="0">
                <a:solidFill>
                  <a:srgbClr val="000000"/>
                </a:solidFill>
                <a:effectLst/>
                <a:latin typeface="Arial" panose="020B0604020202020204" pitchFamily="34" charset="0"/>
                <a:ea typeface="Times New Roman" panose="02020603050405020304" pitchFamily="18" charset="0"/>
              </a:rPr>
              <a:t>R1(config-if)#no shutdown</a:t>
            </a:r>
            <a:endParaRPr lang="es-PE" sz="1800" dirty="0">
              <a:effectLst/>
              <a:latin typeface="Times New Roman" panose="02020603050405020304" pitchFamily="18" charset="0"/>
              <a:ea typeface="Times New Roman" panose="02020603050405020304" pitchFamily="18" charset="0"/>
            </a:endParaRPr>
          </a:p>
          <a:p>
            <a:pPr algn="just">
              <a:spcBef>
                <a:spcPts val="40"/>
              </a:spcBef>
            </a:pPr>
            <a:r>
              <a:rPr lang="es-CL" sz="1800" dirty="0">
                <a:solidFill>
                  <a:srgbClr val="000000"/>
                </a:solidFill>
                <a:effectLst/>
                <a:latin typeface="Arial" panose="020B0604020202020204" pitchFamily="34" charset="0"/>
                <a:ea typeface="Times New Roman" panose="02020603050405020304" pitchFamily="18" charset="0"/>
              </a:rPr>
              <a:t>R1(</a:t>
            </a:r>
            <a:r>
              <a:rPr lang="es-CL" sz="1800" dirty="0" err="1">
                <a:solidFill>
                  <a:srgbClr val="000000"/>
                </a:solidFill>
                <a:effectLst/>
                <a:latin typeface="Arial" panose="020B0604020202020204" pitchFamily="34" charset="0"/>
                <a:ea typeface="Times New Roman" panose="02020603050405020304" pitchFamily="18" charset="0"/>
              </a:rPr>
              <a:t>config-if</a:t>
            </a:r>
            <a:r>
              <a:rPr lang="es-CL" sz="1800" dirty="0">
                <a:solidFill>
                  <a:srgbClr val="000000"/>
                </a:solidFill>
                <a:effectLst/>
                <a:latin typeface="Arial" panose="020B0604020202020204" pitchFamily="34" charset="0"/>
                <a:ea typeface="Times New Roman" panose="02020603050405020304" pitchFamily="18" charset="0"/>
              </a:rPr>
              <a:t>)#exit</a:t>
            </a:r>
            <a:endParaRPr lang="es-PE"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481905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99F6D36-AB9C-1C7E-1645-AF923CFAFF82}"/>
              </a:ext>
            </a:extLst>
          </p:cNvPr>
          <p:cNvPicPr>
            <a:picLocks noChangeAspect="1"/>
          </p:cNvPicPr>
          <p:nvPr/>
        </p:nvPicPr>
        <p:blipFill>
          <a:blip r:embed="rId3"/>
          <a:stretch>
            <a:fillRect/>
          </a:stretch>
        </p:blipFill>
        <p:spPr>
          <a:xfrm>
            <a:off x="5500616" y="142724"/>
            <a:ext cx="3543300" cy="2981325"/>
          </a:xfrm>
          <a:prstGeom prst="rect">
            <a:avLst/>
          </a:prstGeom>
        </p:spPr>
      </p:pic>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0084" y="0"/>
            <a:ext cx="9002972" cy="731837"/>
          </a:xfrm>
        </p:spPr>
        <p:txBody>
          <a:bodyPr/>
          <a:lstStyle/>
          <a:p>
            <a:pPr rtl="0"/>
            <a:r>
              <a:rPr lang="es-419" sz="2400" dirty="0">
                <a:solidFill>
                  <a:srgbClr val="C00000"/>
                </a:solidFill>
              </a:rPr>
              <a:t>Escenario </a:t>
            </a:r>
            <a:r>
              <a:rPr lang="es-419" sz="2400" dirty="0" err="1">
                <a:solidFill>
                  <a:srgbClr val="C00000"/>
                </a:solidFill>
              </a:rPr>
              <a:t>Router</a:t>
            </a:r>
            <a:r>
              <a:rPr lang="es-419" sz="2400" dirty="0">
                <a:solidFill>
                  <a:srgbClr val="C00000"/>
                </a:solidFill>
              </a:rPr>
              <a:t>-</a:t>
            </a:r>
            <a:r>
              <a:rPr lang="es-419" sz="2400" dirty="0" err="1">
                <a:solidFill>
                  <a:srgbClr val="C00000"/>
                </a:solidFill>
              </a:rPr>
              <a:t>on</a:t>
            </a:r>
            <a:r>
              <a:rPr lang="es-419" sz="2400" dirty="0">
                <a:solidFill>
                  <a:srgbClr val="C00000"/>
                </a:solidFill>
              </a:rPr>
              <a:t>-a-</a:t>
            </a:r>
            <a:r>
              <a:rPr lang="es-419" sz="2400" dirty="0" err="1">
                <a:solidFill>
                  <a:srgbClr val="C00000"/>
                </a:solidFill>
              </a:rPr>
              <a:t>stick</a:t>
            </a:r>
            <a:endParaRPr lang="es-419" sz="2400" dirty="0">
              <a:solidFill>
                <a:srgbClr val="C00000"/>
              </a:solidFill>
            </a:endParaRPr>
          </a:p>
        </p:txBody>
      </p:sp>
      <p:sp>
        <p:nvSpPr>
          <p:cNvPr id="5" name="Content Placeholder 4">
            <a:extLst>
              <a:ext uri="{FF2B5EF4-FFF2-40B4-BE49-F238E27FC236}">
                <a16:creationId xmlns:a16="http://schemas.microsoft.com/office/drawing/2014/main" id="{AD030DC4-1A05-F245-A1D3-947A824F51CC}"/>
              </a:ext>
            </a:extLst>
          </p:cNvPr>
          <p:cNvSpPr>
            <a:spLocks noGrp="1"/>
          </p:cNvSpPr>
          <p:nvPr>
            <p:ph idx="1"/>
          </p:nvPr>
        </p:nvSpPr>
        <p:spPr>
          <a:xfrm>
            <a:off x="144966" y="731837"/>
            <a:ext cx="5018859" cy="3998738"/>
          </a:xfrm>
        </p:spPr>
        <p:txBody>
          <a:bodyPr/>
          <a:lstStyle/>
          <a:p>
            <a:pPr marL="342900" indent="-342900" algn="just" rtl="0">
              <a:buFont typeface="Arial" panose="020B0604020202020204" pitchFamily="34" charset="0"/>
              <a:buChar char="•"/>
            </a:pPr>
            <a:r>
              <a:rPr lang="es-419" sz="1200" dirty="0">
                <a:solidFill>
                  <a:srgbClr val="000000"/>
                </a:solidFill>
              </a:rPr>
              <a:t>En la figura, la interfaz R1 </a:t>
            </a:r>
            <a:r>
              <a:rPr lang="es-419" sz="1200" dirty="0" err="1">
                <a:solidFill>
                  <a:srgbClr val="000000"/>
                </a:solidFill>
              </a:rPr>
              <a:t>GigabitEthernet</a:t>
            </a:r>
            <a:r>
              <a:rPr lang="es-419" sz="1200" dirty="0">
                <a:solidFill>
                  <a:srgbClr val="000000"/>
                </a:solidFill>
              </a:rPr>
              <a:t> 0/0/1 está conectada al puerto S1 </a:t>
            </a:r>
            <a:r>
              <a:rPr lang="es-419" sz="1200" dirty="0" err="1">
                <a:solidFill>
                  <a:srgbClr val="000000"/>
                </a:solidFill>
              </a:rPr>
              <a:t>FastEthernet</a:t>
            </a:r>
            <a:r>
              <a:rPr lang="es-419" sz="1200" dirty="0">
                <a:solidFill>
                  <a:srgbClr val="000000"/>
                </a:solidFill>
              </a:rPr>
              <a:t> 0/5. El puerto S1 </a:t>
            </a:r>
            <a:r>
              <a:rPr lang="es-419" sz="1200" dirty="0" err="1">
                <a:solidFill>
                  <a:srgbClr val="000000"/>
                </a:solidFill>
              </a:rPr>
              <a:t>FastEthernet</a:t>
            </a:r>
            <a:r>
              <a:rPr lang="es-419" sz="1200" dirty="0">
                <a:solidFill>
                  <a:srgbClr val="000000"/>
                </a:solidFill>
              </a:rPr>
              <a:t> 0/1 está conectado al puerto S2 </a:t>
            </a:r>
            <a:r>
              <a:rPr lang="es-419" sz="1200" dirty="0" err="1">
                <a:solidFill>
                  <a:srgbClr val="000000"/>
                </a:solidFill>
              </a:rPr>
              <a:t>FastEthernet</a:t>
            </a:r>
            <a:r>
              <a:rPr lang="es-419" sz="1200" dirty="0">
                <a:solidFill>
                  <a:srgbClr val="000000"/>
                </a:solidFill>
              </a:rPr>
              <a:t> 0/1. Estos son enlaces troncales necesarios para reenviar tráfico dentro de las VLAN y entre ellas.</a:t>
            </a:r>
          </a:p>
          <a:p>
            <a:pPr marL="342900" indent="-342900" algn="just" rtl="0">
              <a:buFont typeface="Arial" panose="020B0604020202020204" pitchFamily="34" charset="0"/>
              <a:buChar char="•"/>
            </a:pPr>
            <a:endParaRPr lang="es-419" sz="1200" dirty="0">
              <a:solidFill>
                <a:srgbClr val="000000"/>
              </a:solidFill>
            </a:endParaRPr>
          </a:p>
          <a:p>
            <a:pPr marL="342900" indent="-342900" algn="just" rtl="0">
              <a:buFont typeface="Arial" panose="020B0604020202020204" pitchFamily="34" charset="0"/>
              <a:buChar char="•"/>
            </a:pPr>
            <a:r>
              <a:rPr lang="es-419" sz="1200" dirty="0">
                <a:solidFill>
                  <a:srgbClr val="000000"/>
                </a:solidFill>
              </a:rPr>
              <a:t>Para enrutar entre VLAN, la interfaz R1 </a:t>
            </a:r>
            <a:r>
              <a:rPr lang="es-419" sz="1200" dirty="0" err="1">
                <a:solidFill>
                  <a:srgbClr val="000000"/>
                </a:solidFill>
              </a:rPr>
              <a:t>GigabitEthernet</a:t>
            </a:r>
            <a:r>
              <a:rPr lang="es-419" sz="1200" dirty="0">
                <a:solidFill>
                  <a:srgbClr val="000000"/>
                </a:solidFill>
              </a:rPr>
              <a:t> 0/0/1 se divide lógicamente en tres </a:t>
            </a:r>
            <a:r>
              <a:rPr lang="es-419" sz="1200" b="1" dirty="0">
                <a:solidFill>
                  <a:srgbClr val="00B0F0"/>
                </a:solidFill>
              </a:rPr>
              <a:t>subinterfaces</a:t>
            </a:r>
            <a:r>
              <a:rPr lang="es-419" sz="1200" dirty="0">
                <a:solidFill>
                  <a:srgbClr val="000000"/>
                </a:solidFill>
              </a:rPr>
              <a:t>, como se muestra en la tabla. La tabla también muestra las tres VLAN que se configurarán en los switches.</a:t>
            </a:r>
          </a:p>
          <a:p>
            <a:pPr marL="342900" indent="-342900" algn="just" rtl="0">
              <a:buFont typeface="Arial" panose="020B0604020202020204" pitchFamily="34" charset="0"/>
              <a:buChar char="•"/>
            </a:pPr>
            <a:endParaRPr lang="es-419" sz="1200" dirty="0">
              <a:solidFill>
                <a:srgbClr val="000000"/>
              </a:solidFill>
            </a:endParaRPr>
          </a:p>
          <a:p>
            <a:pPr marL="342900" indent="-342900" algn="just" rtl="0">
              <a:buFont typeface="Arial" panose="020B0604020202020204" pitchFamily="34" charset="0"/>
              <a:buChar char="•"/>
            </a:pPr>
            <a:r>
              <a:rPr lang="es-419" sz="1200" dirty="0">
                <a:solidFill>
                  <a:srgbClr val="000000"/>
                </a:solidFill>
              </a:rPr>
              <a:t>Suponga que R1, S1 y S2 tienen configuraciones básicas iniciales. Actualmente, PC1 y PC2 no pueden </a:t>
            </a:r>
            <a:r>
              <a:rPr lang="es-419" sz="1200" b="1" dirty="0">
                <a:solidFill>
                  <a:srgbClr val="000000"/>
                </a:solidFill>
              </a:rPr>
              <a:t>hacer ping</a:t>
            </a:r>
            <a:r>
              <a:rPr lang="es-419" sz="1200" dirty="0">
                <a:solidFill>
                  <a:srgbClr val="000000"/>
                </a:solidFill>
              </a:rPr>
              <a:t> entre sí porque están en redes separadas. Solo S1 y S2 pueden </a:t>
            </a:r>
            <a:r>
              <a:rPr lang="es-419" sz="1200" b="1" dirty="0">
                <a:solidFill>
                  <a:srgbClr val="000000"/>
                </a:solidFill>
              </a:rPr>
              <a:t>hacer ping</a:t>
            </a:r>
            <a:r>
              <a:rPr lang="es-419" sz="1200" dirty="0">
                <a:solidFill>
                  <a:srgbClr val="000000"/>
                </a:solidFill>
              </a:rPr>
              <a:t> entre sí, pero son inalcanzables por PC1 o PC2 porque también están en diferentes redes.</a:t>
            </a:r>
          </a:p>
          <a:p>
            <a:pPr marL="342900" indent="-342900" algn="just" rtl="0">
              <a:buFont typeface="Arial" panose="020B0604020202020204" pitchFamily="34" charset="0"/>
              <a:buChar char="•"/>
            </a:pPr>
            <a:endParaRPr lang="es-419" sz="1200" dirty="0">
              <a:solidFill>
                <a:srgbClr val="000000"/>
              </a:solidFill>
            </a:endParaRPr>
          </a:p>
          <a:p>
            <a:pPr marL="342900" indent="-342900" algn="just" rtl="0">
              <a:buFont typeface="Arial" panose="020B0604020202020204" pitchFamily="34" charset="0"/>
              <a:buChar char="•"/>
            </a:pPr>
            <a:r>
              <a:rPr lang="es-419" sz="1200" dirty="0">
                <a:solidFill>
                  <a:srgbClr val="000000"/>
                </a:solidFill>
              </a:rPr>
              <a:t>Para permitir que los dispositivos se hagan ping entre sí, los conmutadores deben configurarse con VLAN y </a:t>
            </a:r>
            <a:r>
              <a:rPr lang="es-419" sz="1200" dirty="0" err="1">
                <a:solidFill>
                  <a:srgbClr val="000000"/>
                </a:solidFill>
              </a:rPr>
              <a:t>trunking</a:t>
            </a:r>
            <a:r>
              <a:rPr lang="es-419" sz="1200" dirty="0">
                <a:solidFill>
                  <a:srgbClr val="000000"/>
                </a:solidFill>
              </a:rPr>
              <a:t>, y el enrutador debe configurarse para el enrutamiento entre VLAN.</a:t>
            </a:r>
          </a:p>
          <a:p>
            <a:pPr marL="342900" indent="-342900" algn="just">
              <a:buFont typeface="Arial" panose="020B0604020202020204" pitchFamily="34" charset="0"/>
              <a:buChar char="•"/>
            </a:pPr>
            <a:endParaRPr lang="en-US" sz="1200" dirty="0">
              <a:solidFill>
                <a:srgbClr val="000000"/>
              </a:solidFill>
            </a:endParaRPr>
          </a:p>
        </p:txBody>
      </p:sp>
      <p:sp>
        <p:nvSpPr>
          <p:cNvPr id="4" name="CuadroTexto 3">
            <a:extLst>
              <a:ext uri="{FF2B5EF4-FFF2-40B4-BE49-F238E27FC236}">
                <a16:creationId xmlns:a16="http://schemas.microsoft.com/office/drawing/2014/main" id="{1A6220CA-F340-1781-2D41-998F6C51CBED}"/>
              </a:ext>
            </a:extLst>
          </p:cNvPr>
          <p:cNvSpPr txBox="1"/>
          <p:nvPr/>
        </p:nvSpPr>
        <p:spPr>
          <a:xfrm>
            <a:off x="8699715" y="4830305"/>
            <a:ext cx="583770" cy="276999"/>
          </a:xfrm>
          <a:prstGeom prst="rect">
            <a:avLst/>
          </a:prstGeom>
          <a:noFill/>
        </p:spPr>
        <p:txBody>
          <a:bodyPr wrap="square" rtlCol="0">
            <a:spAutoFit/>
          </a:bodyPr>
          <a:lstStyle/>
          <a:p>
            <a:r>
              <a:rPr lang="es-ES" sz="1200" dirty="0">
                <a:solidFill>
                  <a:srgbClr val="00B0F0"/>
                </a:solidFill>
              </a:rPr>
              <a:t>63</a:t>
            </a:r>
            <a:endParaRPr lang="es-PE" sz="1200" dirty="0">
              <a:solidFill>
                <a:srgbClr val="00B0F0"/>
              </a:solidFill>
            </a:endParaRPr>
          </a:p>
        </p:txBody>
      </p:sp>
      <p:graphicFrame>
        <p:nvGraphicFramePr>
          <p:cNvPr id="9" name="Table 5">
            <a:extLst>
              <a:ext uri="{FF2B5EF4-FFF2-40B4-BE49-F238E27FC236}">
                <a16:creationId xmlns:a16="http://schemas.microsoft.com/office/drawing/2014/main" id="{50AAE9C3-AA24-E20F-43F4-6416C19E448A}"/>
              </a:ext>
            </a:extLst>
          </p:cNvPr>
          <p:cNvGraphicFramePr>
            <a:graphicFrameLocks noGrp="1"/>
          </p:cNvGraphicFramePr>
          <p:nvPr>
            <p:extLst>
              <p:ext uri="{D42A27DB-BD31-4B8C-83A1-F6EECF244321}">
                <p14:modId xmlns:p14="http://schemas.microsoft.com/office/powerpoint/2010/main" val="3737221480"/>
              </p:ext>
            </p:extLst>
          </p:nvPr>
        </p:nvGraphicFramePr>
        <p:xfrm>
          <a:off x="5612063" y="3423683"/>
          <a:ext cx="3101043" cy="980169"/>
        </p:xfrm>
        <a:graphic>
          <a:graphicData uri="http://schemas.openxmlformats.org/drawingml/2006/table">
            <a:tbl>
              <a:tblPr firstRow="1" bandRow="1">
                <a:tableStyleId>{5C22544A-7EE6-4342-B048-85BDC9FD1C3A}</a:tableStyleId>
              </a:tblPr>
              <a:tblGrid>
                <a:gridCol w="974717">
                  <a:extLst>
                    <a:ext uri="{9D8B030D-6E8A-4147-A177-3AD203B41FA5}">
                      <a16:colId xmlns:a16="http://schemas.microsoft.com/office/drawing/2014/main" val="2537369461"/>
                    </a:ext>
                  </a:extLst>
                </a:gridCol>
                <a:gridCol w="769143">
                  <a:extLst>
                    <a:ext uri="{9D8B030D-6E8A-4147-A177-3AD203B41FA5}">
                      <a16:colId xmlns:a16="http://schemas.microsoft.com/office/drawing/2014/main" val="26083547"/>
                    </a:ext>
                  </a:extLst>
                </a:gridCol>
                <a:gridCol w="1357183">
                  <a:extLst>
                    <a:ext uri="{9D8B030D-6E8A-4147-A177-3AD203B41FA5}">
                      <a16:colId xmlns:a16="http://schemas.microsoft.com/office/drawing/2014/main" val="225096973"/>
                    </a:ext>
                  </a:extLst>
                </a:gridCol>
              </a:tblGrid>
              <a:tr h="326723">
                <a:tc>
                  <a:txBody>
                    <a:bodyPr/>
                    <a:lstStyle/>
                    <a:p>
                      <a:pPr algn="ctr" rtl="0" fontAlgn="ctr"/>
                      <a:r>
                        <a:rPr lang="es-419" sz="1200" b="1" dirty="0">
                          <a:effectLst/>
                        </a:rPr>
                        <a:t>Subinterfaz</a:t>
                      </a:r>
                    </a:p>
                  </a:txBody>
                  <a:tcPr marL="47625" marR="47625" marT="47625" marB="47625" anchor="ctr"/>
                </a:tc>
                <a:tc>
                  <a:txBody>
                    <a:bodyPr/>
                    <a:lstStyle/>
                    <a:p>
                      <a:pPr algn="ctr" rtl="0" fontAlgn="ctr"/>
                      <a:r>
                        <a:rPr lang="es-419" sz="1200" b="1" dirty="0">
                          <a:effectLst/>
                        </a:rPr>
                        <a:t>VLAN</a:t>
                      </a:r>
                    </a:p>
                  </a:txBody>
                  <a:tcPr marL="47625" marR="47625" marT="47625" marB="47625" anchor="ctr"/>
                </a:tc>
                <a:tc>
                  <a:txBody>
                    <a:bodyPr/>
                    <a:lstStyle/>
                    <a:p>
                      <a:pPr algn="ctr" rtl="0" fontAlgn="ctr"/>
                      <a:r>
                        <a:rPr lang="es-419" sz="1200" b="1">
                          <a:effectLst/>
                        </a:rPr>
                        <a:t>Dirección IP</a:t>
                      </a:r>
                    </a:p>
                  </a:txBody>
                  <a:tcPr marL="47625" marR="47625" marT="47625" marB="47625" anchor="ctr"/>
                </a:tc>
                <a:extLst>
                  <a:ext uri="{0D108BD9-81ED-4DB2-BD59-A6C34878D82A}">
                    <a16:rowId xmlns:a16="http://schemas.microsoft.com/office/drawing/2014/main" val="3852578632"/>
                  </a:ext>
                </a:extLst>
              </a:tr>
              <a:tr h="326723">
                <a:tc>
                  <a:txBody>
                    <a:bodyPr/>
                    <a:lstStyle/>
                    <a:p>
                      <a:pPr algn="ctr" rtl="0" fontAlgn="ctr"/>
                      <a:r>
                        <a:rPr lang="es-419" sz="1200" b="1" dirty="0">
                          <a:solidFill>
                            <a:srgbClr val="0000CC"/>
                          </a:solidFill>
                          <a:effectLst/>
                        </a:rPr>
                        <a:t>Fa0/0</a:t>
                      </a:r>
                      <a:r>
                        <a:rPr lang="es-419" sz="1200" b="1" dirty="0">
                          <a:solidFill>
                            <a:srgbClr val="FF0000"/>
                          </a:solidFill>
                          <a:effectLst/>
                        </a:rPr>
                        <a:t>.10</a:t>
                      </a:r>
                    </a:p>
                  </a:txBody>
                  <a:tcPr marL="47625" marR="47625" marT="47625" marB="47625" anchor="ctr"/>
                </a:tc>
                <a:tc>
                  <a:txBody>
                    <a:bodyPr/>
                    <a:lstStyle/>
                    <a:p>
                      <a:pPr algn="ctr" rtl="0" fontAlgn="ctr"/>
                      <a:r>
                        <a:rPr lang="es-419" sz="1200" b="0">
                          <a:effectLst/>
                        </a:rPr>
                        <a:t>10</a:t>
                      </a:r>
                    </a:p>
                  </a:txBody>
                  <a:tcPr marL="47625" marR="47625" marT="47625" marB="47625" anchor="ctr"/>
                </a:tc>
                <a:tc>
                  <a:txBody>
                    <a:bodyPr/>
                    <a:lstStyle/>
                    <a:p>
                      <a:pPr algn="ctr" rtl="0" fontAlgn="ctr"/>
                      <a:r>
                        <a:rPr lang="es-419" sz="1200" b="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algn="ctr" rtl="0" fontAlgn="ctr"/>
                      <a:r>
                        <a:rPr lang="es-419" sz="1200" b="1" dirty="0">
                          <a:solidFill>
                            <a:srgbClr val="0000CC"/>
                          </a:solidFill>
                          <a:effectLst/>
                        </a:rPr>
                        <a:t>Fa0/0</a:t>
                      </a:r>
                      <a:r>
                        <a:rPr lang="es-419" sz="1200" b="1" dirty="0">
                          <a:solidFill>
                            <a:srgbClr val="00B0F0"/>
                          </a:solidFill>
                          <a:effectLst/>
                        </a:rPr>
                        <a:t>.20</a:t>
                      </a:r>
                    </a:p>
                  </a:txBody>
                  <a:tcPr marL="47625" marR="47625" marT="47625" marB="47625" anchor="ctr"/>
                </a:tc>
                <a:tc>
                  <a:txBody>
                    <a:bodyPr/>
                    <a:lstStyle/>
                    <a:p>
                      <a:pPr algn="ctr" rtl="0" fontAlgn="ctr"/>
                      <a:r>
                        <a:rPr lang="es-419" sz="1200" b="0" dirty="0">
                          <a:effectLst/>
                        </a:rPr>
                        <a:t>20</a:t>
                      </a:r>
                    </a:p>
                  </a:txBody>
                  <a:tcPr marL="47625" marR="47625" marT="47625" marB="47625" anchor="ctr"/>
                </a:tc>
                <a:tc>
                  <a:txBody>
                    <a:bodyPr/>
                    <a:lstStyle/>
                    <a:p>
                      <a:pPr algn="ctr" rtl="0" fontAlgn="ctr"/>
                      <a:r>
                        <a:rPr lang="es-419" sz="1200" b="0" dirty="0">
                          <a:effectLst/>
                        </a:rPr>
                        <a:t>192.168.20.1/24</a:t>
                      </a:r>
                    </a:p>
                  </a:txBody>
                  <a:tcPr marL="47625" marR="47625" marT="47625" marB="47625" anchor="ctr"/>
                </a:tc>
                <a:extLst>
                  <a:ext uri="{0D108BD9-81ED-4DB2-BD59-A6C34878D82A}">
                    <a16:rowId xmlns:a16="http://schemas.microsoft.com/office/drawing/2014/main" val="2807812519"/>
                  </a:ext>
                </a:extLst>
              </a:tr>
            </a:tbl>
          </a:graphicData>
        </a:graphic>
      </p:graphicFrame>
      <p:sp>
        <p:nvSpPr>
          <p:cNvPr id="13" name="Elipse 12">
            <a:extLst>
              <a:ext uri="{FF2B5EF4-FFF2-40B4-BE49-F238E27FC236}">
                <a16:creationId xmlns:a16="http://schemas.microsoft.com/office/drawing/2014/main" id="{0680F053-98C4-7E7D-BDC6-593161A30F15}"/>
              </a:ext>
            </a:extLst>
          </p:cNvPr>
          <p:cNvSpPr/>
          <p:nvPr/>
        </p:nvSpPr>
        <p:spPr>
          <a:xfrm>
            <a:off x="5308270" y="1846613"/>
            <a:ext cx="1775361" cy="1505197"/>
          </a:xfrm>
          <a:prstGeom prst="ellipse">
            <a:avLst/>
          </a:prstGeom>
          <a:solidFill>
            <a:srgbClr val="36A4D7">
              <a:alpha val="39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5" name="Elipse 14">
            <a:extLst>
              <a:ext uri="{FF2B5EF4-FFF2-40B4-BE49-F238E27FC236}">
                <a16:creationId xmlns:a16="http://schemas.microsoft.com/office/drawing/2014/main" id="{3F1FE97B-E393-9151-F406-D9193A9B386C}"/>
              </a:ext>
            </a:extLst>
          </p:cNvPr>
          <p:cNvSpPr/>
          <p:nvPr/>
        </p:nvSpPr>
        <p:spPr>
          <a:xfrm>
            <a:off x="7368639" y="1861161"/>
            <a:ext cx="1775361" cy="1505197"/>
          </a:xfrm>
          <a:prstGeom prst="ellipse">
            <a:avLst/>
          </a:prstGeom>
          <a:solidFill>
            <a:schemeClr val="bg2">
              <a:alpha val="3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100630D-1004-7049-F852-CFA47E9A61FC}"/>
              </a:ext>
            </a:extLst>
          </p:cNvPr>
          <p:cNvPicPr>
            <a:picLocks noChangeAspect="1"/>
          </p:cNvPicPr>
          <p:nvPr/>
        </p:nvPicPr>
        <p:blipFill>
          <a:blip r:embed="rId3"/>
          <a:stretch>
            <a:fillRect/>
          </a:stretch>
        </p:blipFill>
        <p:spPr>
          <a:xfrm>
            <a:off x="5398387" y="301668"/>
            <a:ext cx="3543300" cy="2981325"/>
          </a:xfrm>
          <a:prstGeom prst="rect">
            <a:avLst/>
          </a:prstGeom>
        </p:spPr>
      </p:pic>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0084" y="0"/>
            <a:ext cx="9002972" cy="731837"/>
          </a:xfrm>
        </p:spPr>
        <p:txBody>
          <a:bodyPr/>
          <a:lstStyle/>
          <a:p>
            <a:pPr rtl="0"/>
            <a:r>
              <a:rPr lang="es-419" sz="2400" dirty="0">
                <a:solidFill>
                  <a:srgbClr val="C00000"/>
                </a:solidFill>
              </a:rPr>
              <a:t>Escenario </a:t>
            </a:r>
            <a:r>
              <a:rPr lang="es-419" sz="2400" dirty="0" err="1">
                <a:solidFill>
                  <a:srgbClr val="C00000"/>
                </a:solidFill>
              </a:rPr>
              <a:t>Router</a:t>
            </a:r>
            <a:r>
              <a:rPr lang="es-419" sz="2400" dirty="0">
                <a:solidFill>
                  <a:srgbClr val="C00000"/>
                </a:solidFill>
              </a:rPr>
              <a:t>-</a:t>
            </a:r>
            <a:r>
              <a:rPr lang="es-419" sz="2400" dirty="0" err="1">
                <a:solidFill>
                  <a:srgbClr val="C00000"/>
                </a:solidFill>
              </a:rPr>
              <a:t>on</a:t>
            </a:r>
            <a:r>
              <a:rPr lang="es-419" sz="2400" dirty="0">
                <a:solidFill>
                  <a:srgbClr val="C00000"/>
                </a:solidFill>
              </a:rPr>
              <a:t>-a-</a:t>
            </a:r>
            <a:r>
              <a:rPr lang="es-419" sz="2400" dirty="0" err="1">
                <a:solidFill>
                  <a:srgbClr val="C00000"/>
                </a:solidFill>
              </a:rPr>
              <a:t>stick</a:t>
            </a:r>
            <a:endParaRPr lang="es-419" sz="2400" dirty="0">
              <a:solidFill>
                <a:srgbClr val="C00000"/>
              </a:solidFill>
            </a:endParaRPr>
          </a:p>
        </p:txBody>
      </p:sp>
      <p:sp>
        <p:nvSpPr>
          <p:cNvPr id="4" name="CuadroTexto 3">
            <a:extLst>
              <a:ext uri="{FF2B5EF4-FFF2-40B4-BE49-F238E27FC236}">
                <a16:creationId xmlns:a16="http://schemas.microsoft.com/office/drawing/2014/main" id="{1A6220CA-F340-1781-2D41-998F6C51CBED}"/>
              </a:ext>
            </a:extLst>
          </p:cNvPr>
          <p:cNvSpPr txBox="1"/>
          <p:nvPr/>
        </p:nvSpPr>
        <p:spPr>
          <a:xfrm>
            <a:off x="8699715" y="4830305"/>
            <a:ext cx="583770" cy="276999"/>
          </a:xfrm>
          <a:prstGeom prst="rect">
            <a:avLst/>
          </a:prstGeom>
          <a:noFill/>
        </p:spPr>
        <p:txBody>
          <a:bodyPr wrap="square" rtlCol="0">
            <a:spAutoFit/>
          </a:bodyPr>
          <a:lstStyle/>
          <a:p>
            <a:r>
              <a:rPr lang="es-PE" sz="1200" dirty="0">
                <a:solidFill>
                  <a:srgbClr val="00B0F0"/>
                </a:solidFill>
              </a:rPr>
              <a:t>72</a:t>
            </a:r>
          </a:p>
        </p:txBody>
      </p:sp>
      <p:sp>
        <p:nvSpPr>
          <p:cNvPr id="10" name="CuadroTexto 9">
            <a:extLst>
              <a:ext uri="{FF2B5EF4-FFF2-40B4-BE49-F238E27FC236}">
                <a16:creationId xmlns:a16="http://schemas.microsoft.com/office/drawing/2014/main" id="{286CA924-4D41-2653-E71C-D9ED07592110}"/>
              </a:ext>
            </a:extLst>
          </p:cNvPr>
          <p:cNvSpPr txBox="1"/>
          <p:nvPr/>
        </p:nvSpPr>
        <p:spPr>
          <a:xfrm>
            <a:off x="100084" y="480100"/>
            <a:ext cx="4876650" cy="1354217"/>
          </a:xfrm>
          <a:prstGeom prst="rect">
            <a:avLst/>
          </a:prstGeom>
          <a:noFill/>
        </p:spPr>
        <p:txBody>
          <a:bodyPr wrap="square">
            <a:spAutoFit/>
          </a:bodyPr>
          <a:lstStyle/>
          <a:p>
            <a:pPr algn="just"/>
            <a:r>
              <a:rPr lang="en-US" sz="1200" b="1" u="sng" dirty="0" err="1">
                <a:solidFill>
                  <a:srgbClr val="FF0000"/>
                </a:solidFill>
                <a:effectLst/>
                <a:latin typeface="Arial" panose="020B0604020202020204" pitchFamily="34" charset="0"/>
                <a:ea typeface="Times New Roman" panose="02020603050405020304" pitchFamily="18" charset="0"/>
              </a:rPr>
              <a:t>Creación</a:t>
            </a:r>
            <a:r>
              <a:rPr lang="en-US" sz="1200" b="1" u="sng" dirty="0">
                <a:solidFill>
                  <a:srgbClr val="FF0000"/>
                </a:solidFill>
                <a:effectLst/>
                <a:latin typeface="Arial" panose="020B0604020202020204" pitchFamily="34" charset="0"/>
                <a:ea typeface="Times New Roman" panose="02020603050405020304" pitchFamily="18" charset="0"/>
              </a:rPr>
              <a:t> de VLANs</a:t>
            </a:r>
            <a:endParaRPr lang="es-PE" sz="1200" u="sng" dirty="0">
              <a:solidFill>
                <a:srgbClr val="FF0000"/>
              </a:solidFill>
              <a:effectLst/>
              <a:latin typeface="Times New Roman" panose="02020603050405020304" pitchFamily="18" charset="0"/>
              <a:ea typeface="Times New Roman" panose="02020603050405020304" pitchFamily="18" charset="0"/>
            </a:endParaRPr>
          </a:p>
          <a:p>
            <a:pPr algn="just"/>
            <a:r>
              <a:rPr lang="en-US" sz="1000" b="1" dirty="0">
                <a:solidFill>
                  <a:srgbClr val="00B0F0"/>
                </a:solidFill>
                <a:effectLst/>
                <a:latin typeface="Arial" panose="020B0604020202020204" pitchFamily="34" charset="0"/>
                <a:ea typeface="Times New Roman" panose="02020603050405020304" pitchFamily="18" charset="0"/>
              </a:rPr>
              <a:t>Switch_</a:t>
            </a:r>
            <a:r>
              <a:rPr lang="en-US" sz="1000" b="1" dirty="0">
                <a:solidFill>
                  <a:srgbClr val="00B0F0"/>
                </a:solidFill>
                <a:latin typeface="Arial" panose="020B0604020202020204" pitchFamily="34" charset="0"/>
                <a:ea typeface="Times New Roman" panose="02020603050405020304" pitchFamily="18" charset="0"/>
              </a:rPr>
              <a:t>S1</a:t>
            </a:r>
            <a:r>
              <a:rPr lang="en-US" sz="1000" b="1" dirty="0">
                <a:solidFill>
                  <a:srgbClr val="00B0F0"/>
                </a:solidFill>
                <a:effectLst/>
                <a:latin typeface="Arial" panose="020B0604020202020204" pitchFamily="34" charset="0"/>
                <a:ea typeface="Times New Roman" panose="02020603050405020304" pitchFamily="18" charset="0"/>
              </a:rPr>
              <a:t> </a:t>
            </a:r>
            <a:r>
              <a:rPr lang="en-US" sz="1000" dirty="0">
                <a:effectLst/>
                <a:latin typeface="Arial" panose="020B0604020202020204" pitchFamily="34" charset="0"/>
                <a:ea typeface="Times New Roman" panose="02020603050405020304" pitchFamily="18" charset="0"/>
              </a:rPr>
              <a:t># configure terminal</a:t>
            </a:r>
            <a:endParaRPr lang="es-PE" sz="1000" dirty="0">
              <a:effectLst/>
              <a:latin typeface="Times New Roman" panose="02020603050405020304" pitchFamily="18" charset="0"/>
              <a:ea typeface="Times New Roman" panose="02020603050405020304" pitchFamily="18" charset="0"/>
            </a:endParaRPr>
          </a:p>
          <a:p>
            <a:pPr algn="just"/>
            <a:r>
              <a:rPr lang="en-US" sz="1000" dirty="0">
                <a:effectLst/>
                <a:latin typeface="Arial" panose="020B0604020202020204" pitchFamily="34" charset="0"/>
                <a:ea typeface="Times New Roman" panose="02020603050405020304" pitchFamily="18" charset="0"/>
              </a:rPr>
              <a:t>Switch_S1 (config)#vlan </a:t>
            </a:r>
            <a:r>
              <a:rPr lang="en-US" sz="1000" b="1" dirty="0">
                <a:solidFill>
                  <a:srgbClr val="00B0F0"/>
                </a:solidFill>
                <a:effectLst/>
                <a:latin typeface="Arial" panose="020B0604020202020204" pitchFamily="34" charset="0"/>
                <a:ea typeface="Times New Roman" panose="02020603050405020304" pitchFamily="18" charset="0"/>
              </a:rPr>
              <a:t>10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S1</a:t>
            </a:r>
            <a:r>
              <a:rPr lang="en-US" sz="1000" dirty="0">
                <a:effectLst/>
                <a:latin typeface="Arial" panose="020B0604020202020204" pitchFamily="34" charset="0"/>
                <a:ea typeface="Times New Roman" panose="02020603050405020304" pitchFamily="18" charset="0"/>
              </a:rPr>
              <a:t> (config)#name </a:t>
            </a:r>
            <a:r>
              <a:rPr lang="en-US" sz="1000" b="1" dirty="0">
                <a:solidFill>
                  <a:srgbClr val="00B0F0"/>
                </a:solidFill>
                <a:effectLst/>
                <a:latin typeface="Arial" panose="020B0604020202020204" pitchFamily="34" charset="0"/>
                <a:ea typeface="Times New Roman" panose="02020603050405020304" pitchFamily="18" charset="0"/>
              </a:rPr>
              <a:t>VLAN10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S1</a:t>
            </a:r>
            <a:r>
              <a:rPr lang="en-US" sz="1000" dirty="0">
                <a:effectLst/>
                <a:latin typeface="Arial" panose="020B0604020202020204" pitchFamily="34" charset="0"/>
                <a:ea typeface="Times New Roman" panose="02020603050405020304" pitchFamily="18" charset="0"/>
              </a:rPr>
              <a:t> (config)# exit</a:t>
            </a:r>
          </a:p>
          <a:p>
            <a:pPr algn="just"/>
            <a:r>
              <a:rPr lang="en-US" sz="1000" dirty="0">
                <a:effectLst/>
                <a:latin typeface="Arial" panose="020B0604020202020204" pitchFamily="34" charset="0"/>
                <a:ea typeface="Times New Roman" panose="02020603050405020304" pitchFamily="18" charset="0"/>
              </a:rPr>
              <a:t>Switch_S1 (config)#vlan </a:t>
            </a:r>
            <a:r>
              <a:rPr lang="en-US" sz="1000" b="1" dirty="0">
                <a:solidFill>
                  <a:srgbClr val="00B0F0"/>
                </a:solidFill>
                <a:effectLst/>
                <a:latin typeface="Arial" panose="020B0604020202020204" pitchFamily="34" charset="0"/>
                <a:ea typeface="Times New Roman" panose="02020603050405020304" pitchFamily="18" charset="0"/>
              </a:rPr>
              <a:t>20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S1</a:t>
            </a:r>
            <a:r>
              <a:rPr lang="en-US" sz="1000" dirty="0">
                <a:effectLst/>
                <a:latin typeface="Arial" panose="020B0604020202020204" pitchFamily="34" charset="0"/>
                <a:ea typeface="Times New Roman" panose="02020603050405020304" pitchFamily="18" charset="0"/>
              </a:rPr>
              <a:t> (config)#name </a:t>
            </a:r>
            <a:r>
              <a:rPr lang="en-US" sz="1000" b="1" dirty="0">
                <a:solidFill>
                  <a:srgbClr val="00B0F0"/>
                </a:solidFill>
                <a:effectLst/>
                <a:latin typeface="Arial" panose="020B0604020202020204" pitchFamily="34" charset="0"/>
                <a:ea typeface="Times New Roman" panose="02020603050405020304" pitchFamily="18" charset="0"/>
              </a:rPr>
              <a:t>VLAN20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S1</a:t>
            </a:r>
            <a:r>
              <a:rPr lang="en-US" sz="1000" dirty="0">
                <a:effectLst/>
                <a:latin typeface="Arial" panose="020B0604020202020204" pitchFamily="34" charset="0"/>
                <a:ea typeface="Times New Roman" panose="02020603050405020304" pitchFamily="18" charset="0"/>
              </a:rPr>
              <a:t> (config)# exit</a:t>
            </a:r>
            <a:endParaRPr lang="es-PE" sz="1000" dirty="0">
              <a:effectLst/>
              <a:latin typeface="Times New Roman" panose="02020603050405020304" pitchFamily="18" charset="0"/>
              <a:ea typeface="Times New Roman" panose="02020603050405020304" pitchFamily="18" charset="0"/>
            </a:endParaRPr>
          </a:p>
        </p:txBody>
      </p:sp>
      <p:sp>
        <p:nvSpPr>
          <p:cNvPr id="12" name="CuadroTexto 11">
            <a:extLst>
              <a:ext uri="{FF2B5EF4-FFF2-40B4-BE49-F238E27FC236}">
                <a16:creationId xmlns:a16="http://schemas.microsoft.com/office/drawing/2014/main" id="{38B8E7FB-498E-825E-4AB5-D309149DEE97}"/>
              </a:ext>
            </a:extLst>
          </p:cNvPr>
          <p:cNvSpPr txBox="1"/>
          <p:nvPr/>
        </p:nvSpPr>
        <p:spPr>
          <a:xfrm>
            <a:off x="100084" y="1869957"/>
            <a:ext cx="4269942" cy="3170099"/>
          </a:xfrm>
          <a:prstGeom prst="rect">
            <a:avLst/>
          </a:prstGeom>
          <a:noFill/>
        </p:spPr>
        <p:txBody>
          <a:bodyPr wrap="square">
            <a:spAutoFit/>
          </a:bodyPr>
          <a:lstStyle/>
          <a:p>
            <a:pPr algn="just"/>
            <a:r>
              <a:rPr lang="en-US" sz="1000" b="1" dirty="0">
                <a:solidFill>
                  <a:srgbClr val="00B050"/>
                </a:solidFill>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rPr>
              <a:t>Switch_S2 </a:t>
            </a:r>
            <a:r>
              <a:rPr lang="en-US" sz="1000" dirty="0">
                <a:effectLst/>
                <a:latin typeface="Arial" panose="020B0604020202020204" pitchFamily="34" charset="0"/>
                <a:ea typeface="Times New Roman" panose="02020603050405020304" pitchFamily="18" charset="0"/>
              </a:rPr>
              <a:t># configure terminal</a:t>
            </a:r>
            <a:endParaRPr lang="es-PE" sz="1000" dirty="0">
              <a:effectLst/>
              <a:latin typeface="Times New Roman" panose="02020603050405020304" pitchFamily="18" charset="0"/>
              <a:ea typeface="Times New Roman" panose="02020603050405020304" pitchFamily="18" charset="0"/>
            </a:endParaRPr>
          </a:p>
          <a:p>
            <a:pPr algn="just"/>
            <a:r>
              <a:rPr lang="en-US" sz="1000" dirty="0">
                <a:effectLst/>
                <a:latin typeface="Arial" panose="020B0604020202020204" pitchFamily="34" charset="0"/>
                <a:ea typeface="Times New Roman" panose="02020603050405020304" pitchFamily="18" charset="0"/>
              </a:rPr>
              <a:t>Switch_S2 (config)#vlan </a:t>
            </a:r>
            <a:r>
              <a:rPr lang="en-US" sz="1000" b="1" dirty="0">
                <a:solidFill>
                  <a:srgbClr val="00B0F0"/>
                </a:solidFill>
                <a:effectLst/>
                <a:latin typeface="Arial" panose="020B0604020202020204" pitchFamily="34" charset="0"/>
                <a:ea typeface="Times New Roman" panose="02020603050405020304" pitchFamily="18" charset="0"/>
              </a:rPr>
              <a:t>10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S2</a:t>
            </a:r>
            <a:r>
              <a:rPr lang="en-US" sz="1000" dirty="0">
                <a:effectLst/>
                <a:latin typeface="Arial" panose="020B0604020202020204" pitchFamily="34" charset="0"/>
                <a:ea typeface="Times New Roman" panose="02020603050405020304" pitchFamily="18" charset="0"/>
              </a:rPr>
              <a:t> (config)#name </a:t>
            </a:r>
            <a:r>
              <a:rPr lang="en-US" sz="1000" b="1" dirty="0">
                <a:solidFill>
                  <a:srgbClr val="00B0F0"/>
                </a:solidFill>
                <a:effectLst/>
                <a:latin typeface="Arial" panose="020B0604020202020204" pitchFamily="34" charset="0"/>
                <a:ea typeface="Times New Roman" panose="02020603050405020304" pitchFamily="18" charset="0"/>
              </a:rPr>
              <a:t>VLAN10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S2</a:t>
            </a:r>
            <a:r>
              <a:rPr lang="en-US" sz="1000" dirty="0">
                <a:effectLst/>
                <a:latin typeface="Arial" panose="020B0604020202020204" pitchFamily="34" charset="0"/>
                <a:ea typeface="Times New Roman" panose="02020603050405020304" pitchFamily="18" charset="0"/>
              </a:rPr>
              <a:t> (config)# exit</a:t>
            </a:r>
          </a:p>
          <a:p>
            <a:pPr algn="just"/>
            <a:r>
              <a:rPr lang="en-US" sz="1000" dirty="0">
                <a:effectLst/>
                <a:latin typeface="Arial" panose="020B0604020202020204" pitchFamily="34" charset="0"/>
                <a:ea typeface="Times New Roman" panose="02020603050405020304" pitchFamily="18" charset="0"/>
              </a:rPr>
              <a:t>Switch_S2 (config)#vlan </a:t>
            </a:r>
            <a:r>
              <a:rPr lang="en-US" sz="1000" b="1" dirty="0">
                <a:solidFill>
                  <a:srgbClr val="00B0F0"/>
                </a:solidFill>
                <a:latin typeface="Arial" panose="020B0604020202020204" pitchFamily="34" charset="0"/>
                <a:ea typeface="Times New Roman" panose="02020603050405020304" pitchFamily="18" charset="0"/>
              </a:rPr>
              <a:t>20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S2</a:t>
            </a:r>
            <a:r>
              <a:rPr lang="en-US" sz="1000" dirty="0">
                <a:effectLst/>
                <a:latin typeface="Arial" panose="020B0604020202020204" pitchFamily="34" charset="0"/>
                <a:ea typeface="Times New Roman" panose="02020603050405020304" pitchFamily="18" charset="0"/>
              </a:rPr>
              <a:t> (config)#name </a:t>
            </a:r>
            <a:r>
              <a:rPr lang="en-US" sz="1000" b="1" dirty="0">
                <a:solidFill>
                  <a:srgbClr val="0070C0"/>
                </a:solidFill>
                <a:effectLst/>
                <a:latin typeface="Arial" panose="020B0604020202020204" pitchFamily="34" charset="0"/>
                <a:ea typeface="Times New Roman" panose="02020603050405020304" pitchFamily="18" charset="0"/>
              </a:rPr>
              <a:t>VLAN20</a:t>
            </a:r>
            <a:endParaRPr lang="es-PE" sz="1000" b="1" dirty="0">
              <a:solidFill>
                <a:srgbClr val="0070C0"/>
              </a:solidFill>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S2</a:t>
            </a:r>
            <a:r>
              <a:rPr lang="en-US" sz="1000" dirty="0">
                <a:effectLst/>
                <a:latin typeface="Arial" panose="020B0604020202020204" pitchFamily="34" charset="0"/>
                <a:ea typeface="Times New Roman" panose="02020603050405020304" pitchFamily="18" charset="0"/>
              </a:rPr>
              <a:t> (config-if)# exit</a:t>
            </a:r>
            <a:endParaRPr lang="es-PE" sz="1000" dirty="0">
              <a:effectLst/>
              <a:latin typeface="Times New Roman" panose="02020603050405020304" pitchFamily="18" charset="0"/>
              <a:ea typeface="Times New Roman" panose="02020603050405020304" pitchFamily="18" charset="0"/>
            </a:endParaRPr>
          </a:p>
          <a:p>
            <a:endParaRPr lang="es-CL" sz="1000" b="1" dirty="0">
              <a:effectLst/>
              <a:latin typeface="Arial" panose="020B0604020202020204" pitchFamily="34" charset="0"/>
              <a:ea typeface="Times New Roman" panose="02020603050405020304" pitchFamily="18" charset="0"/>
            </a:endParaRPr>
          </a:p>
          <a:p>
            <a:pPr algn="just"/>
            <a:r>
              <a:rPr lang="es-CL" sz="1200" b="1" u="sng" dirty="0">
                <a:solidFill>
                  <a:srgbClr val="FF0000"/>
                </a:solidFill>
                <a:latin typeface="Arial" panose="020B0604020202020204" pitchFamily="34" charset="0"/>
              </a:rPr>
              <a:t>Asignación de interfaces a las </a:t>
            </a:r>
            <a:r>
              <a:rPr lang="es-CL" sz="1200" b="1" u="sng" dirty="0" err="1">
                <a:solidFill>
                  <a:srgbClr val="FF0000"/>
                </a:solidFill>
                <a:latin typeface="Arial" panose="020B0604020202020204" pitchFamily="34" charset="0"/>
              </a:rPr>
              <a:t>VLANs</a:t>
            </a:r>
            <a:endParaRPr lang="es-PE" sz="1200" b="1" u="sng" dirty="0">
              <a:solidFill>
                <a:srgbClr val="FF0000"/>
              </a:solidFill>
              <a:latin typeface="Arial" panose="020B0604020202020204" pitchFamily="34" charset="0"/>
            </a:endParaRPr>
          </a:p>
          <a:p>
            <a:r>
              <a:rPr lang="en-US" sz="1000" b="1" dirty="0">
                <a:solidFill>
                  <a:srgbClr val="00B0F0"/>
                </a:solidFill>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rPr>
              <a:t>Switch_S1 </a:t>
            </a:r>
            <a:r>
              <a:rPr lang="en-US" sz="1000" dirty="0">
                <a:effectLst/>
                <a:latin typeface="Arial" panose="020B0604020202020204" pitchFamily="34" charset="0"/>
                <a:ea typeface="Times New Roman" panose="02020603050405020304" pitchFamily="18" charset="0"/>
              </a:rPr>
              <a:t>#configure terminal</a:t>
            </a:r>
            <a:endParaRPr lang="es-PE" sz="1000" dirty="0">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S1</a:t>
            </a:r>
            <a:r>
              <a:rPr lang="en-US" sz="1000" dirty="0">
                <a:effectLst/>
                <a:latin typeface="Arial" panose="020B0604020202020204" pitchFamily="34" charset="0"/>
                <a:ea typeface="Times New Roman" panose="02020603050405020304" pitchFamily="18" charset="0"/>
              </a:rPr>
              <a:t> (config)# interface </a:t>
            </a:r>
            <a:r>
              <a:rPr lang="en-US" sz="1000" b="1" dirty="0">
                <a:solidFill>
                  <a:srgbClr val="00B0F0"/>
                </a:solidFill>
                <a:effectLst/>
                <a:latin typeface="Arial" panose="020B0604020202020204" pitchFamily="34" charset="0"/>
                <a:ea typeface="Times New Roman" panose="02020603050405020304" pitchFamily="18" charset="0"/>
              </a:rPr>
              <a:t>fa0/6</a:t>
            </a: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S1</a:t>
            </a:r>
            <a:r>
              <a:rPr lang="en-US" sz="1000" dirty="0">
                <a:effectLst/>
                <a:latin typeface="Arial" panose="020B0604020202020204" pitchFamily="34" charset="0"/>
                <a:ea typeface="Times New Roman" panose="02020603050405020304" pitchFamily="18" charset="0"/>
              </a:rPr>
              <a:t> (config-if)# </a:t>
            </a:r>
            <a:r>
              <a:rPr lang="es-419" sz="1000" dirty="0" err="1"/>
              <a:t>Switchport</a:t>
            </a:r>
            <a:r>
              <a:rPr lang="es-419" sz="1000" dirty="0"/>
              <a:t> </a:t>
            </a:r>
            <a:r>
              <a:rPr lang="es-419" sz="1000" dirty="0" err="1"/>
              <a:t>mode</a:t>
            </a:r>
            <a:r>
              <a:rPr lang="es-419" sz="1000" baseline="0" dirty="0"/>
              <a:t> </a:t>
            </a:r>
            <a:r>
              <a:rPr lang="es-419" sz="1000" baseline="0" dirty="0" err="1"/>
              <a:t>access</a:t>
            </a:r>
            <a:endParaRPr lang="es-419" sz="1000" baseline="0" dirty="0"/>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S1</a:t>
            </a:r>
            <a:r>
              <a:rPr lang="en-US" sz="1000" dirty="0">
                <a:effectLst/>
                <a:latin typeface="Arial" panose="020B0604020202020204" pitchFamily="34" charset="0"/>
                <a:ea typeface="Times New Roman" panose="02020603050405020304" pitchFamily="18" charset="0"/>
              </a:rPr>
              <a:t> (config-if)# switchport access </a:t>
            </a:r>
            <a:r>
              <a:rPr lang="en-US" sz="1000" dirty="0" err="1">
                <a:effectLst/>
                <a:latin typeface="Arial" panose="020B0604020202020204" pitchFamily="34" charset="0"/>
                <a:ea typeface="Times New Roman" panose="02020603050405020304" pitchFamily="18" charset="0"/>
              </a:rPr>
              <a:t>vlan</a:t>
            </a:r>
            <a:r>
              <a:rPr lang="en-US" sz="1000" dirty="0">
                <a:effectLst/>
                <a:latin typeface="Arial" panose="020B0604020202020204" pitchFamily="34" charset="0"/>
                <a:ea typeface="Times New Roman" panose="02020603050405020304" pitchFamily="18" charset="0"/>
              </a:rPr>
              <a:t> </a:t>
            </a:r>
            <a:r>
              <a:rPr lang="en-US" sz="1000" b="1" dirty="0">
                <a:solidFill>
                  <a:srgbClr val="00B0F0"/>
                </a:solidFill>
                <a:effectLst/>
                <a:latin typeface="Arial" panose="020B0604020202020204" pitchFamily="34" charset="0"/>
                <a:ea typeface="Times New Roman" panose="02020603050405020304" pitchFamily="18" charset="0"/>
              </a:rPr>
              <a:t>10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s-CL" sz="1000" dirty="0">
                <a:effectLst/>
                <a:latin typeface="Arial" panose="020B0604020202020204" pitchFamily="34" charset="0"/>
                <a:ea typeface="Times New Roman" panose="02020603050405020304" pitchFamily="18" charset="0"/>
              </a:rPr>
              <a:t>Switch_</a:t>
            </a:r>
            <a:r>
              <a:rPr lang="es-CL" sz="1000" dirty="0">
                <a:latin typeface="Arial" panose="020B0604020202020204" pitchFamily="34" charset="0"/>
                <a:ea typeface="Times New Roman" panose="02020603050405020304" pitchFamily="18" charset="0"/>
              </a:rPr>
              <a:t>S1</a:t>
            </a:r>
            <a:r>
              <a:rPr lang="es-CL" sz="1000" dirty="0">
                <a:effectLst/>
                <a:latin typeface="Arial" panose="020B0604020202020204" pitchFamily="34" charset="0"/>
                <a:ea typeface="Times New Roman" panose="02020603050405020304" pitchFamily="18" charset="0"/>
              </a:rPr>
              <a:t> (</a:t>
            </a:r>
            <a:r>
              <a:rPr lang="es-CL" sz="1000" dirty="0" err="1">
                <a:effectLst/>
                <a:latin typeface="Arial" panose="020B0604020202020204" pitchFamily="34" charset="0"/>
                <a:ea typeface="Times New Roman" panose="02020603050405020304" pitchFamily="18" charset="0"/>
              </a:rPr>
              <a:t>config-if</a:t>
            </a:r>
            <a:r>
              <a:rPr lang="es-CL" sz="1000" dirty="0">
                <a:effectLst/>
                <a:latin typeface="Arial" panose="020B0604020202020204" pitchFamily="34" charset="0"/>
                <a:ea typeface="Times New Roman" panose="02020603050405020304" pitchFamily="18" charset="0"/>
              </a:rPr>
              <a:t>)# </a:t>
            </a:r>
            <a:r>
              <a:rPr lang="es-CL" sz="1000" dirty="0" err="1">
                <a:effectLst/>
                <a:latin typeface="Arial" panose="020B0604020202020204" pitchFamily="34" charset="0"/>
                <a:ea typeface="Times New Roman" panose="02020603050405020304" pitchFamily="18" charset="0"/>
              </a:rPr>
              <a:t>exit</a:t>
            </a:r>
            <a:endParaRPr lang="es-PE" sz="1000" dirty="0">
              <a:effectLst/>
              <a:latin typeface="Times New Roman" panose="02020603050405020304" pitchFamily="18" charset="0"/>
              <a:ea typeface="Times New Roman" panose="02020603050405020304" pitchFamily="18" charset="0"/>
            </a:endParaRPr>
          </a:p>
          <a:p>
            <a:r>
              <a:rPr lang="es-CL" sz="1000" b="1" dirty="0">
                <a:effectLst/>
                <a:latin typeface="Arial" panose="020B0604020202020204" pitchFamily="34" charset="0"/>
                <a:ea typeface="Times New Roman" panose="02020603050405020304" pitchFamily="18" charset="0"/>
              </a:rPr>
              <a:t> </a:t>
            </a:r>
            <a:endParaRPr lang="es-PE" sz="1000" dirty="0">
              <a:effectLst/>
              <a:latin typeface="Times New Roman" panose="02020603050405020304" pitchFamily="18" charset="0"/>
              <a:ea typeface="Times New Roman" panose="02020603050405020304" pitchFamily="18" charset="0"/>
            </a:endParaRPr>
          </a:p>
          <a:p>
            <a:r>
              <a:rPr lang="en-US" sz="1000" b="1" dirty="0">
                <a:solidFill>
                  <a:srgbClr val="00B050"/>
                </a:solidFill>
                <a:effectLst>
                  <a:outerShdw blurRad="38100" dist="38100" dir="2700000" algn="tl">
                    <a:srgbClr val="000000">
                      <a:alpha val="43137"/>
                    </a:srgbClr>
                  </a:outerShdw>
                </a:effectLst>
                <a:latin typeface="Arial" panose="020B0604020202020204" pitchFamily="34" charset="0"/>
              </a:rPr>
              <a:t>Switch_S2 </a:t>
            </a:r>
            <a:r>
              <a:rPr lang="en-US" sz="1000" dirty="0">
                <a:effectLst/>
                <a:latin typeface="Arial" panose="020B0604020202020204" pitchFamily="34" charset="0"/>
                <a:ea typeface="Times New Roman" panose="02020603050405020304" pitchFamily="18" charset="0"/>
              </a:rPr>
              <a:t>#configure terminal</a:t>
            </a:r>
            <a:endParaRPr lang="es-PE" sz="1000" dirty="0">
              <a:effectLst/>
              <a:latin typeface="Times New Roman" panose="02020603050405020304" pitchFamily="18" charset="0"/>
              <a:ea typeface="Times New Roman" panose="02020603050405020304" pitchFamily="18" charset="0"/>
            </a:endParaRP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S2</a:t>
            </a:r>
            <a:r>
              <a:rPr lang="en-US" sz="1000" dirty="0">
                <a:effectLst/>
                <a:latin typeface="Arial" panose="020B0604020202020204" pitchFamily="34" charset="0"/>
                <a:ea typeface="Times New Roman" panose="02020603050405020304" pitchFamily="18" charset="0"/>
              </a:rPr>
              <a:t> (config)# interface </a:t>
            </a:r>
            <a:r>
              <a:rPr lang="en-US" sz="1000" b="1" dirty="0">
                <a:solidFill>
                  <a:srgbClr val="00B0F0"/>
                </a:solidFill>
                <a:effectLst/>
                <a:latin typeface="Arial" panose="020B0604020202020204" pitchFamily="34" charset="0"/>
                <a:ea typeface="Times New Roman" panose="02020603050405020304" pitchFamily="18" charset="0"/>
              </a:rPr>
              <a:t>fa0/18</a:t>
            </a:r>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S2</a:t>
            </a:r>
            <a:r>
              <a:rPr lang="en-US" sz="1000" dirty="0">
                <a:effectLst/>
                <a:latin typeface="Arial" panose="020B0604020202020204" pitchFamily="34" charset="0"/>
                <a:ea typeface="Times New Roman" panose="02020603050405020304" pitchFamily="18" charset="0"/>
              </a:rPr>
              <a:t> (config-if)# </a:t>
            </a:r>
            <a:r>
              <a:rPr lang="es-419" sz="1000" dirty="0" err="1"/>
              <a:t>Switchport</a:t>
            </a:r>
            <a:r>
              <a:rPr lang="es-419" sz="1000" dirty="0"/>
              <a:t> </a:t>
            </a:r>
            <a:r>
              <a:rPr lang="es-419" sz="1000" dirty="0" err="1"/>
              <a:t>mode</a:t>
            </a:r>
            <a:r>
              <a:rPr lang="es-419" sz="1000" baseline="0" dirty="0"/>
              <a:t> </a:t>
            </a:r>
            <a:r>
              <a:rPr lang="es-419" sz="1000" baseline="0" dirty="0" err="1"/>
              <a:t>access</a:t>
            </a:r>
            <a:endParaRPr lang="es-419" sz="1000" baseline="0" dirty="0"/>
          </a:p>
          <a:p>
            <a:r>
              <a:rPr lang="en-US" sz="1000" dirty="0">
                <a:effectLst/>
                <a:latin typeface="Arial" panose="020B0604020202020204" pitchFamily="34" charset="0"/>
                <a:ea typeface="Times New Roman" panose="02020603050405020304" pitchFamily="18" charset="0"/>
              </a:rPr>
              <a:t>Switch_</a:t>
            </a:r>
            <a:r>
              <a:rPr lang="en-US" sz="1000" dirty="0">
                <a:latin typeface="Arial" panose="020B0604020202020204" pitchFamily="34" charset="0"/>
                <a:ea typeface="Times New Roman" panose="02020603050405020304" pitchFamily="18" charset="0"/>
              </a:rPr>
              <a:t>S2</a:t>
            </a:r>
            <a:r>
              <a:rPr lang="en-US" sz="1000" dirty="0">
                <a:effectLst/>
                <a:latin typeface="Arial" panose="020B0604020202020204" pitchFamily="34" charset="0"/>
                <a:ea typeface="Times New Roman" panose="02020603050405020304" pitchFamily="18" charset="0"/>
              </a:rPr>
              <a:t> (config-if)# switchport access </a:t>
            </a:r>
            <a:r>
              <a:rPr lang="en-US" sz="1000" dirty="0" err="1">
                <a:effectLst/>
                <a:latin typeface="Arial" panose="020B0604020202020204" pitchFamily="34" charset="0"/>
                <a:ea typeface="Times New Roman" panose="02020603050405020304" pitchFamily="18" charset="0"/>
              </a:rPr>
              <a:t>vlan</a:t>
            </a:r>
            <a:r>
              <a:rPr lang="en-US" sz="1000" dirty="0">
                <a:effectLst/>
                <a:latin typeface="Arial" panose="020B0604020202020204" pitchFamily="34" charset="0"/>
                <a:ea typeface="Times New Roman" panose="02020603050405020304" pitchFamily="18" charset="0"/>
              </a:rPr>
              <a:t> </a:t>
            </a:r>
            <a:r>
              <a:rPr lang="en-US" sz="1000" b="1" dirty="0">
                <a:solidFill>
                  <a:srgbClr val="00B0F0"/>
                </a:solidFill>
                <a:latin typeface="Arial" panose="020B0604020202020204" pitchFamily="34" charset="0"/>
                <a:ea typeface="Times New Roman" panose="02020603050405020304" pitchFamily="18" charset="0"/>
              </a:rPr>
              <a:t>20</a:t>
            </a:r>
            <a:endParaRPr lang="es-PE" sz="1000" b="1" dirty="0">
              <a:solidFill>
                <a:srgbClr val="00B0F0"/>
              </a:solidFill>
              <a:effectLst/>
              <a:latin typeface="Times New Roman" panose="02020603050405020304" pitchFamily="18" charset="0"/>
              <a:ea typeface="Times New Roman" panose="02020603050405020304" pitchFamily="18" charset="0"/>
            </a:endParaRPr>
          </a:p>
          <a:p>
            <a:r>
              <a:rPr lang="es-CL" sz="1000" dirty="0">
                <a:effectLst/>
                <a:latin typeface="Arial" panose="020B0604020202020204" pitchFamily="34" charset="0"/>
                <a:ea typeface="Times New Roman" panose="02020603050405020304" pitchFamily="18" charset="0"/>
              </a:rPr>
              <a:t>Switch_</a:t>
            </a:r>
            <a:r>
              <a:rPr lang="es-CL" sz="1000" dirty="0">
                <a:latin typeface="Arial" panose="020B0604020202020204" pitchFamily="34" charset="0"/>
                <a:ea typeface="Times New Roman" panose="02020603050405020304" pitchFamily="18" charset="0"/>
              </a:rPr>
              <a:t>S2</a:t>
            </a:r>
            <a:r>
              <a:rPr lang="es-CL" sz="1000" dirty="0">
                <a:effectLst/>
                <a:latin typeface="Arial" panose="020B0604020202020204" pitchFamily="34" charset="0"/>
                <a:ea typeface="Times New Roman" panose="02020603050405020304" pitchFamily="18" charset="0"/>
              </a:rPr>
              <a:t> (</a:t>
            </a:r>
            <a:r>
              <a:rPr lang="es-CL" sz="1000" dirty="0" err="1">
                <a:effectLst/>
                <a:latin typeface="Arial" panose="020B0604020202020204" pitchFamily="34" charset="0"/>
                <a:ea typeface="Times New Roman" panose="02020603050405020304" pitchFamily="18" charset="0"/>
              </a:rPr>
              <a:t>config-if</a:t>
            </a:r>
            <a:r>
              <a:rPr lang="es-CL" sz="1000" dirty="0">
                <a:effectLst/>
                <a:latin typeface="Arial" panose="020B0604020202020204" pitchFamily="34" charset="0"/>
                <a:ea typeface="Times New Roman" panose="02020603050405020304" pitchFamily="18" charset="0"/>
              </a:rPr>
              <a:t>)# </a:t>
            </a:r>
            <a:r>
              <a:rPr lang="es-CL" sz="1000" dirty="0" err="1">
                <a:effectLst/>
                <a:latin typeface="Arial" panose="020B0604020202020204" pitchFamily="34" charset="0"/>
                <a:ea typeface="Times New Roman" panose="02020603050405020304" pitchFamily="18" charset="0"/>
              </a:rPr>
              <a:t>exit</a:t>
            </a:r>
            <a:endParaRPr lang="es-PE" sz="1000" dirty="0">
              <a:effectLst/>
              <a:latin typeface="Times New Roman" panose="02020603050405020304" pitchFamily="18" charset="0"/>
              <a:ea typeface="Times New Roman" panose="02020603050405020304" pitchFamily="18" charset="0"/>
            </a:endParaRPr>
          </a:p>
        </p:txBody>
      </p:sp>
      <p:graphicFrame>
        <p:nvGraphicFramePr>
          <p:cNvPr id="14" name="Table 5">
            <a:extLst>
              <a:ext uri="{FF2B5EF4-FFF2-40B4-BE49-F238E27FC236}">
                <a16:creationId xmlns:a16="http://schemas.microsoft.com/office/drawing/2014/main" id="{A0EAB0D1-BD02-B4B8-48D1-50DF2040F350}"/>
              </a:ext>
            </a:extLst>
          </p:cNvPr>
          <p:cNvGraphicFramePr>
            <a:graphicFrameLocks noGrp="1"/>
          </p:cNvGraphicFramePr>
          <p:nvPr>
            <p:extLst>
              <p:ext uri="{D42A27DB-BD31-4B8C-83A1-F6EECF244321}">
                <p14:modId xmlns:p14="http://schemas.microsoft.com/office/powerpoint/2010/main" val="358891506"/>
              </p:ext>
            </p:extLst>
          </p:nvPr>
        </p:nvGraphicFramePr>
        <p:xfrm>
          <a:off x="5413461" y="3720566"/>
          <a:ext cx="3101043" cy="980169"/>
        </p:xfrm>
        <a:graphic>
          <a:graphicData uri="http://schemas.openxmlformats.org/drawingml/2006/table">
            <a:tbl>
              <a:tblPr firstRow="1" bandRow="1">
                <a:tableStyleId>{5C22544A-7EE6-4342-B048-85BDC9FD1C3A}</a:tableStyleId>
              </a:tblPr>
              <a:tblGrid>
                <a:gridCol w="974717">
                  <a:extLst>
                    <a:ext uri="{9D8B030D-6E8A-4147-A177-3AD203B41FA5}">
                      <a16:colId xmlns:a16="http://schemas.microsoft.com/office/drawing/2014/main" val="2537369461"/>
                    </a:ext>
                  </a:extLst>
                </a:gridCol>
                <a:gridCol w="769143">
                  <a:extLst>
                    <a:ext uri="{9D8B030D-6E8A-4147-A177-3AD203B41FA5}">
                      <a16:colId xmlns:a16="http://schemas.microsoft.com/office/drawing/2014/main" val="26083547"/>
                    </a:ext>
                  </a:extLst>
                </a:gridCol>
                <a:gridCol w="1357183">
                  <a:extLst>
                    <a:ext uri="{9D8B030D-6E8A-4147-A177-3AD203B41FA5}">
                      <a16:colId xmlns:a16="http://schemas.microsoft.com/office/drawing/2014/main" val="225096973"/>
                    </a:ext>
                  </a:extLst>
                </a:gridCol>
              </a:tblGrid>
              <a:tr h="326723">
                <a:tc>
                  <a:txBody>
                    <a:bodyPr/>
                    <a:lstStyle/>
                    <a:p>
                      <a:pPr algn="ctr" rtl="0" fontAlgn="ctr"/>
                      <a:r>
                        <a:rPr lang="es-419" sz="1200" b="1" dirty="0">
                          <a:effectLst/>
                        </a:rPr>
                        <a:t>Subinterfaz</a:t>
                      </a:r>
                    </a:p>
                  </a:txBody>
                  <a:tcPr marL="47625" marR="47625" marT="47625" marB="47625" anchor="ctr"/>
                </a:tc>
                <a:tc>
                  <a:txBody>
                    <a:bodyPr/>
                    <a:lstStyle/>
                    <a:p>
                      <a:pPr algn="ctr" rtl="0" fontAlgn="ctr"/>
                      <a:r>
                        <a:rPr lang="es-419" sz="1200" b="1" dirty="0">
                          <a:effectLst/>
                        </a:rPr>
                        <a:t>VLAN</a:t>
                      </a:r>
                    </a:p>
                  </a:txBody>
                  <a:tcPr marL="47625" marR="47625" marT="47625" marB="47625" anchor="ctr"/>
                </a:tc>
                <a:tc>
                  <a:txBody>
                    <a:bodyPr/>
                    <a:lstStyle/>
                    <a:p>
                      <a:pPr algn="ctr" rtl="0" fontAlgn="ctr"/>
                      <a:r>
                        <a:rPr lang="es-419" sz="1200" b="1">
                          <a:effectLst/>
                        </a:rPr>
                        <a:t>Dirección IP</a:t>
                      </a:r>
                    </a:p>
                  </a:txBody>
                  <a:tcPr marL="47625" marR="47625" marT="47625" marB="47625" anchor="ctr"/>
                </a:tc>
                <a:extLst>
                  <a:ext uri="{0D108BD9-81ED-4DB2-BD59-A6C34878D82A}">
                    <a16:rowId xmlns:a16="http://schemas.microsoft.com/office/drawing/2014/main" val="3852578632"/>
                  </a:ext>
                </a:extLst>
              </a:tr>
              <a:tr h="326723">
                <a:tc>
                  <a:txBody>
                    <a:bodyPr/>
                    <a:lstStyle/>
                    <a:p>
                      <a:pPr algn="ctr" rtl="0" fontAlgn="ctr"/>
                      <a:r>
                        <a:rPr lang="es-419" sz="1200" b="1" dirty="0">
                          <a:solidFill>
                            <a:srgbClr val="0000CC"/>
                          </a:solidFill>
                          <a:effectLst/>
                        </a:rPr>
                        <a:t>Fa0/0</a:t>
                      </a:r>
                      <a:r>
                        <a:rPr lang="es-419" sz="1200" b="1" dirty="0">
                          <a:solidFill>
                            <a:srgbClr val="FF0000"/>
                          </a:solidFill>
                          <a:effectLst/>
                        </a:rPr>
                        <a:t>.10</a:t>
                      </a:r>
                    </a:p>
                  </a:txBody>
                  <a:tcPr marL="47625" marR="47625" marT="47625" marB="47625" anchor="ctr"/>
                </a:tc>
                <a:tc>
                  <a:txBody>
                    <a:bodyPr/>
                    <a:lstStyle/>
                    <a:p>
                      <a:pPr algn="ctr" rtl="0" fontAlgn="ctr"/>
                      <a:r>
                        <a:rPr lang="es-419" sz="1200" b="0">
                          <a:effectLst/>
                        </a:rPr>
                        <a:t>10</a:t>
                      </a:r>
                    </a:p>
                  </a:txBody>
                  <a:tcPr marL="47625" marR="47625" marT="47625" marB="47625" anchor="ctr"/>
                </a:tc>
                <a:tc>
                  <a:txBody>
                    <a:bodyPr/>
                    <a:lstStyle/>
                    <a:p>
                      <a:pPr algn="ctr" rtl="0" fontAlgn="ctr"/>
                      <a:r>
                        <a:rPr lang="es-419" sz="1200" b="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algn="ctr" rtl="0" fontAlgn="ctr"/>
                      <a:r>
                        <a:rPr lang="es-419" sz="1200" b="1" dirty="0">
                          <a:solidFill>
                            <a:srgbClr val="0000CC"/>
                          </a:solidFill>
                          <a:effectLst/>
                        </a:rPr>
                        <a:t>Fa0/0</a:t>
                      </a:r>
                      <a:r>
                        <a:rPr lang="es-419" sz="1200" b="1" dirty="0">
                          <a:solidFill>
                            <a:srgbClr val="00B0F0"/>
                          </a:solidFill>
                          <a:effectLst/>
                        </a:rPr>
                        <a:t>.20</a:t>
                      </a:r>
                    </a:p>
                  </a:txBody>
                  <a:tcPr marL="47625" marR="47625" marT="47625" marB="47625" anchor="ctr"/>
                </a:tc>
                <a:tc>
                  <a:txBody>
                    <a:bodyPr/>
                    <a:lstStyle/>
                    <a:p>
                      <a:pPr algn="ctr" rtl="0" fontAlgn="ctr"/>
                      <a:r>
                        <a:rPr lang="es-419" sz="1200" b="0" dirty="0">
                          <a:effectLst/>
                        </a:rPr>
                        <a:t>20</a:t>
                      </a:r>
                    </a:p>
                  </a:txBody>
                  <a:tcPr marL="47625" marR="47625" marT="47625" marB="47625" anchor="ctr"/>
                </a:tc>
                <a:tc>
                  <a:txBody>
                    <a:bodyPr/>
                    <a:lstStyle/>
                    <a:p>
                      <a:pPr algn="ctr" rtl="0" fontAlgn="ctr"/>
                      <a:r>
                        <a:rPr lang="es-419" sz="1200" b="0" dirty="0">
                          <a:effectLst/>
                        </a:rPr>
                        <a:t>192.168.20.1/24</a:t>
                      </a:r>
                    </a:p>
                  </a:txBody>
                  <a:tcPr marL="47625" marR="47625" marT="47625" marB="47625" anchor="ctr"/>
                </a:tc>
                <a:extLst>
                  <a:ext uri="{0D108BD9-81ED-4DB2-BD59-A6C34878D82A}">
                    <a16:rowId xmlns:a16="http://schemas.microsoft.com/office/drawing/2014/main" val="2807812519"/>
                  </a:ext>
                </a:extLst>
              </a:tr>
            </a:tbl>
          </a:graphicData>
        </a:graphic>
      </p:graphicFrame>
      <p:sp>
        <p:nvSpPr>
          <p:cNvPr id="18" name="Elipse 17">
            <a:extLst>
              <a:ext uri="{FF2B5EF4-FFF2-40B4-BE49-F238E27FC236}">
                <a16:creationId xmlns:a16="http://schemas.microsoft.com/office/drawing/2014/main" id="{EE7258AF-816D-A427-C10D-6202366862CA}"/>
              </a:ext>
            </a:extLst>
          </p:cNvPr>
          <p:cNvSpPr/>
          <p:nvPr/>
        </p:nvSpPr>
        <p:spPr>
          <a:xfrm>
            <a:off x="5109668" y="2143496"/>
            <a:ext cx="1775361" cy="1505197"/>
          </a:xfrm>
          <a:prstGeom prst="ellipse">
            <a:avLst/>
          </a:prstGeom>
          <a:solidFill>
            <a:srgbClr val="36A4D7">
              <a:alpha val="39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0" name="Elipse 19">
            <a:extLst>
              <a:ext uri="{FF2B5EF4-FFF2-40B4-BE49-F238E27FC236}">
                <a16:creationId xmlns:a16="http://schemas.microsoft.com/office/drawing/2014/main" id="{AF7E6C21-BEB6-E554-82F0-DE79412290E6}"/>
              </a:ext>
            </a:extLst>
          </p:cNvPr>
          <p:cNvSpPr/>
          <p:nvPr/>
        </p:nvSpPr>
        <p:spPr>
          <a:xfrm>
            <a:off x="7170037" y="2158044"/>
            <a:ext cx="1775361" cy="1505197"/>
          </a:xfrm>
          <a:prstGeom prst="ellipse">
            <a:avLst/>
          </a:prstGeom>
          <a:solidFill>
            <a:schemeClr val="bg2">
              <a:alpha val="3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Tree>
    <p:extLst>
      <p:ext uri="{BB962C8B-B14F-4D97-AF65-F5344CB8AC3E}">
        <p14:creationId xmlns:p14="http://schemas.microsoft.com/office/powerpoint/2010/main" val="8970320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2F4D8FB-071F-BC0F-7BDF-785BC14A78D6}"/>
              </a:ext>
            </a:extLst>
          </p:cNvPr>
          <p:cNvPicPr>
            <a:picLocks noChangeAspect="1"/>
          </p:cNvPicPr>
          <p:nvPr/>
        </p:nvPicPr>
        <p:blipFill>
          <a:blip r:embed="rId3"/>
          <a:stretch>
            <a:fillRect/>
          </a:stretch>
        </p:blipFill>
        <p:spPr>
          <a:xfrm>
            <a:off x="5500616" y="95190"/>
            <a:ext cx="3543300" cy="2981325"/>
          </a:xfrm>
          <a:prstGeom prst="rect">
            <a:avLst/>
          </a:prstGeom>
        </p:spPr>
      </p:pic>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0084" y="0"/>
            <a:ext cx="9002972" cy="731837"/>
          </a:xfrm>
        </p:spPr>
        <p:txBody>
          <a:bodyPr/>
          <a:lstStyle/>
          <a:p>
            <a:pPr rtl="0"/>
            <a:r>
              <a:rPr lang="es-419" sz="2400" dirty="0">
                <a:solidFill>
                  <a:srgbClr val="C00000"/>
                </a:solidFill>
              </a:rPr>
              <a:t>Escenario </a:t>
            </a:r>
            <a:r>
              <a:rPr lang="es-419" sz="2400" dirty="0" err="1">
                <a:solidFill>
                  <a:srgbClr val="C00000"/>
                </a:solidFill>
              </a:rPr>
              <a:t>Router</a:t>
            </a:r>
            <a:r>
              <a:rPr lang="es-419" sz="2400" dirty="0">
                <a:solidFill>
                  <a:srgbClr val="C00000"/>
                </a:solidFill>
              </a:rPr>
              <a:t>-</a:t>
            </a:r>
            <a:r>
              <a:rPr lang="es-419" sz="2400" dirty="0" err="1">
                <a:solidFill>
                  <a:srgbClr val="C00000"/>
                </a:solidFill>
              </a:rPr>
              <a:t>on</a:t>
            </a:r>
            <a:r>
              <a:rPr lang="es-419" sz="2400" dirty="0">
                <a:solidFill>
                  <a:srgbClr val="C00000"/>
                </a:solidFill>
              </a:rPr>
              <a:t>-a-</a:t>
            </a:r>
            <a:r>
              <a:rPr lang="es-419" sz="2400" dirty="0" err="1">
                <a:solidFill>
                  <a:srgbClr val="C00000"/>
                </a:solidFill>
              </a:rPr>
              <a:t>stick</a:t>
            </a:r>
            <a:endParaRPr lang="es-419" sz="2400" dirty="0">
              <a:solidFill>
                <a:srgbClr val="C00000"/>
              </a:solidFill>
            </a:endParaRPr>
          </a:p>
        </p:txBody>
      </p:sp>
      <p:graphicFrame>
        <p:nvGraphicFramePr>
          <p:cNvPr id="6" name="Table 5">
            <a:extLst>
              <a:ext uri="{FF2B5EF4-FFF2-40B4-BE49-F238E27FC236}">
                <a16:creationId xmlns:a16="http://schemas.microsoft.com/office/drawing/2014/main" id="{3C52B408-540D-0241-BBC9-5AFB70668F1F}"/>
              </a:ext>
            </a:extLst>
          </p:cNvPr>
          <p:cNvGraphicFramePr>
            <a:graphicFrameLocks noGrp="1"/>
          </p:cNvGraphicFramePr>
          <p:nvPr>
            <p:extLst>
              <p:ext uri="{D42A27DB-BD31-4B8C-83A1-F6EECF244321}">
                <p14:modId xmlns:p14="http://schemas.microsoft.com/office/powerpoint/2010/main" val="664618542"/>
              </p:ext>
            </p:extLst>
          </p:nvPr>
        </p:nvGraphicFramePr>
        <p:xfrm>
          <a:off x="5612063" y="3423683"/>
          <a:ext cx="3101043" cy="980169"/>
        </p:xfrm>
        <a:graphic>
          <a:graphicData uri="http://schemas.openxmlformats.org/drawingml/2006/table">
            <a:tbl>
              <a:tblPr firstRow="1" bandRow="1">
                <a:tableStyleId>{5C22544A-7EE6-4342-B048-85BDC9FD1C3A}</a:tableStyleId>
              </a:tblPr>
              <a:tblGrid>
                <a:gridCol w="974717">
                  <a:extLst>
                    <a:ext uri="{9D8B030D-6E8A-4147-A177-3AD203B41FA5}">
                      <a16:colId xmlns:a16="http://schemas.microsoft.com/office/drawing/2014/main" val="2537369461"/>
                    </a:ext>
                  </a:extLst>
                </a:gridCol>
                <a:gridCol w="769143">
                  <a:extLst>
                    <a:ext uri="{9D8B030D-6E8A-4147-A177-3AD203B41FA5}">
                      <a16:colId xmlns:a16="http://schemas.microsoft.com/office/drawing/2014/main" val="26083547"/>
                    </a:ext>
                  </a:extLst>
                </a:gridCol>
                <a:gridCol w="1357183">
                  <a:extLst>
                    <a:ext uri="{9D8B030D-6E8A-4147-A177-3AD203B41FA5}">
                      <a16:colId xmlns:a16="http://schemas.microsoft.com/office/drawing/2014/main" val="225096973"/>
                    </a:ext>
                  </a:extLst>
                </a:gridCol>
              </a:tblGrid>
              <a:tr h="326723">
                <a:tc>
                  <a:txBody>
                    <a:bodyPr/>
                    <a:lstStyle/>
                    <a:p>
                      <a:pPr algn="l" rtl="0" fontAlgn="ctr"/>
                      <a:r>
                        <a:rPr lang="es-419" sz="1200" b="1" dirty="0">
                          <a:effectLst/>
                        </a:rPr>
                        <a:t>Subinterfaz</a:t>
                      </a:r>
                    </a:p>
                  </a:txBody>
                  <a:tcPr marL="47625" marR="47625" marT="47625" marB="47625" anchor="ctr"/>
                </a:tc>
                <a:tc>
                  <a:txBody>
                    <a:bodyPr/>
                    <a:lstStyle/>
                    <a:p>
                      <a:pPr algn="ctr" rtl="0" fontAlgn="ctr"/>
                      <a:r>
                        <a:rPr lang="es-419" sz="1200" b="1" dirty="0">
                          <a:effectLst/>
                        </a:rPr>
                        <a:t>VLAN</a:t>
                      </a:r>
                    </a:p>
                  </a:txBody>
                  <a:tcPr marL="47625" marR="47625" marT="47625" marB="47625" anchor="ctr"/>
                </a:tc>
                <a:tc>
                  <a:txBody>
                    <a:bodyPr/>
                    <a:lstStyle/>
                    <a:p>
                      <a:pPr algn="l" rtl="0" fontAlgn="ctr"/>
                      <a:r>
                        <a:rPr lang="es-419" sz="1200" b="1">
                          <a:effectLst/>
                        </a:rPr>
                        <a:t>Dirección IP</a:t>
                      </a:r>
                    </a:p>
                  </a:txBody>
                  <a:tcPr marL="47625" marR="47625" marT="47625" marB="47625" anchor="ctr"/>
                </a:tc>
                <a:extLst>
                  <a:ext uri="{0D108BD9-81ED-4DB2-BD59-A6C34878D82A}">
                    <a16:rowId xmlns:a16="http://schemas.microsoft.com/office/drawing/2014/main" val="3852578632"/>
                  </a:ext>
                </a:extLst>
              </a:tr>
              <a:tr h="326723">
                <a:tc>
                  <a:txBody>
                    <a:bodyPr/>
                    <a:lstStyle/>
                    <a:p>
                      <a:pPr rtl="0" fontAlgn="ctr"/>
                      <a:r>
                        <a:rPr lang="es-419" sz="1200" b="1" dirty="0">
                          <a:solidFill>
                            <a:srgbClr val="0000CC"/>
                          </a:solidFill>
                          <a:effectLst/>
                        </a:rPr>
                        <a:t>Fa0/0</a:t>
                      </a:r>
                      <a:r>
                        <a:rPr lang="es-419" sz="1200" b="1" dirty="0">
                          <a:solidFill>
                            <a:srgbClr val="FF0000"/>
                          </a:solidFill>
                          <a:effectLst/>
                        </a:rPr>
                        <a:t>.10</a:t>
                      </a:r>
                    </a:p>
                  </a:txBody>
                  <a:tcPr marL="47625" marR="47625" marT="47625" marB="47625" anchor="ctr"/>
                </a:tc>
                <a:tc>
                  <a:txBody>
                    <a:bodyPr/>
                    <a:lstStyle/>
                    <a:p>
                      <a:pPr algn="ctr" rtl="0" fontAlgn="ctr"/>
                      <a:r>
                        <a:rPr lang="es-419" sz="1200" b="0">
                          <a:effectLst/>
                        </a:rPr>
                        <a:t>10</a:t>
                      </a:r>
                    </a:p>
                  </a:txBody>
                  <a:tcPr marL="47625" marR="47625" marT="47625" marB="47625" anchor="ctr"/>
                </a:tc>
                <a:tc>
                  <a:txBody>
                    <a:bodyPr/>
                    <a:lstStyle/>
                    <a:p>
                      <a:pPr rtl="0" fontAlgn="ctr"/>
                      <a:r>
                        <a:rPr lang="es-419" sz="1200" b="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rtl="0" fontAlgn="ctr"/>
                      <a:r>
                        <a:rPr lang="es-419" sz="1200" b="1" dirty="0">
                          <a:solidFill>
                            <a:srgbClr val="0000CC"/>
                          </a:solidFill>
                          <a:effectLst/>
                        </a:rPr>
                        <a:t>Fa0/0</a:t>
                      </a:r>
                      <a:r>
                        <a:rPr lang="es-419" sz="1200" b="1" dirty="0">
                          <a:solidFill>
                            <a:srgbClr val="00B0F0"/>
                          </a:solidFill>
                          <a:effectLst/>
                        </a:rPr>
                        <a:t>.20</a:t>
                      </a:r>
                    </a:p>
                  </a:txBody>
                  <a:tcPr marL="47625" marR="47625" marT="47625" marB="47625" anchor="ctr"/>
                </a:tc>
                <a:tc>
                  <a:txBody>
                    <a:bodyPr/>
                    <a:lstStyle/>
                    <a:p>
                      <a:pPr algn="ctr" rtl="0" fontAlgn="ctr"/>
                      <a:r>
                        <a:rPr lang="es-419" sz="1200" b="0" dirty="0">
                          <a:effectLst/>
                        </a:rPr>
                        <a:t>20</a:t>
                      </a:r>
                    </a:p>
                  </a:txBody>
                  <a:tcPr marL="47625" marR="47625" marT="47625" marB="47625" anchor="ctr"/>
                </a:tc>
                <a:tc>
                  <a:txBody>
                    <a:bodyPr/>
                    <a:lstStyle/>
                    <a:p>
                      <a:pPr rtl="0" fontAlgn="ctr"/>
                      <a:r>
                        <a:rPr lang="es-419" sz="1200" b="0" dirty="0">
                          <a:effectLst/>
                        </a:rPr>
                        <a:t>192.168.20.1/24</a:t>
                      </a:r>
                    </a:p>
                  </a:txBody>
                  <a:tcPr marL="47625" marR="47625" marT="47625" marB="47625" anchor="ctr"/>
                </a:tc>
                <a:extLst>
                  <a:ext uri="{0D108BD9-81ED-4DB2-BD59-A6C34878D82A}">
                    <a16:rowId xmlns:a16="http://schemas.microsoft.com/office/drawing/2014/main" val="2807812519"/>
                  </a:ext>
                </a:extLst>
              </a:tr>
            </a:tbl>
          </a:graphicData>
        </a:graphic>
      </p:graphicFrame>
      <p:sp>
        <p:nvSpPr>
          <p:cNvPr id="4" name="CuadroTexto 3">
            <a:extLst>
              <a:ext uri="{FF2B5EF4-FFF2-40B4-BE49-F238E27FC236}">
                <a16:creationId xmlns:a16="http://schemas.microsoft.com/office/drawing/2014/main" id="{1A6220CA-F340-1781-2D41-998F6C51CBED}"/>
              </a:ext>
            </a:extLst>
          </p:cNvPr>
          <p:cNvSpPr txBox="1"/>
          <p:nvPr/>
        </p:nvSpPr>
        <p:spPr>
          <a:xfrm>
            <a:off x="8699715" y="4830305"/>
            <a:ext cx="583770" cy="276999"/>
          </a:xfrm>
          <a:prstGeom prst="rect">
            <a:avLst/>
          </a:prstGeom>
          <a:noFill/>
        </p:spPr>
        <p:txBody>
          <a:bodyPr wrap="square" rtlCol="0">
            <a:spAutoFit/>
          </a:bodyPr>
          <a:lstStyle/>
          <a:p>
            <a:r>
              <a:rPr lang="es-PE" sz="1200" dirty="0">
                <a:solidFill>
                  <a:srgbClr val="00B0F0"/>
                </a:solidFill>
              </a:rPr>
              <a:t>72</a:t>
            </a:r>
          </a:p>
        </p:txBody>
      </p:sp>
      <p:sp>
        <p:nvSpPr>
          <p:cNvPr id="5" name="CuadroTexto 4">
            <a:extLst>
              <a:ext uri="{FF2B5EF4-FFF2-40B4-BE49-F238E27FC236}">
                <a16:creationId xmlns:a16="http://schemas.microsoft.com/office/drawing/2014/main" id="{E20BA468-E724-8EDC-E347-078CB2DB890C}"/>
              </a:ext>
            </a:extLst>
          </p:cNvPr>
          <p:cNvSpPr txBox="1"/>
          <p:nvPr/>
        </p:nvSpPr>
        <p:spPr>
          <a:xfrm>
            <a:off x="185389" y="678368"/>
            <a:ext cx="4641694" cy="3416320"/>
          </a:xfrm>
          <a:prstGeom prst="rect">
            <a:avLst/>
          </a:prstGeom>
          <a:noFill/>
        </p:spPr>
        <p:txBody>
          <a:bodyPr wrap="square">
            <a:spAutoFit/>
          </a:bodyPr>
          <a:lstStyle/>
          <a:p>
            <a:pPr algn="just"/>
            <a:r>
              <a:rPr lang="es-CL" sz="1400" b="1" u="sng" dirty="0">
                <a:solidFill>
                  <a:srgbClr val="FF0000"/>
                </a:solidFill>
                <a:effectLst/>
                <a:latin typeface="Arial" panose="020B0604020202020204" pitchFamily="34" charset="0"/>
                <a:ea typeface="Times New Roman" panose="02020603050405020304" pitchFamily="18" charset="0"/>
              </a:rPr>
              <a:t>Configuración de Puertos </a:t>
            </a:r>
            <a:r>
              <a:rPr lang="es-CL" sz="1400" b="1" u="sng" dirty="0" err="1">
                <a:solidFill>
                  <a:srgbClr val="FF0000"/>
                </a:solidFill>
                <a:effectLst/>
                <a:latin typeface="Arial" panose="020B0604020202020204" pitchFamily="34" charset="0"/>
                <a:ea typeface="Times New Roman" panose="02020603050405020304" pitchFamily="18" charset="0"/>
              </a:rPr>
              <a:t>Trunk</a:t>
            </a:r>
            <a:endParaRPr lang="es-PE" sz="1400" u="sng" dirty="0">
              <a:solidFill>
                <a:srgbClr val="FF0000"/>
              </a:solidFill>
              <a:effectLst/>
              <a:latin typeface="Times New Roman" panose="02020603050405020304" pitchFamily="18" charset="0"/>
              <a:ea typeface="Times New Roman" panose="02020603050405020304" pitchFamily="18" charset="0"/>
            </a:endParaRPr>
          </a:p>
          <a:p>
            <a:pPr algn="just"/>
            <a:r>
              <a:rPr lang="es-CL" sz="1200" dirty="0">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algn="just"/>
            <a:r>
              <a:rPr lang="es-CL" sz="1200" b="1" dirty="0">
                <a:solidFill>
                  <a:srgbClr val="00B0F0"/>
                </a:solidFill>
                <a:effectLst/>
                <a:latin typeface="Arial" panose="020B0604020202020204" pitchFamily="34" charset="0"/>
                <a:ea typeface="Times New Roman" panose="02020603050405020304" pitchFamily="18" charset="0"/>
              </a:rPr>
              <a:t>Switch_S1</a:t>
            </a:r>
            <a:r>
              <a:rPr lang="es-CL" sz="1200" dirty="0">
                <a:effectLst/>
                <a:latin typeface="Arial" panose="020B0604020202020204" pitchFamily="34" charset="0"/>
                <a:ea typeface="Times New Roman" panose="02020603050405020304" pitchFamily="18" charset="0"/>
              </a:rPr>
              <a:t>#configure terminal</a:t>
            </a:r>
            <a:endParaRPr lang="es-PE" sz="1200" dirty="0">
              <a:effectLst/>
              <a:latin typeface="Times New Roman" panose="02020603050405020304" pitchFamily="18" charset="0"/>
              <a:ea typeface="Times New Roman" panose="02020603050405020304" pitchFamily="18" charset="0"/>
            </a:endParaRPr>
          </a:p>
          <a:p>
            <a:pPr algn="just"/>
            <a:r>
              <a:rPr lang="en-US" sz="1200" dirty="0">
                <a:effectLst/>
                <a:latin typeface="Arial" panose="020B0604020202020204" pitchFamily="34" charset="0"/>
                <a:ea typeface="Times New Roman" panose="02020603050405020304" pitchFamily="18" charset="0"/>
              </a:rPr>
              <a:t>Switch_S1(config)# interface </a:t>
            </a:r>
            <a:r>
              <a:rPr lang="en-US" sz="1200" b="1" dirty="0">
                <a:solidFill>
                  <a:srgbClr val="00B0F0"/>
                </a:solidFill>
                <a:effectLst/>
                <a:latin typeface="Arial" panose="020B0604020202020204" pitchFamily="34" charset="0"/>
                <a:ea typeface="Times New Roman" panose="02020603050405020304" pitchFamily="18" charset="0"/>
              </a:rPr>
              <a:t>fa0/1</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r>
              <a:rPr lang="en-US" sz="1200" dirty="0">
                <a:effectLst/>
                <a:latin typeface="Arial" panose="020B0604020202020204" pitchFamily="34" charset="0"/>
                <a:ea typeface="Times New Roman" panose="02020603050405020304" pitchFamily="18" charset="0"/>
              </a:rPr>
              <a:t>Switch_S1(config-if)# switchport mode trunk</a:t>
            </a:r>
            <a:endParaRPr lang="es-PE" sz="1200" dirty="0">
              <a:effectLst/>
              <a:latin typeface="Times New Roman" panose="02020603050405020304" pitchFamily="18" charset="0"/>
              <a:ea typeface="Times New Roman" panose="02020603050405020304" pitchFamily="18" charset="0"/>
            </a:endParaRPr>
          </a:p>
          <a:p>
            <a:pPr algn="just"/>
            <a:r>
              <a:rPr lang="en-US" sz="1200" dirty="0">
                <a:effectLst/>
                <a:latin typeface="Arial" panose="020B0604020202020204" pitchFamily="34" charset="0"/>
                <a:ea typeface="Times New Roman" panose="02020603050405020304" pitchFamily="18" charset="0"/>
              </a:rPr>
              <a:t>Switch_S1(config-if)# switchport trunk allowed </a:t>
            </a:r>
            <a:r>
              <a:rPr lang="en-US" sz="1200" dirty="0" err="1">
                <a:effectLst/>
                <a:latin typeface="Arial" panose="020B0604020202020204" pitchFamily="34" charset="0"/>
                <a:ea typeface="Times New Roman" panose="02020603050405020304" pitchFamily="18" charset="0"/>
              </a:rPr>
              <a:t>vlan</a:t>
            </a:r>
            <a:r>
              <a:rPr lang="en-US" sz="1200" dirty="0">
                <a:effectLst/>
                <a:latin typeface="Arial" panose="020B0604020202020204" pitchFamily="34" charset="0"/>
                <a:ea typeface="Times New Roman" panose="02020603050405020304" pitchFamily="18" charset="0"/>
              </a:rPr>
              <a:t> </a:t>
            </a:r>
            <a:r>
              <a:rPr lang="en-US" sz="1200" b="1" dirty="0">
                <a:solidFill>
                  <a:srgbClr val="00B0F0"/>
                </a:solidFill>
                <a:latin typeface="Arial" panose="020B0604020202020204" pitchFamily="34" charset="0"/>
              </a:rPr>
              <a:t>all</a:t>
            </a:r>
            <a:endParaRPr lang="es-PE" sz="1200" b="1" dirty="0">
              <a:solidFill>
                <a:srgbClr val="00B0F0"/>
              </a:solidFill>
              <a:latin typeface="Arial" panose="020B0604020202020204" pitchFamily="34" charset="0"/>
            </a:endParaRPr>
          </a:p>
          <a:p>
            <a:pPr algn="just"/>
            <a:r>
              <a:rPr lang="es-CL" sz="1200" dirty="0">
                <a:effectLst/>
                <a:latin typeface="Arial" panose="020B0604020202020204" pitchFamily="34" charset="0"/>
                <a:ea typeface="Times New Roman" panose="02020603050405020304" pitchFamily="18" charset="0"/>
              </a:rPr>
              <a:t>Switch_S1(</a:t>
            </a:r>
            <a:r>
              <a:rPr lang="es-CL" sz="1200" dirty="0" err="1">
                <a:effectLst/>
                <a:latin typeface="Arial" panose="020B0604020202020204" pitchFamily="34" charset="0"/>
                <a:ea typeface="Times New Roman" panose="02020603050405020304" pitchFamily="18" charset="0"/>
              </a:rPr>
              <a:t>config-if</a:t>
            </a:r>
            <a:r>
              <a:rPr lang="es-CL" sz="1200" dirty="0">
                <a:effectLst/>
                <a:latin typeface="Arial" panose="020B0604020202020204" pitchFamily="34" charset="0"/>
                <a:ea typeface="Times New Roman" panose="02020603050405020304" pitchFamily="18" charset="0"/>
              </a:rPr>
              <a:t>)# </a:t>
            </a:r>
            <a:r>
              <a:rPr lang="es-CL" sz="1200" dirty="0" err="1">
                <a:effectLst/>
                <a:latin typeface="Arial" panose="020B0604020202020204" pitchFamily="34" charset="0"/>
                <a:ea typeface="Times New Roman" panose="02020603050405020304" pitchFamily="18" charset="0"/>
              </a:rPr>
              <a:t>exit</a:t>
            </a:r>
            <a:endParaRPr lang="es-CL" sz="1200" dirty="0">
              <a:effectLst/>
              <a:latin typeface="Arial" panose="020B0604020202020204" pitchFamily="34" charset="0"/>
              <a:ea typeface="Times New Roman" panose="02020603050405020304" pitchFamily="18" charset="0"/>
            </a:endParaRPr>
          </a:p>
          <a:p>
            <a:pPr algn="just"/>
            <a:r>
              <a:rPr lang="en-US" sz="1200" dirty="0">
                <a:effectLst/>
                <a:latin typeface="Arial" panose="020B0604020202020204" pitchFamily="34" charset="0"/>
                <a:ea typeface="Times New Roman" panose="02020603050405020304" pitchFamily="18" charset="0"/>
              </a:rPr>
              <a:t>Switch_S1(config)# interface </a:t>
            </a:r>
            <a:r>
              <a:rPr lang="en-US" sz="1200" b="1" dirty="0">
                <a:solidFill>
                  <a:srgbClr val="00B0F0"/>
                </a:solidFill>
                <a:effectLst/>
                <a:latin typeface="Arial" panose="020B0604020202020204" pitchFamily="34" charset="0"/>
                <a:ea typeface="Times New Roman" panose="02020603050405020304" pitchFamily="18" charset="0"/>
              </a:rPr>
              <a:t>fa0/5</a:t>
            </a:r>
          </a:p>
          <a:p>
            <a:pPr algn="just"/>
            <a:r>
              <a:rPr lang="en-US" sz="1200" dirty="0">
                <a:effectLst/>
                <a:latin typeface="Arial" panose="020B0604020202020204" pitchFamily="34" charset="0"/>
                <a:ea typeface="Times New Roman" panose="02020603050405020304" pitchFamily="18" charset="0"/>
              </a:rPr>
              <a:t>Switch_S1(config-if)# switchport mode trunk</a:t>
            </a:r>
            <a:endParaRPr lang="es-PE" sz="1200" dirty="0">
              <a:effectLst/>
              <a:latin typeface="Times New Roman" panose="02020603050405020304" pitchFamily="18" charset="0"/>
              <a:ea typeface="Times New Roman" panose="02020603050405020304" pitchFamily="18" charset="0"/>
            </a:endParaRPr>
          </a:p>
          <a:p>
            <a:pPr algn="just"/>
            <a:r>
              <a:rPr lang="en-US" sz="1200" dirty="0">
                <a:effectLst/>
                <a:latin typeface="Arial" panose="020B0604020202020204" pitchFamily="34" charset="0"/>
                <a:ea typeface="Times New Roman" panose="02020603050405020304" pitchFamily="18" charset="0"/>
              </a:rPr>
              <a:t>Switch_S1(config-if)# switchport trunk allowed </a:t>
            </a:r>
            <a:r>
              <a:rPr lang="en-US" sz="1200" dirty="0" err="1">
                <a:effectLst/>
                <a:latin typeface="Arial" panose="020B0604020202020204" pitchFamily="34" charset="0"/>
                <a:ea typeface="Times New Roman" panose="02020603050405020304" pitchFamily="18" charset="0"/>
              </a:rPr>
              <a:t>vlan</a:t>
            </a:r>
            <a:r>
              <a:rPr lang="en-US" sz="1200" dirty="0">
                <a:effectLst/>
                <a:latin typeface="Arial" panose="020B0604020202020204" pitchFamily="34" charset="0"/>
                <a:ea typeface="Times New Roman" panose="02020603050405020304" pitchFamily="18" charset="0"/>
              </a:rPr>
              <a:t> </a:t>
            </a:r>
            <a:r>
              <a:rPr lang="en-US" sz="1200" b="1" dirty="0">
                <a:solidFill>
                  <a:srgbClr val="00B0F0"/>
                </a:solidFill>
                <a:effectLst/>
                <a:latin typeface="Arial" panose="020B0604020202020204" pitchFamily="34" charset="0"/>
                <a:ea typeface="Times New Roman" panose="02020603050405020304" pitchFamily="18" charset="0"/>
              </a:rPr>
              <a:t>all</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r>
              <a:rPr lang="es-CL" sz="1200" dirty="0">
                <a:effectLst/>
                <a:latin typeface="Arial" panose="020B0604020202020204" pitchFamily="34" charset="0"/>
                <a:ea typeface="Times New Roman" panose="02020603050405020304" pitchFamily="18" charset="0"/>
              </a:rPr>
              <a:t>Switch_S1(</a:t>
            </a:r>
            <a:r>
              <a:rPr lang="es-CL" sz="1200" dirty="0" err="1">
                <a:effectLst/>
                <a:latin typeface="Arial" panose="020B0604020202020204" pitchFamily="34" charset="0"/>
                <a:ea typeface="Times New Roman" panose="02020603050405020304" pitchFamily="18" charset="0"/>
              </a:rPr>
              <a:t>config-if</a:t>
            </a:r>
            <a:r>
              <a:rPr lang="es-CL" sz="1200" dirty="0">
                <a:effectLst/>
                <a:latin typeface="Arial" panose="020B0604020202020204" pitchFamily="34" charset="0"/>
                <a:ea typeface="Times New Roman" panose="02020603050405020304" pitchFamily="18" charset="0"/>
              </a:rPr>
              <a:t>)# </a:t>
            </a:r>
            <a:r>
              <a:rPr lang="es-CL" sz="1200" dirty="0" err="1">
                <a:effectLst/>
                <a:latin typeface="Arial" panose="020B0604020202020204" pitchFamily="34" charset="0"/>
                <a:ea typeface="Times New Roman" panose="02020603050405020304" pitchFamily="18" charset="0"/>
              </a:rPr>
              <a:t>exit</a:t>
            </a:r>
            <a:endParaRPr lang="es-CL" sz="1200" dirty="0">
              <a:effectLst/>
              <a:latin typeface="Arial" panose="020B0604020202020204" pitchFamily="34" charset="0"/>
              <a:ea typeface="Times New Roman" panose="02020603050405020304" pitchFamily="18" charset="0"/>
            </a:endParaRPr>
          </a:p>
          <a:p>
            <a:pPr algn="just"/>
            <a:endParaRPr lang="es-PE" sz="1200" dirty="0">
              <a:effectLst/>
              <a:latin typeface="Times New Roman" panose="02020603050405020304" pitchFamily="18" charset="0"/>
              <a:ea typeface="Times New Roman" panose="02020603050405020304" pitchFamily="18" charset="0"/>
            </a:endParaRPr>
          </a:p>
          <a:p>
            <a:pPr algn="just"/>
            <a:r>
              <a:rPr lang="es-CL" sz="1200" b="1" dirty="0">
                <a:solidFill>
                  <a:srgbClr val="00B050"/>
                </a:solidFill>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rPr>
              <a:t>Switch_S2</a:t>
            </a:r>
            <a:r>
              <a:rPr lang="es-CL" sz="1200" dirty="0">
                <a:effectLst/>
                <a:latin typeface="Arial" panose="020B0604020202020204" pitchFamily="34" charset="0"/>
                <a:ea typeface="Times New Roman" panose="02020603050405020304" pitchFamily="18" charset="0"/>
              </a:rPr>
              <a:t>#configure terminal</a:t>
            </a:r>
            <a:endParaRPr lang="es-PE" sz="1200" dirty="0">
              <a:effectLst/>
              <a:latin typeface="Times New Roman" panose="02020603050405020304" pitchFamily="18" charset="0"/>
              <a:ea typeface="Times New Roman" panose="02020603050405020304" pitchFamily="18" charset="0"/>
            </a:endParaRPr>
          </a:p>
          <a:p>
            <a:pPr algn="just"/>
            <a:r>
              <a:rPr lang="en-US" sz="1200" dirty="0">
                <a:effectLst/>
                <a:latin typeface="Arial" panose="020B0604020202020204" pitchFamily="34" charset="0"/>
                <a:ea typeface="Times New Roman" panose="02020603050405020304" pitchFamily="18" charset="0"/>
              </a:rPr>
              <a:t>Switch_S2(config)# interface </a:t>
            </a:r>
            <a:r>
              <a:rPr lang="en-US" sz="1200" b="1" dirty="0">
                <a:solidFill>
                  <a:srgbClr val="00B0F0"/>
                </a:solidFill>
                <a:effectLst/>
                <a:latin typeface="Arial" panose="020B0604020202020204" pitchFamily="34" charset="0"/>
                <a:ea typeface="Times New Roman" panose="02020603050405020304" pitchFamily="18" charset="0"/>
              </a:rPr>
              <a:t>fa0/1</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r>
              <a:rPr lang="en-US" sz="1200" dirty="0">
                <a:effectLst/>
                <a:latin typeface="Arial" panose="020B0604020202020204" pitchFamily="34" charset="0"/>
                <a:ea typeface="Times New Roman" panose="02020603050405020304" pitchFamily="18" charset="0"/>
              </a:rPr>
              <a:t>Switch_S2(config-if)# switchport mode trunk</a:t>
            </a:r>
            <a:endParaRPr lang="es-PE" sz="1200" dirty="0">
              <a:effectLst/>
              <a:latin typeface="Times New Roman" panose="02020603050405020304" pitchFamily="18" charset="0"/>
              <a:ea typeface="Times New Roman" panose="02020603050405020304" pitchFamily="18" charset="0"/>
            </a:endParaRPr>
          </a:p>
          <a:p>
            <a:pPr algn="just"/>
            <a:r>
              <a:rPr lang="en-US" sz="1200" dirty="0">
                <a:effectLst/>
                <a:latin typeface="Arial" panose="020B0604020202020204" pitchFamily="34" charset="0"/>
                <a:ea typeface="Times New Roman" panose="02020603050405020304" pitchFamily="18" charset="0"/>
              </a:rPr>
              <a:t>Switch_S2(config-if)# switchport trunk allowed </a:t>
            </a:r>
            <a:r>
              <a:rPr lang="en-US" sz="1200" dirty="0" err="1">
                <a:effectLst/>
                <a:latin typeface="Arial" panose="020B0604020202020204" pitchFamily="34" charset="0"/>
                <a:ea typeface="Times New Roman" panose="02020603050405020304" pitchFamily="18" charset="0"/>
              </a:rPr>
              <a:t>vlan</a:t>
            </a:r>
            <a:r>
              <a:rPr lang="en-US" sz="1200" dirty="0">
                <a:effectLst/>
                <a:latin typeface="Arial" panose="020B0604020202020204" pitchFamily="34" charset="0"/>
                <a:ea typeface="Times New Roman" panose="02020603050405020304" pitchFamily="18" charset="0"/>
              </a:rPr>
              <a:t> </a:t>
            </a:r>
            <a:r>
              <a:rPr lang="en-US" sz="1200" b="1" dirty="0">
                <a:solidFill>
                  <a:srgbClr val="00B0F0"/>
                </a:solidFill>
                <a:effectLst/>
                <a:latin typeface="Arial" panose="020B0604020202020204" pitchFamily="34" charset="0"/>
                <a:ea typeface="Times New Roman" panose="02020603050405020304" pitchFamily="18" charset="0"/>
              </a:rPr>
              <a:t>all</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r>
              <a:rPr lang="es-CL" sz="1200" dirty="0">
                <a:effectLst/>
                <a:latin typeface="Arial" panose="020B0604020202020204" pitchFamily="34" charset="0"/>
                <a:ea typeface="Times New Roman" panose="02020603050405020304" pitchFamily="18" charset="0"/>
              </a:rPr>
              <a:t>Switch_S2(</a:t>
            </a:r>
            <a:r>
              <a:rPr lang="es-CL" sz="1200" dirty="0" err="1">
                <a:effectLst/>
                <a:latin typeface="Arial" panose="020B0604020202020204" pitchFamily="34" charset="0"/>
                <a:ea typeface="Times New Roman" panose="02020603050405020304" pitchFamily="18" charset="0"/>
              </a:rPr>
              <a:t>config-if</a:t>
            </a:r>
            <a:r>
              <a:rPr lang="es-CL" sz="1200" dirty="0">
                <a:effectLst/>
                <a:latin typeface="Arial" panose="020B0604020202020204" pitchFamily="34" charset="0"/>
                <a:ea typeface="Times New Roman" panose="02020603050405020304" pitchFamily="18" charset="0"/>
              </a:rPr>
              <a:t>)# </a:t>
            </a:r>
            <a:r>
              <a:rPr lang="es-CL" sz="1200" dirty="0" err="1">
                <a:effectLst/>
                <a:latin typeface="Arial" panose="020B0604020202020204" pitchFamily="34" charset="0"/>
                <a:ea typeface="Times New Roman" panose="02020603050405020304" pitchFamily="18" charset="0"/>
              </a:rPr>
              <a:t>exit</a:t>
            </a:r>
            <a:endParaRPr lang="es-CL" sz="1200" dirty="0">
              <a:effectLst/>
              <a:latin typeface="Arial" panose="020B0604020202020204" pitchFamily="34" charset="0"/>
              <a:ea typeface="Times New Roman" panose="02020603050405020304" pitchFamily="18" charset="0"/>
            </a:endParaRPr>
          </a:p>
          <a:p>
            <a:pPr algn="just"/>
            <a:endParaRPr lang="es-PE" sz="1200" dirty="0">
              <a:effectLst/>
              <a:latin typeface="Times New Roman" panose="02020603050405020304" pitchFamily="18" charset="0"/>
              <a:ea typeface="Times New Roman" panose="02020603050405020304" pitchFamily="18" charset="0"/>
            </a:endParaRPr>
          </a:p>
        </p:txBody>
      </p:sp>
      <p:sp>
        <p:nvSpPr>
          <p:cNvPr id="10" name="Elipse 9">
            <a:extLst>
              <a:ext uri="{FF2B5EF4-FFF2-40B4-BE49-F238E27FC236}">
                <a16:creationId xmlns:a16="http://schemas.microsoft.com/office/drawing/2014/main" id="{DC3DA316-048A-10D5-B657-57FF3C63E936}"/>
              </a:ext>
            </a:extLst>
          </p:cNvPr>
          <p:cNvSpPr/>
          <p:nvPr/>
        </p:nvSpPr>
        <p:spPr>
          <a:xfrm>
            <a:off x="5308270" y="1846613"/>
            <a:ext cx="1775361" cy="1505197"/>
          </a:xfrm>
          <a:prstGeom prst="ellipse">
            <a:avLst/>
          </a:prstGeom>
          <a:solidFill>
            <a:srgbClr val="36A4D7">
              <a:alpha val="39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2" name="Elipse 11">
            <a:extLst>
              <a:ext uri="{FF2B5EF4-FFF2-40B4-BE49-F238E27FC236}">
                <a16:creationId xmlns:a16="http://schemas.microsoft.com/office/drawing/2014/main" id="{E59BADB9-705B-F6D7-BF36-604ED195618B}"/>
              </a:ext>
            </a:extLst>
          </p:cNvPr>
          <p:cNvSpPr/>
          <p:nvPr/>
        </p:nvSpPr>
        <p:spPr>
          <a:xfrm>
            <a:off x="7368639" y="1861161"/>
            <a:ext cx="1775361" cy="1505197"/>
          </a:xfrm>
          <a:prstGeom prst="ellipse">
            <a:avLst/>
          </a:prstGeom>
          <a:solidFill>
            <a:schemeClr val="bg2">
              <a:alpha val="3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Tree>
    <p:extLst>
      <p:ext uri="{BB962C8B-B14F-4D97-AF65-F5344CB8AC3E}">
        <p14:creationId xmlns:p14="http://schemas.microsoft.com/office/powerpoint/2010/main" val="37338675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679142B-3FD8-4F14-5186-F4BD12A8ED4C}"/>
              </a:ext>
            </a:extLst>
          </p:cNvPr>
          <p:cNvPicPr>
            <a:picLocks noChangeAspect="1"/>
          </p:cNvPicPr>
          <p:nvPr/>
        </p:nvPicPr>
        <p:blipFill>
          <a:blip r:embed="rId3"/>
          <a:stretch>
            <a:fillRect/>
          </a:stretch>
        </p:blipFill>
        <p:spPr>
          <a:xfrm>
            <a:off x="5500616" y="95190"/>
            <a:ext cx="3543300" cy="2981325"/>
          </a:xfrm>
          <a:prstGeom prst="rect">
            <a:avLst/>
          </a:prstGeom>
        </p:spPr>
      </p:pic>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0084" y="0"/>
            <a:ext cx="9002972" cy="731837"/>
          </a:xfrm>
        </p:spPr>
        <p:txBody>
          <a:bodyPr/>
          <a:lstStyle/>
          <a:p>
            <a:pPr rtl="0"/>
            <a:r>
              <a:rPr lang="es-419" sz="2400" dirty="0">
                <a:solidFill>
                  <a:srgbClr val="C00000"/>
                </a:solidFill>
              </a:rPr>
              <a:t>Escenario </a:t>
            </a:r>
            <a:r>
              <a:rPr lang="es-419" sz="2400" dirty="0" err="1">
                <a:solidFill>
                  <a:srgbClr val="C00000"/>
                </a:solidFill>
              </a:rPr>
              <a:t>Router</a:t>
            </a:r>
            <a:r>
              <a:rPr lang="es-419" sz="2400" dirty="0">
                <a:solidFill>
                  <a:srgbClr val="C00000"/>
                </a:solidFill>
              </a:rPr>
              <a:t>-</a:t>
            </a:r>
            <a:r>
              <a:rPr lang="es-419" sz="2400" dirty="0" err="1">
                <a:solidFill>
                  <a:srgbClr val="C00000"/>
                </a:solidFill>
              </a:rPr>
              <a:t>on</a:t>
            </a:r>
            <a:r>
              <a:rPr lang="es-419" sz="2400" dirty="0">
                <a:solidFill>
                  <a:srgbClr val="C00000"/>
                </a:solidFill>
              </a:rPr>
              <a:t>-a-</a:t>
            </a:r>
            <a:r>
              <a:rPr lang="es-419" sz="2400" dirty="0" err="1">
                <a:solidFill>
                  <a:srgbClr val="C00000"/>
                </a:solidFill>
              </a:rPr>
              <a:t>stick</a:t>
            </a:r>
            <a:endParaRPr lang="es-419" sz="2400" dirty="0">
              <a:solidFill>
                <a:srgbClr val="C00000"/>
              </a:solidFill>
            </a:endParaRPr>
          </a:p>
        </p:txBody>
      </p:sp>
      <p:sp>
        <p:nvSpPr>
          <p:cNvPr id="4" name="CuadroTexto 3">
            <a:extLst>
              <a:ext uri="{FF2B5EF4-FFF2-40B4-BE49-F238E27FC236}">
                <a16:creationId xmlns:a16="http://schemas.microsoft.com/office/drawing/2014/main" id="{1A6220CA-F340-1781-2D41-998F6C51CBED}"/>
              </a:ext>
            </a:extLst>
          </p:cNvPr>
          <p:cNvSpPr txBox="1"/>
          <p:nvPr/>
        </p:nvSpPr>
        <p:spPr>
          <a:xfrm>
            <a:off x="8699715" y="4830305"/>
            <a:ext cx="583770" cy="276999"/>
          </a:xfrm>
          <a:prstGeom prst="rect">
            <a:avLst/>
          </a:prstGeom>
          <a:noFill/>
        </p:spPr>
        <p:txBody>
          <a:bodyPr wrap="square" rtlCol="0">
            <a:spAutoFit/>
          </a:bodyPr>
          <a:lstStyle/>
          <a:p>
            <a:r>
              <a:rPr lang="es-PE" sz="1200" dirty="0">
                <a:solidFill>
                  <a:srgbClr val="00B0F0"/>
                </a:solidFill>
              </a:rPr>
              <a:t>72</a:t>
            </a:r>
          </a:p>
        </p:txBody>
      </p:sp>
      <p:sp>
        <p:nvSpPr>
          <p:cNvPr id="9" name="CuadroTexto 8">
            <a:extLst>
              <a:ext uri="{FF2B5EF4-FFF2-40B4-BE49-F238E27FC236}">
                <a16:creationId xmlns:a16="http://schemas.microsoft.com/office/drawing/2014/main" id="{86788FE2-BB97-5586-F441-41D18119B98F}"/>
              </a:ext>
            </a:extLst>
          </p:cNvPr>
          <p:cNvSpPr txBox="1"/>
          <p:nvPr/>
        </p:nvSpPr>
        <p:spPr>
          <a:xfrm>
            <a:off x="217913" y="771257"/>
            <a:ext cx="4641694" cy="3447098"/>
          </a:xfrm>
          <a:prstGeom prst="rect">
            <a:avLst/>
          </a:prstGeom>
          <a:noFill/>
        </p:spPr>
        <p:txBody>
          <a:bodyPr wrap="square">
            <a:spAutoFit/>
          </a:bodyPr>
          <a:lstStyle/>
          <a:p>
            <a:pPr algn="just">
              <a:spcBef>
                <a:spcPts val="40"/>
              </a:spcBef>
            </a:pPr>
            <a:r>
              <a:rPr lang="es-CL" sz="1400" b="1" u="sng" dirty="0">
                <a:solidFill>
                  <a:srgbClr val="FF0000"/>
                </a:solidFill>
                <a:effectLst/>
                <a:latin typeface="Arial" panose="020B0604020202020204" pitchFamily="34" charset="0"/>
                <a:ea typeface="Times New Roman" panose="02020603050405020304" pitchFamily="18" charset="0"/>
              </a:rPr>
              <a:t>Configuración del </a:t>
            </a:r>
            <a:r>
              <a:rPr lang="es-CL" sz="1400" b="1" u="sng" dirty="0" err="1">
                <a:solidFill>
                  <a:srgbClr val="FF0000"/>
                </a:solidFill>
                <a:effectLst/>
                <a:latin typeface="Arial" panose="020B0604020202020204" pitchFamily="34" charset="0"/>
                <a:ea typeface="Times New Roman" panose="02020603050405020304" pitchFamily="18" charset="0"/>
              </a:rPr>
              <a:t>router</a:t>
            </a:r>
            <a:r>
              <a:rPr lang="es-CL" sz="1400" b="1" u="sng" dirty="0">
                <a:solidFill>
                  <a:srgbClr val="FF0000"/>
                </a:solidFill>
                <a:effectLst/>
                <a:latin typeface="Arial" panose="020B0604020202020204" pitchFamily="34" charset="0"/>
                <a:ea typeface="Times New Roman" panose="02020603050405020304" pitchFamily="18" charset="0"/>
              </a:rPr>
              <a:t> R1</a:t>
            </a:r>
            <a:endParaRPr lang="es-PE" sz="1400" b="1" u="sng" dirty="0">
              <a:solidFill>
                <a:srgbClr val="FF0000"/>
              </a:solidFill>
              <a:effectLst/>
              <a:latin typeface="Times New Roman" panose="02020603050405020304" pitchFamily="18" charset="0"/>
              <a:ea typeface="Times New Roman" panose="02020603050405020304" pitchFamily="18" charset="0"/>
            </a:endParaRPr>
          </a:p>
          <a:p>
            <a:pPr algn="just">
              <a:spcBef>
                <a:spcPts val="40"/>
              </a:spcBef>
            </a:pPr>
            <a:r>
              <a:rPr lang="es-CL" sz="1200" dirty="0">
                <a:solidFill>
                  <a:srgbClr val="000000"/>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algn="just">
              <a:spcBef>
                <a:spcPts val="40"/>
              </a:spcBef>
            </a:pPr>
            <a:r>
              <a:rPr lang="es-CL" sz="1200" b="1" i="1" dirty="0">
                <a:solidFill>
                  <a:srgbClr val="000000"/>
                </a:solidFill>
                <a:effectLst/>
                <a:latin typeface="Arial" panose="020B0604020202020204" pitchFamily="34" charset="0"/>
                <a:ea typeface="Times New Roman" panose="02020603050405020304" pitchFamily="18" charset="0"/>
              </a:rPr>
              <a:t>Encendemos la interfaz que albergara las </a:t>
            </a:r>
            <a:r>
              <a:rPr lang="es-CL" sz="1200" b="1" i="1" dirty="0" err="1">
                <a:solidFill>
                  <a:srgbClr val="000000"/>
                </a:solidFill>
                <a:effectLst/>
                <a:latin typeface="Arial" panose="020B0604020202020204" pitchFamily="34" charset="0"/>
                <a:ea typeface="Times New Roman" panose="02020603050405020304" pitchFamily="18" charset="0"/>
              </a:rPr>
              <a:t>sub-interfaces</a:t>
            </a:r>
            <a:r>
              <a:rPr lang="es-CL" sz="1200" b="1" i="1" dirty="0">
                <a:solidFill>
                  <a:srgbClr val="000000"/>
                </a:solidFill>
                <a:effectLst/>
                <a:latin typeface="Arial" panose="020B0604020202020204" pitchFamily="34" charset="0"/>
                <a:ea typeface="Times New Roman" panose="02020603050405020304" pitchFamily="18" charset="0"/>
              </a:rPr>
              <a:t>:</a:t>
            </a:r>
            <a:endParaRPr lang="es-PE" sz="1200" b="1" i="1" dirty="0">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R1(config)#interface </a:t>
            </a:r>
            <a:r>
              <a:rPr lang="en-US" sz="1200" dirty="0" err="1">
                <a:solidFill>
                  <a:srgbClr val="000000"/>
                </a:solidFill>
                <a:effectLst/>
                <a:latin typeface="Arial" panose="020B0604020202020204" pitchFamily="34" charset="0"/>
                <a:ea typeface="Times New Roman" panose="02020603050405020304" pitchFamily="18" charset="0"/>
              </a:rPr>
              <a:t>fastEthernet</a:t>
            </a:r>
            <a:r>
              <a:rPr lang="en-US" sz="1200" b="1" dirty="0">
                <a:solidFill>
                  <a:srgbClr val="00B0F0"/>
                </a:solidFill>
                <a:effectLst/>
                <a:latin typeface="Arial" panose="020B0604020202020204" pitchFamily="34" charset="0"/>
                <a:ea typeface="Times New Roman" panose="02020603050405020304" pitchFamily="18" charset="0"/>
              </a:rPr>
              <a:t> 0/0</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R1(config-if)#no shutdown</a:t>
            </a:r>
            <a:endParaRPr lang="es-PE" sz="1200" dirty="0">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algn="just">
              <a:spcBef>
                <a:spcPts val="40"/>
              </a:spcBef>
            </a:pPr>
            <a:r>
              <a:rPr lang="es-CL" sz="1200" b="1" i="1" dirty="0">
                <a:solidFill>
                  <a:srgbClr val="000000"/>
                </a:solidFill>
                <a:effectLst/>
                <a:latin typeface="Arial" panose="020B0604020202020204" pitchFamily="34" charset="0"/>
                <a:ea typeface="Times New Roman" panose="02020603050405020304" pitchFamily="18" charset="0"/>
              </a:rPr>
              <a:t>Configuración de la </a:t>
            </a:r>
            <a:r>
              <a:rPr lang="es-CL" sz="1200" b="1" i="1" dirty="0" err="1">
                <a:solidFill>
                  <a:srgbClr val="000000"/>
                </a:solidFill>
                <a:effectLst/>
                <a:latin typeface="Arial" panose="020B0604020202020204" pitchFamily="34" charset="0"/>
                <a:ea typeface="Times New Roman" panose="02020603050405020304" pitchFamily="18" charset="0"/>
              </a:rPr>
              <a:t>sub-interfaz</a:t>
            </a:r>
            <a:r>
              <a:rPr lang="es-CL" sz="1200" b="1" i="1" dirty="0">
                <a:solidFill>
                  <a:srgbClr val="000000"/>
                </a:solidFill>
                <a:effectLst/>
                <a:latin typeface="Arial" panose="020B0604020202020204" pitchFamily="34" charset="0"/>
                <a:ea typeface="Times New Roman" panose="02020603050405020304" pitchFamily="18" charset="0"/>
              </a:rPr>
              <a:t> </a:t>
            </a:r>
            <a:r>
              <a:rPr lang="es-CL" sz="1200" b="1" i="1" dirty="0" err="1">
                <a:solidFill>
                  <a:srgbClr val="000000"/>
                </a:solidFill>
                <a:effectLst/>
                <a:latin typeface="Arial" panose="020B0604020202020204" pitchFamily="34" charset="0"/>
                <a:ea typeface="Times New Roman" panose="02020603050405020304" pitchFamily="18" charset="0"/>
              </a:rPr>
              <a:t>fastethernet</a:t>
            </a:r>
            <a:r>
              <a:rPr lang="es-CL" sz="1200" b="1" i="1" dirty="0">
                <a:solidFill>
                  <a:srgbClr val="000000"/>
                </a:solidFill>
                <a:effectLst/>
                <a:latin typeface="Arial" panose="020B0604020202020204" pitchFamily="34" charset="0"/>
                <a:ea typeface="Times New Roman" panose="02020603050405020304" pitchFamily="18" charset="0"/>
              </a:rPr>
              <a:t> 0/0.10:</a:t>
            </a:r>
            <a:endParaRPr lang="es-PE" sz="1200" i="1" dirty="0">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R1(config)#interface </a:t>
            </a:r>
            <a:r>
              <a:rPr lang="en-US" sz="1200" dirty="0" err="1">
                <a:solidFill>
                  <a:srgbClr val="000000"/>
                </a:solidFill>
                <a:effectLst/>
                <a:latin typeface="Arial" panose="020B0604020202020204" pitchFamily="34" charset="0"/>
                <a:ea typeface="Times New Roman" panose="02020603050405020304" pitchFamily="18" charset="0"/>
              </a:rPr>
              <a:t>fastEthernet</a:t>
            </a:r>
            <a:r>
              <a:rPr lang="en-US" sz="1200" dirty="0">
                <a:solidFill>
                  <a:srgbClr val="000000"/>
                </a:solidFill>
                <a:effectLst/>
                <a:latin typeface="Arial" panose="020B0604020202020204" pitchFamily="34" charset="0"/>
                <a:ea typeface="Times New Roman" panose="02020603050405020304" pitchFamily="18" charset="0"/>
              </a:rPr>
              <a:t> </a:t>
            </a:r>
            <a:r>
              <a:rPr lang="en-US" sz="1200" b="1" dirty="0">
                <a:solidFill>
                  <a:srgbClr val="00B0F0"/>
                </a:solidFill>
                <a:effectLst/>
                <a:latin typeface="Arial" panose="020B0604020202020204" pitchFamily="34" charset="0"/>
                <a:ea typeface="Times New Roman" panose="02020603050405020304" pitchFamily="18" charset="0"/>
              </a:rPr>
              <a:t>0/0.10</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R1(config-</a:t>
            </a:r>
            <a:r>
              <a:rPr lang="en-US" sz="1200" dirty="0" err="1">
                <a:solidFill>
                  <a:srgbClr val="000000"/>
                </a:solidFill>
                <a:effectLst/>
                <a:latin typeface="Arial" panose="020B0604020202020204" pitchFamily="34" charset="0"/>
                <a:ea typeface="Times New Roman" panose="02020603050405020304" pitchFamily="18" charset="0"/>
              </a:rPr>
              <a:t>subif</a:t>
            </a:r>
            <a:r>
              <a:rPr lang="en-US" sz="1200" dirty="0">
                <a:solidFill>
                  <a:srgbClr val="000000"/>
                </a:solidFill>
                <a:effectLst/>
                <a:latin typeface="Arial" panose="020B0604020202020204" pitchFamily="34" charset="0"/>
                <a:ea typeface="Times New Roman" panose="02020603050405020304" pitchFamily="18" charset="0"/>
              </a:rPr>
              <a:t>)#encapsulation dot1Q </a:t>
            </a:r>
            <a:r>
              <a:rPr lang="en-US" sz="1200" b="1" dirty="0">
                <a:solidFill>
                  <a:srgbClr val="00B0F0"/>
                </a:solidFill>
                <a:effectLst/>
                <a:latin typeface="Arial" panose="020B0604020202020204" pitchFamily="34" charset="0"/>
                <a:ea typeface="Times New Roman" panose="02020603050405020304" pitchFamily="18" charset="0"/>
              </a:rPr>
              <a:t>10</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R1(config-</a:t>
            </a:r>
            <a:r>
              <a:rPr lang="en-US" sz="1200" dirty="0" err="1">
                <a:solidFill>
                  <a:srgbClr val="000000"/>
                </a:solidFill>
                <a:effectLst/>
                <a:latin typeface="Arial" panose="020B0604020202020204" pitchFamily="34" charset="0"/>
                <a:ea typeface="Times New Roman" panose="02020603050405020304" pitchFamily="18" charset="0"/>
              </a:rPr>
              <a:t>subif</a:t>
            </a:r>
            <a:r>
              <a:rPr lang="en-US" sz="1200" dirty="0">
                <a:solidFill>
                  <a:srgbClr val="000000"/>
                </a:solidFill>
                <a:effectLst/>
                <a:latin typeface="Arial" panose="020B0604020202020204" pitchFamily="34" charset="0"/>
                <a:ea typeface="Times New Roman" panose="02020603050405020304" pitchFamily="18" charset="0"/>
              </a:rPr>
              <a:t>)#ip address </a:t>
            </a:r>
            <a:r>
              <a:rPr lang="en-US" sz="1200" b="1" dirty="0">
                <a:solidFill>
                  <a:srgbClr val="00B0F0"/>
                </a:solidFill>
                <a:effectLst/>
                <a:latin typeface="Arial" panose="020B0604020202020204" pitchFamily="34" charset="0"/>
                <a:ea typeface="Times New Roman" panose="02020603050405020304" pitchFamily="18" charset="0"/>
              </a:rPr>
              <a:t>192.168.10.1 255.255.255.0</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spcBef>
                <a:spcPts val="40"/>
              </a:spcBef>
            </a:pPr>
            <a:r>
              <a:rPr lang="es-CL" sz="1200" dirty="0">
                <a:solidFill>
                  <a:srgbClr val="000000"/>
                </a:solidFill>
                <a:effectLst/>
                <a:latin typeface="Arial" panose="020B0604020202020204" pitchFamily="34" charset="0"/>
                <a:ea typeface="Times New Roman" panose="02020603050405020304" pitchFamily="18" charset="0"/>
              </a:rPr>
              <a:t>R1(</a:t>
            </a:r>
            <a:r>
              <a:rPr lang="es-CL" sz="1200" dirty="0" err="1">
                <a:solidFill>
                  <a:srgbClr val="000000"/>
                </a:solidFill>
                <a:effectLst/>
                <a:latin typeface="Arial" panose="020B0604020202020204" pitchFamily="34" charset="0"/>
                <a:ea typeface="Times New Roman" panose="02020603050405020304" pitchFamily="18" charset="0"/>
              </a:rPr>
              <a:t>config-subif</a:t>
            </a:r>
            <a:r>
              <a:rPr lang="es-CL" sz="1200" dirty="0">
                <a:solidFill>
                  <a:srgbClr val="000000"/>
                </a:solidFill>
                <a:effectLst/>
                <a:latin typeface="Arial" panose="020B0604020202020204" pitchFamily="34" charset="0"/>
                <a:ea typeface="Times New Roman" panose="02020603050405020304" pitchFamily="18" charset="0"/>
              </a:rPr>
              <a:t>)#exit</a:t>
            </a:r>
            <a:endParaRPr lang="es-PE" sz="1200" dirty="0">
              <a:effectLst/>
              <a:latin typeface="Times New Roman" panose="02020603050405020304" pitchFamily="18" charset="0"/>
              <a:ea typeface="Times New Roman" panose="02020603050405020304" pitchFamily="18" charset="0"/>
            </a:endParaRPr>
          </a:p>
          <a:p>
            <a:pPr algn="just">
              <a:spcBef>
                <a:spcPts val="40"/>
              </a:spcBef>
            </a:pPr>
            <a:r>
              <a:rPr lang="es-CL" sz="1200" dirty="0">
                <a:solidFill>
                  <a:srgbClr val="000000"/>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algn="just">
              <a:spcBef>
                <a:spcPts val="40"/>
              </a:spcBef>
            </a:pPr>
            <a:r>
              <a:rPr lang="es-CL" sz="1200" b="1" dirty="0">
                <a:solidFill>
                  <a:srgbClr val="000000"/>
                </a:solidFill>
                <a:effectLst/>
                <a:latin typeface="Arial" panose="020B0604020202020204" pitchFamily="34" charset="0"/>
                <a:ea typeface="Times New Roman" panose="02020603050405020304" pitchFamily="18" charset="0"/>
              </a:rPr>
              <a:t>Configuración de la </a:t>
            </a:r>
            <a:r>
              <a:rPr lang="es-CL" sz="1200" b="1" dirty="0" err="1">
                <a:solidFill>
                  <a:srgbClr val="000000"/>
                </a:solidFill>
                <a:effectLst/>
                <a:latin typeface="Arial" panose="020B0604020202020204" pitchFamily="34" charset="0"/>
                <a:ea typeface="Times New Roman" panose="02020603050405020304" pitchFamily="18" charset="0"/>
              </a:rPr>
              <a:t>sub-interfaz</a:t>
            </a:r>
            <a:r>
              <a:rPr lang="es-CL" sz="1200" b="1" dirty="0">
                <a:solidFill>
                  <a:srgbClr val="000000"/>
                </a:solidFill>
                <a:effectLst/>
                <a:latin typeface="Arial" panose="020B0604020202020204" pitchFamily="34" charset="0"/>
                <a:ea typeface="Times New Roman" panose="02020603050405020304" pitchFamily="18" charset="0"/>
              </a:rPr>
              <a:t> </a:t>
            </a:r>
            <a:r>
              <a:rPr lang="es-CL" sz="1200" b="1" dirty="0" err="1">
                <a:solidFill>
                  <a:srgbClr val="000000"/>
                </a:solidFill>
                <a:effectLst/>
                <a:latin typeface="Arial" panose="020B0604020202020204" pitchFamily="34" charset="0"/>
                <a:ea typeface="Times New Roman" panose="02020603050405020304" pitchFamily="18" charset="0"/>
              </a:rPr>
              <a:t>fastethernet</a:t>
            </a:r>
            <a:r>
              <a:rPr lang="es-CL" sz="1200" b="1" dirty="0">
                <a:solidFill>
                  <a:srgbClr val="000000"/>
                </a:solidFill>
                <a:effectLst/>
                <a:latin typeface="Arial" panose="020B0604020202020204" pitchFamily="34" charset="0"/>
                <a:ea typeface="Times New Roman" panose="02020603050405020304" pitchFamily="18" charset="0"/>
              </a:rPr>
              <a:t> 0/0.20:</a:t>
            </a:r>
            <a:endParaRPr lang="es-PE" sz="1200" dirty="0">
              <a:effectLst/>
              <a:latin typeface="Times New Roman" panose="02020603050405020304" pitchFamily="18" charset="0"/>
              <a:ea typeface="Times New Roman" panose="02020603050405020304" pitchFamily="18" charset="0"/>
            </a:endParaRPr>
          </a:p>
          <a:p>
            <a:pPr algn="just">
              <a:spcBef>
                <a:spcPts val="40"/>
              </a:spcBef>
            </a:pPr>
            <a:r>
              <a:rPr lang="es-CL" sz="1200" dirty="0">
                <a:solidFill>
                  <a:srgbClr val="000000"/>
                </a:solidFill>
                <a:effectLst/>
                <a:latin typeface="Arial" panose="020B0604020202020204" pitchFamily="34" charset="0"/>
                <a:ea typeface="Times New Roman" panose="02020603050405020304" pitchFamily="18" charset="0"/>
              </a:rPr>
              <a:t> </a:t>
            </a:r>
            <a:endParaRPr lang="es-PE" sz="1200" dirty="0">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R1(config)#interface </a:t>
            </a:r>
            <a:r>
              <a:rPr lang="en-US" sz="1200" dirty="0" err="1">
                <a:solidFill>
                  <a:srgbClr val="000000"/>
                </a:solidFill>
                <a:effectLst/>
                <a:latin typeface="Arial" panose="020B0604020202020204" pitchFamily="34" charset="0"/>
                <a:ea typeface="Times New Roman" panose="02020603050405020304" pitchFamily="18" charset="0"/>
              </a:rPr>
              <a:t>fastEthernet</a:t>
            </a:r>
            <a:r>
              <a:rPr lang="en-US" sz="1200" dirty="0">
                <a:solidFill>
                  <a:srgbClr val="000000"/>
                </a:solidFill>
                <a:effectLst/>
                <a:latin typeface="Arial" panose="020B0604020202020204" pitchFamily="34" charset="0"/>
                <a:ea typeface="Times New Roman" panose="02020603050405020304" pitchFamily="18" charset="0"/>
              </a:rPr>
              <a:t> </a:t>
            </a:r>
            <a:r>
              <a:rPr lang="en-US" sz="1200" b="1" dirty="0">
                <a:solidFill>
                  <a:srgbClr val="00B0F0"/>
                </a:solidFill>
                <a:effectLst/>
                <a:latin typeface="Arial" panose="020B0604020202020204" pitchFamily="34" charset="0"/>
                <a:ea typeface="Times New Roman" panose="02020603050405020304" pitchFamily="18" charset="0"/>
              </a:rPr>
              <a:t>0/0.20</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R1(config-</a:t>
            </a:r>
            <a:r>
              <a:rPr lang="en-US" sz="1200" dirty="0" err="1">
                <a:solidFill>
                  <a:srgbClr val="000000"/>
                </a:solidFill>
                <a:effectLst/>
                <a:latin typeface="Arial" panose="020B0604020202020204" pitchFamily="34" charset="0"/>
                <a:ea typeface="Times New Roman" panose="02020603050405020304" pitchFamily="18" charset="0"/>
              </a:rPr>
              <a:t>subif</a:t>
            </a:r>
            <a:r>
              <a:rPr lang="en-US" sz="1200" dirty="0">
                <a:solidFill>
                  <a:srgbClr val="000000"/>
                </a:solidFill>
                <a:effectLst/>
                <a:latin typeface="Arial" panose="020B0604020202020204" pitchFamily="34" charset="0"/>
                <a:ea typeface="Times New Roman" panose="02020603050405020304" pitchFamily="18" charset="0"/>
              </a:rPr>
              <a:t>)#encapsulation dot1Q </a:t>
            </a:r>
            <a:r>
              <a:rPr lang="en-US" sz="1200" b="1" dirty="0">
                <a:solidFill>
                  <a:srgbClr val="00B0F0"/>
                </a:solidFill>
                <a:effectLst/>
                <a:latin typeface="Arial" panose="020B0604020202020204" pitchFamily="34" charset="0"/>
                <a:ea typeface="Times New Roman" panose="02020603050405020304" pitchFamily="18" charset="0"/>
              </a:rPr>
              <a:t>20</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spcBef>
                <a:spcPts val="40"/>
              </a:spcBef>
            </a:pPr>
            <a:r>
              <a:rPr lang="en-US" sz="1200" dirty="0">
                <a:solidFill>
                  <a:srgbClr val="000000"/>
                </a:solidFill>
                <a:effectLst/>
                <a:latin typeface="Arial" panose="020B0604020202020204" pitchFamily="34" charset="0"/>
                <a:ea typeface="Times New Roman" panose="02020603050405020304" pitchFamily="18" charset="0"/>
              </a:rPr>
              <a:t>R1(config-</a:t>
            </a:r>
            <a:r>
              <a:rPr lang="en-US" sz="1200" dirty="0" err="1">
                <a:solidFill>
                  <a:srgbClr val="000000"/>
                </a:solidFill>
                <a:effectLst/>
                <a:latin typeface="Arial" panose="020B0604020202020204" pitchFamily="34" charset="0"/>
                <a:ea typeface="Times New Roman" panose="02020603050405020304" pitchFamily="18" charset="0"/>
              </a:rPr>
              <a:t>subif</a:t>
            </a:r>
            <a:r>
              <a:rPr lang="en-US" sz="1200" dirty="0">
                <a:solidFill>
                  <a:srgbClr val="000000"/>
                </a:solidFill>
                <a:effectLst/>
                <a:latin typeface="Arial" panose="020B0604020202020204" pitchFamily="34" charset="0"/>
                <a:ea typeface="Times New Roman" panose="02020603050405020304" pitchFamily="18" charset="0"/>
              </a:rPr>
              <a:t>)#ip address </a:t>
            </a:r>
            <a:r>
              <a:rPr lang="en-US" sz="1200" b="1" dirty="0">
                <a:solidFill>
                  <a:srgbClr val="00B0F0"/>
                </a:solidFill>
                <a:effectLst/>
                <a:latin typeface="Arial" panose="020B0604020202020204" pitchFamily="34" charset="0"/>
                <a:ea typeface="Times New Roman" panose="02020603050405020304" pitchFamily="18" charset="0"/>
              </a:rPr>
              <a:t>192.168.20.1 255.255.255.0</a:t>
            </a:r>
            <a:endParaRPr lang="es-PE" sz="1200" b="1" dirty="0">
              <a:solidFill>
                <a:srgbClr val="00B0F0"/>
              </a:solidFill>
              <a:effectLst/>
              <a:latin typeface="Times New Roman" panose="02020603050405020304" pitchFamily="18" charset="0"/>
              <a:ea typeface="Times New Roman" panose="02020603050405020304" pitchFamily="18" charset="0"/>
            </a:endParaRPr>
          </a:p>
          <a:p>
            <a:pPr algn="just">
              <a:spcBef>
                <a:spcPts val="40"/>
              </a:spcBef>
            </a:pPr>
            <a:r>
              <a:rPr lang="es-CL" sz="1200" dirty="0">
                <a:solidFill>
                  <a:srgbClr val="000000"/>
                </a:solidFill>
                <a:effectLst/>
                <a:latin typeface="Arial" panose="020B0604020202020204" pitchFamily="34" charset="0"/>
                <a:ea typeface="Times New Roman" panose="02020603050405020304" pitchFamily="18" charset="0"/>
              </a:rPr>
              <a:t>R1(</a:t>
            </a:r>
            <a:r>
              <a:rPr lang="es-CL" sz="1200" dirty="0" err="1">
                <a:solidFill>
                  <a:srgbClr val="000000"/>
                </a:solidFill>
                <a:effectLst/>
                <a:latin typeface="Arial" panose="020B0604020202020204" pitchFamily="34" charset="0"/>
                <a:ea typeface="Times New Roman" panose="02020603050405020304" pitchFamily="18" charset="0"/>
              </a:rPr>
              <a:t>config-subif</a:t>
            </a:r>
            <a:r>
              <a:rPr lang="es-CL" sz="1200" dirty="0">
                <a:solidFill>
                  <a:srgbClr val="000000"/>
                </a:solidFill>
                <a:effectLst/>
                <a:latin typeface="Arial" panose="020B0604020202020204" pitchFamily="34" charset="0"/>
                <a:ea typeface="Times New Roman" panose="02020603050405020304" pitchFamily="18" charset="0"/>
              </a:rPr>
              <a:t>)#exit</a:t>
            </a:r>
            <a:endParaRPr lang="es-PE" sz="1200" dirty="0">
              <a:effectLst/>
              <a:latin typeface="Times New Roman" panose="02020603050405020304" pitchFamily="18" charset="0"/>
              <a:ea typeface="Times New Roman" panose="02020603050405020304" pitchFamily="18" charset="0"/>
            </a:endParaRPr>
          </a:p>
        </p:txBody>
      </p:sp>
      <p:sp>
        <p:nvSpPr>
          <p:cNvPr id="11" name="CuadroTexto 10">
            <a:extLst>
              <a:ext uri="{FF2B5EF4-FFF2-40B4-BE49-F238E27FC236}">
                <a16:creationId xmlns:a16="http://schemas.microsoft.com/office/drawing/2014/main" id="{5B6149B7-DEF6-90FC-6A64-535C5CE05F8D}"/>
              </a:ext>
            </a:extLst>
          </p:cNvPr>
          <p:cNvSpPr txBox="1"/>
          <p:nvPr/>
        </p:nvSpPr>
        <p:spPr>
          <a:xfrm>
            <a:off x="284355" y="4599472"/>
            <a:ext cx="4421459" cy="369332"/>
          </a:xfrm>
          <a:prstGeom prst="rect">
            <a:avLst/>
          </a:prstGeom>
          <a:solidFill>
            <a:schemeClr val="bg2">
              <a:lumMod val="75000"/>
            </a:schemeClr>
          </a:solidFill>
        </p:spPr>
        <p:txBody>
          <a:bodyPr wrap="square" rtlCol="0">
            <a:spAutoFit/>
          </a:bodyPr>
          <a:lstStyle/>
          <a:p>
            <a:pPr algn="ctr"/>
            <a:r>
              <a:rPr lang="es-PE" b="1" dirty="0">
                <a:solidFill>
                  <a:srgbClr val="FFFF00"/>
                </a:solidFill>
              </a:rPr>
              <a:t>A probar ping en el </a:t>
            </a:r>
            <a:r>
              <a:rPr lang="es-PE" b="1" dirty="0" err="1">
                <a:solidFill>
                  <a:srgbClr val="FFFF00"/>
                </a:solidFill>
              </a:rPr>
              <a:t>packet</a:t>
            </a:r>
            <a:r>
              <a:rPr lang="es-PE" b="1" dirty="0">
                <a:solidFill>
                  <a:srgbClr val="FFFF00"/>
                </a:solidFill>
              </a:rPr>
              <a:t> </a:t>
            </a:r>
            <a:r>
              <a:rPr lang="es-PE" b="1" dirty="0" err="1">
                <a:solidFill>
                  <a:srgbClr val="FFFF00"/>
                </a:solidFill>
              </a:rPr>
              <a:t>tracer</a:t>
            </a:r>
            <a:r>
              <a:rPr lang="es-PE" b="1" dirty="0">
                <a:solidFill>
                  <a:srgbClr val="FFFF00"/>
                </a:solidFill>
              </a:rPr>
              <a:t>.</a:t>
            </a:r>
          </a:p>
        </p:txBody>
      </p:sp>
      <p:graphicFrame>
        <p:nvGraphicFramePr>
          <p:cNvPr id="14" name="Table 5">
            <a:extLst>
              <a:ext uri="{FF2B5EF4-FFF2-40B4-BE49-F238E27FC236}">
                <a16:creationId xmlns:a16="http://schemas.microsoft.com/office/drawing/2014/main" id="{2D604AC1-22F1-31E7-AFFF-617D54E7EFBF}"/>
              </a:ext>
            </a:extLst>
          </p:cNvPr>
          <p:cNvGraphicFramePr>
            <a:graphicFrameLocks noGrp="1"/>
          </p:cNvGraphicFramePr>
          <p:nvPr>
            <p:extLst>
              <p:ext uri="{D42A27DB-BD31-4B8C-83A1-F6EECF244321}">
                <p14:modId xmlns:p14="http://schemas.microsoft.com/office/powerpoint/2010/main" val="2430953784"/>
              </p:ext>
            </p:extLst>
          </p:nvPr>
        </p:nvGraphicFramePr>
        <p:xfrm>
          <a:off x="5612063" y="3423683"/>
          <a:ext cx="3101043" cy="980169"/>
        </p:xfrm>
        <a:graphic>
          <a:graphicData uri="http://schemas.openxmlformats.org/drawingml/2006/table">
            <a:tbl>
              <a:tblPr firstRow="1" bandRow="1">
                <a:tableStyleId>{5C22544A-7EE6-4342-B048-85BDC9FD1C3A}</a:tableStyleId>
              </a:tblPr>
              <a:tblGrid>
                <a:gridCol w="974717">
                  <a:extLst>
                    <a:ext uri="{9D8B030D-6E8A-4147-A177-3AD203B41FA5}">
                      <a16:colId xmlns:a16="http://schemas.microsoft.com/office/drawing/2014/main" val="2537369461"/>
                    </a:ext>
                  </a:extLst>
                </a:gridCol>
                <a:gridCol w="769143">
                  <a:extLst>
                    <a:ext uri="{9D8B030D-6E8A-4147-A177-3AD203B41FA5}">
                      <a16:colId xmlns:a16="http://schemas.microsoft.com/office/drawing/2014/main" val="26083547"/>
                    </a:ext>
                  </a:extLst>
                </a:gridCol>
                <a:gridCol w="1357183">
                  <a:extLst>
                    <a:ext uri="{9D8B030D-6E8A-4147-A177-3AD203B41FA5}">
                      <a16:colId xmlns:a16="http://schemas.microsoft.com/office/drawing/2014/main" val="225096973"/>
                    </a:ext>
                  </a:extLst>
                </a:gridCol>
              </a:tblGrid>
              <a:tr h="326723">
                <a:tc>
                  <a:txBody>
                    <a:bodyPr/>
                    <a:lstStyle/>
                    <a:p>
                      <a:pPr algn="l" rtl="0" fontAlgn="ctr"/>
                      <a:r>
                        <a:rPr lang="es-419" sz="1200" b="1" dirty="0">
                          <a:effectLst/>
                        </a:rPr>
                        <a:t>Subinterfaz</a:t>
                      </a:r>
                    </a:p>
                  </a:txBody>
                  <a:tcPr marL="47625" marR="47625" marT="47625" marB="47625" anchor="ctr"/>
                </a:tc>
                <a:tc>
                  <a:txBody>
                    <a:bodyPr/>
                    <a:lstStyle/>
                    <a:p>
                      <a:pPr algn="ctr" rtl="0" fontAlgn="ctr"/>
                      <a:r>
                        <a:rPr lang="es-419" sz="1200" b="1" dirty="0">
                          <a:effectLst/>
                        </a:rPr>
                        <a:t>VLAN</a:t>
                      </a:r>
                    </a:p>
                  </a:txBody>
                  <a:tcPr marL="47625" marR="47625" marT="47625" marB="47625" anchor="ctr"/>
                </a:tc>
                <a:tc>
                  <a:txBody>
                    <a:bodyPr/>
                    <a:lstStyle/>
                    <a:p>
                      <a:pPr algn="ctr" rtl="0" fontAlgn="ctr"/>
                      <a:r>
                        <a:rPr lang="es-419" sz="1200" b="1" dirty="0">
                          <a:effectLst/>
                        </a:rPr>
                        <a:t>Dirección IP</a:t>
                      </a:r>
                    </a:p>
                  </a:txBody>
                  <a:tcPr marL="47625" marR="47625" marT="47625" marB="47625" anchor="ctr"/>
                </a:tc>
                <a:extLst>
                  <a:ext uri="{0D108BD9-81ED-4DB2-BD59-A6C34878D82A}">
                    <a16:rowId xmlns:a16="http://schemas.microsoft.com/office/drawing/2014/main" val="3852578632"/>
                  </a:ext>
                </a:extLst>
              </a:tr>
              <a:tr h="326723">
                <a:tc>
                  <a:txBody>
                    <a:bodyPr/>
                    <a:lstStyle/>
                    <a:p>
                      <a:pPr rtl="0" fontAlgn="ctr"/>
                      <a:r>
                        <a:rPr lang="es-419" sz="1200" b="1" dirty="0">
                          <a:solidFill>
                            <a:srgbClr val="0000CC"/>
                          </a:solidFill>
                          <a:effectLst/>
                        </a:rPr>
                        <a:t>Fa0/0</a:t>
                      </a:r>
                      <a:r>
                        <a:rPr lang="es-419" sz="1200" b="1" dirty="0">
                          <a:solidFill>
                            <a:srgbClr val="FF0000"/>
                          </a:solidFill>
                          <a:effectLst/>
                        </a:rPr>
                        <a:t>.10</a:t>
                      </a:r>
                    </a:p>
                  </a:txBody>
                  <a:tcPr marL="47625" marR="47625" marT="47625" marB="47625" anchor="ctr"/>
                </a:tc>
                <a:tc>
                  <a:txBody>
                    <a:bodyPr/>
                    <a:lstStyle/>
                    <a:p>
                      <a:pPr algn="ctr" rtl="0" fontAlgn="ctr"/>
                      <a:r>
                        <a:rPr lang="es-419" sz="1200" b="0" dirty="0">
                          <a:effectLst/>
                        </a:rPr>
                        <a:t>10</a:t>
                      </a:r>
                    </a:p>
                  </a:txBody>
                  <a:tcPr marL="47625" marR="47625" marT="47625" marB="47625" anchor="ctr"/>
                </a:tc>
                <a:tc>
                  <a:txBody>
                    <a:bodyPr/>
                    <a:lstStyle/>
                    <a:p>
                      <a:pPr algn="ctr" rtl="0" fontAlgn="ctr"/>
                      <a:r>
                        <a:rPr lang="es-419" sz="1200" b="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rtl="0" fontAlgn="ctr"/>
                      <a:r>
                        <a:rPr lang="es-419" sz="1200" b="1" dirty="0">
                          <a:solidFill>
                            <a:srgbClr val="0000CC"/>
                          </a:solidFill>
                          <a:effectLst/>
                        </a:rPr>
                        <a:t>Fa0/0</a:t>
                      </a:r>
                      <a:r>
                        <a:rPr lang="es-419" sz="1200" b="1" dirty="0">
                          <a:solidFill>
                            <a:srgbClr val="00B0F0"/>
                          </a:solidFill>
                          <a:effectLst/>
                        </a:rPr>
                        <a:t>.20</a:t>
                      </a:r>
                    </a:p>
                  </a:txBody>
                  <a:tcPr marL="47625" marR="47625" marT="47625" marB="47625" anchor="ctr"/>
                </a:tc>
                <a:tc>
                  <a:txBody>
                    <a:bodyPr/>
                    <a:lstStyle/>
                    <a:p>
                      <a:pPr algn="ctr" rtl="0" fontAlgn="ctr"/>
                      <a:r>
                        <a:rPr lang="es-419" sz="1200" b="0" dirty="0">
                          <a:effectLst/>
                        </a:rPr>
                        <a:t>20</a:t>
                      </a:r>
                    </a:p>
                  </a:txBody>
                  <a:tcPr marL="47625" marR="47625" marT="47625" marB="47625" anchor="ctr"/>
                </a:tc>
                <a:tc>
                  <a:txBody>
                    <a:bodyPr/>
                    <a:lstStyle/>
                    <a:p>
                      <a:pPr algn="ctr" rtl="0" fontAlgn="ctr"/>
                      <a:r>
                        <a:rPr lang="es-419" sz="1200" b="0" dirty="0">
                          <a:effectLst/>
                        </a:rPr>
                        <a:t>192.168.20.1/24</a:t>
                      </a:r>
                    </a:p>
                  </a:txBody>
                  <a:tcPr marL="47625" marR="47625" marT="47625" marB="47625" anchor="ctr"/>
                </a:tc>
                <a:extLst>
                  <a:ext uri="{0D108BD9-81ED-4DB2-BD59-A6C34878D82A}">
                    <a16:rowId xmlns:a16="http://schemas.microsoft.com/office/drawing/2014/main" val="2807812519"/>
                  </a:ext>
                </a:extLst>
              </a:tr>
            </a:tbl>
          </a:graphicData>
        </a:graphic>
      </p:graphicFrame>
      <p:sp>
        <p:nvSpPr>
          <p:cNvPr id="18" name="Elipse 17">
            <a:extLst>
              <a:ext uri="{FF2B5EF4-FFF2-40B4-BE49-F238E27FC236}">
                <a16:creationId xmlns:a16="http://schemas.microsoft.com/office/drawing/2014/main" id="{33F794DA-C757-C2E3-130A-4CDB528D8B11}"/>
              </a:ext>
            </a:extLst>
          </p:cNvPr>
          <p:cNvSpPr/>
          <p:nvPr/>
        </p:nvSpPr>
        <p:spPr>
          <a:xfrm>
            <a:off x="5308270" y="1846613"/>
            <a:ext cx="1775361" cy="1505197"/>
          </a:xfrm>
          <a:prstGeom prst="ellipse">
            <a:avLst/>
          </a:prstGeom>
          <a:solidFill>
            <a:srgbClr val="36A4D7">
              <a:alpha val="39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0" name="Elipse 19">
            <a:extLst>
              <a:ext uri="{FF2B5EF4-FFF2-40B4-BE49-F238E27FC236}">
                <a16:creationId xmlns:a16="http://schemas.microsoft.com/office/drawing/2014/main" id="{F2D208A3-F2CC-1C07-3402-1AAF5825C458}"/>
              </a:ext>
            </a:extLst>
          </p:cNvPr>
          <p:cNvSpPr/>
          <p:nvPr/>
        </p:nvSpPr>
        <p:spPr>
          <a:xfrm>
            <a:off x="7368639" y="1861161"/>
            <a:ext cx="1775361" cy="1505197"/>
          </a:xfrm>
          <a:prstGeom prst="ellipse">
            <a:avLst/>
          </a:prstGeom>
          <a:solidFill>
            <a:schemeClr val="bg2">
              <a:alpha val="3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Tree>
    <p:extLst>
      <p:ext uri="{BB962C8B-B14F-4D97-AF65-F5344CB8AC3E}">
        <p14:creationId xmlns:p14="http://schemas.microsoft.com/office/powerpoint/2010/main" val="4701711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59224" y="1933590"/>
            <a:ext cx="8911988"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419" sz="4000" dirty="0">
                <a:solidFill>
                  <a:schemeClr val="bg1"/>
                </a:solidFill>
              </a:rPr>
              <a:t>Inter-VLAN </a:t>
            </a:r>
            <a:r>
              <a:rPr lang="es-419" sz="4000" dirty="0" err="1">
                <a:solidFill>
                  <a:schemeClr val="bg1"/>
                </a:solidFill>
              </a:rPr>
              <a:t>Routing</a:t>
            </a:r>
            <a:r>
              <a:rPr lang="es-419" sz="4000" dirty="0">
                <a:solidFill>
                  <a:schemeClr val="bg1"/>
                </a:solidFill>
              </a:rPr>
              <a:t> usando </a:t>
            </a:r>
            <a:br>
              <a:rPr lang="es-419" sz="4000" dirty="0">
                <a:solidFill>
                  <a:schemeClr val="bg1"/>
                </a:solidFill>
              </a:rPr>
            </a:br>
            <a:r>
              <a:rPr lang="es-419" sz="4000" dirty="0">
                <a:solidFill>
                  <a:schemeClr val="bg1"/>
                </a:solidFill>
              </a:rPr>
              <a:t>“</a:t>
            </a:r>
            <a:r>
              <a:rPr lang="es-419" sz="4000" dirty="0" err="1">
                <a:solidFill>
                  <a:schemeClr val="bg1"/>
                </a:solidFill>
              </a:rPr>
              <a:t>Layer</a:t>
            </a:r>
            <a:r>
              <a:rPr lang="es-419" sz="4000" dirty="0">
                <a:solidFill>
                  <a:schemeClr val="bg1"/>
                </a:solidFill>
              </a:rPr>
              <a:t> 3 Switches”</a:t>
            </a:r>
            <a:br>
              <a:rPr lang="es-PE" sz="4000" dirty="0">
                <a:solidFill>
                  <a:schemeClr val="bg1"/>
                </a:solidFill>
                <a:latin typeface="Arial"/>
                <a:ea typeface="Arial"/>
                <a:cs typeface="Arial"/>
                <a:sym typeface="Arial"/>
              </a:rPr>
            </a:br>
            <a:r>
              <a:rPr lang="es-PE" sz="1500" i="1" dirty="0">
                <a:solidFill>
                  <a:schemeClr val="bg1"/>
                </a:solidFill>
                <a:latin typeface="Arial"/>
                <a:ea typeface="Arial"/>
                <a:cs typeface="Arial"/>
                <a:sym typeface="Arial"/>
              </a:rPr>
              <a:t>Ingeniería de Sistemas de Información</a:t>
            </a:r>
            <a:br>
              <a:rPr lang="es-PE" sz="1500" i="1" dirty="0">
                <a:solidFill>
                  <a:schemeClr val="bg1"/>
                </a:solidFill>
                <a:latin typeface="Arial"/>
                <a:ea typeface="Arial"/>
                <a:cs typeface="Arial"/>
                <a:sym typeface="Arial"/>
              </a:rPr>
            </a:br>
            <a:r>
              <a:rPr lang="es-PE" sz="1500" i="1" dirty="0">
                <a:solidFill>
                  <a:schemeClr val="bg1"/>
                </a:solidFill>
                <a:latin typeface="Arial"/>
                <a:ea typeface="Arial"/>
                <a:cs typeface="Arial"/>
                <a:sym typeface="Arial"/>
              </a:rPr>
              <a:t>EISI, 2026-2</a:t>
            </a:r>
            <a:endParaRPr sz="1500" dirty="0">
              <a:solidFill>
                <a:schemeClr val="bg1"/>
              </a:solidFill>
            </a:endParaRPr>
          </a:p>
        </p:txBody>
      </p:sp>
    </p:spTree>
    <p:extLst>
      <p:ext uri="{BB962C8B-B14F-4D97-AF65-F5344CB8AC3E}">
        <p14:creationId xmlns:p14="http://schemas.microsoft.com/office/powerpoint/2010/main" val="25730538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Escenario de conmutador de capa 3</a:t>
            </a:r>
          </a:p>
        </p:txBody>
      </p:sp>
      <p:sp>
        <p:nvSpPr>
          <p:cNvPr id="8" name="Rectangle 7">
            <a:extLst>
              <a:ext uri="{FF2B5EF4-FFF2-40B4-BE49-F238E27FC236}">
                <a16:creationId xmlns:a16="http://schemas.microsoft.com/office/drawing/2014/main" id="{F6B4CA7F-BDD6-D141-A5B9-E7D11B35E7F2}"/>
              </a:ext>
            </a:extLst>
          </p:cNvPr>
          <p:cNvSpPr/>
          <p:nvPr/>
        </p:nvSpPr>
        <p:spPr>
          <a:xfrm>
            <a:off x="372140" y="1150862"/>
            <a:ext cx="3197630" cy="2862322"/>
          </a:xfrm>
          <a:prstGeom prst="rect">
            <a:avLst/>
          </a:prstGeom>
        </p:spPr>
        <p:txBody>
          <a:bodyPr wrap="square">
            <a:spAutoFit/>
          </a:bodyPr>
          <a:lstStyle/>
          <a:p>
            <a:pPr algn="just" rtl="0"/>
            <a:r>
              <a:rPr lang="es-419" dirty="0">
                <a:solidFill>
                  <a:srgbClr val="000000"/>
                </a:solidFill>
                <a:latin typeface="+mn-lt"/>
              </a:rPr>
              <a:t>En la figura, el conmutador de capa 3, D1, está conectado a dos hosts en diferentes VLAN. PC1 está en VLAN 10 y PC2 está en VLAN 20, como se muestra. El conmutador de capa 3 proporcionará servicios de enrutamiento entre VLAN a los dos hosts.</a:t>
            </a:r>
          </a:p>
        </p:txBody>
      </p:sp>
      <p:pic>
        <p:nvPicPr>
          <p:cNvPr id="6" name="Imagen 5">
            <a:extLst>
              <a:ext uri="{FF2B5EF4-FFF2-40B4-BE49-F238E27FC236}">
                <a16:creationId xmlns:a16="http://schemas.microsoft.com/office/drawing/2014/main" id="{8AE149F2-22C5-53F3-113B-065ECF3E54F6}"/>
              </a:ext>
            </a:extLst>
          </p:cNvPr>
          <p:cNvPicPr>
            <a:picLocks noChangeAspect="1"/>
          </p:cNvPicPr>
          <p:nvPr/>
        </p:nvPicPr>
        <p:blipFill>
          <a:blip r:embed="rId3"/>
          <a:stretch>
            <a:fillRect/>
          </a:stretch>
        </p:blipFill>
        <p:spPr>
          <a:xfrm>
            <a:off x="4215161" y="731836"/>
            <a:ext cx="4677937" cy="3642923"/>
          </a:xfrm>
          <a:prstGeom prst="rect">
            <a:avLst/>
          </a:prstGeom>
        </p:spPr>
      </p:pic>
    </p:spTree>
    <p:extLst>
      <p:ext uri="{BB962C8B-B14F-4D97-AF65-F5344CB8AC3E}">
        <p14:creationId xmlns:p14="http://schemas.microsoft.com/office/powerpoint/2010/main" val="32247860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436418"/>
          </a:xfrm>
        </p:spPr>
        <p:txBody>
          <a:bodyPr/>
          <a:lstStyle/>
          <a:p>
            <a:pPr algn="just" rtl="0"/>
            <a:r>
              <a:rPr lang="es-419" sz="2400" dirty="0">
                <a:solidFill>
                  <a:srgbClr val="C00000"/>
                </a:solidFill>
              </a:rPr>
              <a:t>Configuración de Conmutadores de Capa 3</a:t>
            </a:r>
          </a:p>
        </p:txBody>
      </p:sp>
      <p:sp>
        <p:nvSpPr>
          <p:cNvPr id="4" name="Content Placeholder 3">
            <a:extLst>
              <a:ext uri="{FF2B5EF4-FFF2-40B4-BE49-F238E27FC236}">
                <a16:creationId xmlns:a16="http://schemas.microsoft.com/office/drawing/2014/main" id="{E1DB1600-FC68-DC40-94DE-015293322B10}"/>
              </a:ext>
            </a:extLst>
          </p:cNvPr>
          <p:cNvSpPr>
            <a:spLocks noGrp="1"/>
          </p:cNvSpPr>
          <p:nvPr>
            <p:ph idx="1"/>
          </p:nvPr>
        </p:nvSpPr>
        <p:spPr>
          <a:xfrm>
            <a:off x="65719" y="320751"/>
            <a:ext cx="5698954" cy="296766"/>
          </a:xfrm>
        </p:spPr>
        <p:txBody>
          <a:bodyPr/>
          <a:lstStyle/>
          <a:p>
            <a:pPr marL="0" indent="0" algn="just" rtl="0"/>
            <a:r>
              <a:rPr lang="es-419" sz="1200" dirty="0">
                <a:solidFill>
                  <a:srgbClr val="000000"/>
                </a:solidFill>
              </a:rPr>
              <a:t>Complete los siguientes pasos para configurar S1 con VLAN y </a:t>
            </a:r>
            <a:r>
              <a:rPr lang="es-419" sz="1200" dirty="0" err="1">
                <a:solidFill>
                  <a:srgbClr val="000000"/>
                </a:solidFill>
              </a:rPr>
              <a:t>trunking</a:t>
            </a:r>
            <a:r>
              <a:rPr lang="es-419" sz="1200" dirty="0">
                <a:solidFill>
                  <a:srgbClr val="000000"/>
                </a:solidFill>
              </a:rPr>
              <a:t> :</a:t>
            </a:r>
          </a:p>
        </p:txBody>
      </p:sp>
      <p:pic>
        <p:nvPicPr>
          <p:cNvPr id="5" name="Imagen 4">
            <a:extLst>
              <a:ext uri="{FF2B5EF4-FFF2-40B4-BE49-F238E27FC236}">
                <a16:creationId xmlns:a16="http://schemas.microsoft.com/office/drawing/2014/main" id="{1B0C1BCC-92DE-A811-7167-3D3B92DB5F5C}"/>
              </a:ext>
            </a:extLst>
          </p:cNvPr>
          <p:cNvPicPr>
            <a:picLocks noChangeAspect="1"/>
          </p:cNvPicPr>
          <p:nvPr/>
        </p:nvPicPr>
        <p:blipFill>
          <a:blip r:embed="rId3"/>
          <a:stretch>
            <a:fillRect/>
          </a:stretch>
        </p:blipFill>
        <p:spPr>
          <a:xfrm>
            <a:off x="5302334" y="1032734"/>
            <a:ext cx="3769558" cy="2935527"/>
          </a:xfrm>
          <a:prstGeom prst="rect">
            <a:avLst/>
          </a:prstGeom>
        </p:spPr>
      </p:pic>
      <p:sp>
        <p:nvSpPr>
          <p:cNvPr id="12" name="CuadroTexto 11">
            <a:extLst>
              <a:ext uri="{FF2B5EF4-FFF2-40B4-BE49-F238E27FC236}">
                <a16:creationId xmlns:a16="http://schemas.microsoft.com/office/drawing/2014/main" id="{050A5BD0-B997-4528-F0DF-2A960A0E61A7}"/>
              </a:ext>
            </a:extLst>
          </p:cNvPr>
          <p:cNvSpPr txBox="1"/>
          <p:nvPr/>
        </p:nvSpPr>
        <p:spPr>
          <a:xfrm>
            <a:off x="101797" y="550684"/>
            <a:ext cx="5258072" cy="2113399"/>
          </a:xfrm>
          <a:prstGeom prst="rect">
            <a:avLst/>
          </a:prstGeom>
          <a:noFill/>
        </p:spPr>
        <p:txBody>
          <a:bodyPr wrap="square">
            <a:spAutoFit/>
          </a:bodyPr>
          <a:lstStyle/>
          <a:p>
            <a:pPr marL="285690" indent="-285690" defTabSz="457105" fontAlgn="auto">
              <a:spcBef>
                <a:spcPct val="20000"/>
              </a:spcBef>
              <a:spcAft>
                <a:spcPts val="800"/>
              </a:spcAft>
            </a:pPr>
            <a:r>
              <a:rPr lang="es-419" sz="800" b="1" u="sng" dirty="0">
                <a:solidFill>
                  <a:srgbClr val="9933FF"/>
                </a:solidFill>
                <a:effectLst>
                  <a:outerShdw blurRad="38100" dist="38100" dir="2700000" algn="tl">
                    <a:srgbClr val="000000">
                      <a:alpha val="43137"/>
                    </a:srgbClr>
                  </a:outerShdw>
                </a:effectLst>
                <a:latin typeface="+mn-lt"/>
                <a:ea typeface="ＭＳ Ｐゴシック" charset="0"/>
              </a:rPr>
              <a:t>Paso 1. </a:t>
            </a:r>
            <a:r>
              <a:rPr lang="es-419" sz="800" b="1" dirty="0">
                <a:solidFill>
                  <a:srgbClr val="9933FF"/>
                </a:solidFill>
                <a:effectLst>
                  <a:outerShdw blurRad="38100" dist="38100" dir="2700000" algn="tl">
                    <a:srgbClr val="000000">
                      <a:alpha val="43137"/>
                    </a:srgbClr>
                  </a:outerShdw>
                </a:effectLst>
                <a:latin typeface="+mn-lt"/>
                <a:ea typeface="ＭＳ Ｐゴシック" charset="0"/>
              </a:rPr>
              <a:t>Cree las </a:t>
            </a:r>
            <a:r>
              <a:rPr lang="es-419" sz="800" b="1" dirty="0" err="1">
                <a:solidFill>
                  <a:srgbClr val="9933FF"/>
                </a:solidFill>
                <a:effectLst>
                  <a:outerShdw blurRad="38100" dist="38100" dir="2700000" algn="tl">
                    <a:srgbClr val="000000">
                      <a:alpha val="43137"/>
                    </a:srgbClr>
                  </a:outerShdw>
                </a:effectLst>
                <a:latin typeface="+mn-lt"/>
                <a:ea typeface="ＭＳ Ｐゴシック" charset="0"/>
              </a:rPr>
              <a:t>VLANs</a:t>
            </a:r>
            <a:r>
              <a:rPr lang="es-419" sz="800" b="1" dirty="0">
                <a:solidFill>
                  <a:srgbClr val="9933FF"/>
                </a:solidFill>
                <a:effectLst>
                  <a:outerShdw blurRad="38100" dist="38100" dir="2700000" algn="tl">
                    <a:srgbClr val="000000">
                      <a:alpha val="43137"/>
                    </a:srgbClr>
                  </a:outerShdw>
                </a:effectLst>
                <a:latin typeface="+mn-lt"/>
                <a:ea typeface="ＭＳ Ｐゴシック" charset="0"/>
              </a:rPr>
              <a:t>. En el ejemplo, se utilizan VLAN 10 y 20. </a:t>
            </a:r>
          </a:p>
          <a:p>
            <a:pPr>
              <a:spcAft>
                <a:spcPts val="800"/>
              </a:spcAft>
            </a:pPr>
            <a:r>
              <a:rPr lang="en-US" sz="1400" b="1" i="1" u="sng"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Creación</a:t>
            </a:r>
            <a:r>
              <a:rPr lang="en-US" sz="1400" b="1" i="1" u="sng"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de </a:t>
            </a:r>
            <a:r>
              <a:rPr lang="en-US" sz="1400" b="1" i="1" u="sng"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Vlans</a:t>
            </a:r>
            <a:endParaRPr lang="es-PE" sz="1400" b="1" i="1" u="sng"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Switch_D1 # configure terminal</a:t>
            </a:r>
            <a:endParaRPr lang="es-PE"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Switch_D1 (config)#vlan </a:t>
            </a:r>
            <a:r>
              <a:rPr lang="en-US" sz="8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8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Switch_D1 (config)#name </a:t>
            </a:r>
            <a:r>
              <a:rPr lang="en-US" sz="8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VLAN10</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b="1" i="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a:t>
            </a:r>
            <a:r>
              <a:rPr lang="en-US" sz="800" b="1" dirty="0" err="1">
                <a:solidFill>
                  <a:srgbClr val="9933FF"/>
                </a:solidFill>
                <a:effectLst>
                  <a:outerShdw blurRad="38100" dist="38100" dir="2700000" algn="tl">
                    <a:srgbClr val="000000">
                      <a:alpha val="43137"/>
                    </a:srgbClr>
                  </a:outerShdw>
                </a:effectLst>
                <a:latin typeface="+mn-lt"/>
                <a:ea typeface="ＭＳ Ｐゴシック" charset="0"/>
              </a:rPr>
              <a:t>Puede</a:t>
            </a:r>
            <a:r>
              <a:rPr lang="en-US" sz="800" b="1" dirty="0">
                <a:solidFill>
                  <a:srgbClr val="9933FF"/>
                </a:solidFill>
                <a:effectLst>
                  <a:outerShdw blurRad="38100" dist="38100" dir="2700000" algn="tl">
                    <a:srgbClr val="000000">
                      <a:alpha val="43137"/>
                    </a:srgbClr>
                  </a:outerShdw>
                </a:effectLst>
                <a:latin typeface="+mn-lt"/>
                <a:ea typeface="ＭＳ Ｐゴシック" charset="0"/>
              </a:rPr>
              <a:t> ser </a:t>
            </a:r>
            <a:r>
              <a:rPr lang="es-PE" sz="800" b="1" dirty="0">
                <a:solidFill>
                  <a:srgbClr val="9933FF"/>
                </a:solidFill>
                <a:effectLst>
                  <a:outerShdw blurRad="38100" dist="38100" dir="2700000" algn="tl">
                    <a:srgbClr val="000000">
                      <a:alpha val="43137"/>
                    </a:srgbClr>
                  </a:outerShdw>
                </a:effectLst>
                <a:latin typeface="+mn-lt"/>
                <a:ea typeface="ＭＳ Ｐゴシック" charset="0"/>
              </a:rPr>
              <a:t>cualquier</a:t>
            </a:r>
            <a:r>
              <a:rPr lang="en-US" sz="800" b="1" dirty="0">
                <a:solidFill>
                  <a:srgbClr val="9933FF"/>
                </a:solidFill>
                <a:effectLst>
                  <a:outerShdw blurRad="38100" dist="38100" dir="2700000" algn="tl">
                    <a:srgbClr val="000000">
                      <a:alpha val="43137"/>
                    </a:srgbClr>
                  </a:outerShdw>
                </a:effectLst>
                <a:latin typeface="+mn-lt"/>
                <a:ea typeface="ＭＳ Ｐゴシック" charset="0"/>
              </a:rPr>
              <a:t> </a:t>
            </a:r>
            <a:r>
              <a:rPr lang="en-US" sz="800" b="1" dirty="0" err="1">
                <a:solidFill>
                  <a:srgbClr val="9933FF"/>
                </a:solidFill>
                <a:effectLst>
                  <a:outerShdw blurRad="38100" dist="38100" dir="2700000" algn="tl">
                    <a:srgbClr val="000000">
                      <a:alpha val="43137"/>
                    </a:srgbClr>
                  </a:outerShdw>
                </a:effectLst>
                <a:latin typeface="+mn-lt"/>
                <a:ea typeface="ＭＳ Ｐゴシック" charset="0"/>
              </a:rPr>
              <a:t>nombre</a:t>
            </a:r>
            <a:r>
              <a:rPr lang="en-US" sz="800" b="1" i="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800" b="1" i="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Switch_D1 (config)# exit</a:t>
            </a:r>
            <a:endParaRPr lang="es-PE"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Switch_D1 (config)#vlan </a:t>
            </a:r>
            <a:r>
              <a:rPr lang="en-US" sz="8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20</a:t>
            </a:r>
            <a:endParaRPr lang="es-PE" sz="8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Switch_D1 (config)#name </a:t>
            </a:r>
            <a:r>
              <a:rPr lang="en-US" sz="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VLAN20</a:t>
            </a: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800" b="1" i="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a:t>
            </a:r>
            <a:r>
              <a:rPr lang="en-US" sz="800" b="1" dirty="0" err="1">
                <a:solidFill>
                  <a:srgbClr val="9933FF"/>
                </a:solidFill>
                <a:effectLst>
                  <a:outerShdw blurRad="38100" dist="38100" dir="2700000" algn="tl">
                    <a:srgbClr val="000000">
                      <a:alpha val="43137"/>
                    </a:srgbClr>
                  </a:outerShdw>
                </a:effectLst>
                <a:latin typeface="+mn-lt"/>
                <a:ea typeface="ＭＳ Ｐゴシック" charset="0"/>
              </a:rPr>
              <a:t>Puede</a:t>
            </a:r>
            <a:r>
              <a:rPr lang="en-US" sz="800" b="1" dirty="0">
                <a:solidFill>
                  <a:srgbClr val="9933FF"/>
                </a:solidFill>
                <a:effectLst>
                  <a:outerShdw blurRad="38100" dist="38100" dir="2700000" algn="tl">
                    <a:srgbClr val="000000">
                      <a:alpha val="43137"/>
                    </a:srgbClr>
                  </a:outerShdw>
                </a:effectLst>
                <a:latin typeface="+mn-lt"/>
                <a:ea typeface="ＭＳ Ｐゴシック" charset="0"/>
              </a:rPr>
              <a:t> ser </a:t>
            </a:r>
            <a:r>
              <a:rPr lang="es-PE" sz="800" b="1" dirty="0">
                <a:solidFill>
                  <a:srgbClr val="9933FF"/>
                </a:solidFill>
                <a:effectLst>
                  <a:outerShdw blurRad="38100" dist="38100" dir="2700000" algn="tl">
                    <a:srgbClr val="000000">
                      <a:alpha val="43137"/>
                    </a:srgbClr>
                  </a:outerShdw>
                </a:effectLst>
                <a:latin typeface="+mn-lt"/>
                <a:ea typeface="ＭＳ Ｐゴシック" charset="0"/>
              </a:rPr>
              <a:t>cualquier</a:t>
            </a:r>
            <a:r>
              <a:rPr lang="en-US" sz="800" b="1" dirty="0">
                <a:solidFill>
                  <a:srgbClr val="9933FF"/>
                </a:solidFill>
                <a:effectLst>
                  <a:outerShdw blurRad="38100" dist="38100" dir="2700000" algn="tl">
                    <a:srgbClr val="000000">
                      <a:alpha val="43137"/>
                    </a:srgbClr>
                  </a:outerShdw>
                </a:effectLst>
                <a:latin typeface="+mn-lt"/>
                <a:ea typeface="ＭＳ Ｐゴシック" charset="0"/>
              </a:rPr>
              <a:t> </a:t>
            </a:r>
            <a:r>
              <a:rPr lang="en-US" sz="800" b="1" dirty="0" err="1">
                <a:solidFill>
                  <a:srgbClr val="9933FF"/>
                </a:solidFill>
                <a:effectLst>
                  <a:outerShdw blurRad="38100" dist="38100" dir="2700000" algn="tl">
                    <a:srgbClr val="000000">
                      <a:alpha val="43137"/>
                    </a:srgbClr>
                  </a:outerShdw>
                </a:effectLst>
                <a:latin typeface="+mn-lt"/>
                <a:ea typeface="ＭＳ Ｐゴシック" charset="0"/>
              </a:rPr>
              <a:t>nombre</a:t>
            </a:r>
            <a:r>
              <a:rPr lang="en-US" sz="800" b="1" i="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800" b="1" i="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Switch_D1 (config)# exit</a:t>
            </a:r>
            <a:endParaRPr lang="es-PE"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Content Placeholder 3">
            <a:extLst>
              <a:ext uri="{FF2B5EF4-FFF2-40B4-BE49-F238E27FC236}">
                <a16:creationId xmlns:a16="http://schemas.microsoft.com/office/drawing/2014/main" id="{4E499ACB-9608-6F16-5DE3-49AC03362F59}"/>
              </a:ext>
            </a:extLst>
          </p:cNvPr>
          <p:cNvSpPr txBox="1">
            <a:spLocks/>
          </p:cNvSpPr>
          <p:nvPr/>
        </p:nvSpPr>
        <p:spPr>
          <a:xfrm>
            <a:off x="101797" y="2643002"/>
            <a:ext cx="6467707" cy="243375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l">
              <a:spcAft>
                <a:spcPts val="800"/>
              </a:spcAft>
            </a:pPr>
            <a:r>
              <a:rPr lang="es-419" sz="800" b="1" u="sng" dirty="0">
                <a:solidFill>
                  <a:srgbClr val="9933FF"/>
                </a:solidFill>
                <a:effectLst>
                  <a:outerShdw blurRad="38100" dist="38100" dir="2700000" algn="tl">
                    <a:srgbClr val="000000">
                      <a:alpha val="43137"/>
                    </a:srgbClr>
                  </a:outerShdw>
                </a:effectLst>
              </a:rPr>
              <a:t>Paso 2. </a:t>
            </a:r>
            <a:r>
              <a:rPr lang="es-419" sz="800" b="1" dirty="0">
                <a:solidFill>
                  <a:srgbClr val="9933FF"/>
                </a:solidFill>
              </a:rPr>
              <a:t>Configure puertos de acceso. Asigne el puerto apropiado a la VLAN requerida </a:t>
            </a:r>
            <a:r>
              <a:rPr lang="es-ES" sz="800" b="1" dirty="0">
                <a:solidFill>
                  <a:srgbClr val="9933FF"/>
                </a:solidFill>
              </a:rPr>
              <a:t>(</a:t>
            </a:r>
            <a:r>
              <a:rPr lang="es-419" sz="800" b="1" dirty="0" err="1">
                <a:solidFill>
                  <a:srgbClr val="9933FF"/>
                </a:solidFill>
                <a:latin typeface="Calibri" panose="020F0502020204030204" pitchFamily="34" charset="0"/>
                <a:ea typeface="Calibri" panose="020F0502020204030204" pitchFamily="34" charset="0"/>
                <a:cs typeface="Times New Roman" panose="02020603050405020304" pitchFamily="18" charset="0"/>
              </a:rPr>
              <a:t>Asignacion</a:t>
            </a:r>
            <a:r>
              <a:rPr lang="es-419" sz="800" b="1" dirty="0">
                <a:solidFill>
                  <a:srgbClr val="9933FF"/>
                </a:solidFill>
                <a:latin typeface="Calibri" panose="020F0502020204030204" pitchFamily="34" charset="0"/>
                <a:ea typeface="Calibri" panose="020F0502020204030204" pitchFamily="34" charset="0"/>
                <a:cs typeface="Times New Roman" panose="02020603050405020304" pitchFamily="18" charset="0"/>
              </a:rPr>
              <a:t> de interfaces a las </a:t>
            </a:r>
            <a:r>
              <a:rPr lang="es-419" sz="800" b="1" dirty="0" err="1">
                <a:solidFill>
                  <a:srgbClr val="9933FF"/>
                </a:solidFill>
                <a:latin typeface="Calibri" panose="020F0502020204030204" pitchFamily="34" charset="0"/>
                <a:ea typeface="Calibri" panose="020F0502020204030204" pitchFamily="34" charset="0"/>
                <a:cs typeface="Times New Roman" panose="02020603050405020304" pitchFamily="18" charset="0"/>
              </a:rPr>
              <a:t>Vlan</a:t>
            </a:r>
            <a:r>
              <a:rPr lang="es-ES" sz="800" b="1" dirty="0">
                <a:solidFill>
                  <a:srgbClr val="9933FF"/>
                </a:solidFill>
              </a:rPr>
              <a:t>)</a:t>
            </a:r>
            <a:r>
              <a:rPr lang="es-419" sz="800" b="1" dirty="0">
                <a:solidFill>
                  <a:srgbClr val="9933FF"/>
                </a:solidFill>
              </a:rPr>
              <a:t>. </a:t>
            </a:r>
          </a:p>
          <a:p>
            <a:pPr algn="l">
              <a:spcAft>
                <a:spcPts val="800"/>
              </a:spcAft>
            </a:pPr>
            <a:r>
              <a:rPr lang="es-419" sz="800" b="1" dirty="0">
                <a:solidFill>
                  <a:srgbClr val="00B0F0"/>
                </a:solidFill>
                <a:latin typeface="Calibri" panose="020F0502020204030204" pitchFamily="34" charset="0"/>
                <a:ea typeface="Calibri" panose="020F0502020204030204" pitchFamily="34" charset="0"/>
                <a:cs typeface="Times New Roman" panose="02020603050405020304" pitchFamily="18" charset="0"/>
              </a:rPr>
              <a:t> </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#configure terminal</a:t>
            </a:r>
          </a:p>
          <a:p>
            <a:pPr algn="l">
              <a:spcAft>
                <a:spcPts val="800"/>
              </a:spcAft>
            </a:pP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config</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interface </a:t>
            </a:r>
            <a:r>
              <a:rPr lang="es-419" sz="800" b="1" dirty="0">
                <a:solidFill>
                  <a:srgbClr val="00B0F0"/>
                </a:solidFill>
                <a:latin typeface="Calibri" panose="020F0502020204030204" pitchFamily="34" charset="0"/>
                <a:ea typeface="Calibri" panose="020F0502020204030204" pitchFamily="34" charset="0"/>
                <a:cs typeface="Times New Roman" panose="02020603050405020304" pitchFamily="18" charset="0"/>
              </a:rPr>
              <a:t>fa0/1</a:t>
            </a:r>
          </a:p>
          <a:p>
            <a:pPr algn="l">
              <a:spcAft>
                <a:spcPts val="800"/>
              </a:spcAft>
            </a:pP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config-if</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Switchport</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mode</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access</a:t>
            </a:r>
            <a:endPar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gn="l">
              <a:spcAft>
                <a:spcPts val="800"/>
              </a:spcAft>
            </a:pP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config-if</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switchport</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access</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vlan</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b="1" dirty="0">
                <a:solidFill>
                  <a:srgbClr val="00B0F0"/>
                </a:solidFill>
                <a:latin typeface="Calibri" panose="020F0502020204030204" pitchFamily="34" charset="0"/>
                <a:ea typeface="Calibri" panose="020F0502020204030204" pitchFamily="34" charset="0"/>
                <a:cs typeface="Times New Roman" panose="02020603050405020304" pitchFamily="18" charset="0"/>
              </a:rPr>
              <a:t>10</a:t>
            </a:r>
          </a:p>
          <a:p>
            <a:pPr algn="l">
              <a:spcAft>
                <a:spcPts val="800"/>
              </a:spcAft>
            </a:pP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config-if</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exit</a:t>
            </a:r>
            <a:endPar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gn="l">
              <a:spcAft>
                <a:spcPts val="800"/>
              </a:spcAft>
            </a:pP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config</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interface </a:t>
            </a:r>
            <a:r>
              <a:rPr lang="es-419" sz="800" b="1" dirty="0">
                <a:solidFill>
                  <a:srgbClr val="00B0F0"/>
                </a:solidFill>
                <a:latin typeface="Calibri" panose="020F0502020204030204" pitchFamily="34" charset="0"/>
                <a:ea typeface="Calibri" panose="020F0502020204030204" pitchFamily="34" charset="0"/>
                <a:cs typeface="Times New Roman" panose="02020603050405020304" pitchFamily="18" charset="0"/>
              </a:rPr>
              <a:t>fa0/2</a:t>
            </a:r>
          </a:p>
          <a:p>
            <a:pPr algn="l">
              <a:spcAft>
                <a:spcPts val="800"/>
              </a:spcAft>
            </a:pP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config-if</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Switchport</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mode</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access</a:t>
            </a:r>
            <a:endPar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gn="l">
              <a:spcAft>
                <a:spcPts val="800"/>
              </a:spcAft>
            </a:pP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config-if</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switchport</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access</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vlan</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b="1" dirty="0">
                <a:solidFill>
                  <a:srgbClr val="00B0F0"/>
                </a:solidFill>
                <a:latin typeface="Calibri" panose="020F0502020204030204" pitchFamily="34" charset="0"/>
                <a:ea typeface="Calibri" panose="020F0502020204030204" pitchFamily="34" charset="0"/>
                <a:cs typeface="Times New Roman" panose="02020603050405020304" pitchFamily="18" charset="0"/>
              </a:rPr>
              <a:t>20</a:t>
            </a:r>
          </a:p>
          <a:p>
            <a:pPr algn="l">
              <a:spcAft>
                <a:spcPts val="800"/>
              </a:spcAft>
            </a:pP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Switch_D1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config-if</a:t>
            </a:r>
            <a:r>
              <a:rPr lang="es-419" sz="8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s-419" sz="800"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exit</a:t>
            </a:r>
            <a:endParaRPr lang="es-419" sz="800" dirty="0">
              <a:solidFill>
                <a:srgbClr val="000000"/>
              </a:solidFill>
            </a:endParaRPr>
          </a:p>
        </p:txBody>
      </p:sp>
    </p:spTree>
    <p:extLst>
      <p:ext uri="{BB962C8B-B14F-4D97-AF65-F5344CB8AC3E}">
        <p14:creationId xmlns:p14="http://schemas.microsoft.com/office/powerpoint/2010/main" val="11968519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algn="just" rtl="0"/>
            <a:r>
              <a:rPr lang="es-419" sz="2400" dirty="0">
                <a:solidFill>
                  <a:srgbClr val="C00000"/>
                </a:solidFill>
              </a:rPr>
              <a:t>Configuración de Conmutadores de Capa 3</a:t>
            </a:r>
          </a:p>
        </p:txBody>
      </p:sp>
      <p:pic>
        <p:nvPicPr>
          <p:cNvPr id="5" name="Imagen 4">
            <a:extLst>
              <a:ext uri="{FF2B5EF4-FFF2-40B4-BE49-F238E27FC236}">
                <a16:creationId xmlns:a16="http://schemas.microsoft.com/office/drawing/2014/main" id="{1B0C1BCC-92DE-A811-7167-3D3B92DB5F5C}"/>
              </a:ext>
            </a:extLst>
          </p:cNvPr>
          <p:cNvPicPr>
            <a:picLocks noChangeAspect="1"/>
          </p:cNvPicPr>
          <p:nvPr/>
        </p:nvPicPr>
        <p:blipFill>
          <a:blip r:embed="rId3"/>
          <a:stretch>
            <a:fillRect/>
          </a:stretch>
        </p:blipFill>
        <p:spPr>
          <a:xfrm>
            <a:off x="5286501" y="445925"/>
            <a:ext cx="3697183" cy="2879165"/>
          </a:xfrm>
          <a:prstGeom prst="rect">
            <a:avLst/>
          </a:prstGeom>
        </p:spPr>
      </p:pic>
      <p:sp>
        <p:nvSpPr>
          <p:cNvPr id="2" name="CuadroTexto 1">
            <a:extLst>
              <a:ext uri="{FF2B5EF4-FFF2-40B4-BE49-F238E27FC236}">
                <a16:creationId xmlns:a16="http://schemas.microsoft.com/office/drawing/2014/main" id="{7D46CFD4-880F-FF6B-5026-A9DC3CC328CC}"/>
              </a:ext>
            </a:extLst>
          </p:cNvPr>
          <p:cNvSpPr txBox="1"/>
          <p:nvPr/>
        </p:nvSpPr>
        <p:spPr>
          <a:xfrm>
            <a:off x="0" y="596222"/>
            <a:ext cx="5947782" cy="2554545"/>
          </a:xfrm>
          <a:prstGeom prst="rect">
            <a:avLst/>
          </a:prstGeom>
          <a:noFill/>
        </p:spPr>
        <p:txBody>
          <a:bodyPr wrap="square">
            <a:spAutoFit/>
          </a:bodyPr>
          <a:lstStyle/>
          <a:p>
            <a:pPr marL="342900" indent="-342900" algn="just" rtl="0">
              <a:buFont typeface="Arial" panose="020B0604020202020204" pitchFamily="34" charset="0"/>
              <a:buChar char="•"/>
            </a:pPr>
            <a:r>
              <a:rPr lang="es-419" sz="1200" b="1" u="sng" dirty="0">
                <a:solidFill>
                  <a:srgbClr val="9933FF"/>
                </a:solidFill>
                <a:effectLst>
                  <a:outerShdw blurRad="38100" dist="38100" dir="2700000" algn="tl">
                    <a:srgbClr val="000000">
                      <a:alpha val="43137"/>
                    </a:srgbClr>
                  </a:outerShdw>
                </a:effectLst>
                <a:latin typeface="+mn-lt"/>
                <a:ea typeface="ＭＳ Ｐゴシック" charset="0"/>
              </a:rPr>
              <a:t>Paso 3. </a:t>
            </a:r>
            <a:r>
              <a:rPr lang="es-419" sz="1200" b="1" dirty="0">
                <a:solidFill>
                  <a:srgbClr val="9933FF"/>
                </a:solidFill>
                <a:effectLst>
                  <a:outerShdw blurRad="38100" dist="38100" dir="2700000" algn="tl">
                    <a:srgbClr val="000000">
                      <a:alpha val="43137"/>
                    </a:srgbClr>
                  </a:outerShdw>
                </a:effectLst>
                <a:latin typeface="+mn-lt"/>
                <a:ea typeface="ＭＳ Ｐゴシック" charset="0"/>
              </a:rPr>
              <a:t>Cree las interfaces VLAN SVI. La dirección IP configurada servirá como puerta de enlace predeterminada para los hosts de la VLAN respectiva. </a:t>
            </a:r>
          </a:p>
          <a:p>
            <a:pPr marL="342900" indent="-342900" algn="just" rtl="0">
              <a:buFont typeface="Arial" panose="020B0604020202020204" pitchFamily="34" charset="0"/>
              <a:buChar char="•"/>
            </a:pPr>
            <a:endParaRPr lang="es-419" sz="1200" dirty="0">
              <a:solidFill>
                <a:srgbClr val="000000"/>
              </a:solidFill>
            </a:endParaRPr>
          </a:p>
          <a:p>
            <a:pPr algn="l">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Switch_D1(config)#interface </a:t>
            </a:r>
            <a:r>
              <a:rPr lang="en-US" sz="10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Vlan</a:t>
            </a:r>
            <a:r>
              <a:rPr lang="en-US"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00B0F0"/>
                </a:solidFill>
                <a:effectLst/>
                <a:latin typeface="Courier New" panose="02070309020205020404" pitchFamily="49" charset="0"/>
                <a:ea typeface="Times New Roman" panose="02020603050405020304" pitchFamily="18" charset="0"/>
                <a:cs typeface="Times New Roman" panose="02020603050405020304" pitchFamily="18" charset="0"/>
              </a:rPr>
              <a:t>10</a:t>
            </a:r>
            <a:endParaRPr lang="es-PE" sz="10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Switch_D1(config-if)#ip address </a:t>
            </a:r>
            <a:r>
              <a:rPr lang="en-US" sz="1000" b="1" dirty="0">
                <a:solidFill>
                  <a:srgbClr val="00B0F0"/>
                </a:solidFill>
                <a:effectLst/>
                <a:latin typeface="Courier New" panose="02070309020205020404" pitchFamily="49" charset="0"/>
                <a:ea typeface="Times New Roman" panose="02020603050405020304" pitchFamily="18" charset="0"/>
                <a:cs typeface="Times New Roman" panose="02020603050405020304" pitchFamily="18" charset="0"/>
              </a:rPr>
              <a:t>192.168.10.1 255.255.255.0</a:t>
            </a:r>
            <a:endParaRPr lang="es-PE" sz="10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PE"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Switch_D1(</a:t>
            </a:r>
            <a:r>
              <a:rPr lang="es-PE" sz="10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config-if</a:t>
            </a:r>
            <a:r>
              <a:rPr lang="es-PE"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)#no shutdown</a:t>
            </a:r>
          </a:p>
          <a:p>
            <a:pPr algn="l">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PE"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Switch_D1(</a:t>
            </a:r>
            <a:r>
              <a:rPr lang="es-PE" sz="10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config-if</a:t>
            </a:r>
            <a:r>
              <a:rPr lang="es-PE"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)#exit</a:t>
            </a:r>
          </a:p>
          <a:p>
            <a:pPr algn="l">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Switch_D1(config)#interface </a:t>
            </a:r>
            <a:r>
              <a:rPr lang="en-US" sz="10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Vlan</a:t>
            </a:r>
            <a:r>
              <a:rPr lang="en-US"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00B0F0"/>
                </a:solidFill>
                <a:effectLst/>
                <a:latin typeface="Courier New" panose="02070309020205020404" pitchFamily="49" charset="0"/>
                <a:ea typeface="Times New Roman" panose="02020603050405020304" pitchFamily="18" charset="0"/>
                <a:cs typeface="Times New Roman" panose="02020603050405020304" pitchFamily="18" charset="0"/>
              </a:rPr>
              <a:t>20</a:t>
            </a:r>
            <a:endParaRPr lang="es-PE" sz="10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Switch_D1(config-if)#ip address </a:t>
            </a:r>
            <a:r>
              <a:rPr lang="en-US" sz="1000" b="1" dirty="0">
                <a:solidFill>
                  <a:srgbClr val="00B0F0"/>
                </a:solidFill>
                <a:effectLst/>
                <a:latin typeface="Courier New" panose="02070309020205020404" pitchFamily="49" charset="0"/>
                <a:ea typeface="Times New Roman" panose="02020603050405020304" pitchFamily="18" charset="0"/>
                <a:cs typeface="Times New Roman" panose="02020603050405020304" pitchFamily="18" charset="0"/>
              </a:rPr>
              <a:t>192.168.20.1 255.255.255.0</a:t>
            </a:r>
            <a:endParaRPr lang="es-PE" sz="1000" b="1"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PE"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Switch_D1(</a:t>
            </a:r>
            <a:r>
              <a:rPr lang="es-PE" sz="10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config-if</a:t>
            </a:r>
            <a:r>
              <a:rPr lang="es-PE"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)#no shutdown</a:t>
            </a:r>
          </a:p>
        </p:txBody>
      </p:sp>
      <p:sp>
        <p:nvSpPr>
          <p:cNvPr id="9" name="CuadroTexto 8">
            <a:extLst>
              <a:ext uri="{FF2B5EF4-FFF2-40B4-BE49-F238E27FC236}">
                <a16:creationId xmlns:a16="http://schemas.microsoft.com/office/drawing/2014/main" id="{5120864B-F3D3-4CD8-8D32-C92DAD1AF33D}"/>
              </a:ext>
            </a:extLst>
          </p:cNvPr>
          <p:cNvSpPr txBox="1"/>
          <p:nvPr/>
        </p:nvSpPr>
        <p:spPr>
          <a:xfrm>
            <a:off x="236763" y="3355794"/>
            <a:ext cx="6217476" cy="1631216"/>
          </a:xfrm>
          <a:prstGeom prst="rect">
            <a:avLst/>
          </a:prstGeom>
          <a:noFill/>
        </p:spPr>
        <p:txBody>
          <a:bodyPr wrap="square">
            <a:spAutoFit/>
          </a:bodyPr>
          <a:lstStyle/>
          <a:p>
            <a:pPr marL="171450" indent="-171450" algn="just">
              <a:buFont typeface="Arial" panose="020B0604020202020204" pitchFamily="34" charset="0"/>
              <a:buChar char="•"/>
            </a:pPr>
            <a:r>
              <a:rPr lang="es-419" sz="1200" b="1" u="sng" dirty="0">
                <a:solidFill>
                  <a:srgbClr val="9933FF"/>
                </a:solidFill>
                <a:effectLst>
                  <a:outerShdw blurRad="38100" dist="38100" dir="2700000" algn="tl">
                    <a:srgbClr val="000000">
                      <a:alpha val="43137"/>
                    </a:srgbClr>
                  </a:outerShdw>
                </a:effectLst>
                <a:latin typeface="+mn-lt"/>
                <a:ea typeface="ＭＳ Ｐゴシック" charset="0"/>
              </a:rPr>
              <a:t>Paso 4. </a:t>
            </a:r>
            <a:r>
              <a:rPr lang="es-419" sz="1200" b="1" dirty="0">
                <a:solidFill>
                  <a:srgbClr val="9933FF"/>
                </a:solidFill>
                <a:effectLst>
                  <a:outerShdw blurRad="38100" dist="38100" dir="2700000" algn="tl">
                    <a:srgbClr val="000000">
                      <a:alpha val="43137"/>
                    </a:srgbClr>
                  </a:outerShdw>
                </a:effectLst>
                <a:latin typeface="+mn-lt"/>
                <a:ea typeface="ＭＳ Ｐゴシック" charset="0"/>
              </a:rPr>
              <a:t>Habilitar </a:t>
            </a:r>
            <a:r>
              <a:rPr lang="es-419" sz="1200" b="1" dirty="0" err="1">
                <a:solidFill>
                  <a:srgbClr val="9933FF"/>
                </a:solidFill>
                <a:effectLst>
                  <a:outerShdw blurRad="38100" dist="38100" dir="2700000" algn="tl">
                    <a:srgbClr val="000000">
                      <a:alpha val="43137"/>
                    </a:srgbClr>
                  </a:outerShdw>
                </a:effectLst>
                <a:latin typeface="+mn-lt"/>
                <a:ea typeface="ＭＳ Ｐゴシック" charset="0"/>
              </a:rPr>
              <a:t>routing</a:t>
            </a:r>
            <a:r>
              <a:rPr lang="es-419" sz="1200" b="1" dirty="0">
                <a:solidFill>
                  <a:srgbClr val="9933FF"/>
                </a:solidFill>
                <a:effectLst>
                  <a:outerShdw blurRad="38100" dist="38100" dir="2700000" algn="tl">
                    <a:srgbClr val="000000">
                      <a:alpha val="43137"/>
                    </a:srgbClr>
                  </a:outerShdw>
                </a:effectLst>
                <a:latin typeface="+mn-lt"/>
                <a:ea typeface="ＭＳ Ｐゴシック" charset="0"/>
              </a:rPr>
              <a:t> IP. Ejecute el comando </a:t>
            </a:r>
            <a:r>
              <a:rPr lang="es-419" sz="1200" b="1" dirty="0" err="1">
                <a:solidFill>
                  <a:srgbClr val="9933FF"/>
                </a:solidFill>
                <a:effectLst>
                  <a:outerShdw blurRad="38100" dist="38100" dir="2700000" algn="tl">
                    <a:srgbClr val="000000">
                      <a:alpha val="43137"/>
                    </a:srgbClr>
                  </a:outerShdw>
                </a:effectLst>
                <a:latin typeface="+mn-lt"/>
                <a:ea typeface="ＭＳ Ｐゴシック" charset="0"/>
              </a:rPr>
              <a:t>ip</a:t>
            </a:r>
            <a:r>
              <a:rPr lang="es-419" sz="1200" b="1" dirty="0">
                <a:solidFill>
                  <a:srgbClr val="9933FF"/>
                </a:solidFill>
                <a:effectLst>
                  <a:outerShdw blurRad="38100" dist="38100" dir="2700000" algn="tl">
                    <a:srgbClr val="000000">
                      <a:alpha val="43137"/>
                    </a:srgbClr>
                  </a:outerShdw>
                </a:effectLst>
                <a:latin typeface="+mn-lt"/>
                <a:ea typeface="ＭＳ Ｐゴシック" charset="0"/>
              </a:rPr>
              <a:t> </a:t>
            </a:r>
            <a:r>
              <a:rPr lang="es-419" sz="1200" b="1" dirty="0" err="1">
                <a:solidFill>
                  <a:srgbClr val="9933FF"/>
                </a:solidFill>
                <a:effectLst>
                  <a:outerShdw blurRad="38100" dist="38100" dir="2700000" algn="tl">
                    <a:srgbClr val="000000">
                      <a:alpha val="43137"/>
                    </a:srgbClr>
                  </a:outerShdw>
                </a:effectLst>
                <a:latin typeface="+mn-lt"/>
                <a:ea typeface="ＭＳ Ｐゴシック" charset="0"/>
              </a:rPr>
              <a:t>routing</a:t>
            </a:r>
            <a:r>
              <a:rPr lang="es-419" sz="1200" b="1" dirty="0">
                <a:solidFill>
                  <a:srgbClr val="9933FF"/>
                </a:solidFill>
                <a:effectLst>
                  <a:outerShdw blurRad="38100" dist="38100" dir="2700000" algn="tl">
                    <a:srgbClr val="000000">
                      <a:alpha val="43137"/>
                    </a:srgbClr>
                  </a:outerShdw>
                </a:effectLst>
                <a:latin typeface="+mn-lt"/>
                <a:ea typeface="ＭＳ Ｐゴシック" charset="0"/>
              </a:rPr>
              <a:t> global </a:t>
            </a:r>
            <a:r>
              <a:rPr lang="es-419" sz="1200" b="1" dirty="0" err="1">
                <a:solidFill>
                  <a:srgbClr val="9933FF"/>
                </a:solidFill>
                <a:effectLst>
                  <a:outerShdw blurRad="38100" dist="38100" dir="2700000" algn="tl">
                    <a:srgbClr val="000000">
                      <a:alpha val="43137"/>
                    </a:srgbClr>
                  </a:outerShdw>
                </a:effectLst>
                <a:latin typeface="+mn-lt"/>
                <a:ea typeface="ＭＳ Ｐゴシック" charset="0"/>
              </a:rPr>
              <a:t>configuration</a:t>
            </a:r>
            <a:r>
              <a:rPr lang="es-419" sz="1200" b="1" dirty="0">
                <a:solidFill>
                  <a:srgbClr val="9933FF"/>
                </a:solidFill>
                <a:effectLst>
                  <a:outerShdw blurRad="38100" dist="38100" dir="2700000" algn="tl">
                    <a:srgbClr val="000000">
                      <a:alpha val="43137"/>
                    </a:srgbClr>
                  </a:outerShdw>
                </a:effectLst>
                <a:latin typeface="+mn-lt"/>
                <a:ea typeface="ＭＳ Ｐゴシック" charset="0"/>
              </a:rPr>
              <a:t>, para permitir el intercambio de tráfico entre las VLAN 10 y 20. Este comando debe configurarse para habilitar el enrutamiento inter-VAN en un conmutador de capa 3 para IPv4.</a:t>
            </a:r>
          </a:p>
          <a:p>
            <a:pPr marL="171450" indent="-171450" algn="just">
              <a:buFont typeface="Arial" panose="020B0604020202020204" pitchFamily="34" charset="0"/>
              <a:buChar char="•"/>
            </a:pPr>
            <a:endParaRPr lang="es-419" sz="1200" dirty="0">
              <a:solidFill>
                <a:srgbClr val="000000"/>
              </a:solidFill>
            </a:endParaRPr>
          </a:p>
          <a:p>
            <a:pPr marL="0" indent="0" algn="just"/>
            <a:r>
              <a:rPr lang="es-419" altLang="es-PE" sz="1000" b="1" dirty="0">
                <a:solidFill>
                  <a:srgbClr val="00B0F0"/>
                </a:solidFill>
                <a:latin typeface="Courier New" panose="02070309020205020404" pitchFamily="49" charset="0"/>
                <a:cs typeface="Times New Roman" panose="02020603050405020304" pitchFamily="18" charset="0"/>
              </a:rPr>
              <a:t>	</a:t>
            </a:r>
            <a:r>
              <a:rPr lang="es-419" altLang="es-PE" sz="1000" dirty="0">
                <a:solidFill>
                  <a:srgbClr val="000000"/>
                </a:solidFill>
                <a:latin typeface="Courier New" panose="02070309020205020404" pitchFamily="49" charset="0"/>
                <a:cs typeface="Times New Roman" panose="02020603050405020304" pitchFamily="18" charset="0"/>
              </a:rPr>
              <a:t>Switch_D1(</a:t>
            </a:r>
            <a:r>
              <a:rPr lang="es-419" altLang="es-PE" sz="1000" dirty="0" err="1">
                <a:solidFill>
                  <a:srgbClr val="000000"/>
                </a:solidFill>
                <a:latin typeface="Courier New" panose="02070309020205020404" pitchFamily="49" charset="0"/>
                <a:cs typeface="Times New Roman" panose="02020603050405020304" pitchFamily="18" charset="0"/>
              </a:rPr>
              <a:t>config</a:t>
            </a:r>
            <a:r>
              <a:rPr lang="es-419" altLang="es-PE" sz="1000" dirty="0">
                <a:solidFill>
                  <a:srgbClr val="000000"/>
                </a:solidFill>
                <a:latin typeface="Courier New" panose="02070309020205020404" pitchFamily="49" charset="0"/>
                <a:cs typeface="Times New Roman" panose="02020603050405020304" pitchFamily="18" charset="0"/>
              </a:rPr>
              <a:t>)#</a:t>
            </a:r>
            <a:r>
              <a:rPr lang="es-419" altLang="es-PE" sz="1000" b="1" dirty="0">
                <a:solidFill>
                  <a:srgbClr val="00B0F0"/>
                </a:solidFill>
                <a:latin typeface="Courier New" panose="02070309020205020404" pitchFamily="49" charset="0"/>
                <a:cs typeface="Times New Roman" panose="02020603050405020304" pitchFamily="18" charset="0"/>
              </a:rPr>
              <a:t>ip </a:t>
            </a:r>
            <a:r>
              <a:rPr lang="es-419" altLang="es-PE" sz="1000" b="1" dirty="0" err="1">
                <a:solidFill>
                  <a:srgbClr val="00B0F0"/>
                </a:solidFill>
                <a:latin typeface="Courier New" panose="02070309020205020404" pitchFamily="49" charset="0"/>
                <a:cs typeface="Times New Roman" panose="02020603050405020304" pitchFamily="18" charset="0"/>
              </a:rPr>
              <a:t>routing</a:t>
            </a:r>
            <a:r>
              <a:rPr lang="es-419" altLang="es-PE" sz="1000" b="1" dirty="0">
                <a:solidFill>
                  <a:srgbClr val="00B0F0"/>
                </a:solidFill>
                <a:latin typeface="Courier New" panose="02070309020205020404" pitchFamily="49" charset="0"/>
                <a:cs typeface="Times New Roman" panose="02020603050405020304" pitchFamily="18" charset="0"/>
              </a:rPr>
              <a:t> </a:t>
            </a:r>
          </a:p>
          <a:p>
            <a:pPr marL="0" indent="0" algn="just"/>
            <a:endParaRPr lang="es-419" altLang="es-PE" sz="1000" b="1" dirty="0">
              <a:solidFill>
                <a:srgbClr val="00B0F0"/>
              </a:solidFill>
              <a:latin typeface="Courier New" panose="02070309020205020404" pitchFamily="49" charset="0"/>
              <a:cs typeface="Times New Roman" panose="02020603050405020304" pitchFamily="18" charset="0"/>
            </a:endParaRPr>
          </a:p>
          <a:p>
            <a:pPr marL="0" indent="0" algn="just"/>
            <a:r>
              <a:rPr lang="es-419" sz="1000" b="1" dirty="0">
                <a:solidFill>
                  <a:schemeClr val="bg2">
                    <a:lumMod val="75000"/>
                  </a:schemeClr>
                </a:solidFill>
              </a:rPr>
              <a:t>Una vez completada la configuración, la configuración se puede verificar probando la conectividad entre los hosts.</a:t>
            </a:r>
          </a:p>
        </p:txBody>
      </p:sp>
    </p:spTree>
    <p:extLst>
      <p:ext uri="{BB962C8B-B14F-4D97-AF65-F5344CB8AC3E}">
        <p14:creationId xmlns:p14="http://schemas.microsoft.com/office/powerpoint/2010/main" val="5228447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Enrutamiento entre VLAN del Switch de capa 3</a:t>
            </a:r>
          </a:p>
        </p:txBody>
      </p:sp>
      <p:sp>
        <p:nvSpPr>
          <p:cNvPr id="6" name="Content Placeholder 5">
            <a:extLst>
              <a:ext uri="{FF2B5EF4-FFF2-40B4-BE49-F238E27FC236}">
                <a16:creationId xmlns:a16="http://schemas.microsoft.com/office/drawing/2014/main" id="{527A7547-D335-B140-B7E0-0DED20AE568E}"/>
              </a:ext>
            </a:extLst>
          </p:cNvPr>
          <p:cNvSpPr>
            <a:spLocks noGrp="1"/>
          </p:cNvSpPr>
          <p:nvPr>
            <p:ph idx="1"/>
          </p:nvPr>
        </p:nvSpPr>
        <p:spPr>
          <a:xfrm>
            <a:off x="474662" y="731837"/>
            <a:ext cx="8280057" cy="4253118"/>
          </a:xfrm>
        </p:spPr>
        <p:txBody>
          <a:bodyPr/>
          <a:lstStyle/>
          <a:p>
            <a:pPr marL="0" indent="0" algn="just" rtl="0"/>
            <a:r>
              <a:rPr lang="es-419" sz="1400" dirty="0">
                <a:solidFill>
                  <a:srgbClr val="000000"/>
                </a:solidFill>
              </a:rPr>
              <a:t>El enrutamiento entre VLAN mediante el método </a:t>
            </a:r>
            <a:r>
              <a:rPr lang="es-419" sz="1400" dirty="0" err="1">
                <a:solidFill>
                  <a:srgbClr val="000000"/>
                </a:solidFill>
              </a:rPr>
              <a:t>router</a:t>
            </a:r>
            <a:r>
              <a:rPr lang="es-419" sz="1400" dirty="0">
                <a:solidFill>
                  <a:srgbClr val="000000"/>
                </a:solidFill>
              </a:rPr>
              <a:t>-</a:t>
            </a:r>
            <a:r>
              <a:rPr lang="es-419" sz="1400" dirty="0" err="1">
                <a:solidFill>
                  <a:srgbClr val="000000"/>
                </a:solidFill>
              </a:rPr>
              <a:t>on</a:t>
            </a:r>
            <a:r>
              <a:rPr lang="es-419" sz="1400" dirty="0">
                <a:solidFill>
                  <a:srgbClr val="000000"/>
                </a:solidFill>
              </a:rPr>
              <a:t>-a-</a:t>
            </a:r>
            <a:r>
              <a:rPr lang="es-419" sz="1400" dirty="0" err="1">
                <a:solidFill>
                  <a:srgbClr val="000000"/>
                </a:solidFill>
              </a:rPr>
              <a:t>stick</a:t>
            </a:r>
            <a:r>
              <a:rPr lang="es-419" sz="1400" dirty="0">
                <a:solidFill>
                  <a:srgbClr val="000000"/>
                </a:solidFill>
              </a:rPr>
              <a:t> es fácil de implementar para una organización pequeña y mediana. Sin embargo, una gran empresa requiere un método más rápido y mucho más escalable para proporcionar enrutamiento entre VLAN.</a:t>
            </a:r>
          </a:p>
          <a:p>
            <a:pPr marL="0" indent="0" algn="just"/>
            <a:endParaRPr lang="en-US" sz="1400" dirty="0">
              <a:solidFill>
                <a:srgbClr val="000000"/>
              </a:solidFill>
            </a:endParaRPr>
          </a:p>
          <a:p>
            <a:pPr marL="0" indent="0" algn="just" rtl="0"/>
            <a:r>
              <a:rPr lang="es-419" sz="1400" dirty="0">
                <a:solidFill>
                  <a:srgbClr val="000000"/>
                </a:solidFill>
              </a:rPr>
              <a:t>Las LAN de campus empresariales utilizan conmutadores de nivel 3 para proporcionar enrutamiento entre VLAN. Los </a:t>
            </a:r>
            <a:r>
              <a:rPr lang="es-419" sz="1400" dirty="0" err="1">
                <a:solidFill>
                  <a:srgbClr val="000000"/>
                </a:solidFill>
              </a:rPr>
              <a:t>switches</a:t>
            </a:r>
            <a:r>
              <a:rPr lang="es-419" sz="1400" dirty="0">
                <a:solidFill>
                  <a:srgbClr val="000000"/>
                </a:solidFill>
              </a:rPr>
              <a:t> de nivel 3 utilizan conmutación basada en hardware para lograr velocidades de procesamiento de paquetes más altas que los enrutadores. Los conmutadores de capa 3 también se implementan comúnmente en armarios de cableado de capa de distribución empresarial.</a:t>
            </a:r>
          </a:p>
          <a:p>
            <a:pPr marL="0" indent="0" algn="just"/>
            <a:endParaRPr lang="en-US" sz="1400" dirty="0">
              <a:solidFill>
                <a:srgbClr val="000000"/>
              </a:solidFill>
            </a:endParaRPr>
          </a:p>
          <a:p>
            <a:pPr marL="0" indent="0" algn="just" rtl="0"/>
            <a:r>
              <a:rPr lang="es-419" sz="1400" dirty="0">
                <a:solidFill>
                  <a:srgbClr val="000000"/>
                </a:solidFill>
              </a:rPr>
              <a:t>Las capacidades de un conmutador de capa 3 incluyen la capacidad de hacer lo siguiente:</a:t>
            </a:r>
          </a:p>
          <a:p>
            <a:pPr marL="415985" lvl="1" indent="-342900" algn="just" rtl="0">
              <a:buFont typeface="Arial" panose="020B0604020202020204" pitchFamily="34" charset="0"/>
              <a:buChar char="•"/>
            </a:pPr>
            <a:r>
              <a:rPr lang="es-419" dirty="0">
                <a:solidFill>
                  <a:srgbClr val="000000"/>
                </a:solidFill>
              </a:rPr>
              <a:t>Ruta de una VLAN a otra mediante múltiples interfaces virtuales conmutadas (</a:t>
            </a:r>
            <a:r>
              <a:rPr lang="es-419" dirty="0" err="1">
                <a:solidFill>
                  <a:srgbClr val="000000"/>
                </a:solidFill>
              </a:rPr>
              <a:t>SVIs</a:t>
            </a:r>
            <a:r>
              <a:rPr lang="es-419" dirty="0">
                <a:solidFill>
                  <a:srgbClr val="000000"/>
                </a:solidFill>
              </a:rPr>
              <a:t>).</a:t>
            </a:r>
          </a:p>
          <a:p>
            <a:pPr marL="415985" lvl="1" indent="-342900" algn="just" rtl="0">
              <a:buFont typeface="Arial" panose="020B0604020202020204" pitchFamily="34" charset="0"/>
              <a:buChar char="•"/>
            </a:pPr>
            <a:r>
              <a:rPr lang="es-419" dirty="0">
                <a:solidFill>
                  <a:srgbClr val="000000"/>
                </a:solidFill>
              </a:rPr>
              <a:t>Convierta un puerto de conmutación de capa 2 en una interfaz de capa 3 (es decir, un puerto enrutado). Un puerto enrutado es similar a una interfaz física en un </a:t>
            </a:r>
            <a:r>
              <a:rPr lang="es-419" dirty="0" err="1">
                <a:solidFill>
                  <a:srgbClr val="000000"/>
                </a:solidFill>
              </a:rPr>
              <a:t>router</a:t>
            </a:r>
            <a:r>
              <a:rPr lang="es-419" dirty="0">
                <a:solidFill>
                  <a:srgbClr val="000000"/>
                </a:solidFill>
              </a:rPr>
              <a:t> Cisco IOS.</a:t>
            </a:r>
          </a:p>
          <a:p>
            <a:pPr marL="415985" lvl="1" indent="-342900" algn="just" rtl="0">
              <a:buFont typeface="Arial" panose="020B0604020202020204" pitchFamily="34" charset="0"/>
              <a:buChar char="•"/>
            </a:pPr>
            <a:r>
              <a:rPr lang="es-419" dirty="0">
                <a:solidFill>
                  <a:srgbClr val="000000"/>
                </a:solidFill>
              </a:rPr>
              <a:t>Para proporcionar enrutamiento entre VLAN, los conmutadores de capa 3 utilizan </a:t>
            </a:r>
            <a:r>
              <a:rPr lang="es-419" dirty="0" err="1">
                <a:solidFill>
                  <a:srgbClr val="000000"/>
                </a:solidFill>
              </a:rPr>
              <a:t>SVIs</a:t>
            </a:r>
            <a:r>
              <a:rPr lang="es-419" dirty="0">
                <a:solidFill>
                  <a:srgbClr val="000000"/>
                </a:solidFill>
              </a:rPr>
              <a:t>. Los </a:t>
            </a:r>
            <a:r>
              <a:rPr lang="es-419" dirty="0" err="1">
                <a:solidFill>
                  <a:srgbClr val="000000"/>
                </a:solidFill>
              </a:rPr>
              <a:t>SVIs</a:t>
            </a:r>
            <a:r>
              <a:rPr lang="es-419" dirty="0">
                <a:solidFill>
                  <a:srgbClr val="000000"/>
                </a:solidFill>
              </a:rPr>
              <a:t> se configuran utilizando el mismo comando </a:t>
            </a:r>
            <a:r>
              <a:rPr lang="es-419" b="1" dirty="0">
                <a:solidFill>
                  <a:srgbClr val="000000"/>
                </a:solidFill>
              </a:rPr>
              <a:t>interface </a:t>
            </a:r>
            <a:r>
              <a:rPr lang="es-419" b="1" dirty="0" err="1">
                <a:solidFill>
                  <a:srgbClr val="000000"/>
                </a:solidFill>
              </a:rPr>
              <a:t>vlan</a:t>
            </a:r>
            <a:r>
              <a:rPr lang="es-419" i="1" dirty="0" err="1">
                <a:solidFill>
                  <a:srgbClr val="000000"/>
                </a:solidFill>
              </a:rPr>
              <a:t>vlan</a:t>
            </a:r>
            <a:r>
              <a:rPr lang="es-419" i="1" dirty="0">
                <a:solidFill>
                  <a:srgbClr val="000000"/>
                </a:solidFill>
              </a:rPr>
              <a:t>-id</a:t>
            </a:r>
            <a:r>
              <a:rPr lang="es-419" dirty="0">
                <a:solidFill>
                  <a:srgbClr val="000000"/>
                </a:solidFill>
              </a:rPr>
              <a:t> utilizado para crear el SVI de administración en un conmutador de capa 2. Se debe crear un SVI de Capa 3 para cada una de las VLAN enrutables.</a:t>
            </a:r>
          </a:p>
          <a:p>
            <a:pPr marL="342900" indent="-342900" algn="just">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Enrutamiento en un conmutador de capa 3</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74662" y="731837"/>
            <a:ext cx="8280057" cy="3689897"/>
          </a:xfrm>
        </p:spPr>
        <p:txBody>
          <a:bodyPr/>
          <a:lstStyle/>
          <a:p>
            <a:pPr marL="0" indent="0" algn="just" rtl="0"/>
            <a:r>
              <a:rPr lang="es-419" sz="1600" dirty="0">
                <a:solidFill>
                  <a:srgbClr val="000000"/>
                </a:solidFill>
              </a:rPr>
              <a:t>Si se quiere que otros dispositivos de Capa 3 puedan acceder a las VLAN, deben anunciarse mediante enrutamiento estático o dinámico. Para habilitar el enrutamiento en un conmutador de capa 3, se debe configurar un puerto enrutado.</a:t>
            </a:r>
          </a:p>
          <a:p>
            <a:pPr marL="0" indent="0" algn="just"/>
            <a:endParaRPr lang="en-US" sz="1600" dirty="0">
              <a:solidFill>
                <a:srgbClr val="000000"/>
              </a:solidFill>
            </a:endParaRPr>
          </a:p>
          <a:p>
            <a:pPr marL="0" indent="0" algn="just" rtl="0"/>
            <a:r>
              <a:rPr lang="es-419" sz="1600" dirty="0">
                <a:solidFill>
                  <a:srgbClr val="000000"/>
                </a:solidFill>
              </a:rPr>
              <a:t>Un puerto enrutado se crea en un conmutador de capa 3 deshabilitando la entidad de puerto de conmutación en un puerto de capa 2 que está conectado a otro dispositivo de capa 3. Específicamente, al configurar el comando de configuración de </a:t>
            </a:r>
            <a:r>
              <a:rPr lang="es-419" sz="1600" b="1" dirty="0">
                <a:solidFill>
                  <a:srgbClr val="000000"/>
                </a:solidFill>
              </a:rPr>
              <a:t>no </a:t>
            </a:r>
            <a:r>
              <a:rPr lang="es-419" sz="1600" b="1" dirty="0" err="1">
                <a:solidFill>
                  <a:srgbClr val="000000"/>
                </a:solidFill>
              </a:rPr>
              <a:t>switchport</a:t>
            </a:r>
            <a:r>
              <a:rPr lang="es-419" sz="1600" dirty="0">
                <a:solidFill>
                  <a:srgbClr val="000000"/>
                </a:solidFill>
              </a:rPr>
              <a:t> en un puerto de Capa 2, se convierte en una interfaz de Capa 3. A continuación, la interfaz se puede configurar con una configuración IPv4 para conectarse a un enrutador u otro conmutador de capa 3.</a:t>
            </a:r>
          </a:p>
        </p:txBody>
      </p:sp>
    </p:spTree>
    <p:extLst>
      <p:ext uri="{BB962C8B-B14F-4D97-AF65-F5344CB8AC3E}">
        <p14:creationId xmlns:p14="http://schemas.microsoft.com/office/powerpoint/2010/main" val="37560748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159225" y="1933590"/>
            <a:ext cx="8911988" cy="1687576"/>
          </a:xfrm>
          <a:prstGeom prst="rect">
            <a:avLst/>
          </a:prstGeom>
          <a:noFill/>
          <a:ln>
            <a:noFill/>
          </a:ln>
        </p:spPr>
        <p:txBody>
          <a:bodyPr spcFirstLastPara="1" vert="horz" wrap="square" lIns="68569" tIns="34275" rIns="68569" bIns="34275" numCol="1" rtlCol="0" anchor="ctr" anchorCtr="0" compatLnSpc="1">
            <a:prstTxWarp prst="textNoShape">
              <a:avLst/>
            </a:prstTxWarp>
            <a:noAutofit/>
          </a:bodyPr>
          <a:lstStyle/>
          <a:p>
            <a:pPr algn="ctr">
              <a:spcBef>
                <a:spcPts val="0"/>
              </a:spcBef>
            </a:pPr>
            <a:r>
              <a:rPr lang="es-419" sz="4000" dirty="0">
                <a:solidFill>
                  <a:schemeClr val="bg1"/>
                </a:solidFill>
              </a:rPr>
              <a:t>“</a:t>
            </a:r>
            <a:r>
              <a:rPr lang="es-419" sz="4000" dirty="0" err="1">
                <a:solidFill>
                  <a:schemeClr val="bg1"/>
                </a:solidFill>
              </a:rPr>
              <a:t>Layer</a:t>
            </a:r>
            <a:r>
              <a:rPr lang="es-419" sz="4000" dirty="0">
                <a:solidFill>
                  <a:schemeClr val="bg1"/>
                </a:solidFill>
              </a:rPr>
              <a:t> 3 Switch” Como </a:t>
            </a:r>
            <a:r>
              <a:rPr lang="es-419" sz="4000" dirty="0" err="1">
                <a:solidFill>
                  <a:schemeClr val="bg1"/>
                </a:solidFill>
              </a:rPr>
              <a:t>router</a:t>
            </a:r>
            <a:br>
              <a:rPr lang="es-PE" sz="4000" dirty="0">
                <a:solidFill>
                  <a:schemeClr val="bg1"/>
                </a:solidFill>
                <a:latin typeface="Arial"/>
                <a:ea typeface="Arial"/>
                <a:cs typeface="Arial"/>
                <a:sym typeface="Arial"/>
              </a:rPr>
            </a:br>
            <a:r>
              <a:rPr lang="es-PE" sz="1500" i="1" dirty="0">
                <a:solidFill>
                  <a:schemeClr val="bg1"/>
                </a:solidFill>
                <a:latin typeface="Arial"/>
                <a:ea typeface="Arial"/>
                <a:cs typeface="Arial"/>
                <a:sym typeface="Arial"/>
              </a:rPr>
              <a:t>Ingeniería de Sistemas de Información</a:t>
            </a:r>
            <a:br>
              <a:rPr lang="es-PE" sz="1500" i="1" dirty="0">
                <a:solidFill>
                  <a:schemeClr val="bg1"/>
                </a:solidFill>
                <a:latin typeface="Arial"/>
                <a:ea typeface="Arial"/>
                <a:cs typeface="Arial"/>
                <a:sym typeface="Arial"/>
              </a:rPr>
            </a:br>
            <a:r>
              <a:rPr lang="es-PE" sz="1500" i="1" dirty="0">
                <a:solidFill>
                  <a:schemeClr val="bg1"/>
                </a:solidFill>
                <a:latin typeface="Arial"/>
                <a:ea typeface="Arial"/>
                <a:cs typeface="Arial"/>
                <a:sym typeface="Arial"/>
              </a:rPr>
              <a:t>EISI, 2026-2</a:t>
            </a:r>
            <a:endParaRPr sz="1500" dirty="0">
              <a:solidFill>
                <a:schemeClr val="bg1"/>
              </a:solidFill>
            </a:endParaRPr>
          </a:p>
        </p:txBody>
      </p:sp>
    </p:spTree>
    <p:extLst>
      <p:ext uri="{BB962C8B-B14F-4D97-AF65-F5344CB8AC3E}">
        <p14:creationId xmlns:p14="http://schemas.microsoft.com/office/powerpoint/2010/main" val="36339274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Escenario de enrutamiento en un conmutador de capa 3</a:t>
            </a:r>
          </a:p>
        </p:txBody>
      </p:sp>
      <p:sp>
        <p:nvSpPr>
          <p:cNvPr id="4" name="Content Placeholder 3">
            <a:extLst>
              <a:ext uri="{FF2B5EF4-FFF2-40B4-BE49-F238E27FC236}">
                <a16:creationId xmlns:a16="http://schemas.microsoft.com/office/drawing/2014/main" id="{6FBE907D-22DC-CE46-9701-6E6F9EB3262C}"/>
              </a:ext>
            </a:extLst>
          </p:cNvPr>
          <p:cNvSpPr>
            <a:spLocks noGrp="1"/>
          </p:cNvSpPr>
          <p:nvPr>
            <p:ph idx="1"/>
          </p:nvPr>
        </p:nvSpPr>
        <p:spPr>
          <a:xfrm>
            <a:off x="198216" y="731837"/>
            <a:ext cx="4373783" cy="4026280"/>
          </a:xfrm>
        </p:spPr>
        <p:txBody>
          <a:bodyPr/>
          <a:lstStyle/>
          <a:p>
            <a:pPr marL="0" indent="0" algn="just" rtl="0"/>
            <a:r>
              <a:rPr lang="es-419" sz="1400" dirty="0">
                <a:solidFill>
                  <a:srgbClr val="000000"/>
                </a:solidFill>
              </a:rPr>
              <a:t>Supongamos que Inter-VLAN </a:t>
            </a:r>
            <a:r>
              <a:rPr lang="es-ES" sz="1400" dirty="0">
                <a:solidFill>
                  <a:srgbClr val="000000"/>
                </a:solidFill>
              </a:rPr>
              <a:t>(entre VLAN 10 y VLAN 20)</a:t>
            </a:r>
            <a:r>
              <a:rPr lang="es-419" sz="1400" dirty="0">
                <a:solidFill>
                  <a:srgbClr val="000000"/>
                </a:solidFill>
              </a:rPr>
              <a:t> se ha implementado correctamente en el switch de capa 3, D1.</a:t>
            </a:r>
          </a:p>
          <a:p>
            <a:pPr marL="0" indent="0" algn="just" rtl="0"/>
            <a:r>
              <a:rPr lang="es-419" sz="1400" dirty="0">
                <a:solidFill>
                  <a:srgbClr val="000000"/>
                </a:solidFill>
              </a:rPr>
              <a:t>La interfaz </a:t>
            </a:r>
            <a:r>
              <a:rPr lang="es-419" sz="1400" b="1" dirty="0">
                <a:solidFill>
                  <a:srgbClr val="00B0F0"/>
                </a:solidFill>
              </a:rPr>
              <a:t>G1/0/1</a:t>
            </a:r>
            <a:r>
              <a:rPr lang="es-419" sz="1400" dirty="0">
                <a:solidFill>
                  <a:srgbClr val="000000"/>
                </a:solidFill>
              </a:rPr>
              <a:t> en D1 debe convertirse a interface que </a:t>
            </a:r>
            <a:r>
              <a:rPr lang="es-419" sz="1400" b="1" dirty="0">
                <a:solidFill>
                  <a:srgbClr val="00B0F0"/>
                </a:solidFill>
              </a:rPr>
              <a:t>NO</a:t>
            </a:r>
            <a:r>
              <a:rPr lang="es-419" sz="1400" dirty="0">
                <a:solidFill>
                  <a:srgbClr val="000000"/>
                </a:solidFill>
              </a:rPr>
              <a:t> es puerto de switch (SWITCHPORT). Ya que no tiene PC conectada, ni es una interfaz </a:t>
            </a:r>
            <a:r>
              <a:rPr lang="es-419" sz="1400" dirty="0" err="1">
                <a:solidFill>
                  <a:srgbClr val="000000"/>
                </a:solidFill>
              </a:rPr>
              <a:t>trunk</a:t>
            </a:r>
            <a:r>
              <a:rPr lang="es-419" sz="1400" dirty="0">
                <a:solidFill>
                  <a:srgbClr val="000000"/>
                </a:solidFill>
              </a:rPr>
              <a:t>.</a:t>
            </a:r>
          </a:p>
          <a:p>
            <a:pPr marL="0" indent="0" algn="just" rtl="0"/>
            <a:endParaRPr lang="es-419" sz="1400" dirty="0">
              <a:solidFill>
                <a:srgbClr val="000000"/>
              </a:solidFill>
            </a:endParaRPr>
          </a:p>
          <a:p>
            <a:pPr marL="0" indent="0" algn="just" rtl="0"/>
            <a:r>
              <a:rPr lang="es-419" sz="1400" b="1" i="1" u="sng" dirty="0">
                <a:solidFill>
                  <a:srgbClr val="9933FF"/>
                </a:solidFill>
              </a:rPr>
              <a:t>Comandos para convertir una interfaz de switch a interfaz de </a:t>
            </a:r>
            <a:r>
              <a:rPr lang="es-419" sz="1400" b="1" i="1" u="sng" dirty="0" err="1">
                <a:solidFill>
                  <a:srgbClr val="9933FF"/>
                </a:solidFill>
              </a:rPr>
              <a:t>router</a:t>
            </a:r>
            <a:r>
              <a:rPr lang="es-419" sz="1400" b="1" i="1" u="sng" dirty="0">
                <a:solidFill>
                  <a:srgbClr val="9933FF"/>
                </a:solidFill>
              </a:rPr>
              <a:t>:</a:t>
            </a:r>
          </a:p>
          <a:p>
            <a:pPr marL="0" indent="0" algn="just" rtl="0"/>
            <a:endParaRPr lang="es-419" sz="1400" b="1" i="1" u="sng" dirty="0">
              <a:solidFill>
                <a:srgbClr val="9933FF"/>
              </a:solidFill>
            </a:endParaRPr>
          </a:p>
          <a:p>
            <a:pPr marL="0" indent="0" algn="just" rtl="0"/>
            <a:r>
              <a:rPr lang="en-US" sz="1400" dirty="0">
                <a:solidFill>
                  <a:srgbClr val="000000"/>
                </a:solidFill>
              </a:rPr>
              <a:t>D1(config)# interface GigabitEthernet</a:t>
            </a:r>
            <a:r>
              <a:rPr lang="en-US" sz="1400" b="1" dirty="0">
                <a:solidFill>
                  <a:srgbClr val="00B0F0"/>
                </a:solidFill>
              </a:rPr>
              <a:t>1/0/1</a:t>
            </a:r>
          </a:p>
          <a:p>
            <a:pPr marL="0" indent="0" algn="just" rtl="0"/>
            <a:r>
              <a:rPr lang="en-US" sz="1400" dirty="0">
                <a:solidFill>
                  <a:srgbClr val="000000"/>
                </a:solidFill>
              </a:rPr>
              <a:t>D1(config-if)# no switchport</a:t>
            </a:r>
          </a:p>
          <a:p>
            <a:pPr marL="0" indent="0" algn="just" rtl="0"/>
            <a:r>
              <a:rPr lang="en-US" sz="1400" dirty="0">
                <a:solidFill>
                  <a:srgbClr val="000000"/>
                </a:solidFill>
              </a:rPr>
              <a:t>D1(config-if)# </a:t>
            </a:r>
            <a:r>
              <a:rPr lang="en-US" sz="1400" dirty="0" err="1">
                <a:solidFill>
                  <a:srgbClr val="000000"/>
                </a:solidFill>
              </a:rPr>
              <a:t>ip</a:t>
            </a:r>
            <a:r>
              <a:rPr lang="en-US" sz="1400" dirty="0">
                <a:solidFill>
                  <a:srgbClr val="000000"/>
                </a:solidFill>
              </a:rPr>
              <a:t> address </a:t>
            </a:r>
            <a:r>
              <a:rPr lang="en-US" sz="1400" b="1" dirty="0">
                <a:solidFill>
                  <a:srgbClr val="00B0F0"/>
                </a:solidFill>
              </a:rPr>
              <a:t>10.10.10.2 255.255.255.0</a:t>
            </a:r>
          </a:p>
          <a:p>
            <a:pPr marL="0" indent="0" algn="just" rtl="0"/>
            <a:r>
              <a:rPr lang="en-US" sz="1400" dirty="0">
                <a:solidFill>
                  <a:srgbClr val="000000"/>
                </a:solidFill>
              </a:rPr>
              <a:t>D1(config-if)# no shutdown</a:t>
            </a:r>
          </a:p>
          <a:p>
            <a:pPr marL="0" indent="0" algn="just" rtl="0"/>
            <a:r>
              <a:rPr lang="en-US" sz="1400" dirty="0">
                <a:solidFill>
                  <a:srgbClr val="000000"/>
                </a:solidFill>
              </a:rPr>
              <a:t>D1(config-if)# exit</a:t>
            </a:r>
          </a:p>
          <a:p>
            <a:pPr marL="0" indent="0" algn="just"/>
            <a:endParaRPr lang="en-US" sz="1400" dirty="0">
              <a:solidFill>
                <a:srgbClr val="000000"/>
              </a:solidFill>
            </a:endParaRPr>
          </a:p>
        </p:txBody>
      </p:sp>
      <p:pic>
        <p:nvPicPr>
          <p:cNvPr id="7" name="Picture 6">
            <a:extLst>
              <a:ext uri="{FF2B5EF4-FFF2-40B4-BE49-F238E27FC236}">
                <a16:creationId xmlns:a16="http://schemas.microsoft.com/office/drawing/2014/main" id="{3E91F2CC-3A1B-9547-A7F6-E740EF8DDA72}"/>
              </a:ext>
            </a:extLst>
          </p:cNvPr>
          <p:cNvPicPr>
            <a:picLocks noChangeAspect="1"/>
          </p:cNvPicPr>
          <p:nvPr/>
        </p:nvPicPr>
        <p:blipFill>
          <a:blip r:embed="rId3"/>
          <a:stretch>
            <a:fillRect/>
          </a:stretch>
        </p:blipFill>
        <p:spPr>
          <a:xfrm>
            <a:off x="4632273" y="1406170"/>
            <a:ext cx="4475664" cy="2341230"/>
          </a:xfrm>
          <a:prstGeom prst="rect">
            <a:avLst/>
          </a:prstGeom>
        </p:spPr>
      </p:pic>
    </p:spTree>
    <p:extLst>
      <p:ext uri="{BB962C8B-B14F-4D97-AF65-F5344CB8AC3E}">
        <p14:creationId xmlns:p14="http://schemas.microsoft.com/office/powerpoint/2010/main" val="42862085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solidFill>
                  <a:srgbClr val="C00000"/>
                </a:solidFill>
              </a:rPr>
              <a:t>Configuración de enrutamiento de switches de capa 3</a:t>
            </a:r>
          </a:p>
        </p:txBody>
      </p:sp>
      <p:sp>
        <p:nvSpPr>
          <p:cNvPr id="5" name="Content Placeholder 4">
            <a:extLst>
              <a:ext uri="{FF2B5EF4-FFF2-40B4-BE49-F238E27FC236}">
                <a16:creationId xmlns:a16="http://schemas.microsoft.com/office/drawing/2014/main" id="{6A2B5FC7-C385-2B42-B85D-E691E00BE075}"/>
              </a:ext>
            </a:extLst>
          </p:cNvPr>
          <p:cNvSpPr>
            <a:spLocks noGrp="1"/>
          </p:cNvSpPr>
          <p:nvPr>
            <p:ph idx="1"/>
          </p:nvPr>
        </p:nvSpPr>
        <p:spPr>
          <a:xfrm>
            <a:off x="179462" y="814380"/>
            <a:ext cx="8636992" cy="3689897"/>
          </a:xfrm>
        </p:spPr>
        <p:txBody>
          <a:bodyPr/>
          <a:lstStyle/>
          <a:p>
            <a:pPr marL="0" indent="0" algn="l" rtl="0"/>
            <a:r>
              <a:rPr lang="es-419" sz="1800" dirty="0">
                <a:solidFill>
                  <a:srgbClr val="000000"/>
                </a:solidFill>
              </a:rPr>
              <a:t>Complete los siguientes pasos para configurar D1 para enrutar con R1:</a:t>
            </a:r>
          </a:p>
          <a:p>
            <a:pPr marL="342900" indent="-342900" algn="l" rtl="0">
              <a:buFont typeface="Arial" panose="020B0604020202020204" pitchFamily="34" charset="0"/>
              <a:buChar char="•"/>
            </a:pPr>
            <a:r>
              <a:rPr lang="es-419" sz="1800" b="1" dirty="0">
                <a:solidFill>
                  <a:srgbClr val="000000"/>
                </a:solidFill>
              </a:rPr>
              <a:t>Paso 1</a:t>
            </a:r>
            <a:r>
              <a:rPr lang="es-419" sz="1800" dirty="0">
                <a:solidFill>
                  <a:srgbClr val="000000"/>
                </a:solidFill>
              </a:rPr>
              <a:t>. Configure el puerto enrutado. Utilice el </a:t>
            </a:r>
            <a:r>
              <a:rPr lang="es-419" sz="1800" b="1" dirty="0">
                <a:solidFill>
                  <a:srgbClr val="000000"/>
                </a:solidFill>
              </a:rPr>
              <a:t>comando </a:t>
            </a:r>
            <a:r>
              <a:rPr lang="es-419" sz="1800" b="1" dirty="0">
                <a:solidFill>
                  <a:srgbClr val="00B0F0"/>
                </a:solidFill>
              </a:rPr>
              <a:t>no </a:t>
            </a:r>
            <a:r>
              <a:rPr lang="es-419" sz="1800" b="1" dirty="0" err="1">
                <a:solidFill>
                  <a:srgbClr val="00B0F0"/>
                </a:solidFill>
              </a:rPr>
              <a:t>switchport</a:t>
            </a:r>
            <a:r>
              <a:rPr lang="es-419" sz="1800" b="1" dirty="0">
                <a:solidFill>
                  <a:srgbClr val="00B0F0"/>
                </a:solidFill>
              </a:rPr>
              <a:t> </a:t>
            </a:r>
            <a:r>
              <a:rPr lang="es-419" sz="1800" dirty="0">
                <a:solidFill>
                  <a:srgbClr val="000000"/>
                </a:solidFill>
              </a:rPr>
              <a:t>para convertir el puerto en un puerto de </a:t>
            </a:r>
            <a:r>
              <a:rPr lang="es-419" sz="1800" dirty="0" err="1">
                <a:solidFill>
                  <a:srgbClr val="000000"/>
                </a:solidFill>
              </a:rPr>
              <a:t>router</a:t>
            </a:r>
            <a:r>
              <a:rPr lang="es-419" sz="1800" dirty="0">
                <a:solidFill>
                  <a:srgbClr val="000000"/>
                </a:solidFill>
              </a:rPr>
              <a:t> y, a continuación, asigne una </a:t>
            </a:r>
            <a:r>
              <a:rPr lang="es-419" sz="1800" b="1" dirty="0">
                <a:solidFill>
                  <a:srgbClr val="00B0F0"/>
                </a:solidFill>
              </a:rPr>
              <a:t>dirección IP y una máscara de subred</a:t>
            </a:r>
            <a:r>
              <a:rPr lang="es-419" sz="1800" dirty="0">
                <a:solidFill>
                  <a:srgbClr val="000000"/>
                </a:solidFill>
              </a:rPr>
              <a:t>. Habilite el puerto.</a:t>
            </a:r>
          </a:p>
          <a:p>
            <a:pPr marL="342900" indent="-342900" algn="l" rtl="0">
              <a:buFont typeface="Arial" panose="020B0604020202020204" pitchFamily="34" charset="0"/>
              <a:buChar char="•"/>
            </a:pPr>
            <a:r>
              <a:rPr lang="es-419" sz="1800" b="1" dirty="0">
                <a:solidFill>
                  <a:srgbClr val="000000"/>
                </a:solidFill>
              </a:rPr>
              <a:t>Paso 2</a:t>
            </a:r>
            <a:r>
              <a:rPr lang="es-419" sz="1800" dirty="0">
                <a:solidFill>
                  <a:srgbClr val="000000"/>
                </a:solidFill>
              </a:rPr>
              <a:t>. Activar el </a:t>
            </a:r>
            <a:r>
              <a:rPr lang="es-419" sz="1800" dirty="0" err="1">
                <a:solidFill>
                  <a:srgbClr val="000000"/>
                </a:solidFill>
              </a:rPr>
              <a:t>routing</a:t>
            </a:r>
            <a:r>
              <a:rPr lang="es-419" sz="1800" dirty="0">
                <a:solidFill>
                  <a:srgbClr val="000000"/>
                </a:solidFill>
              </a:rPr>
              <a:t>. Use el comando de modo de configuración </a:t>
            </a:r>
            <a:r>
              <a:rPr lang="es-419" sz="1800" b="1" dirty="0">
                <a:solidFill>
                  <a:srgbClr val="00B0F0"/>
                </a:solidFill>
              </a:rPr>
              <a:t>global </a:t>
            </a:r>
            <a:r>
              <a:rPr lang="es-419" sz="1800" b="1" dirty="0" err="1">
                <a:solidFill>
                  <a:srgbClr val="00B0F0"/>
                </a:solidFill>
              </a:rPr>
              <a:t>ip</a:t>
            </a:r>
            <a:r>
              <a:rPr lang="es-419" sz="1800" b="1" dirty="0">
                <a:solidFill>
                  <a:srgbClr val="00B0F0"/>
                </a:solidFill>
              </a:rPr>
              <a:t> </a:t>
            </a:r>
            <a:r>
              <a:rPr lang="es-419" sz="1800" b="1" dirty="0" err="1">
                <a:solidFill>
                  <a:srgbClr val="00B0F0"/>
                </a:solidFill>
              </a:rPr>
              <a:t>routing</a:t>
            </a:r>
            <a:r>
              <a:rPr lang="es-419" sz="1800" b="1" dirty="0">
                <a:solidFill>
                  <a:srgbClr val="00B0F0"/>
                </a:solidFill>
              </a:rPr>
              <a:t> </a:t>
            </a:r>
            <a:r>
              <a:rPr lang="es-419" sz="1800" dirty="0">
                <a:solidFill>
                  <a:srgbClr val="000000"/>
                </a:solidFill>
              </a:rPr>
              <a:t>para habilitar el </a:t>
            </a:r>
            <a:r>
              <a:rPr lang="es-419" sz="1800" dirty="0" err="1">
                <a:solidFill>
                  <a:srgbClr val="000000"/>
                </a:solidFill>
              </a:rPr>
              <a:t>routing</a:t>
            </a:r>
            <a:endParaRPr lang="es-419" sz="1800" dirty="0">
              <a:solidFill>
                <a:srgbClr val="000000"/>
              </a:solidFill>
            </a:endParaRPr>
          </a:p>
          <a:p>
            <a:pPr marL="342900" indent="-342900" algn="l" rtl="0">
              <a:buFont typeface="Arial" panose="020B0604020202020204" pitchFamily="34" charset="0"/>
              <a:buChar char="•"/>
            </a:pPr>
            <a:r>
              <a:rPr lang="es-419" sz="1800" b="1" dirty="0">
                <a:solidFill>
                  <a:srgbClr val="000000"/>
                </a:solidFill>
              </a:rPr>
              <a:t>Paso 3</a:t>
            </a:r>
            <a:r>
              <a:rPr lang="es-419" sz="1800" dirty="0">
                <a:solidFill>
                  <a:srgbClr val="000000"/>
                </a:solidFill>
              </a:rPr>
              <a:t>. Configurar el enrutamiento Utilice un método de enrutamiento de su elección. </a:t>
            </a:r>
          </a:p>
          <a:p>
            <a:pPr marL="342900" indent="-342900" algn="l" rtl="0">
              <a:buFont typeface="Arial" panose="020B0604020202020204" pitchFamily="34" charset="0"/>
              <a:buChar char="•"/>
            </a:pPr>
            <a:r>
              <a:rPr lang="es-419" sz="1800" b="1" dirty="0">
                <a:solidFill>
                  <a:srgbClr val="000000"/>
                </a:solidFill>
              </a:rPr>
              <a:t>Paso 4</a:t>
            </a:r>
            <a:r>
              <a:rPr lang="es-419" sz="1800" dirty="0">
                <a:solidFill>
                  <a:srgbClr val="000000"/>
                </a:solidFill>
              </a:rPr>
              <a:t>. Verificar enrutamiento. Use el comando </a:t>
            </a:r>
            <a:r>
              <a:rPr lang="es-419" sz="1800" b="1" dirty="0">
                <a:solidFill>
                  <a:srgbClr val="000000"/>
                </a:solidFill>
              </a:rPr>
              <a:t>show </a:t>
            </a:r>
            <a:r>
              <a:rPr lang="es-419" sz="1800" b="1" dirty="0" err="1">
                <a:solidFill>
                  <a:srgbClr val="000000"/>
                </a:solidFill>
              </a:rPr>
              <a:t>ip</a:t>
            </a:r>
            <a:r>
              <a:rPr lang="es-419" sz="1800" b="1" dirty="0">
                <a:solidFill>
                  <a:srgbClr val="000000"/>
                </a:solidFill>
              </a:rPr>
              <a:t> </a:t>
            </a:r>
            <a:r>
              <a:rPr lang="es-419" sz="1800" b="1" dirty="0" err="1">
                <a:solidFill>
                  <a:srgbClr val="000000"/>
                </a:solidFill>
              </a:rPr>
              <a:t>route</a:t>
            </a:r>
            <a:r>
              <a:rPr lang="es-419" sz="1800" b="1" dirty="0">
                <a:solidFill>
                  <a:srgbClr val="000000"/>
                </a:solidFill>
              </a:rPr>
              <a:t> </a:t>
            </a:r>
            <a:r>
              <a:rPr lang="es-419" sz="1800" dirty="0">
                <a:solidFill>
                  <a:srgbClr val="000000"/>
                </a:solidFill>
              </a:rPr>
              <a:t>.</a:t>
            </a:r>
          </a:p>
          <a:p>
            <a:pPr marL="342900" indent="-342900" algn="l" rtl="0">
              <a:buFont typeface="Arial" panose="020B0604020202020204" pitchFamily="34" charset="0"/>
              <a:buChar char="•"/>
            </a:pPr>
            <a:r>
              <a:rPr lang="es-419" sz="1800" b="1" dirty="0">
                <a:solidFill>
                  <a:srgbClr val="000000"/>
                </a:solidFill>
              </a:rPr>
              <a:t>Paso 5</a:t>
            </a:r>
            <a:r>
              <a:rPr lang="es-419" sz="1800" dirty="0">
                <a:solidFill>
                  <a:srgbClr val="000000"/>
                </a:solidFill>
              </a:rPr>
              <a:t>. Verificar la conectividad Use el comando </a:t>
            </a:r>
            <a:r>
              <a:rPr lang="es-419" sz="1800" b="1" dirty="0">
                <a:solidFill>
                  <a:srgbClr val="000000"/>
                </a:solidFill>
              </a:rPr>
              <a:t>ping </a:t>
            </a:r>
            <a:r>
              <a:rPr lang="es-419" sz="1800" dirty="0">
                <a:solidFill>
                  <a:srgbClr val="000000"/>
                </a:solidFill>
              </a:rPr>
              <a:t>para verificar la conectividad.</a:t>
            </a:r>
          </a:p>
          <a:p>
            <a:pPr marL="342900" indent="-342900" algn="l">
              <a:buFont typeface="Arial" panose="020B0604020202020204" pitchFamily="34" charset="0"/>
              <a:buChar char="•"/>
            </a:pPr>
            <a:endParaRPr lang="en-US" sz="1800" dirty="0">
              <a:solidFill>
                <a:srgbClr val="000000"/>
              </a:solidFill>
            </a:endParaRPr>
          </a:p>
        </p:txBody>
      </p:sp>
    </p:spTree>
    <p:extLst>
      <p:ext uri="{BB962C8B-B14F-4D97-AF65-F5344CB8AC3E}">
        <p14:creationId xmlns:p14="http://schemas.microsoft.com/office/powerpoint/2010/main" val="25240265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idx="4294967295"/>
          </p:nvPr>
        </p:nvSpPr>
        <p:spPr>
          <a:xfrm>
            <a:off x="27471" y="1715226"/>
            <a:ext cx="9238187"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latin typeface="+mn-lt"/>
              </a:rPr>
              <a:t>CONCLUSIONES</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987473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 y="-120822"/>
            <a:ext cx="9144000" cy="757551"/>
          </a:xfrm>
        </p:spPr>
        <p:txBody>
          <a:bodyPr/>
          <a:lstStyle/>
          <a:p>
            <a:pPr rtl="0"/>
            <a:r>
              <a:rPr lang="es-ES" sz="2800" b="1" dirty="0">
                <a:solidFill>
                  <a:srgbClr val="C00000"/>
                </a:solidFill>
                <a:latin typeface="+mn-lt"/>
              </a:rPr>
              <a:t>CONCLUSIONES</a:t>
            </a:r>
            <a:endParaRPr lang="es-419" sz="2800" b="1" dirty="0">
              <a:solidFill>
                <a:srgbClr val="C00000"/>
              </a:solidFill>
              <a:latin typeface="Arial" charset="0"/>
            </a:endParaRPr>
          </a:p>
        </p:txBody>
      </p:sp>
      <p:sp>
        <p:nvSpPr>
          <p:cNvPr id="5" name="Content Placeholder 2">
            <a:extLst>
              <a:ext uri="{FF2B5EF4-FFF2-40B4-BE49-F238E27FC236}">
                <a16:creationId xmlns:a16="http://schemas.microsoft.com/office/drawing/2014/main" id="{AFB25B5E-0157-4C4C-A630-BD6B04EC5318}"/>
              </a:ext>
            </a:extLst>
          </p:cNvPr>
          <p:cNvSpPr>
            <a:spLocks noGrp="1"/>
          </p:cNvSpPr>
          <p:nvPr>
            <p:ph idx="1"/>
          </p:nvPr>
        </p:nvSpPr>
        <p:spPr>
          <a:xfrm>
            <a:off x="0" y="447142"/>
            <a:ext cx="9143999" cy="4155319"/>
          </a:xfrm>
        </p:spPr>
        <p:txBody>
          <a:bodyPr/>
          <a:lstStyle/>
          <a:p>
            <a:pPr>
              <a:spcBef>
                <a:spcPts val="0"/>
              </a:spcBef>
              <a:spcAft>
                <a:spcPts val="0"/>
              </a:spcAft>
            </a:pPr>
            <a:r>
              <a:rPr lang="es-419" sz="1400" dirty="0"/>
              <a:t>Ethernet funciona en la capa de enlace de datos y en la capa física. Los estándares de Ethernet definen los protocolos de capa 2 y las tecnologías de capa 1. </a:t>
            </a:r>
          </a:p>
          <a:p>
            <a:pPr>
              <a:spcBef>
                <a:spcPts val="0"/>
              </a:spcBef>
              <a:spcAft>
                <a:spcPts val="0"/>
              </a:spcAft>
            </a:pPr>
            <a:r>
              <a:rPr lang="es-419" sz="1400" dirty="0"/>
              <a:t>Ethernet utiliza las subcapas LLC y MAC de la capa de enlace de datos para operar. </a:t>
            </a:r>
          </a:p>
          <a:p>
            <a:pPr>
              <a:spcBef>
                <a:spcPts val="0"/>
              </a:spcBef>
              <a:spcAft>
                <a:spcPts val="0"/>
              </a:spcAft>
            </a:pPr>
            <a:r>
              <a:rPr lang="es-419" sz="1400" dirty="0"/>
              <a:t>Cuando la dirección IP de destino (IPv4 o IPv6) está en una red remota, la dirección MAC de destino será la dirección de la puerta de enlace predeterminada del host (es decir, la interfaz del </a:t>
            </a:r>
            <a:r>
              <a:rPr lang="es-419" sz="1400" dirty="0" err="1"/>
              <a:t>router</a:t>
            </a:r>
            <a:r>
              <a:rPr lang="es-419" sz="1400" dirty="0"/>
              <a:t>). Un dispositivo IPv4 utiliza ARP para determinar la dirección MAC de destino de un dispositivo local cuando conoce su dirección IPv4.</a:t>
            </a:r>
          </a:p>
          <a:p>
            <a:pPr>
              <a:spcBef>
                <a:spcPts val="0"/>
              </a:spcBef>
              <a:spcAft>
                <a:spcPts val="0"/>
              </a:spcAft>
            </a:pPr>
            <a:r>
              <a:rPr lang="es-419" sz="1400" dirty="0"/>
              <a:t>Los puertos Ethernet en semidúplex formarán parte de un dominio de colisión.</a:t>
            </a:r>
          </a:p>
          <a:p>
            <a:pPr>
              <a:spcBef>
                <a:spcPts val="0"/>
              </a:spcBef>
              <a:spcAft>
                <a:spcPts val="0"/>
              </a:spcAft>
            </a:pPr>
            <a:r>
              <a:rPr lang="es-419" sz="1400" dirty="0"/>
              <a:t>El dúplex completo eliminará los dominios de colisión.</a:t>
            </a:r>
          </a:p>
          <a:p>
            <a:pPr>
              <a:spcBef>
                <a:spcPts val="0"/>
              </a:spcBef>
              <a:spcAft>
                <a:spcPts val="0"/>
              </a:spcAft>
            </a:pPr>
            <a:r>
              <a:rPr lang="es-419" sz="1400" dirty="0"/>
              <a:t>Un switch inundará todas las interfaces excepto el puerto de entrada si la trama es una difusión o si el MAC de destino de unidifusión es desconocido. </a:t>
            </a:r>
          </a:p>
          <a:p>
            <a:pPr>
              <a:spcBef>
                <a:spcPts val="0"/>
              </a:spcBef>
              <a:spcAft>
                <a:spcPts val="0"/>
              </a:spcAft>
            </a:pPr>
            <a:r>
              <a:rPr lang="es-419" sz="1400" dirty="0"/>
              <a:t>Los dominios de difusión pueden ser divididos por un dispositivo de capa 3, como un </a:t>
            </a:r>
            <a:r>
              <a:rPr lang="es-419" sz="1400" dirty="0" err="1"/>
              <a:t>router</a:t>
            </a:r>
            <a:r>
              <a:rPr lang="es-419" sz="1400" dirty="0"/>
              <a:t>.</a:t>
            </a:r>
          </a:p>
          <a:p>
            <a:pPr>
              <a:spcBef>
                <a:spcPts val="0"/>
              </a:spcBef>
              <a:spcAft>
                <a:spcPts val="0"/>
              </a:spcAft>
            </a:pPr>
            <a:r>
              <a:rPr lang="es-419" sz="1400" dirty="0"/>
              <a:t>Para el método de </a:t>
            </a:r>
            <a:r>
              <a:rPr lang="es-419" sz="1400" dirty="0" err="1"/>
              <a:t>router</a:t>
            </a:r>
            <a:r>
              <a:rPr lang="es-419" sz="1400" dirty="0"/>
              <a:t>-</a:t>
            </a:r>
            <a:r>
              <a:rPr lang="es-419" sz="1400" dirty="0" err="1"/>
              <a:t>on</a:t>
            </a:r>
            <a:r>
              <a:rPr lang="es-419" sz="1400" dirty="0"/>
              <a:t>-a-</a:t>
            </a:r>
            <a:r>
              <a:rPr lang="es-419" sz="1400" dirty="0" err="1"/>
              <a:t>stick</a:t>
            </a:r>
            <a:r>
              <a:rPr lang="es-419" sz="1400" dirty="0"/>
              <a:t>, se requieren subinterfaces configuradas para cada VLAN que se pueda enrutar. Se crea una subinterfaz mediante el comando de modo de configuración global </a:t>
            </a:r>
            <a:r>
              <a:rPr lang="es-419" sz="1400" b="1" dirty="0"/>
              <a:t>interface </a:t>
            </a:r>
            <a:r>
              <a:rPr lang="es-419" sz="1400" b="1" dirty="0" err="1"/>
              <a:t>interface_id</a:t>
            </a:r>
            <a:r>
              <a:rPr lang="es-419" sz="1400" b="1" dirty="0"/>
              <a:t> </a:t>
            </a:r>
            <a:r>
              <a:rPr lang="es-419" sz="1400" b="1" dirty="0" err="1"/>
              <a:t>subinterface_id</a:t>
            </a:r>
            <a:r>
              <a:rPr lang="es-419" sz="1400" b="1" dirty="0"/>
              <a:t> </a:t>
            </a:r>
            <a:r>
              <a:rPr lang="es-419" sz="1400" dirty="0"/>
              <a:t>. Necesitarán etiquetado </a:t>
            </a:r>
            <a:r>
              <a:rPr lang="es-419" sz="1400" dirty="0" err="1"/>
              <a:t>tado</a:t>
            </a:r>
            <a:r>
              <a:rPr lang="es-419" sz="1400" dirty="0"/>
              <a:t> IEEE 802.1q proporciona una VLAN nativa que permanecerá sin etiquetar.</a:t>
            </a:r>
          </a:p>
          <a:p>
            <a:pPr>
              <a:spcBef>
                <a:spcPts val="0"/>
              </a:spcBef>
              <a:spcAft>
                <a:spcPts val="0"/>
              </a:spcAft>
            </a:pPr>
            <a:r>
              <a:rPr lang="es-419" sz="1400" dirty="0"/>
              <a:t>Es necesario asignar una dirección IP a cada subinterfaz del </a:t>
            </a:r>
            <a:r>
              <a:rPr lang="es-419" sz="1400" dirty="0" err="1"/>
              <a:t>router</a:t>
            </a:r>
            <a:r>
              <a:rPr lang="es-419" sz="1400" dirty="0"/>
              <a:t> en una subred única para que se produzca el </a:t>
            </a:r>
            <a:r>
              <a:rPr lang="es-419" sz="1400" dirty="0" err="1"/>
              <a:t>routing</a:t>
            </a:r>
            <a:r>
              <a:rPr lang="es-419" sz="1400" dirty="0"/>
              <a:t>. Cuando se han creado todas las subinterfaces, la interfaz física debe habilitarse mediante el comando no shutdown interface </a:t>
            </a:r>
            <a:r>
              <a:rPr lang="es-419" sz="1400" dirty="0" err="1"/>
              <a:t>configuration</a:t>
            </a:r>
            <a:r>
              <a:rPr lang="es-419" sz="1400" dirty="0"/>
              <a:t>. </a:t>
            </a:r>
          </a:p>
          <a:p>
            <a:pPr>
              <a:spcBef>
                <a:spcPts val="0"/>
              </a:spcBef>
              <a:spcAft>
                <a:spcPts val="0"/>
              </a:spcAft>
            </a:pPr>
            <a:endParaRPr lang="es-419" sz="1400" dirty="0"/>
          </a:p>
          <a:p>
            <a:pPr>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endParaRPr lang="es-419" sz="1400" dirty="0"/>
          </a:p>
        </p:txBody>
      </p:sp>
      <p:sp>
        <p:nvSpPr>
          <p:cNvPr id="2" name="Slide Number Placeholder 1">
            <a:extLst>
              <a:ext uri="{FF2B5EF4-FFF2-40B4-BE49-F238E27FC236}">
                <a16:creationId xmlns:a16="http://schemas.microsoft.com/office/drawing/2014/main" id="{2AC70A26-F512-C9D9-616D-C89F2E37C3EA}"/>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77</a:t>
            </a:fld>
            <a:endParaRPr lang="en-US"/>
          </a:p>
        </p:txBody>
      </p:sp>
    </p:spTree>
    <p:custDataLst>
      <p:tags r:id="rId1"/>
    </p:custDataLst>
    <p:extLst>
      <p:ext uri="{BB962C8B-B14F-4D97-AF65-F5344CB8AC3E}">
        <p14:creationId xmlns:p14="http://schemas.microsoft.com/office/powerpoint/2010/main" val="18539763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f6690ef5-1e9d-4eaa-9471-52f946c9b06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A16F1C12179C3458ECA76E6A65C7B39" ma:contentTypeVersion="6" ma:contentTypeDescription="Create a new document." ma:contentTypeScope="" ma:versionID="efcfead6f0da06bb7f119cc987f9dbae">
  <xsd:schema xmlns:xsd="http://www.w3.org/2001/XMLSchema" xmlns:xs="http://www.w3.org/2001/XMLSchema" xmlns:p="http://schemas.microsoft.com/office/2006/metadata/properties" xmlns:ns2="f6690ef5-1e9d-4eaa-9471-52f946c9b067" targetNamespace="http://schemas.microsoft.com/office/2006/metadata/properties" ma:root="true" ma:fieldsID="e8c3f91391d4fc2cd59db12f6023b449" ns2:_="">
    <xsd:import namespace="f6690ef5-1e9d-4eaa-9471-52f946c9b0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690ef5-1e9d-4eaa-9471-52f946c9b0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9D513F-6341-4A8E-80F5-9794A89DC8D0}">
  <ds:schemaRefs>
    <ds:schemaRef ds:uri="http://schemas.microsoft.com/sharepoint/v3/contenttype/forms"/>
  </ds:schemaRefs>
</ds:datastoreItem>
</file>

<file path=customXml/itemProps2.xml><?xml version="1.0" encoding="utf-8"?>
<ds:datastoreItem xmlns:ds="http://schemas.openxmlformats.org/officeDocument/2006/customXml" ds:itemID="{3E6990DC-E98C-4D0F-858A-4FB7A9CA5DBF}">
  <ds:schemaRefs>
    <ds:schemaRef ds:uri="http://schemas.openxmlformats.org/package/2006/metadata/core-properties"/>
    <ds:schemaRef ds:uri="http://purl.org/dc/elements/1.1/"/>
    <ds:schemaRef ds:uri="http://schemas.microsoft.com/office/2006/metadata/properties"/>
    <ds:schemaRef ds:uri="f6690ef5-1e9d-4eaa-9471-52f946c9b067"/>
    <ds:schemaRef ds:uri="http://schemas.microsoft.com/office/2006/documentManagement/types"/>
    <ds:schemaRef ds:uri="http://purl.org/dc/terms/"/>
    <ds:schemaRef ds:uri="http://www.w3.org/XML/1998/namespace"/>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8D357E14-C6D3-4A35-8F9A-36101F8F4F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690ef5-1e9d-4eaa-9471-52f946c9b0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Default Theme</Template>
  <TotalTime>354</TotalTime>
  <Words>7609</Words>
  <Application>Microsoft Office PowerPoint</Application>
  <PresentationFormat>Presentación en pantalla (16:9)</PresentationFormat>
  <Paragraphs>939</Paragraphs>
  <Slides>77</Slides>
  <Notes>77</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77</vt:i4>
      </vt:variant>
    </vt:vector>
  </HeadingPairs>
  <TitlesOfParts>
    <vt:vector size="87" baseType="lpstr">
      <vt:lpstr>ＭＳ Ｐゴシック</vt:lpstr>
      <vt:lpstr>arial</vt:lpstr>
      <vt:lpstr>arial</vt:lpstr>
      <vt:lpstr>Calibri</vt:lpstr>
      <vt:lpstr>CiscoSans ExtraLight</vt:lpstr>
      <vt:lpstr>Courier New</vt:lpstr>
      <vt:lpstr>Montserrat</vt:lpstr>
      <vt:lpstr>Times New Roman</vt:lpstr>
      <vt:lpstr>Wingdings</vt:lpstr>
      <vt:lpstr>Default Theme</vt:lpstr>
      <vt:lpstr>REDES Y COMUNICACIONES DE DATOS Ingeniería de Sistemas de Información 2026-2   Docentes del curso</vt:lpstr>
      <vt:lpstr>Objetivos de la Semana 05</vt:lpstr>
      <vt:lpstr>5.1Ethernet y MAC Ingeniería de Sistemas de Información EISI, 2026-2</vt:lpstr>
      <vt:lpstr>Ethernet y Subcapas L2</vt:lpstr>
      <vt:lpstr>Tabla de direcciones MAC</vt:lpstr>
      <vt:lpstr>Configuración Dúplex y velocidad</vt:lpstr>
      <vt:lpstr>5.2 ARP  Ingeniería de Sistemas de Información EISI, 2026-2</vt:lpstr>
      <vt:lpstr>Destino en la misma red</vt:lpstr>
      <vt:lpstr>Destino en una red remota</vt:lpstr>
      <vt:lpstr>Descripción general de ARP </vt:lpstr>
      <vt:lpstr>Funciones de ARP</vt:lpstr>
      <vt:lpstr>Eliminación de entradas de una tabla de ARP</vt:lpstr>
      <vt:lpstr>Tablas ARP en dispositivos de red</vt:lpstr>
      <vt:lpstr>Problemas ARP — Broadcasting ARP y spoofing ARP</vt:lpstr>
      <vt:lpstr>5.3 Conceptos de Switching Ingeniería de Sistemas de Información EISI, 2026-2</vt:lpstr>
      <vt:lpstr>Dominios de colisiones</vt:lpstr>
      <vt:lpstr>Métodos de reenvío de tramas en Swiches</vt:lpstr>
      <vt:lpstr>5.4 Switches  Ingeniería de Sistemas de Información EISI, 2026-2</vt:lpstr>
      <vt:lpstr>Complejidad creciente de las redes</vt:lpstr>
      <vt:lpstr>CISCO vs HUAWEI</vt:lpstr>
      <vt:lpstr>Función de las redes conmutadas</vt:lpstr>
      <vt:lpstr>Factores de forma</vt:lpstr>
      <vt:lpstr>Factores de forma</vt:lpstr>
      <vt:lpstr>Modos de Consola y El acceso a la administración de un switch</vt:lpstr>
      <vt:lpstr>Modos de Consola de equipos CISCO</vt:lpstr>
      <vt:lpstr>5.5 VLAN Ingeniería de Sistemas de Información EISI, 2026-2</vt:lpstr>
      <vt:lpstr>Definiciones de VLAN (Virtual LAN)</vt:lpstr>
      <vt:lpstr>Beneficios de un diseño de VLAN</vt:lpstr>
      <vt:lpstr>Tipos de VLAN</vt:lpstr>
      <vt:lpstr>Tipos de VLAN</vt:lpstr>
      <vt:lpstr>Tipos de VLAN (Cont.)</vt:lpstr>
      <vt:lpstr>Definición de troncales de VLAN</vt:lpstr>
      <vt:lpstr>Múltiple Redes sin VLAN</vt:lpstr>
      <vt:lpstr>Redes con VLAN</vt:lpstr>
      <vt:lpstr>Identificación de VLAN con una etiqueta</vt:lpstr>
      <vt:lpstr>VLAN nativas y etiquetado 802.1Q</vt:lpstr>
      <vt:lpstr>Etiquetado de VLAN de voz</vt:lpstr>
      <vt:lpstr>Etiquetado de VLAN de voz</vt:lpstr>
      <vt:lpstr>VLAN en un entorno de conmutación múltiple Ejemplo de verificación de VLAN de voz</vt:lpstr>
      <vt:lpstr>Configuración de VLAN Ingeniería de Sistemas de Información EISI, 2026-2</vt:lpstr>
      <vt:lpstr>Rangos de VLAN en switches Catalyst</vt:lpstr>
      <vt:lpstr>Comandos de creación de VLAN</vt:lpstr>
      <vt:lpstr>Ejemplo de creación de VLAN</vt:lpstr>
      <vt:lpstr>Comandos de asignación de puertos de VLAN</vt:lpstr>
      <vt:lpstr>Ejemplo de asignación de puerto VLAN</vt:lpstr>
      <vt:lpstr>Ejemplo de Configuración de VLAN</vt:lpstr>
      <vt:lpstr>Cambiar pertenencia al puerto VLAN</vt:lpstr>
      <vt:lpstr>Eliminar VLAN</vt:lpstr>
      <vt:lpstr>5.6 Trunking VLAN Ingeniería de Sistemas de Información EISI, 2026-2</vt:lpstr>
      <vt:lpstr>Comandos de configuración troncal (Interfaz TRUNK) de VLAN</vt:lpstr>
      <vt:lpstr>Comandos de configuración troncal (Interfaz TRUNK) de VLAN</vt:lpstr>
      <vt:lpstr>Comandos de configuración troncal de VLAN</vt:lpstr>
      <vt:lpstr>Troncales de VLAN</vt:lpstr>
      <vt:lpstr>Troncales de VLAN</vt:lpstr>
      <vt:lpstr>Verifique la configuración de troncales</vt:lpstr>
      <vt:lpstr>Restablezca el tronco al estado predeterminado</vt:lpstr>
      <vt:lpstr>5.7 Inter-VLAN Routing Ingeniería de Sistemas de Información EISI, 2026-2</vt:lpstr>
      <vt:lpstr>¿Qué es Inter-VLAN Routing?</vt:lpstr>
      <vt:lpstr>Inter-VLAN Routing en el Switch capa 3</vt:lpstr>
      <vt:lpstr>Inter-VLAN Routing en el Switch capa 3 (Cont.)</vt:lpstr>
      <vt:lpstr>Router-on-a-Stick Ingeniería de Sistemas de Información EISI, 2026-2</vt:lpstr>
      <vt:lpstr>Configuración de Dirección IP en un Router</vt:lpstr>
      <vt:lpstr>Escenario Router-on-a-stick</vt:lpstr>
      <vt:lpstr>Escenario Router-on-a-stick</vt:lpstr>
      <vt:lpstr>Escenario Router-on-a-stick</vt:lpstr>
      <vt:lpstr>Escenario Router-on-a-stick</vt:lpstr>
      <vt:lpstr>Inter-VLAN Routing usando  “Layer 3 Switches” Ingeniería de Sistemas de Información EISI, 2026-2</vt:lpstr>
      <vt:lpstr>Escenario de conmutador de capa 3</vt:lpstr>
      <vt:lpstr>Configuración de Conmutadores de Capa 3</vt:lpstr>
      <vt:lpstr>Configuración de Conmutadores de Capa 3</vt:lpstr>
      <vt:lpstr>Enrutamiento entre VLAN del Switch de capa 3</vt:lpstr>
      <vt:lpstr>Enrutamiento en un conmutador de capa 3</vt:lpstr>
      <vt:lpstr>“Layer 3 Switch” Como router Ingeniería de Sistemas de Información EISI, 2026-2</vt:lpstr>
      <vt:lpstr>Escenario de enrutamiento en un conmutador de capa 3</vt:lpstr>
      <vt:lpstr>Configuración de enrutamiento de switches de capa 3</vt:lpstr>
      <vt:lpstr>CONCLUSIONES Ingeniería de Sistemas de Información EISI, 2026-2</vt:lpstr>
      <vt:lpstr>CONCLUSIONES</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Y COMUNICACIONES DE DATOS Ingeniería de Sistemas de Información 2024-1   Docentes del curso</dc:title>
  <dc:creator>bvachon@cisco.com</dc:creator>
  <cp:lastModifiedBy>PCSIFCAN (CANALES ARIAS, FELIX GASPAR)</cp:lastModifiedBy>
  <cp:revision>666</cp:revision>
  <cp:lastPrinted>2024-04-18T15:14:08Z</cp:lastPrinted>
  <dcterms:created xsi:type="dcterms:W3CDTF">2016-08-22T22:27:36Z</dcterms:created>
  <dcterms:modified xsi:type="dcterms:W3CDTF">2026-09-20T23:05:11Z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ContentTypeId">
    <vt:lpwstr>0x0101002A16F1C12179C3458ECA76E6A65C7B39</vt:lpwstr>
  </property>
  <property fmtid="{D5CDD505-2E9C-101B-9397-08002B2CF9AE}" pid="9" name="Order">
    <vt:r8>634100</vt:r8>
  </property>
  <property fmtid="{D5CDD505-2E9C-101B-9397-08002B2CF9AE}" pid="10" name="ComplianceAssetId">
    <vt:lpwstr/>
  </property>
  <property fmtid="{D5CDD505-2E9C-101B-9397-08002B2CF9AE}" pid="11" name="_ExtendedDescription">
    <vt:lpwstr/>
  </property>
  <property fmtid="{D5CDD505-2E9C-101B-9397-08002B2CF9AE}" pid="12" name="TriggerFlowInfo">
    <vt:lpwstr/>
  </property>
</Properties>
</file>