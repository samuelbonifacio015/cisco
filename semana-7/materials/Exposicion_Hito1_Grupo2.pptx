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71b232ac-e9d6-23bc-b662-57f975463203}">
          <p14:sldIdLst>
            <p14:sldId id="256"/>
            <p14:sldId id="257"/>
          </p14:sldIdLst>
        </p14:section>
        <p14:section name="Diseño físico" id="{6cd514e5-30a1-7438-aa60-d9a004bcf903}">
          <p14:sldIdLst>
            <p14:sldId id="258"/>
            <p14:sldId id="259"/>
          </p14:sldIdLst>
        </p14:section>
        <p14:section name="Diseño lógico" id="{03017d90-959f-3325-3f0d-f08428d8b83f}">
          <p14:sldIdLst>
            <p14:sldId id="260"/>
            <p14:sldId id="261"/>
            <p14:sldId id="262"/>
          </p14:sldIdLst>
        </p14:section>
        <p14:section name="Implementación" id="{5f9b61a6-3801-c6ea-c765-a6380f8f70e2}">
          <p14:sldIdLst>
            <p14:sldId id="263"/>
            <p14:sldId id="264"/>
            <p14:sldId id="265"/>
            <p14:sldId id="266"/>
          </p14:sldIdLst>
        </p14:section>
        <p14:section name="Costos y nube" id="{88aa969c-9c4c-350f-45da-0ca35abf99ac}">
          <p14:sldIdLst>
            <p14:sldId id="267"/>
            <p14:sldId id="268"/>
          </p14:sldIdLst>
        </p14:section>
        <p14:section name="Cierre" id="{0608730a-768e-5549-e515-43af44fb6e4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1EA"/>
                </a:solidFill>
                <a:latin typeface="+mn-lt"/>
              </a:defRPr>
            </a:pPr>
            <a:r>
              <a:rPr sz="1400" b="0" i="0" u="none" strike="noStrike">
                <a:solidFill>
                  <a:srgbClr val="F4F1EA"/>
                </a:solidFill>
                <a:latin typeface="+mn-lt"/>
              </a:rPr>
              <a:t>Costo mensual del escenario (US$)</a:t>
            </a:r>
          </a:p>
        </c:rich>
      </c:tx>
      <c:layout/>
      <c:overlay val="0"/>
    </c:title>
    <c:autoTitleDeleted val="0"/>
    <c:plotArea>
      <c:layout/>
      <c:barChart>
        <c:barDir val="col"/>
        <c:grouping val="clustered"/>
        <c:varyColors val="0"/>
        <c:ser>
          <c:idx val="0"/>
          <c:order val="0"/>
          <c:tx>
            <c:strRef>
              <c:f>Sheet1!$B$1</c:f>
              <c:strCache>
                <c:ptCount val="1"/>
                <c:pt idx="0">
                  <c:v>Costo mensual (US$)</c:v>
                </c:pt>
              </c:strCache>
            </c:strRef>
          </c:tx>
          <c:spPr>
            <a:solidFill>
              <a:srgbClr val="A7AFBB"/>
            </a:solidFill>
            <a:effectLst/>
          </c:spPr>
          <c:invertIfNegative val="0"/>
          <c:dLbls>
            <c:numFmt formatCode="0.00" sourceLinked="0"/>
            <c:txPr>
              <a:bodyPr/>
              <a:lstStyle/>
              <a:p>
                <a:pPr>
                  <a:defRPr b="0" i="0" strike="noStrike" sz="1300" u="none">
                    <a:solidFill>
                      <a:srgbClr val="F4F1EA"/>
                    </a:solidFill>
                    <a:latin typeface="+mn-lt"/>
                  </a:defRPr>
                </a:pPr>
              </a:p>
            </c:txPr>
            <c:showLegendKey val="0"/>
            <c:showVal val="1"/>
            <c:showCatName val="0"/>
            <c:showSerName val="0"/>
            <c:showPercent val="0"/>
            <c:showBubbleSize val="0"/>
            <c:showLeaderLines val="0"/>
          </c:dLbls>
          <c:dPt>
            <c:idx val="0"/>
            <c:invertIfNegative val="0"/>
            <c:bubble3D val="0"/>
            <c:spPr>
              <a:solidFill>
                <a:srgbClr val="A7AFBB"/>
              </a:solidFill>
              <a:effectLst/>
            </c:spPr>
          </c:dPt>
          <c:dPt>
            <c:idx val="1"/>
            <c:invertIfNegative val="0"/>
            <c:bubble3D val="0"/>
            <c:spPr>
              <a:solidFill>
                <a:srgbClr val="F2A541"/>
              </a:solidFill>
              <a:effectLst/>
            </c:spPr>
          </c:dPt>
          <c:dPt>
            <c:idx val="2"/>
            <c:invertIfNegative val="0"/>
            <c:bubble3D val="0"/>
            <c:spPr>
              <a:solidFill>
                <a:srgbClr val="A7AFBB"/>
              </a:solidFill>
              <a:effectLst/>
            </c:spPr>
          </c:dPt>
          <c:cat>
            <c:multiLvlStrRef>
              <c:f>Sheet1!$A$2:$A$4</c:f>
              <c:multiLvlStrCache>
                <c:ptCount val="3"/>
                <c:lvl>
                  <c:pt idx="0">
                    <c:v>AWS</c:v>
                  </c:pt>
                  <c:pt idx="1">
                    <c:v>Azure</c:v>
                  </c:pt>
                  <c:pt idx="2">
                    <c:v>Google Cloud</c:v>
                  </c:pt>
                </c:lvl>
              </c:multiLvlStrCache>
            </c:multiLvlStrRef>
          </c:cat>
          <c:val>
            <c:numRef>
              <c:f>Sheet1!$B$2:$B$4</c:f>
              <c:numCache>
                <c:formatCode>General</c:formatCode>
                <c:ptCount val="3"/>
                <c:pt idx="0">
                  <c:v>7.74</c:v>
                </c:pt>
                <c:pt idx="1">
                  <c:v>6.49</c:v>
                </c:pt>
                <c:pt idx="2">
                  <c:v>6.8</c:v>
                </c:pt>
              </c:numCache>
            </c:numRef>
          </c:val>
        </c:ser>
        <c:dLbls>
          <c:numFmt formatCode="0.00" sourceLinked="0"/>
          <c:txPr>
            <a:bodyPr/>
            <a:lstStyle/>
            <a:p>
              <a:pPr>
                <a:defRPr b="0" i="0" strike="noStrike" sz="1300" u="none">
                  <a:solidFill>
                    <a:srgbClr val="F4F1E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F4F1EA"/>
                </a:solidFill>
                <a:latin typeface="+mn-lt"/>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Peirano Brun, José Antonio: Buenos días, profesor y compañeros. Somos el grupo 2 y vamos a presentar el rediseño de la red de MIEMPRESA en Perú, que tiene su sede principal en Lima y cuatro sucursales: La Libertad, Puno, Ica y Huánuco. Explicaremos el caso, el diseño físico y lógico, la implementación, los costos y la solución de respaldo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Peirano Brun, José Antonio: El problema de la empresa es que su red creció durante diez años sin un diseño integral. El caso más grave fue que una sede nueva usó direcciones IP que ya estaban asignadas a otra, y las dos perdieron conectividad. Además, tenía equipos de distintos fabricantes, difíciles de integrar. Nuestra solución considera cinco sedes y 2 689 hosts proyectados, porque a cada área le sumamos un 25 % de crecimiento. Solo en Lima hay ocho áreas, cada una con su propia VLAN.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Chávez Carrasco, Lionel Abraham: En el diseño físico, la WAN es una topología en estrella: el router de Lima se conecta con el router de cada sucursal mediante un enlace serial, y cada enlace usa una red /30 del bloque 10.142.36.0/22. En Lima aplicamos un modelo de tres capas: un switch CORE 3560 en el núcleo, cuatro switches 3560 de distribución y switches 2960 en el acceso. En la LAN usamos cable UTP, en la WAN cable serial y, para los usuarios móviles,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Chávez Carrasco, Lionel Abraham: Las sucursales usan un modelo de dos capas: un switch central 2960 conectado al router por un enlace troncal, y cuatro switches de acceso para Administración, Ventas, Logística y Servidores. Las cuatro sucursales tienen el mismo diseño, así que cualquier mejora probada en una sucursal se puede replicar fácilmente en las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Mayta Hancco, Rosy Nagely: Para el direccionamiento partimos del bloque 10.142.0.0/16 de la multinacional. Con FLSM prestamos tres bits y obtuvimos ocho subredes /19, una por país; a Perú le corresponde la 10.142.32.0/19. Luego volvimos a prestar tres bits y obtuvimos ocho bloques /22: uno para cada sede, uno para los enlaces WAN y dos de reserva. Así ninguna sede puede repetir las direcciones de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Mayta Hancco, Rosy Nagely: Dentro de cada sede aplicamos VLSM, asignando primero las redes más grandes. En Lima, Administración necesita 200 hosts y recibe una /24, mientras que Servidores necesita 13 y recibe una /28. El gateway de cada red es su primera IP utilizable, y el enlace entre el CORE y el router usa una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Mayta Hancco, Rosy Nagely: En las sucursales hicimos lo mismo con sus cuatro áreas, y usamos los mismos números de VLAN en todas las sedes para facilitar la administración.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Bonifacio Jaramillo, Samuel Jesús: En la implementación, los puertos donde se conectan PCs, servidores o access points van en modo acceso, en una sola VLAN. Los enlaces entre switches y hacia el router son troncales 802.1Q, que llevan varias VLAN por un mismo cable. En los 3560 primero hay que indicar el encapsulamiento dot1q, porque también soportan ISL.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Bonifacio Jaramillo, Samuel Jesús: Para el enrutamiento entre VLAN, en Lima el CORE tiene una SVI por VLAN, que funciona como gateway, y el comando ip routing. Su puerto hacia el router es un puerto enrutado. En las sucursales usamos router-on-a-stick: el router tiene una sub-interfaz por VLAN con encapsulation dot1Q.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Bonifacio Jaramillo, Samuel Jesús: En Lima hay dos redes inalámbricas, una para ejecutivos y otra para clientes, protegidas con WPA2-PSK y cifrado AES.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Bonifacio Jaramillo, Samuel Jesús: Finalmente, validamos todo con pings: entre VLAN distintas, desde un PC hasta el router y desde una laptop WiFi. Todas las pruebas fueron exitosas, también en las cuatro sucursales.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Flores Pinchi, José Fernando: En el simulador usamos pocos equipos, pero para la empresa real dimensionamos la red con los hosts proyectados: dividimos los hosts entre los 24 puertos de cada switch. Así obtuvimos 112 switches de acceso, 11 switches entre 3560 y centrales, 5 routers y 4 access points, con una inversión referencial de 53 835 dólares. Los precios son referenciales, de equipos reacondicionados, porque los modelos del simulador ya están descontinuados.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Flores Pinchi, José Fernando: Para el respaldo en la nube comparamos AWS, Azure y Google Cloud con una matriz ponderada, donde el costo pesa un 30 %. Azure obtuvo el mayor puntaje, 4.85, y el menor costo mensual en nuestro escenario.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Flores Pinchi, José Fernando: En conclusión, el direccionamiento jerárquico elimina la duplicidad de IP, las VLAN separan cada área y la red quedó validada con las pruebas.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E222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1E222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25880" y="347472"/>
            <a:ext cx="10332720" cy="68580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MIEMPRESA · Red casa matriz Perú · Hito 1</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685800"/>
            <a:ext cx="5943600" cy="32004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HITO 1 · REDES Y COMUNICACIONES DE DATOS</a:t>
            </a:r>
            <a:endParaRPr lang="en-US" sz="1300" dirty="0"/>
          </a:p>
        </p:txBody>
      </p:sp>
      <p:sp>
        <p:nvSpPr>
          <p:cNvPr id="4" name="Text 1"/>
          <p:cNvSpPr txBox="1"/>
          <p:nvPr/>
        </p:nvSpPr>
        <p:spPr>
          <a:xfrm>
            <a:off x="640080" y="1097280"/>
            <a:ext cx="594360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MIEMPRESA</a:t>
            </a:r>
            <a:endParaRPr lang="en-US" sz="5400" dirty="0"/>
          </a:p>
        </p:txBody>
      </p:sp>
      <p:sp>
        <p:nvSpPr>
          <p:cNvPr id="5" name="Text 2"/>
          <p:cNvSpPr txBox="1"/>
          <p:nvPr/>
        </p:nvSpPr>
        <p:spPr>
          <a:xfrm>
            <a:off x="640080" y="2057400"/>
            <a:ext cx="5486400" cy="8229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Rediseño de la red de la casa matriz en Perú: Lima y cuatro sucursales</a:t>
            </a:r>
            <a:endParaRPr lang="en-US" sz="2000" dirty="0"/>
          </a:p>
        </p:txBody>
      </p:sp>
      <p:sp>
        <p:nvSpPr>
          <p:cNvPr id="6" name="Text 3"/>
          <p:cNvSpPr txBox="1"/>
          <p:nvPr/>
        </p:nvSpPr>
        <p:spPr>
          <a:xfrm>
            <a:off x="640080" y="3154680"/>
            <a:ext cx="5486400" cy="292608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alibri" pitchFamily="34" charset="0"/>
                <a:ea typeface="Calibri" pitchFamily="34" charset="-122"/>
                <a:cs typeface="Calibri" pitchFamily="34" charset="-120"/>
              </a:rPr>
              <a:t>Grupo 2 · Sección 7610</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Peirano Brun, José Antonio</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Mayta Hancco, Rosy Nagely</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Chávez Carrasco, Lionel Abraham</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Bonifacio Jaramillo, Samuel Jesús</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Flores Pinchi, José Fernando</a:t>
            </a:r>
            <a:endParaRPr lang="en-US" sz="1500" dirty="0"/>
          </a:p>
          <a:p>
            <a:pPr indent="0" marL="0">
              <a:spcAft>
                <a:spcPts val="200"/>
              </a:spcAft>
              <a:buNone/>
            </a:pPr>
            <a:r>
              <a:rPr lang="en-US" sz="1500" dirty="0">
                <a:solidFill>
                  <a:schemeClr val="bg1"/>
                </a:solidFill>
                <a:latin typeface="Calibri" pitchFamily="34" charset="0"/>
                <a:ea typeface="Calibri" pitchFamily="34" charset="-122"/>
                <a:cs typeface="Calibri" pitchFamily="34" charset="-120"/>
              </a:rPr>
              <a:t> </a:t>
            </a:r>
            <a:endParaRPr lang="en-US" sz="1500" dirty="0"/>
          </a:p>
          <a:p>
            <a:pPr indent="0" marL="0">
              <a:spcAft>
                <a:spcPts val="200"/>
              </a:spcAft>
              <a:buNone/>
            </a:pPr>
            <a:r>
              <a:rPr lang="en-US" sz="1500" dirty="0">
                <a:solidFill>
                  <a:schemeClr val="bg2"/>
                </a:solidFill>
                <a:latin typeface="Calibri" pitchFamily="34" charset="0"/>
                <a:ea typeface="Calibri" pitchFamily="34" charset="-122"/>
                <a:cs typeface="Calibri" pitchFamily="34" charset="-120"/>
              </a:rPr>
              <a:t>Docente: Felix Gaspar Canales Arias  ·  Octubre 2026</a:t>
            </a:r>
            <a:endParaRPr lang="en-US" sz="1500" dirty="0"/>
          </a:p>
        </p:txBody>
      </p:sp>
      <p:sp>
        <p:nvSpPr>
          <p:cNvPr id="7" name="cover_frame"/>
          <p:cNvSpPr/>
          <p:nvPr/>
        </p:nvSpPr>
        <p:spPr>
          <a:xfrm>
            <a:off x="6720840" y="1234440"/>
            <a:ext cx="4892040" cy="4480560"/>
          </a:xfrm>
          <a:prstGeom prst="roundRect">
            <a:avLst>
              <a:gd name="adj" fmla="val 2449"/>
            </a:avLst>
          </a:prstGeom>
          <a:solidFill>
            <a:schemeClr val="tx2"/>
          </a:solidFill>
          <a:ln w="12700">
            <a:solidFill>
              <a:schemeClr val="tx2"/>
            </a:solidFill>
            <a:prstDash val="solid"/>
          </a:ln>
        </p:spPr>
      </p:sp>
      <p:pic>
        <p:nvPicPr>
          <p:cNvPr id="8" name="cover_wan" descr="/home/claude/fin2/img_01_1.png">    </p:cNvPr>
          <p:cNvPicPr>
            <a:picLocks noChangeAspect="1"/>
          </p:cNvPicPr>
          <p:nvPr/>
        </p:nvPicPr>
        <p:blipFill>
          <a:blip r:embed="rId1"/>
          <a:stretch>
            <a:fillRect/>
          </a:stretch>
        </p:blipFill>
        <p:spPr>
          <a:xfrm>
            <a:off x="6858000" y="2331720"/>
            <a:ext cx="4617720" cy="1961290"/>
          </a:xfrm>
          <a:prstGeom prst="rect">
            <a:avLst/>
          </a:prstGeom>
        </p:spPr>
      </p:pic>
      <p:sp>
        <p:nvSpPr>
          <p:cNvPr id="9" name="Text 5"/>
          <p:cNvSpPr txBox="1"/>
          <p:nvPr/>
        </p:nvSpPr>
        <p:spPr>
          <a:xfrm>
            <a:off x="6858000" y="5120640"/>
            <a:ext cx="4617720" cy="365760"/>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Topología WAN implementada en Cisco Packet Tracer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El caso: una red que creció sin plan</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01</a:t>
            </a:r>
            <a:endParaRPr lang="en-US" sz="1800" dirty="0"/>
          </a:p>
        </p:txBody>
      </p:sp>
      <p:sp>
        <p:nvSpPr>
          <p:cNvPr id="6" name="prob0"/>
          <p:cNvSpPr/>
          <p:nvPr/>
        </p:nvSpPr>
        <p:spPr>
          <a:xfrm>
            <a:off x="548640" y="1417320"/>
            <a:ext cx="6035040" cy="1234440"/>
          </a:xfrm>
          <a:prstGeom prst="roundRect">
            <a:avLst>
              <a:gd name="adj" fmla="val 8889"/>
            </a:avLst>
          </a:prstGeom>
          <a:solidFill>
            <a:schemeClr val="tx2"/>
          </a:solidFill>
          <a:ln w="12700">
            <a:solidFill>
              <a:schemeClr val="tx2"/>
            </a:solidFill>
            <a:prstDash val="solid"/>
          </a:ln>
        </p:spPr>
      </p:sp>
      <p:sp>
        <p:nvSpPr>
          <p:cNvPr id="7" name="dot0"/>
          <p:cNvSpPr/>
          <p:nvPr/>
        </p:nvSpPr>
        <p:spPr>
          <a:xfrm>
            <a:off x="777240" y="1737360"/>
            <a:ext cx="594360" cy="594360"/>
          </a:xfrm>
          <a:prstGeom prst="ellipse">
            <a:avLst/>
          </a:prstGeom>
          <a:solidFill>
            <a:schemeClr val="accent2"/>
          </a:solidFill>
          <a:ln w="12700">
            <a:solidFill>
              <a:schemeClr val="accent2"/>
            </a:solidFill>
            <a:prstDash val="solid"/>
          </a:ln>
        </p:spPr>
      </p:sp>
      <p:sp>
        <p:nvSpPr>
          <p:cNvPr id="8" name="Text 5"/>
          <p:cNvSpPr txBox="1"/>
          <p:nvPr/>
        </p:nvSpPr>
        <p:spPr>
          <a:xfrm>
            <a:off x="777240" y="17373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600200" y="1581912"/>
            <a:ext cx="475488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10 años</a:t>
            </a:r>
            <a:endParaRPr lang="en-US" sz="1800" dirty="0"/>
          </a:p>
        </p:txBody>
      </p:sp>
      <p:sp>
        <p:nvSpPr>
          <p:cNvPr id="10" name="Text 7"/>
          <p:cNvSpPr txBox="1"/>
          <p:nvPr/>
        </p:nvSpPr>
        <p:spPr>
          <a:xfrm>
            <a:off x="1600200" y="1984248"/>
            <a:ext cx="4754880" cy="5486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de crecimiento sin un diseño integral ni documentación actualizada.</a:t>
            </a:r>
            <a:endParaRPr lang="en-US" sz="1400" dirty="0"/>
          </a:p>
        </p:txBody>
      </p:sp>
      <p:sp>
        <p:nvSpPr>
          <p:cNvPr id="11" name="prob1"/>
          <p:cNvSpPr/>
          <p:nvPr/>
        </p:nvSpPr>
        <p:spPr>
          <a:xfrm>
            <a:off x="548640" y="2880360"/>
            <a:ext cx="6035040" cy="1234440"/>
          </a:xfrm>
          <a:prstGeom prst="roundRect">
            <a:avLst>
              <a:gd name="adj" fmla="val 8889"/>
            </a:avLst>
          </a:prstGeom>
          <a:solidFill>
            <a:schemeClr val="tx2"/>
          </a:solidFill>
          <a:ln w="12700">
            <a:solidFill>
              <a:schemeClr val="tx2"/>
            </a:solidFill>
            <a:prstDash val="solid"/>
          </a:ln>
        </p:spPr>
      </p:sp>
      <p:sp>
        <p:nvSpPr>
          <p:cNvPr id="12" name="dot1"/>
          <p:cNvSpPr/>
          <p:nvPr/>
        </p:nvSpPr>
        <p:spPr>
          <a:xfrm>
            <a:off x="777240" y="3200400"/>
            <a:ext cx="594360" cy="594360"/>
          </a:xfrm>
          <a:prstGeom prst="ellipse">
            <a:avLst/>
          </a:prstGeom>
          <a:solidFill>
            <a:schemeClr val="accent2"/>
          </a:solidFill>
          <a:ln w="12700">
            <a:solidFill>
              <a:schemeClr val="accent2"/>
            </a:solidFill>
            <a:prstDash val="solid"/>
          </a:ln>
        </p:spPr>
      </p:sp>
      <p:sp>
        <p:nvSpPr>
          <p:cNvPr id="13" name="Text 10"/>
          <p:cNvSpPr txBox="1"/>
          <p:nvPr/>
        </p:nvSpPr>
        <p:spPr>
          <a:xfrm>
            <a:off x="777240" y="32004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1600200" y="3044952"/>
            <a:ext cx="475488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IP duplicadas</a:t>
            </a:r>
            <a:endParaRPr lang="en-US" sz="1800" dirty="0"/>
          </a:p>
        </p:txBody>
      </p:sp>
      <p:sp>
        <p:nvSpPr>
          <p:cNvPr id="15" name="Text 12"/>
          <p:cNvSpPr txBox="1"/>
          <p:nvPr/>
        </p:nvSpPr>
        <p:spPr>
          <a:xfrm>
            <a:off x="1600200" y="3447288"/>
            <a:ext cx="4754880" cy="5486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una sede nueva usó direcciones ya asignadas y ambas perdieron conectividad.</a:t>
            </a:r>
            <a:endParaRPr lang="en-US" sz="1400" dirty="0"/>
          </a:p>
        </p:txBody>
      </p:sp>
      <p:sp>
        <p:nvSpPr>
          <p:cNvPr id="16" name="prob2"/>
          <p:cNvSpPr/>
          <p:nvPr/>
        </p:nvSpPr>
        <p:spPr>
          <a:xfrm>
            <a:off x="548640" y="4343400"/>
            <a:ext cx="6035040" cy="1234440"/>
          </a:xfrm>
          <a:prstGeom prst="roundRect">
            <a:avLst>
              <a:gd name="adj" fmla="val 8889"/>
            </a:avLst>
          </a:prstGeom>
          <a:solidFill>
            <a:schemeClr val="tx2"/>
          </a:solidFill>
          <a:ln w="12700">
            <a:solidFill>
              <a:schemeClr val="tx2"/>
            </a:solidFill>
            <a:prstDash val="solid"/>
          </a:ln>
        </p:spPr>
      </p:sp>
      <p:sp>
        <p:nvSpPr>
          <p:cNvPr id="17" name="dot2"/>
          <p:cNvSpPr/>
          <p:nvPr/>
        </p:nvSpPr>
        <p:spPr>
          <a:xfrm>
            <a:off x="777240" y="4663440"/>
            <a:ext cx="594360" cy="594360"/>
          </a:xfrm>
          <a:prstGeom prst="ellipse">
            <a:avLst/>
          </a:prstGeom>
          <a:solidFill>
            <a:schemeClr val="accent2"/>
          </a:solidFill>
          <a:ln w="12700">
            <a:solidFill>
              <a:schemeClr val="accent2"/>
            </a:solidFill>
            <a:prstDash val="solid"/>
          </a:ln>
        </p:spPr>
      </p:sp>
      <p:sp>
        <p:nvSpPr>
          <p:cNvPr id="18" name="Text 15"/>
          <p:cNvSpPr txBox="1"/>
          <p:nvPr/>
        </p:nvSpPr>
        <p:spPr>
          <a:xfrm>
            <a:off x="777240" y="466344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9" name="Text 16"/>
          <p:cNvSpPr txBox="1"/>
          <p:nvPr/>
        </p:nvSpPr>
        <p:spPr>
          <a:xfrm>
            <a:off x="1600200" y="4507992"/>
            <a:ext cx="475488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Equipos dispares</a:t>
            </a:r>
            <a:endParaRPr lang="en-US" sz="1800" dirty="0"/>
          </a:p>
        </p:txBody>
      </p:sp>
      <p:sp>
        <p:nvSpPr>
          <p:cNvPr id="20" name="Text 17"/>
          <p:cNvSpPr txBox="1"/>
          <p:nvPr/>
        </p:nvSpPr>
        <p:spPr>
          <a:xfrm>
            <a:off x="1600200" y="4910328"/>
            <a:ext cx="4754880" cy="5486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tecnologías propietarias difíciles de integrar y de administrar.</a:t>
            </a:r>
            <a:endParaRPr lang="en-US" sz="1400" dirty="0"/>
          </a:p>
        </p:txBody>
      </p:sp>
      <p:sp>
        <p:nvSpPr>
          <p:cNvPr id="21" name="Text 18"/>
          <p:cNvSpPr txBox="1"/>
          <p:nvPr/>
        </p:nvSpPr>
        <p:spPr>
          <a:xfrm>
            <a:off x="7132320" y="1417320"/>
            <a:ext cx="4480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22" name="Text 19"/>
          <p:cNvSpPr txBox="1"/>
          <p:nvPr/>
        </p:nvSpPr>
        <p:spPr>
          <a:xfrm>
            <a:off x="7132320" y="2194560"/>
            <a:ext cx="4480560" cy="4114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sedes en Perú: Lima y 4 sucursales</a:t>
            </a:r>
            <a:endParaRPr lang="en-US" sz="1400" dirty="0"/>
          </a:p>
        </p:txBody>
      </p:sp>
      <p:sp>
        <p:nvSpPr>
          <p:cNvPr id="23" name="Text 20"/>
          <p:cNvSpPr txBox="1"/>
          <p:nvPr/>
        </p:nvSpPr>
        <p:spPr>
          <a:xfrm>
            <a:off x="7132320" y="2880360"/>
            <a:ext cx="4480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2 689</a:t>
            </a:r>
            <a:endParaRPr lang="en-US" sz="4400" dirty="0"/>
          </a:p>
        </p:txBody>
      </p:sp>
      <p:sp>
        <p:nvSpPr>
          <p:cNvPr id="24" name="Text 21"/>
          <p:cNvSpPr txBox="1"/>
          <p:nvPr/>
        </p:nvSpPr>
        <p:spPr>
          <a:xfrm>
            <a:off x="7132320" y="3657600"/>
            <a:ext cx="4480560" cy="4114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hosts proyectados con +25 % de crecimiento</a:t>
            </a:r>
            <a:endParaRPr lang="en-US" sz="1400" dirty="0"/>
          </a:p>
        </p:txBody>
      </p:sp>
      <p:sp>
        <p:nvSpPr>
          <p:cNvPr id="25" name="Text 22"/>
          <p:cNvSpPr txBox="1"/>
          <p:nvPr/>
        </p:nvSpPr>
        <p:spPr>
          <a:xfrm>
            <a:off x="7132320" y="4343400"/>
            <a:ext cx="4480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8</a:t>
            </a:r>
            <a:endParaRPr lang="en-US" sz="4400" dirty="0"/>
          </a:p>
        </p:txBody>
      </p:sp>
      <p:sp>
        <p:nvSpPr>
          <p:cNvPr id="26" name="Text 23"/>
          <p:cNvSpPr txBox="1"/>
          <p:nvPr/>
        </p:nvSpPr>
        <p:spPr>
          <a:xfrm>
            <a:off x="7132320" y="5120640"/>
            <a:ext cx="4480560" cy="4114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áreas (VLAN) en la sede principal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Diseño físico: WAN y sede principal</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02</a:t>
            </a:r>
            <a:endParaRPr lang="en-US" sz="1800" dirty="0"/>
          </a:p>
        </p:txBody>
      </p:sp>
      <p:sp>
        <p:nvSpPr>
          <p:cNvPr id="6" name="wan_card"/>
          <p:cNvSpPr/>
          <p:nvPr/>
        </p:nvSpPr>
        <p:spPr>
          <a:xfrm>
            <a:off x="548640" y="1325880"/>
            <a:ext cx="5394960" cy="3886200"/>
          </a:xfrm>
          <a:prstGeom prst="roundRect">
            <a:avLst>
              <a:gd name="adj" fmla="val 2824"/>
            </a:avLst>
          </a:prstGeom>
          <a:solidFill>
            <a:schemeClr val="tx2"/>
          </a:solidFill>
          <a:ln w="12700">
            <a:solidFill>
              <a:schemeClr val="tx2"/>
            </a:solidFill>
            <a:prstDash val="solid"/>
          </a:ln>
        </p:spPr>
      </p:sp>
      <p:pic>
        <p:nvPicPr>
          <p:cNvPr id="7" name="wan_img" descr="/home/claude/fin2/img_01_1.png">    </p:cNvPr>
          <p:cNvPicPr>
            <a:picLocks noChangeAspect="1"/>
          </p:cNvPicPr>
          <p:nvPr/>
        </p:nvPicPr>
        <p:blipFill>
          <a:blip r:embed="rId1"/>
          <a:stretch>
            <a:fillRect/>
          </a:stretch>
        </p:blipFill>
        <p:spPr>
          <a:xfrm>
            <a:off x="685800" y="1463040"/>
            <a:ext cx="5120640" cy="2174895"/>
          </a:xfrm>
          <a:prstGeom prst="rect">
            <a:avLst/>
          </a:prstGeom>
        </p:spPr>
      </p:pic>
      <p:sp>
        <p:nvSpPr>
          <p:cNvPr id="8" name="Text 4"/>
          <p:cNvSpPr txBox="1"/>
          <p:nvPr/>
        </p:nvSpPr>
        <p:spPr>
          <a:xfrm>
            <a:off x="777240" y="4251960"/>
            <a:ext cx="4937760" cy="8686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WAN en estrella</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Lima se une a cada sucursal por un enlace serial /30 del bloque 10.142.36.0/22.</a:t>
            </a:r>
            <a:endParaRPr lang="en-US" sz="1400" dirty="0"/>
          </a:p>
        </p:txBody>
      </p:sp>
      <p:sp>
        <p:nvSpPr>
          <p:cNvPr id="9" name="lima_card"/>
          <p:cNvSpPr/>
          <p:nvPr/>
        </p:nvSpPr>
        <p:spPr>
          <a:xfrm>
            <a:off x="6263640" y="1325880"/>
            <a:ext cx="5394960" cy="3886200"/>
          </a:xfrm>
          <a:prstGeom prst="roundRect">
            <a:avLst>
              <a:gd name="adj" fmla="val 2824"/>
            </a:avLst>
          </a:prstGeom>
          <a:solidFill>
            <a:schemeClr val="tx2"/>
          </a:solidFill>
          <a:ln w="12700">
            <a:solidFill>
              <a:schemeClr val="tx2"/>
            </a:solidFill>
            <a:prstDash val="solid"/>
          </a:ln>
        </p:spPr>
      </p:sp>
      <p:pic>
        <p:nvPicPr>
          <p:cNvPr id="10" name="lima_img" descr="/home/claude/fin2/img_02_0.png">    </p:cNvPr>
          <p:cNvPicPr>
            <a:picLocks noChangeAspect="1"/>
          </p:cNvPicPr>
          <p:nvPr/>
        </p:nvPicPr>
        <p:blipFill>
          <a:blip r:embed="rId2"/>
          <a:stretch>
            <a:fillRect/>
          </a:stretch>
        </p:blipFill>
        <p:spPr>
          <a:xfrm>
            <a:off x="6400800" y="1463040"/>
            <a:ext cx="5120640" cy="2173193"/>
          </a:xfrm>
          <a:prstGeom prst="rect">
            <a:avLst/>
          </a:prstGeom>
        </p:spPr>
      </p:pic>
      <p:sp>
        <p:nvSpPr>
          <p:cNvPr id="11" name="Text 6"/>
          <p:cNvSpPr txBox="1"/>
          <p:nvPr/>
        </p:nvSpPr>
        <p:spPr>
          <a:xfrm>
            <a:off x="6492240" y="4251960"/>
            <a:ext cx="4937760" cy="8686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Lima: modelo de tres capas</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Núcleo CORE 3560, cuatro switches 3560 de distribución y switches 2960 de acceso.</a:t>
            </a:r>
            <a:endParaRPr lang="en-US" sz="1400" dirty="0"/>
          </a:p>
        </p:txBody>
      </p:sp>
      <p:sp>
        <p:nvSpPr>
          <p:cNvPr id="12" name="Text 7"/>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400" i="1" dirty="0">
                <a:solidFill>
                  <a:schemeClr val="bg2"/>
                </a:solidFill>
                <a:latin typeface="Calibri" pitchFamily="34" charset="0"/>
                <a:ea typeface="Calibri" pitchFamily="34" charset="-122"/>
                <a:cs typeface="Calibri" pitchFamily="34" charset="-120"/>
              </a:rPr>
              <a:t>Medios: UTP Cat 6 en la LAN, serial en la WAN e inalámbrico 802.11 para los usuarios móviles.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Diseño físico: sucursales</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02</a:t>
            </a:r>
            <a:endParaRPr lang="en-US" sz="1800" dirty="0"/>
          </a:p>
        </p:txBody>
      </p:sp>
      <p:sp>
        <p:nvSpPr>
          <p:cNvPr id="6" name="suc_card"/>
          <p:cNvSpPr/>
          <p:nvPr/>
        </p:nvSpPr>
        <p:spPr>
          <a:xfrm>
            <a:off x="548640" y="1325880"/>
            <a:ext cx="11109960" cy="3291840"/>
          </a:xfrm>
          <a:prstGeom prst="roundRect">
            <a:avLst>
              <a:gd name="adj" fmla="val 3333"/>
            </a:avLst>
          </a:prstGeom>
          <a:solidFill>
            <a:schemeClr val="tx2"/>
          </a:solidFill>
          <a:ln w="12700">
            <a:solidFill>
              <a:schemeClr val="tx2"/>
            </a:solidFill>
            <a:prstDash val="solid"/>
          </a:ln>
        </p:spPr>
      </p:sp>
      <p:pic>
        <p:nvPicPr>
          <p:cNvPr id="7" name="suc_img" descr="/home/claude/fin2/img_03_0.png">    </p:cNvPr>
          <p:cNvPicPr>
            <a:picLocks noChangeAspect="1"/>
          </p:cNvPicPr>
          <p:nvPr/>
        </p:nvPicPr>
        <p:blipFill>
          <a:blip r:embed="rId1"/>
          <a:stretch>
            <a:fillRect/>
          </a:stretch>
        </p:blipFill>
        <p:spPr>
          <a:xfrm>
            <a:off x="1677274" y="1463040"/>
            <a:ext cx="8852692" cy="3017520"/>
          </a:xfrm>
          <a:prstGeom prst="rect">
            <a:avLst/>
          </a:prstGeom>
        </p:spPr>
      </p:pic>
      <p:sp>
        <p:nvSpPr>
          <p:cNvPr id="8" name="Text 4"/>
          <p:cNvSpPr txBox="1"/>
          <p:nvPr/>
        </p:nvSpPr>
        <p:spPr>
          <a:xfrm>
            <a:off x="548640" y="4709160"/>
            <a:ext cx="11064240" cy="320040"/>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Ejemplo: La Libertad. Puno, Ica y Huánuco replican el mismo diseño.</a:t>
            </a:r>
            <a:endParaRPr lang="en-US" sz="1200" dirty="0"/>
          </a:p>
        </p:txBody>
      </p:sp>
      <p:sp>
        <p:nvSpPr>
          <p:cNvPr id="9" name="chip0"/>
          <p:cNvSpPr/>
          <p:nvPr/>
        </p:nvSpPr>
        <p:spPr>
          <a:xfrm>
            <a:off x="548640" y="5212080"/>
            <a:ext cx="3520440" cy="1005840"/>
          </a:xfrm>
          <a:prstGeom prst="roundRect">
            <a:avLst>
              <a:gd name="adj" fmla="val 10909"/>
            </a:avLst>
          </a:prstGeom>
          <a:solidFill>
            <a:schemeClr val="tx2"/>
          </a:solidFill>
          <a:ln w="12700">
            <a:solidFill>
              <a:schemeClr val="tx2"/>
            </a:solidFill>
            <a:prstDash val="solid"/>
          </a:ln>
        </p:spPr>
      </p:sp>
      <p:sp>
        <p:nvSpPr>
          <p:cNvPr id="10" name="Text 6"/>
          <p:cNvSpPr txBox="1"/>
          <p:nvPr/>
        </p:nvSpPr>
        <p:spPr>
          <a:xfrm>
            <a:off x="731520" y="5303520"/>
            <a:ext cx="3154680" cy="8686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Dos capas</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Switch central 2960 y cuatro switches de acceso.</a:t>
            </a:r>
            <a:endParaRPr lang="en-US" sz="1300" dirty="0"/>
          </a:p>
        </p:txBody>
      </p:sp>
      <p:sp>
        <p:nvSpPr>
          <p:cNvPr id="11" name="chip1"/>
          <p:cNvSpPr/>
          <p:nvPr/>
        </p:nvSpPr>
        <p:spPr>
          <a:xfrm>
            <a:off x="4343400" y="5212080"/>
            <a:ext cx="3520440" cy="1005840"/>
          </a:xfrm>
          <a:prstGeom prst="roundRect">
            <a:avLst>
              <a:gd name="adj" fmla="val 10909"/>
            </a:avLst>
          </a:prstGeom>
          <a:solidFill>
            <a:schemeClr val="tx2"/>
          </a:solidFill>
          <a:ln w="12700">
            <a:solidFill>
              <a:schemeClr val="tx2"/>
            </a:solidFill>
            <a:prstDash val="solid"/>
          </a:ln>
        </p:spPr>
      </p:sp>
      <p:sp>
        <p:nvSpPr>
          <p:cNvPr id="12" name="Text 8"/>
          <p:cNvSpPr txBox="1"/>
          <p:nvPr/>
        </p:nvSpPr>
        <p:spPr>
          <a:xfrm>
            <a:off x="4526280" y="5303520"/>
            <a:ext cx="3154680" cy="8686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Router 2911</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Conectado al switch central por un enlace troncal.</a:t>
            </a:r>
            <a:endParaRPr lang="en-US" sz="1300" dirty="0"/>
          </a:p>
        </p:txBody>
      </p:sp>
      <p:sp>
        <p:nvSpPr>
          <p:cNvPr id="13" name="chip2"/>
          <p:cNvSpPr/>
          <p:nvPr/>
        </p:nvSpPr>
        <p:spPr>
          <a:xfrm>
            <a:off x="8138160" y="5212080"/>
            <a:ext cx="3520440" cy="1005840"/>
          </a:xfrm>
          <a:prstGeom prst="roundRect">
            <a:avLst>
              <a:gd name="adj" fmla="val 10909"/>
            </a:avLst>
          </a:prstGeom>
          <a:solidFill>
            <a:schemeClr val="tx2"/>
          </a:solidFill>
          <a:ln w="12700">
            <a:solidFill>
              <a:schemeClr val="tx2"/>
            </a:solidFill>
            <a:prstDash val="solid"/>
          </a:ln>
        </p:spPr>
      </p:sp>
      <p:sp>
        <p:nvSpPr>
          <p:cNvPr id="14" name="Text 10"/>
          <p:cNvSpPr txBox="1"/>
          <p:nvPr/>
        </p:nvSpPr>
        <p:spPr>
          <a:xfrm>
            <a:off x="8321040" y="5303520"/>
            <a:ext cx="3154680" cy="8686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Cuatro áreas</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Administración, Ventas, Logística y Servidores.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Direccionamiento jerárquico con FLSM</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03</a:t>
            </a:r>
            <a:endParaRPr lang="en-US" sz="1800" dirty="0"/>
          </a:p>
        </p:txBody>
      </p:sp>
      <p:sp>
        <p:nvSpPr>
          <p:cNvPr id="6" name="flow0"/>
          <p:cNvSpPr/>
          <p:nvPr/>
        </p:nvSpPr>
        <p:spPr>
          <a:xfrm>
            <a:off x="548640" y="1371600"/>
            <a:ext cx="4572000" cy="1143000"/>
          </a:xfrm>
          <a:prstGeom prst="roundRect">
            <a:avLst>
              <a:gd name="adj" fmla="val 9600"/>
            </a:avLst>
          </a:prstGeom>
          <a:solidFill>
            <a:schemeClr val="tx2"/>
          </a:solidFill>
          <a:ln w="12700">
            <a:solidFill>
              <a:schemeClr val="tx2"/>
            </a:solidFill>
            <a:prstDash val="solid"/>
          </a:ln>
        </p:spPr>
      </p:sp>
      <p:sp>
        <p:nvSpPr>
          <p:cNvPr id="7" name="Text 4"/>
          <p:cNvSpPr txBox="1"/>
          <p:nvPr/>
        </p:nvSpPr>
        <p:spPr>
          <a:xfrm>
            <a:off x="777240" y="1527048"/>
            <a:ext cx="4206240" cy="8686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10.142.0.0/16</a:t>
            </a:r>
            <a:endParaRPr lang="en-US" sz="2200" dirty="0"/>
          </a:p>
          <a:p>
            <a:pPr indent="0" marL="0">
              <a:buNone/>
            </a:pPr>
            <a:r>
              <a:rPr lang="en-US" sz="1400" dirty="0">
                <a:solidFill>
                  <a:schemeClr val="bg1"/>
                </a:solidFill>
                <a:latin typeface="Calibri" pitchFamily="34" charset="0"/>
                <a:ea typeface="Calibri" pitchFamily="34" charset="-122"/>
                <a:cs typeface="Calibri" pitchFamily="34" charset="-120"/>
              </a:rPr>
              <a:t>Bloque de la multinacional</a:t>
            </a:r>
            <a:endParaRPr lang="en-US" sz="2200" dirty="0"/>
          </a:p>
        </p:txBody>
      </p:sp>
      <p:sp>
        <p:nvSpPr>
          <p:cNvPr id="8" name="arrow0"/>
          <p:cNvSpPr/>
          <p:nvPr/>
        </p:nvSpPr>
        <p:spPr>
          <a:xfrm>
            <a:off x="2606040" y="2532888"/>
            <a:ext cx="457200" cy="329184"/>
          </a:xfrm>
          <a:prstGeom prst="downArrow">
            <a:avLst/>
          </a:prstGeom>
          <a:solidFill>
            <a:schemeClr val="accent2"/>
          </a:solidFill>
          <a:ln w="12700">
            <a:solidFill>
              <a:schemeClr val="accent2"/>
            </a:solidFill>
            <a:prstDash val="solid"/>
          </a:ln>
        </p:spPr>
      </p:sp>
      <p:sp>
        <p:nvSpPr>
          <p:cNvPr id="9" name="Text 6"/>
          <p:cNvSpPr txBox="1"/>
          <p:nvPr/>
        </p:nvSpPr>
        <p:spPr>
          <a:xfrm>
            <a:off x="3200400" y="2532888"/>
            <a:ext cx="2743200" cy="329184"/>
          </a:xfrm>
          <a:prstGeom prst="rect">
            <a:avLst/>
          </a:prstGeom>
          <a:noFill/>
          <a:ln/>
        </p:spPr>
        <p:txBody>
          <a:bodyPr wrap="square" lIns="0" tIns="0" rIns="0" bIns="0" rtlCol="0" anchor="ctr"/>
          <a:lstStyle/>
          <a:p>
            <a:pPr indent="0" marL="0">
              <a:buNone/>
            </a:pPr>
            <a:r>
              <a:rPr lang="en-US" sz="1100" dirty="0">
                <a:solidFill>
                  <a:schemeClr val="bg2"/>
                </a:solidFill>
                <a:latin typeface="Calibri" pitchFamily="34" charset="0"/>
                <a:ea typeface="Calibri" pitchFamily="34" charset="-122"/>
                <a:cs typeface="Calibri" pitchFamily="34" charset="-120"/>
              </a:rPr>
              <a:t>3 bits prestados · 2³ = 8 subredes</a:t>
            </a:r>
            <a:endParaRPr lang="en-US" sz="1100" dirty="0"/>
          </a:p>
        </p:txBody>
      </p:sp>
      <p:sp>
        <p:nvSpPr>
          <p:cNvPr id="10" name="flow1"/>
          <p:cNvSpPr/>
          <p:nvPr/>
        </p:nvSpPr>
        <p:spPr>
          <a:xfrm>
            <a:off x="548640" y="2880360"/>
            <a:ext cx="4572000" cy="1143000"/>
          </a:xfrm>
          <a:prstGeom prst="roundRect">
            <a:avLst>
              <a:gd name="adj" fmla="val 9600"/>
            </a:avLst>
          </a:prstGeom>
          <a:solidFill>
            <a:schemeClr val="tx2"/>
          </a:solidFill>
          <a:ln w="12700">
            <a:solidFill>
              <a:schemeClr val="tx2"/>
            </a:solidFill>
            <a:prstDash val="solid"/>
          </a:ln>
        </p:spPr>
      </p:sp>
      <p:sp>
        <p:nvSpPr>
          <p:cNvPr id="11" name="Text 8"/>
          <p:cNvSpPr txBox="1"/>
          <p:nvPr/>
        </p:nvSpPr>
        <p:spPr>
          <a:xfrm>
            <a:off x="777240" y="3035808"/>
            <a:ext cx="4206240" cy="8686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10.142.32.0/19</a:t>
            </a:r>
            <a:endParaRPr lang="en-US" sz="2200" dirty="0"/>
          </a:p>
          <a:p>
            <a:pPr indent="0" marL="0">
              <a:buNone/>
            </a:pPr>
            <a:r>
              <a:rPr lang="en-US" sz="1400" dirty="0">
                <a:solidFill>
                  <a:schemeClr val="bg1"/>
                </a:solidFill>
                <a:latin typeface="Calibri" pitchFamily="34" charset="0"/>
                <a:ea typeface="Calibri" pitchFamily="34" charset="-122"/>
                <a:cs typeface="Calibri" pitchFamily="34" charset="-120"/>
              </a:rPr>
              <a:t>Subred de Perú</a:t>
            </a:r>
            <a:endParaRPr lang="en-US" sz="2200" dirty="0"/>
          </a:p>
        </p:txBody>
      </p:sp>
      <p:sp>
        <p:nvSpPr>
          <p:cNvPr id="12" name="arrow1"/>
          <p:cNvSpPr/>
          <p:nvPr/>
        </p:nvSpPr>
        <p:spPr>
          <a:xfrm>
            <a:off x="2606040" y="4041648"/>
            <a:ext cx="457200" cy="329184"/>
          </a:xfrm>
          <a:prstGeom prst="downArrow">
            <a:avLst/>
          </a:prstGeom>
          <a:solidFill>
            <a:schemeClr val="accent2"/>
          </a:solidFill>
          <a:ln w="12700">
            <a:solidFill>
              <a:schemeClr val="accent2"/>
            </a:solidFill>
            <a:prstDash val="solid"/>
          </a:ln>
        </p:spPr>
      </p:sp>
      <p:sp>
        <p:nvSpPr>
          <p:cNvPr id="13" name="Text 10"/>
          <p:cNvSpPr txBox="1"/>
          <p:nvPr/>
        </p:nvSpPr>
        <p:spPr>
          <a:xfrm>
            <a:off x="3200400" y="4041648"/>
            <a:ext cx="2743200" cy="329184"/>
          </a:xfrm>
          <a:prstGeom prst="rect">
            <a:avLst/>
          </a:prstGeom>
          <a:noFill/>
          <a:ln/>
        </p:spPr>
        <p:txBody>
          <a:bodyPr wrap="square" lIns="0" tIns="0" rIns="0" bIns="0" rtlCol="0" anchor="ctr"/>
          <a:lstStyle/>
          <a:p>
            <a:pPr indent="0" marL="0">
              <a:buNone/>
            </a:pPr>
            <a:r>
              <a:rPr lang="en-US" sz="1100" dirty="0">
                <a:solidFill>
                  <a:schemeClr val="bg2"/>
                </a:solidFill>
                <a:latin typeface="Calibri" pitchFamily="34" charset="0"/>
                <a:ea typeface="Calibri" pitchFamily="34" charset="-122"/>
                <a:cs typeface="Calibri" pitchFamily="34" charset="-120"/>
              </a:rPr>
              <a:t>3 bits prestados · 2³ = 8 subredes</a:t>
            </a:r>
            <a:endParaRPr lang="en-US" sz="1100" dirty="0"/>
          </a:p>
        </p:txBody>
      </p:sp>
      <p:sp>
        <p:nvSpPr>
          <p:cNvPr id="14" name="flow2"/>
          <p:cNvSpPr/>
          <p:nvPr/>
        </p:nvSpPr>
        <p:spPr>
          <a:xfrm>
            <a:off x="548640" y="4389120"/>
            <a:ext cx="4572000" cy="1143000"/>
          </a:xfrm>
          <a:prstGeom prst="roundRect">
            <a:avLst>
              <a:gd name="adj" fmla="val 9600"/>
            </a:avLst>
          </a:prstGeom>
          <a:solidFill>
            <a:schemeClr val="tx2"/>
          </a:solidFill>
          <a:ln w="12700">
            <a:solidFill>
              <a:schemeClr val="tx2"/>
            </a:solidFill>
            <a:prstDash val="solid"/>
          </a:ln>
        </p:spPr>
      </p:sp>
      <p:sp>
        <p:nvSpPr>
          <p:cNvPr id="15" name="Text 12"/>
          <p:cNvSpPr txBox="1"/>
          <p:nvPr/>
        </p:nvSpPr>
        <p:spPr>
          <a:xfrm>
            <a:off x="777240" y="4544568"/>
            <a:ext cx="4206240" cy="8686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/22 por sede</a:t>
            </a:r>
            <a:endParaRPr lang="en-US" sz="2200" dirty="0"/>
          </a:p>
          <a:p>
            <a:pPr indent="0" marL="0">
              <a:buNone/>
            </a:pPr>
            <a:r>
              <a:rPr lang="en-US" sz="1400" dirty="0">
                <a:solidFill>
                  <a:schemeClr val="bg1"/>
                </a:solidFill>
                <a:latin typeface="Calibri" pitchFamily="34" charset="0"/>
                <a:ea typeface="Calibri" pitchFamily="34" charset="-122"/>
                <a:cs typeface="Calibri" pitchFamily="34" charset="-120"/>
              </a:rPr>
              <a:t>1 022 hosts por bloque</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49240" cy="914400"/>
        </p:xfrm>
        <a:graphic>
          <a:graphicData uri="http://schemas.openxmlformats.org/drawingml/2006/table">
            <a:tbl>
              <a:tblPr/>
              <a:tblGrid>
                <a:gridCol w="1005840"/>
                <a:gridCol w="2331720"/>
                <a:gridCol w="2011680"/>
              </a:tblGrid>
              <a:tr h="42976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Subred</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Red /22</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Uso</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10.142.32.0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Reservado</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S1</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10.142.36.0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Redes WAN</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S2</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10.142.40.0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Lima</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10.142.44.0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La Libertad</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S4</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10.142.48.0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Puno</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10.142.52.0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Ica</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S6</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10.142.56.0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Huánuco</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S7</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10.142.60.0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Reserva</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bl>
          </a:graphicData>
        </a:graphic>
      </p:graphicFrame>
      <p:sp>
        <p:nvSpPr>
          <p:cNvPr id="17" name="Text 13"/>
          <p:cNvSpPr txBox="1"/>
          <p:nvPr/>
        </p:nvSpPr>
        <p:spPr>
          <a:xfrm>
            <a:off x="6309360" y="5486400"/>
            <a:ext cx="5349240" cy="365760"/>
          </a:xfrm>
          <a:prstGeom prst="rect">
            <a:avLst/>
          </a:prstGeom>
          <a:noFill/>
          <a:ln/>
        </p:spPr>
        <p:txBody>
          <a:bodyPr wrap="square" lIns="0" tIns="0" rIns="0" bIns="0" rtlCol="0" anchor="t"/>
          <a:lstStyle/>
          <a:p>
            <a:pPr indent="0" marL="0">
              <a:buNone/>
            </a:pPr>
            <a:r>
              <a:rPr lang="en-US" sz="1300" i="1" dirty="0">
                <a:solidFill>
                  <a:schemeClr val="bg2"/>
                </a:solidFill>
                <a:latin typeface="Calibri" pitchFamily="34" charset="0"/>
                <a:ea typeface="Calibri" pitchFamily="34" charset="-122"/>
                <a:cs typeface="Calibri" pitchFamily="34" charset="-120"/>
              </a:rPr>
              <a:t>Luego, cada sede se divide con VLSM según sus áreas.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VLSM de la sede principal (Lima)</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03</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2194560"/>
                <a:gridCol w="822960"/>
                <a:gridCol w="1280160"/>
                <a:gridCol w="1828800"/>
                <a:gridCol w="1463040"/>
              </a:tblGrid>
              <a:tr h="42976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Área</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VLAN</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Hosts +25 %</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Red</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Gateway</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Administración</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10.142.40.0/24</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10.142.40.1</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Logística</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10.142.41.0/25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10.142.41.1</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Finanzas</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10.142.41.128/25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10.142.41.129</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Ventas</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10.142.42.0/26</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10.142.42.1</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WiFi Ejecutivos</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10.142.42.64/26</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10.142.42.65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WiFi Clientes</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10.142.42.128/26</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10.142.42.129</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Marketing</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39</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10.142.42.192/27</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10.142.42.193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Servidores</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10.142.42.224/28</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10.142.42.225</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Enlace CORE–Router</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10.142.42.240/30</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.241 / .242</a:t>
                      </a:r>
                      <a:endParaRPr lang="en-US" sz="14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bl>
          </a:graphicData>
        </a:graphic>
      </p:graphicFrame>
      <p:sp>
        <p:nvSpPr>
          <p:cNvPr id="7" name="vlsm_note"/>
          <p:cNvSpPr/>
          <p:nvPr/>
        </p:nvSpPr>
        <p:spPr>
          <a:xfrm>
            <a:off x="8503920" y="1325880"/>
            <a:ext cx="3154680" cy="4297680"/>
          </a:xfrm>
          <a:prstGeom prst="roundRect">
            <a:avLst>
              <a:gd name="adj" fmla="val 3478"/>
            </a:avLst>
          </a:prstGeom>
          <a:solidFill>
            <a:schemeClr val="tx2"/>
          </a:solidFill>
          <a:ln w="12700">
            <a:solidFill>
              <a:schemeClr val="tx2"/>
            </a:solidFill>
            <a:prstDash val="solid"/>
          </a:ln>
        </p:spPr>
      </p:sp>
      <p:sp>
        <p:nvSpPr>
          <p:cNvPr id="8" name="Text 4"/>
          <p:cNvSpPr txBox="1"/>
          <p:nvPr/>
        </p:nvSpPr>
        <p:spPr>
          <a:xfrm>
            <a:off x="8732520" y="1554480"/>
            <a:ext cx="2743200" cy="393192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Regla aplicada</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Se asignan primero las subredes más grandes.</a:t>
            </a:r>
            <a:endParaRPr lang="en-US" sz="1500" dirty="0"/>
          </a:p>
          <a:p>
            <a:pPr indent="0" marL="0">
              <a:buNone/>
            </a:pPr>
            <a:r>
              <a:rPr lang="en-US" sz="800" dirty="0">
                <a:solidFill>
                  <a:schemeClr val="bg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El gateway es siempre la primera IP utilizable.</a:t>
            </a:r>
            <a:endParaRPr lang="en-US" sz="1500" dirty="0"/>
          </a:p>
          <a:p>
            <a:pPr indent="0" marL="0">
              <a:buNone/>
            </a:pPr>
            <a:r>
              <a:rPr lang="en-US" sz="800" dirty="0">
                <a:solidFill>
                  <a:schemeClr val="bg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El enlace al router usa una /30: solo necesita 2 direcciones.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VLSM de las sucursales</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03</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965960"/>
                <a:gridCol w="2286000"/>
                <a:gridCol w="2286000"/>
                <a:gridCol w="2286000"/>
                <a:gridCol w="2286000"/>
              </a:tblGrid>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Sede</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Administración · V3</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Ventas · V21</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Logística · V9</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Servidores · V45</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1"/>
                    </a:solidFill>
                  </a:tcPr>
                </a:tc>
              </a:tr>
              <a:tr h="56692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La Libertad</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10.142.44.0/23</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10.142.46.0/24</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10.142.47.0/25</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10.142.47.128/29</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Puno</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10.142.48.0/23</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10.142.50.0/24</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10.142.51.0/26</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10.142.51.64/29</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r h="56692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Ica</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10.142.52.0/23</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10.142.54.0/25</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10.142.54.128/26</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10.142.54.192/29</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Huánuco</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10.142.56.0/24</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10.142.57.0/25</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10.142.57.128/26</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10.142.57.192/29</a:t>
                      </a:r>
                      <a:endParaRPr lang="en-US" sz="1500" dirty="0">
                        <a:latin typeface="Calibri" charset="0"/>
                        <a:ea typeface="Calibri" charset="0"/>
                        <a:cs typeface="Calibri" charset="0"/>
                      </a:endParaRPr>
                    </a:p>
                  </a:txBody>
                  <a:tcPr marL="76200" marR="76200" marT="38100" marB="38100" anchor="ctr">
                    <a:lnL w="6350" cap="flat" cmpd="sng" algn="ctr">
                      <a:solidFill>
                        <a:srgbClr val="1E2229"/>
                      </a:solidFill>
                      <a:prstDash val="solid"/>
                      <a:round/>
                      <a:headEnd type="none" w="med" len="med"/>
                      <a:tailEnd type="none" w="med" len="med"/>
                    </a:lnL>
                    <a:lnR w="6350" cap="flat" cmpd="sng" algn="ctr">
                      <a:solidFill>
                        <a:srgbClr val="1E2229"/>
                      </a:solidFill>
                      <a:prstDash val="solid"/>
                      <a:round/>
                      <a:headEnd type="none" w="med" len="med"/>
                      <a:tailEnd type="none" w="med" len="med"/>
                    </a:lnR>
                    <a:lnT w="6350" cap="flat" cmpd="sng" algn="ctr">
                      <a:solidFill>
                        <a:srgbClr val="1E2229"/>
                      </a:solidFill>
                      <a:prstDash val="solid"/>
                      <a:round/>
                      <a:headEnd type="none" w="med" len="med"/>
                      <a:tailEnd type="none" w="med" len="med"/>
                    </a:lnT>
                    <a:lnB w="6350" cap="flat" cmpd="sng" algn="ctr">
                      <a:solidFill>
                        <a:srgbClr val="1E2229"/>
                      </a:solidFill>
                      <a:prstDash val="solid"/>
                      <a:round/>
                      <a:headEnd type="none" w="med" len="med"/>
                      <a:tailEnd type="none" w="med" len="med"/>
                    </a:lnB>
                    <a:solidFill>
                      <a:schemeClr val="accent5"/>
                    </a:solidFill>
                  </a:tcPr>
                </a:tc>
              </a:tr>
            </a:tbl>
          </a:graphicData>
        </a:graphic>
      </p:graphicFrame>
      <p:sp>
        <p:nvSpPr>
          <p:cNvPr id="7" name="sn0"/>
          <p:cNvSpPr/>
          <p:nvPr/>
        </p:nvSpPr>
        <p:spPr>
          <a:xfrm>
            <a:off x="548640" y="4572000"/>
            <a:ext cx="3520440" cy="1188720"/>
          </a:xfrm>
          <a:prstGeom prst="roundRect">
            <a:avLst>
              <a:gd name="adj" fmla="val 9231"/>
            </a:avLst>
          </a:prstGeom>
          <a:solidFill>
            <a:schemeClr val="tx2"/>
          </a:solidFill>
          <a:ln w="12700">
            <a:solidFill>
              <a:schemeClr val="tx2"/>
            </a:solidFill>
            <a:prstDash val="solid"/>
          </a:ln>
        </p:spPr>
      </p:sp>
      <p:sp>
        <p:nvSpPr>
          <p:cNvPr id="8" name="Text 4"/>
          <p:cNvSpPr txBox="1"/>
          <p:nvPr/>
        </p:nvSpPr>
        <p:spPr>
          <a:xfrm>
            <a:off x="731520" y="4681728"/>
            <a:ext cx="3154680" cy="10058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Mismos ID de VLAN</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en todas las sedes: más fácil de administrar.</a:t>
            </a:r>
            <a:endParaRPr lang="en-US" sz="1400" dirty="0"/>
          </a:p>
        </p:txBody>
      </p:sp>
      <p:sp>
        <p:nvSpPr>
          <p:cNvPr id="9" name="sn1"/>
          <p:cNvSpPr/>
          <p:nvPr/>
        </p:nvSpPr>
        <p:spPr>
          <a:xfrm>
            <a:off x="4343400" y="4572000"/>
            <a:ext cx="3520440" cy="1188720"/>
          </a:xfrm>
          <a:prstGeom prst="roundRect">
            <a:avLst>
              <a:gd name="adj" fmla="val 9231"/>
            </a:avLst>
          </a:prstGeom>
          <a:solidFill>
            <a:schemeClr val="tx2"/>
          </a:solidFill>
          <a:ln w="12700">
            <a:solidFill>
              <a:schemeClr val="tx2"/>
            </a:solidFill>
            <a:prstDash val="solid"/>
          </a:ln>
        </p:spPr>
      </p:sp>
      <p:sp>
        <p:nvSpPr>
          <p:cNvPr id="10" name="Text 6"/>
          <p:cNvSpPr txBox="1"/>
          <p:nvPr/>
        </p:nvSpPr>
        <p:spPr>
          <a:xfrm>
            <a:off x="4526280" y="4681728"/>
            <a:ext cx="3154680" cy="10058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Sin conflictos</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porque las VLAN quedan separadas por routers.</a:t>
            </a:r>
            <a:endParaRPr lang="en-US" sz="1400" dirty="0"/>
          </a:p>
        </p:txBody>
      </p:sp>
      <p:sp>
        <p:nvSpPr>
          <p:cNvPr id="11" name="sn2"/>
          <p:cNvSpPr/>
          <p:nvPr/>
        </p:nvSpPr>
        <p:spPr>
          <a:xfrm>
            <a:off x="8138160" y="4572000"/>
            <a:ext cx="3520440" cy="1188720"/>
          </a:xfrm>
          <a:prstGeom prst="roundRect">
            <a:avLst>
              <a:gd name="adj" fmla="val 9231"/>
            </a:avLst>
          </a:prstGeom>
          <a:solidFill>
            <a:schemeClr val="tx2"/>
          </a:solidFill>
          <a:ln w="12700">
            <a:solidFill>
              <a:schemeClr val="tx2"/>
            </a:solidFill>
            <a:prstDash val="solid"/>
          </a:ln>
        </p:spPr>
      </p:sp>
      <p:sp>
        <p:nvSpPr>
          <p:cNvPr id="12" name="Text 8"/>
          <p:cNvSpPr txBox="1"/>
          <p:nvPr/>
        </p:nvSpPr>
        <p:spPr>
          <a:xfrm>
            <a:off x="8321040" y="4681728"/>
            <a:ext cx="3154680" cy="10058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Gateway</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en la primera IP de cada red (sub-interfaz del router).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VLANs y enlaces troncales</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04</a:t>
            </a:r>
            <a:endParaRPr lang="en-US" sz="1800" dirty="0"/>
          </a:p>
        </p:txBody>
      </p:sp>
      <p:sp>
        <p:nvSpPr>
          <p:cNvPr id="6" name="vl0"/>
          <p:cNvSpPr/>
          <p:nvPr/>
        </p:nvSpPr>
        <p:spPr>
          <a:xfrm>
            <a:off x="548640" y="1371600"/>
            <a:ext cx="1417320" cy="1371600"/>
          </a:xfrm>
          <a:prstGeom prst="roundRect">
            <a:avLst>
              <a:gd name="adj" fmla="val 8000"/>
            </a:avLst>
          </a:prstGeom>
          <a:solidFill>
            <a:schemeClr val="tx2"/>
          </a:solidFill>
          <a:ln w="12700">
            <a:solidFill>
              <a:schemeClr val="tx2"/>
            </a:solidFill>
            <a:prstDash val="solid"/>
          </a:ln>
        </p:spPr>
      </p:sp>
      <p:sp>
        <p:nvSpPr>
          <p:cNvPr id="7" name="Text 4"/>
          <p:cNvSpPr txBox="1"/>
          <p:nvPr/>
        </p:nvSpPr>
        <p:spPr>
          <a:xfrm>
            <a:off x="548640" y="15087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8" name="Text 5"/>
          <p:cNvSpPr txBox="1"/>
          <p:nvPr/>
        </p:nvSpPr>
        <p:spPr>
          <a:xfrm>
            <a:off x="594360" y="21945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Administración</a:t>
            </a:r>
            <a:endParaRPr lang="en-US" sz="1200" dirty="0"/>
          </a:p>
        </p:txBody>
      </p:sp>
      <p:sp>
        <p:nvSpPr>
          <p:cNvPr id="9" name="vl1"/>
          <p:cNvSpPr/>
          <p:nvPr/>
        </p:nvSpPr>
        <p:spPr>
          <a:xfrm>
            <a:off x="2148840" y="1371600"/>
            <a:ext cx="1417320" cy="1371600"/>
          </a:xfrm>
          <a:prstGeom prst="roundRect">
            <a:avLst>
              <a:gd name="adj" fmla="val 8000"/>
            </a:avLst>
          </a:prstGeom>
          <a:solidFill>
            <a:schemeClr val="tx2"/>
          </a:solidFill>
          <a:ln w="12700">
            <a:solidFill>
              <a:schemeClr val="tx2"/>
            </a:solidFill>
            <a:prstDash val="solid"/>
          </a:ln>
        </p:spPr>
      </p:sp>
      <p:sp>
        <p:nvSpPr>
          <p:cNvPr id="10" name="Text 7"/>
          <p:cNvSpPr txBox="1"/>
          <p:nvPr/>
        </p:nvSpPr>
        <p:spPr>
          <a:xfrm>
            <a:off x="2148840" y="15087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9</a:t>
            </a:r>
            <a:endParaRPr lang="en-US" sz="3200" dirty="0"/>
          </a:p>
        </p:txBody>
      </p:sp>
      <p:sp>
        <p:nvSpPr>
          <p:cNvPr id="11" name="Text 8"/>
          <p:cNvSpPr txBox="1"/>
          <p:nvPr/>
        </p:nvSpPr>
        <p:spPr>
          <a:xfrm>
            <a:off x="2194560" y="21945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Logística</a:t>
            </a:r>
            <a:endParaRPr lang="en-US" sz="1200" dirty="0"/>
          </a:p>
        </p:txBody>
      </p:sp>
      <p:sp>
        <p:nvSpPr>
          <p:cNvPr id="12" name="vl2"/>
          <p:cNvSpPr/>
          <p:nvPr/>
        </p:nvSpPr>
        <p:spPr>
          <a:xfrm>
            <a:off x="3749040" y="1371600"/>
            <a:ext cx="1417320" cy="1371600"/>
          </a:xfrm>
          <a:prstGeom prst="roundRect">
            <a:avLst>
              <a:gd name="adj" fmla="val 8000"/>
            </a:avLst>
          </a:prstGeom>
          <a:solidFill>
            <a:schemeClr val="tx2"/>
          </a:solidFill>
          <a:ln w="12700">
            <a:solidFill>
              <a:schemeClr val="tx2"/>
            </a:solidFill>
            <a:prstDash val="solid"/>
          </a:ln>
        </p:spPr>
      </p:sp>
      <p:sp>
        <p:nvSpPr>
          <p:cNvPr id="13" name="Text 10"/>
          <p:cNvSpPr txBox="1"/>
          <p:nvPr/>
        </p:nvSpPr>
        <p:spPr>
          <a:xfrm>
            <a:off x="3749040" y="15087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15</a:t>
            </a:r>
            <a:endParaRPr lang="en-US" sz="3200" dirty="0"/>
          </a:p>
        </p:txBody>
      </p:sp>
      <p:sp>
        <p:nvSpPr>
          <p:cNvPr id="14" name="Text 11"/>
          <p:cNvSpPr txBox="1"/>
          <p:nvPr/>
        </p:nvSpPr>
        <p:spPr>
          <a:xfrm>
            <a:off x="3794760" y="21945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Finanzas</a:t>
            </a:r>
            <a:endParaRPr lang="en-US" sz="1200" dirty="0"/>
          </a:p>
        </p:txBody>
      </p:sp>
      <p:sp>
        <p:nvSpPr>
          <p:cNvPr id="15" name="vl3"/>
          <p:cNvSpPr/>
          <p:nvPr/>
        </p:nvSpPr>
        <p:spPr>
          <a:xfrm>
            <a:off x="5349240" y="1371600"/>
            <a:ext cx="1417320" cy="1371600"/>
          </a:xfrm>
          <a:prstGeom prst="roundRect">
            <a:avLst>
              <a:gd name="adj" fmla="val 8000"/>
            </a:avLst>
          </a:prstGeom>
          <a:solidFill>
            <a:schemeClr val="tx2"/>
          </a:solidFill>
          <a:ln w="12700">
            <a:solidFill>
              <a:schemeClr val="tx2"/>
            </a:solidFill>
            <a:prstDash val="solid"/>
          </a:ln>
        </p:spPr>
      </p:sp>
      <p:sp>
        <p:nvSpPr>
          <p:cNvPr id="16" name="Text 13"/>
          <p:cNvSpPr txBox="1"/>
          <p:nvPr/>
        </p:nvSpPr>
        <p:spPr>
          <a:xfrm>
            <a:off x="5349240" y="15087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21</a:t>
            </a:r>
            <a:endParaRPr lang="en-US" sz="3200" dirty="0"/>
          </a:p>
        </p:txBody>
      </p:sp>
      <p:sp>
        <p:nvSpPr>
          <p:cNvPr id="17" name="Text 14"/>
          <p:cNvSpPr txBox="1"/>
          <p:nvPr/>
        </p:nvSpPr>
        <p:spPr>
          <a:xfrm>
            <a:off x="5394960" y="21945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Ventas</a:t>
            </a:r>
            <a:endParaRPr lang="en-US" sz="1200" dirty="0"/>
          </a:p>
        </p:txBody>
      </p:sp>
      <p:sp>
        <p:nvSpPr>
          <p:cNvPr id="18" name="vl4"/>
          <p:cNvSpPr/>
          <p:nvPr/>
        </p:nvSpPr>
        <p:spPr>
          <a:xfrm>
            <a:off x="548640" y="2971800"/>
            <a:ext cx="1417320" cy="1371600"/>
          </a:xfrm>
          <a:prstGeom prst="roundRect">
            <a:avLst>
              <a:gd name="adj" fmla="val 8000"/>
            </a:avLst>
          </a:prstGeom>
          <a:solidFill>
            <a:schemeClr val="tx2"/>
          </a:solidFill>
          <a:ln w="12700">
            <a:solidFill>
              <a:schemeClr val="tx2"/>
            </a:solidFill>
            <a:prstDash val="solid"/>
          </a:ln>
        </p:spPr>
      </p:sp>
      <p:sp>
        <p:nvSpPr>
          <p:cNvPr id="19" name="Text 16"/>
          <p:cNvSpPr txBox="1"/>
          <p:nvPr/>
        </p:nvSpPr>
        <p:spPr>
          <a:xfrm>
            <a:off x="548640" y="31089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27</a:t>
            </a:r>
            <a:endParaRPr lang="en-US" sz="3200" dirty="0"/>
          </a:p>
        </p:txBody>
      </p:sp>
      <p:sp>
        <p:nvSpPr>
          <p:cNvPr id="20" name="Text 17"/>
          <p:cNvSpPr txBox="1"/>
          <p:nvPr/>
        </p:nvSpPr>
        <p:spPr>
          <a:xfrm>
            <a:off x="594360" y="37947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WiFi Ejecutivos</a:t>
            </a:r>
            <a:endParaRPr lang="en-US" sz="1200" dirty="0"/>
          </a:p>
        </p:txBody>
      </p:sp>
      <p:sp>
        <p:nvSpPr>
          <p:cNvPr id="21" name="vl5"/>
          <p:cNvSpPr/>
          <p:nvPr/>
        </p:nvSpPr>
        <p:spPr>
          <a:xfrm>
            <a:off x="2148840" y="2971800"/>
            <a:ext cx="1417320" cy="1371600"/>
          </a:xfrm>
          <a:prstGeom prst="roundRect">
            <a:avLst>
              <a:gd name="adj" fmla="val 8000"/>
            </a:avLst>
          </a:prstGeom>
          <a:solidFill>
            <a:schemeClr val="tx2"/>
          </a:solidFill>
          <a:ln w="12700">
            <a:solidFill>
              <a:schemeClr val="tx2"/>
            </a:solidFill>
            <a:prstDash val="solid"/>
          </a:ln>
        </p:spPr>
      </p:sp>
      <p:sp>
        <p:nvSpPr>
          <p:cNvPr id="22" name="Text 19"/>
          <p:cNvSpPr txBox="1"/>
          <p:nvPr/>
        </p:nvSpPr>
        <p:spPr>
          <a:xfrm>
            <a:off x="2148840" y="31089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33</a:t>
            </a:r>
            <a:endParaRPr lang="en-US" sz="3200" dirty="0"/>
          </a:p>
        </p:txBody>
      </p:sp>
      <p:sp>
        <p:nvSpPr>
          <p:cNvPr id="23" name="Text 20"/>
          <p:cNvSpPr txBox="1"/>
          <p:nvPr/>
        </p:nvSpPr>
        <p:spPr>
          <a:xfrm>
            <a:off x="2194560" y="37947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WiFi Clientes</a:t>
            </a:r>
            <a:endParaRPr lang="en-US" sz="1200" dirty="0"/>
          </a:p>
        </p:txBody>
      </p:sp>
      <p:sp>
        <p:nvSpPr>
          <p:cNvPr id="24" name="vl6"/>
          <p:cNvSpPr/>
          <p:nvPr/>
        </p:nvSpPr>
        <p:spPr>
          <a:xfrm>
            <a:off x="3749040" y="2971800"/>
            <a:ext cx="1417320" cy="1371600"/>
          </a:xfrm>
          <a:prstGeom prst="roundRect">
            <a:avLst>
              <a:gd name="adj" fmla="val 8000"/>
            </a:avLst>
          </a:prstGeom>
          <a:solidFill>
            <a:schemeClr val="tx2"/>
          </a:solidFill>
          <a:ln w="12700">
            <a:solidFill>
              <a:schemeClr val="tx2"/>
            </a:solidFill>
            <a:prstDash val="solid"/>
          </a:ln>
        </p:spPr>
      </p:sp>
      <p:sp>
        <p:nvSpPr>
          <p:cNvPr id="25" name="Text 22"/>
          <p:cNvSpPr txBox="1"/>
          <p:nvPr/>
        </p:nvSpPr>
        <p:spPr>
          <a:xfrm>
            <a:off x="3749040" y="31089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39</a:t>
            </a:r>
            <a:endParaRPr lang="en-US" sz="3200" dirty="0"/>
          </a:p>
        </p:txBody>
      </p:sp>
      <p:sp>
        <p:nvSpPr>
          <p:cNvPr id="26" name="Text 23"/>
          <p:cNvSpPr txBox="1"/>
          <p:nvPr/>
        </p:nvSpPr>
        <p:spPr>
          <a:xfrm>
            <a:off x="3794760" y="37947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Marketing</a:t>
            </a:r>
            <a:endParaRPr lang="en-US" sz="1200" dirty="0"/>
          </a:p>
        </p:txBody>
      </p:sp>
      <p:sp>
        <p:nvSpPr>
          <p:cNvPr id="27" name="vl7"/>
          <p:cNvSpPr/>
          <p:nvPr/>
        </p:nvSpPr>
        <p:spPr>
          <a:xfrm>
            <a:off x="5349240" y="2971800"/>
            <a:ext cx="1417320" cy="1371600"/>
          </a:xfrm>
          <a:prstGeom prst="roundRect">
            <a:avLst>
              <a:gd name="adj" fmla="val 8000"/>
            </a:avLst>
          </a:prstGeom>
          <a:solidFill>
            <a:schemeClr val="tx2"/>
          </a:solidFill>
          <a:ln w="12700">
            <a:solidFill>
              <a:schemeClr val="tx2"/>
            </a:solidFill>
            <a:prstDash val="solid"/>
          </a:ln>
        </p:spPr>
      </p:sp>
      <p:sp>
        <p:nvSpPr>
          <p:cNvPr id="28" name="Text 25"/>
          <p:cNvSpPr txBox="1"/>
          <p:nvPr/>
        </p:nvSpPr>
        <p:spPr>
          <a:xfrm>
            <a:off x="5349240" y="3108960"/>
            <a:ext cx="1417320" cy="685800"/>
          </a:xfrm>
          <a:prstGeom prst="rect">
            <a:avLst/>
          </a:prstGeom>
          <a:noFill/>
          <a:ln/>
        </p:spPr>
        <p:txBody>
          <a:bodyPr wrap="square" lIns="0" tIns="0" rIns="0" bIns="0" rtlCol="0" anchor="t"/>
          <a:lstStyle/>
          <a:p>
            <a:pPr algn="ctr" indent="0" marL="0">
              <a:buNone/>
            </a:pPr>
            <a:r>
              <a:rPr lang="en-US" sz="3200" b="1" dirty="0">
                <a:solidFill>
                  <a:schemeClr val="accent1"/>
                </a:solidFill>
                <a:latin typeface="Cambria" pitchFamily="34" charset="0"/>
                <a:ea typeface="Cambria" pitchFamily="34" charset="-122"/>
                <a:cs typeface="Cambria" pitchFamily="34" charset="-120"/>
              </a:rPr>
              <a:t>45</a:t>
            </a:r>
            <a:endParaRPr lang="en-US" sz="3200" dirty="0"/>
          </a:p>
        </p:txBody>
      </p:sp>
      <p:sp>
        <p:nvSpPr>
          <p:cNvPr id="29" name="Text 26"/>
          <p:cNvSpPr txBox="1"/>
          <p:nvPr/>
        </p:nvSpPr>
        <p:spPr>
          <a:xfrm>
            <a:off x="5394960" y="3794760"/>
            <a:ext cx="1325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Servidores</a:t>
            </a:r>
            <a:endParaRPr lang="en-US" sz="1200" dirty="0"/>
          </a:p>
        </p:txBody>
      </p:sp>
      <p:sp>
        <p:nvSpPr>
          <p:cNvPr id="30" name="Text 27"/>
          <p:cNvSpPr txBox="1"/>
          <p:nvPr/>
        </p:nvSpPr>
        <p:spPr>
          <a:xfrm>
            <a:off x="548640" y="4663440"/>
            <a:ext cx="6217920" cy="365760"/>
          </a:xfrm>
          <a:prstGeom prst="rect">
            <a:avLst/>
          </a:prstGeom>
          <a:noFill/>
          <a:ln/>
        </p:spPr>
        <p:txBody>
          <a:bodyPr wrap="square" lIns="0" tIns="0" rIns="0" bIns="0" rtlCol="0" anchor="t"/>
          <a:lstStyle/>
          <a:p>
            <a:pPr indent="0" marL="0">
              <a:buNone/>
            </a:pPr>
            <a:r>
              <a:rPr lang="en-US" sz="1300" i="1" dirty="0">
                <a:solidFill>
                  <a:schemeClr val="bg2"/>
                </a:solidFill>
                <a:latin typeface="Calibri" pitchFamily="34" charset="0"/>
                <a:ea typeface="Calibri" pitchFamily="34" charset="-122"/>
                <a:cs typeface="Calibri" pitchFamily="34" charset="-120"/>
              </a:rPr>
              <a:t>VLAN de Lima. Las sucursales usan 3, 9, 21 y 45.</a:t>
            </a:r>
            <a:endParaRPr lang="en-US" sz="1300" dirty="0"/>
          </a:p>
        </p:txBody>
      </p:sp>
      <p:sp>
        <p:nvSpPr>
          <p:cNvPr id="31" name="pt0"/>
          <p:cNvSpPr/>
          <p:nvPr/>
        </p:nvSpPr>
        <p:spPr>
          <a:xfrm>
            <a:off x="7086600" y="1371600"/>
            <a:ext cx="4572000" cy="2011680"/>
          </a:xfrm>
          <a:prstGeom prst="roundRect">
            <a:avLst>
              <a:gd name="adj" fmla="val 5455"/>
            </a:avLst>
          </a:prstGeom>
          <a:solidFill>
            <a:schemeClr val="tx2"/>
          </a:solidFill>
          <a:ln w="12700">
            <a:solidFill>
              <a:schemeClr val="tx2"/>
            </a:solidFill>
            <a:prstDash val="solid"/>
          </a:ln>
        </p:spPr>
      </p:sp>
      <p:sp>
        <p:nvSpPr>
          <p:cNvPr id="32" name="Text 29"/>
          <p:cNvSpPr txBox="1"/>
          <p:nvPr/>
        </p:nvSpPr>
        <p:spPr>
          <a:xfrm>
            <a:off x="7269480" y="1508760"/>
            <a:ext cx="4206240" cy="868680"/>
          </a:xfrm>
          <a:prstGeom prst="rect">
            <a:avLst/>
          </a:prstGeom>
          <a:noFill/>
          <a:ln/>
        </p:spPr>
        <p:txBody>
          <a:bodyPr wrap="square" lIns="0" tIns="0" rIns="0" bIns="0" rtlCol="0" anchor="t"/>
          <a:lstStyle/>
          <a:p>
            <a:pPr indent="0" marL="0">
              <a:buNone/>
            </a:pPr>
            <a:r>
              <a:rPr lang="en-US" sz="1700" b="1" dirty="0">
                <a:solidFill>
                  <a:schemeClr val="accent1"/>
                </a:solidFill>
                <a:latin typeface="Calibri" pitchFamily="34" charset="0"/>
                <a:ea typeface="Calibri" pitchFamily="34" charset="-122"/>
                <a:cs typeface="Calibri" pitchFamily="34" charset="-120"/>
              </a:rPr>
              <a:t>Puerto de acceso</a:t>
            </a:r>
            <a:endParaRPr lang="en-US" sz="1700" dirty="0"/>
          </a:p>
          <a:p>
            <a:pPr indent="0" marL="0">
              <a:buNone/>
            </a:pPr>
            <a:r>
              <a:rPr lang="en-US" sz="1400" dirty="0">
                <a:solidFill>
                  <a:schemeClr val="bg1"/>
                </a:solidFill>
                <a:latin typeface="Calibri" pitchFamily="34" charset="0"/>
                <a:ea typeface="Calibri" pitchFamily="34" charset="-122"/>
                <a:cs typeface="Calibri" pitchFamily="34" charset="-120"/>
              </a:rPr>
              <a:t>PC, servidor o AP: una sola VLAN.</a:t>
            </a:r>
            <a:endParaRPr lang="en-US" sz="1700" dirty="0"/>
          </a:p>
        </p:txBody>
      </p:sp>
      <p:sp>
        <p:nvSpPr>
          <p:cNvPr id="33" name="Text 30"/>
          <p:cNvSpPr txBox="1"/>
          <p:nvPr/>
        </p:nvSpPr>
        <p:spPr>
          <a:xfrm>
            <a:off x="7269480" y="2468880"/>
            <a:ext cx="4206240" cy="73152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switchport mode access</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switchport access vlan 21</a:t>
            </a:r>
            <a:endParaRPr lang="en-US" sz="1100" dirty="0"/>
          </a:p>
        </p:txBody>
      </p:sp>
      <p:sp>
        <p:nvSpPr>
          <p:cNvPr id="34" name="pt1"/>
          <p:cNvSpPr/>
          <p:nvPr/>
        </p:nvSpPr>
        <p:spPr>
          <a:xfrm>
            <a:off x="7086600" y="3611880"/>
            <a:ext cx="4572000" cy="2011680"/>
          </a:xfrm>
          <a:prstGeom prst="roundRect">
            <a:avLst>
              <a:gd name="adj" fmla="val 5455"/>
            </a:avLst>
          </a:prstGeom>
          <a:solidFill>
            <a:schemeClr val="tx2"/>
          </a:solidFill>
          <a:ln w="12700">
            <a:solidFill>
              <a:schemeClr val="tx2"/>
            </a:solidFill>
            <a:prstDash val="solid"/>
          </a:ln>
        </p:spPr>
      </p:sp>
      <p:sp>
        <p:nvSpPr>
          <p:cNvPr id="35" name="Text 32"/>
          <p:cNvSpPr txBox="1"/>
          <p:nvPr/>
        </p:nvSpPr>
        <p:spPr>
          <a:xfrm>
            <a:off x="7269480" y="3749040"/>
            <a:ext cx="4206240" cy="868680"/>
          </a:xfrm>
          <a:prstGeom prst="rect">
            <a:avLst/>
          </a:prstGeom>
          <a:noFill/>
          <a:ln/>
        </p:spPr>
        <p:txBody>
          <a:bodyPr wrap="square" lIns="0" tIns="0" rIns="0" bIns="0" rtlCol="0" anchor="t"/>
          <a:lstStyle/>
          <a:p>
            <a:pPr indent="0" marL="0">
              <a:buNone/>
            </a:pPr>
            <a:r>
              <a:rPr lang="en-US" sz="1700" b="1" dirty="0">
                <a:solidFill>
                  <a:schemeClr val="accent1"/>
                </a:solidFill>
                <a:latin typeface="Calibri" pitchFamily="34" charset="0"/>
                <a:ea typeface="Calibri" pitchFamily="34" charset="-122"/>
                <a:cs typeface="Calibri" pitchFamily="34" charset="-120"/>
              </a:rPr>
              <a:t>Enlace troncal 802.1Q</a:t>
            </a:r>
            <a:endParaRPr lang="en-US" sz="1700" dirty="0"/>
          </a:p>
          <a:p>
            <a:pPr indent="0" marL="0">
              <a:buNone/>
            </a:pPr>
            <a:r>
              <a:rPr lang="en-US" sz="1400" dirty="0">
                <a:solidFill>
                  <a:schemeClr val="bg1"/>
                </a:solidFill>
                <a:latin typeface="Calibri" pitchFamily="34" charset="0"/>
                <a:ea typeface="Calibri" pitchFamily="34" charset="-122"/>
                <a:cs typeface="Calibri" pitchFamily="34" charset="-120"/>
              </a:rPr>
              <a:t>Entre switches y hacia el router: varias VLAN por un cable.</a:t>
            </a:r>
            <a:endParaRPr lang="en-US" sz="1700" dirty="0"/>
          </a:p>
        </p:txBody>
      </p:sp>
      <p:sp>
        <p:nvSpPr>
          <p:cNvPr id="36" name="Text 33"/>
          <p:cNvSpPr txBox="1"/>
          <p:nvPr/>
        </p:nvSpPr>
        <p:spPr>
          <a:xfrm>
            <a:off x="7269480" y="4709160"/>
            <a:ext cx="4206240" cy="73152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switchport trunk encapsulation dot1q  (solo 3560)</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switchport mode trunk</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Enrutamiento InterVLAN</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04</a:t>
            </a:r>
            <a:endParaRPr lang="en-US" sz="1800" dirty="0"/>
          </a:p>
        </p:txBody>
      </p:sp>
      <p:sp>
        <p:nvSpPr>
          <p:cNvPr id="6" name="iv0"/>
          <p:cNvSpPr/>
          <p:nvPr/>
        </p:nvSpPr>
        <p:spPr>
          <a:xfrm>
            <a:off x="548640" y="1371600"/>
            <a:ext cx="5440680" cy="4297680"/>
          </a:xfrm>
          <a:prstGeom prst="roundRect">
            <a:avLst>
              <a:gd name="adj" fmla="val 2553"/>
            </a:avLst>
          </a:prstGeom>
          <a:solidFill>
            <a:schemeClr val="tx2"/>
          </a:solidFill>
          <a:ln w="12700">
            <a:solidFill>
              <a:schemeClr val="tx2"/>
            </a:solidFill>
            <a:prstDash val="solid"/>
          </a:ln>
        </p:spPr>
      </p:sp>
      <p:sp>
        <p:nvSpPr>
          <p:cNvPr id="7" name="Text 4"/>
          <p:cNvSpPr txBox="1"/>
          <p:nvPr/>
        </p:nvSpPr>
        <p:spPr>
          <a:xfrm>
            <a:off x="822960" y="1554480"/>
            <a:ext cx="48920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Lima · switch capa 3</a:t>
            </a:r>
            <a:endParaRPr lang="en-US" sz="2000" dirty="0"/>
          </a:p>
        </p:txBody>
      </p:sp>
      <p:sp>
        <p:nvSpPr>
          <p:cNvPr id="8" name="Text 5"/>
          <p:cNvSpPr txBox="1"/>
          <p:nvPr/>
        </p:nvSpPr>
        <p:spPr>
          <a:xfrm>
            <a:off x="822960" y="2103120"/>
            <a:ext cx="4892040" cy="11887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CORE 3560 con una SVI por VLAN como gateway e ip routing. El puerto hacia el router es enrutado (no switchport).</a:t>
            </a:r>
            <a:endParaRPr lang="en-US" sz="1500" dirty="0"/>
          </a:p>
        </p:txBody>
      </p:sp>
      <p:sp>
        <p:nvSpPr>
          <p:cNvPr id="9" name="code0"/>
          <p:cNvSpPr/>
          <p:nvPr/>
        </p:nvSpPr>
        <p:spPr>
          <a:xfrm>
            <a:off x="822960" y="3429000"/>
            <a:ext cx="4892040" cy="1965960"/>
          </a:xfrm>
          <a:prstGeom prst="roundRect">
            <a:avLst>
              <a:gd name="adj" fmla="val 3721"/>
            </a:avLst>
          </a:prstGeom>
          <a:solidFill>
            <a:schemeClr val="tx1"/>
          </a:solidFill>
          <a:ln w="12700">
            <a:solidFill>
              <a:schemeClr val="accent5"/>
            </a:solidFill>
            <a:prstDash val="solid"/>
          </a:ln>
        </p:spPr>
      </p:sp>
      <p:sp>
        <p:nvSpPr>
          <p:cNvPr id="10" name="Text 7"/>
          <p:cNvSpPr txBox="1"/>
          <p:nvPr/>
        </p:nvSpPr>
        <p:spPr>
          <a:xfrm>
            <a:off x="1005840" y="3566160"/>
            <a:ext cx="4572000" cy="173736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interface vlan 15</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ip address 10.142.41.129 255.255.255.128</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no shutdown</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ip routing</a:t>
            </a:r>
            <a:endParaRPr lang="en-US" sz="1300" dirty="0"/>
          </a:p>
        </p:txBody>
      </p:sp>
      <p:sp>
        <p:nvSpPr>
          <p:cNvPr id="11" name="iv1"/>
          <p:cNvSpPr/>
          <p:nvPr/>
        </p:nvSpPr>
        <p:spPr>
          <a:xfrm>
            <a:off x="6217920" y="1371600"/>
            <a:ext cx="5440680" cy="4297680"/>
          </a:xfrm>
          <a:prstGeom prst="roundRect">
            <a:avLst>
              <a:gd name="adj" fmla="val 2553"/>
            </a:avLst>
          </a:prstGeom>
          <a:solidFill>
            <a:schemeClr val="tx2"/>
          </a:solidFill>
          <a:ln w="12700">
            <a:solidFill>
              <a:schemeClr val="tx2"/>
            </a:solidFill>
            <a:prstDash val="solid"/>
          </a:ln>
        </p:spPr>
      </p:sp>
      <p:sp>
        <p:nvSpPr>
          <p:cNvPr id="12" name="Text 9"/>
          <p:cNvSpPr txBox="1"/>
          <p:nvPr/>
        </p:nvSpPr>
        <p:spPr>
          <a:xfrm>
            <a:off x="6492240" y="1554480"/>
            <a:ext cx="48920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Sucursales · router-on-a-stick</a:t>
            </a:r>
            <a:endParaRPr lang="en-US" sz="2000" dirty="0"/>
          </a:p>
        </p:txBody>
      </p:sp>
      <p:sp>
        <p:nvSpPr>
          <p:cNvPr id="13" name="Text 10"/>
          <p:cNvSpPr txBox="1"/>
          <p:nvPr/>
        </p:nvSpPr>
        <p:spPr>
          <a:xfrm>
            <a:off x="6492240" y="2103120"/>
            <a:ext cx="4892040" cy="11887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Router 2911 con una sub-interfaz por VLAN sobre Gi0/0, que llega como troncal desde el switch central.</a:t>
            </a:r>
            <a:endParaRPr lang="en-US" sz="1500" dirty="0"/>
          </a:p>
        </p:txBody>
      </p:sp>
      <p:sp>
        <p:nvSpPr>
          <p:cNvPr id="14" name="code1"/>
          <p:cNvSpPr/>
          <p:nvPr/>
        </p:nvSpPr>
        <p:spPr>
          <a:xfrm>
            <a:off x="6492240" y="3429000"/>
            <a:ext cx="4892040" cy="1965960"/>
          </a:xfrm>
          <a:prstGeom prst="roundRect">
            <a:avLst>
              <a:gd name="adj" fmla="val 3721"/>
            </a:avLst>
          </a:prstGeom>
          <a:solidFill>
            <a:schemeClr val="tx1"/>
          </a:solidFill>
          <a:ln w="12700">
            <a:solidFill>
              <a:schemeClr val="accent5"/>
            </a:solidFill>
            <a:prstDash val="solid"/>
          </a:ln>
        </p:spPr>
      </p:sp>
      <p:sp>
        <p:nvSpPr>
          <p:cNvPr id="15" name="Text 12"/>
          <p:cNvSpPr txBox="1"/>
          <p:nvPr/>
        </p:nvSpPr>
        <p:spPr>
          <a:xfrm>
            <a:off x="6675120" y="3566160"/>
            <a:ext cx="4572000" cy="173736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interface gig0/0.21</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encapsulation dot1Q 21</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ip address 10.142.46.1 255.255.255.0</a:t>
            </a:r>
            <a:endParaRPr lang="en-US" sz="1300" dirty="0"/>
          </a:p>
        </p:txBody>
      </p:sp>
      <p:sp>
        <p:nvSpPr>
          <p:cNvPr id="16" name="Text 13"/>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i="1" dirty="0">
                <a:solidFill>
                  <a:schemeClr val="bg2"/>
                </a:solidFill>
                <a:latin typeface="Calibri" pitchFamily="34" charset="0"/>
                <a:ea typeface="Calibri" pitchFamily="34" charset="-122"/>
                <a:cs typeface="Calibri" pitchFamily="34" charset="-120"/>
              </a:rPr>
              <a:t>Lima tiene 8 VLAN y más tráfico; las sucursales, 4 VLAN: router-on-a-stick basta y cuesta menos.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Redes inalámbricas en Lima</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05</a:t>
            </a:r>
            <a:endParaRPr lang="en-US" sz="1800" dirty="0"/>
          </a:p>
        </p:txBody>
      </p:sp>
      <p:sp>
        <p:nvSpPr>
          <p:cNvPr id="6" name="ap0"/>
          <p:cNvSpPr/>
          <p:nvPr/>
        </p:nvSpPr>
        <p:spPr>
          <a:xfrm>
            <a:off x="548640" y="1371600"/>
            <a:ext cx="6035040" cy="1371600"/>
          </a:xfrm>
          <a:prstGeom prst="roundRect">
            <a:avLst>
              <a:gd name="adj" fmla="val 8000"/>
            </a:avLst>
          </a:prstGeom>
          <a:solidFill>
            <a:schemeClr val="tx2"/>
          </a:solidFill>
          <a:ln w="12700">
            <a:solidFill>
              <a:schemeClr val="tx2"/>
            </a:solidFill>
            <a:prstDash val="solid"/>
          </a:ln>
        </p:spPr>
      </p:sp>
      <p:sp>
        <p:nvSpPr>
          <p:cNvPr id="7" name="Text 4"/>
          <p:cNvSpPr txBox="1"/>
          <p:nvPr/>
        </p:nvSpPr>
        <p:spPr>
          <a:xfrm>
            <a:off x="822960" y="1600200"/>
            <a:ext cx="5577840" cy="10058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AP_EJEC_LIMA</a:t>
            </a:r>
            <a:endParaRPr lang="en-US" sz="1800" dirty="0"/>
          </a:p>
          <a:p>
            <a:pPr indent="0" marL="0">
              <a:buNone/>
            </a:pPr>
            <a:r>
              <a:rPr lang="en-US" sz="1400" dirty="0">
                <a:solidFill>
                  <a:schemeClr val="bg1"/>
                </a:solidFill>
                <a:latin typeface="Calibri" pitchFamily="34" charset="0"/>
                <a:ea typeface="Calibri" pitchFamily="34" charset="-122"/>
                <a:cs typeface="Calibri" pitchFamily="34" charset="-120"/>
              </a:rPr>
              <a:t>SSID: ejecutivos   ·   VLAN 27 · 10.142.42.64/26</a:t>
            </a:r>
            <a:endParaRPr lang="en-US" sz="1800" dirty="0"/>
          </a:p>
        </p:txBody>
      </p:sp>
      <p:sp>
        <p:nvSpPr>
          <p:cNvPr id="8" name="ap1"/>
          <p:cNvSpPr/>
          <p:nvPr/>
        </p:nvSpPr>
        <p:spPr>
          <a:xfrm>
            <a:off x="548640" y="2971800"/>
            <a:ext cx="6035040" cy="1371600"/>
          </a:xfrm>
          <a:prstGeom prst="roundRect">
            <a:avLst>
              <a:gd name="adj" fmla="val 8000"/>
            </a:avLst>
          </a:prstGeom>
          <a:solidFill>
            <a:schemeClr val="tx2"/>
          </a:solidFill>
          <a:ln w="12700">
            <a:solidFill>
              <a:schemeClr val="tx2"/>
            </a:solidFill>
            <a:prstDash val="solid"/>
          </a:ln>
        </p:spPr>
      </p:sp>
      <p:sp>
        <p:nvSpPr>
          <p:cNvPr id="9" name="Text 6"/>
          <p:cNvSpPr txBox="1"/>
          <p:nvPr/>
        </p:nvSpPr>
        <p:spPr>
          <a:xfrm>
            <a:off x="822960" y="3200400"/>
            <a:ext cx="5577840" cy="10058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AP_CLIE_LIMA</a:t>
            </a:r>
            <a:endParaRPr lang="en-US" sz="1800" dirty="0"/>
          </a:p>
          <a:p>
            <a:pPr indent="0" marL="0">
              <a:buNone/>
            </a:pPr>
            <a:r>
              <a:rPr lang="en-US" sz="1400" dirty="0">
                <a:solidFill>
                  <a:schemeClr val="bg1"/>
                </a:solidFill>
                <a:latin typeface="Calibri" pitchFamily="34" charset="0"/>
                <a:ea typeface="Calibri" pitchFamily="34" charset="-122"/>
                <a:cs typeface="Calibri" pitchFamily="34" charset="-120"/>
              </a:rPr>
              <a:t>SSID: clientes   ·   VLAN 33 · 10.142.42.128/26</a:t>
            </a:r>
            <a:endParaRPr lang="en-US" sz="1800" dirty="0"/>
          </a:p>
        </p:txBody>
      </p:sp>
      <p:sp>
        <p:nvSpPr>
          <p:cNvPr id="10" name="Text 7"/>
          <p:cNvSpPr txBox="1"/>
          <p:nvPr/>
        </p:nvSpPr>
        <p:spPr>
          <a:xfrm>
            <a:off x="548640" y="4709160"/>
            <a:ext cx="1965960" cy="54864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WPA2-PSK</a:t>
            </a:r>
            <a:endParaRPr lang="en-US" sz="2400" dirty="0"/>
          </a:p>
        </p:txBody>
      </p:sp>
      <p:sp>
        <p:nvSpPr>
          <p:cNvPr id="11" name="Text 8"/>
          <p:cNvSpPr txBox="1"/>
          <p:nvPr/>
        </p:nvSpPr>
        <p:spPr>
          <a:xfrm>
            <a:off x="548640" y="5257800"/>
            <a:ext cx="1965960" cy="36576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autenticación</a:t>
            </a:r>
            <a:endParaRPr lang="en-US" sz="1300" dirty="0"/>
          </a:p>
        </p:txBody>
      </p:sp>
      <p:sp>
        <p:nvSpPr>
          <p:cNvPr id="12" name="Text 9"/>
          <p:cNvSpPr txBox="1"/>
          <p:nvPr/>
        </p:nvSpPr>
        <p:spPr>
          <a:xfrm>
            <a:off x="2606040" y="4709160"/>
            <a:ext cx="1965960" cy="54864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AES</a:t>
            </a:r>
            <a:endParaRPr lang="en-US" sz="2400" dirty="0"/>
          </a:p>
        </p:txBody>
      </p:sp>
      <p:sp>
        <p:nvSpPr>
          <p:cNvPr id="13" name="Text 10"/>
          <p:cNvSpPr txBox="1"/>
          <p:nvPr/>
        </p:nvSpPr>
        <p:spPr>
          <a:xfrm>
            <a:off x="2606040" y="5257800"/>
            <a:ext cx="1965960" cy="36576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cifrado</a:t>
            </a:r>
            <a:endParaRPr lang="en-US" sz="1300" dirty="0"/>
          </a:p>
        </p:txBody>
      </p:sp>
      <p:sp>
        <p:nvSpPr>
          <p:cNvPr id="14" name="Text 11"/>
          <p:cNvSpPr txBox="1"/>
          <p:nvPr/>
        </p:nvSpPr>
        <p:spPr>
          <a:xfrm>
            <a:off x="4663440" y="4709160"/>
            <a:ext cx="1965960" cy="54864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WPC300N</a:t>
            </a:r>
            <a:endParaRPr lang="en-US" sz="2400" dirty="0"/>
          </a:p>
        </p:txBody>
      </p:sp>
      <p:sp>
        <p:nvSpPr>
          <p:cNvPr id="15" name="Text 12"/>
          <p:cNvSpPr txBox="1"/>
          <p:nvPr/>
        </p:nvSpPr>
        <p:spPr>
          <a:xfrm>
            <a:off x="4663440" y="5257800"/>
            <a:ext cx="1965960" cy="36576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tarjeta de las laptops</a:t>
            </a:r>
            <a:endParaRPr lang="en-US" sz="1300" dirty="0"/>
          </a:p>
        </p:txBody>
      </p:sp>
      <p:pic>
        <p:nvPicPr>
          <p:cNvPr id="16" name="wifi_img" descr="/home/claude/fin2/img_52_0.png">    </p:cNvPr>
          <p:cNvPicPr>
            <a:picLocks noChangeAspect="1"/>
          </p:cNvPicPr>
          <p:nvPr/>
        </p:nvPicPr>
        <p:blipFill>
          <a:blip r:embed="rId1"/>
          <a:stretch>
            <a:fillRect/>
          </a:stretch>
        </p:blipFill>
        <p:spPr>
          <a:xfrm>
            <a:off x="7160919" y="1371600"/>
            <a:ext cx="4423361" cy="4480560"/>
          </a:xfrm>
          <a:prstGeom prst="rect">
            <a:avLst/>
          </a:prstGeom>
        </p:spPr>
      </p:pic>
      <p:sp>
        <p:nvSpPr>
          <p:cNvPr id="17" name="Text 13"/>
          <p:cNvSpPr txBox="1"/>
          <p:nvPr/>
        </p:nvSpPr>
        <p:spPr>
          <a:xfrm>
            <a:off x="7086600" y="5897880"/>
            <a:ext cx="4572000" cy="320040"/>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Laptop asociada al AP con WPA2</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Pruebas de conectividad</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05</a:t>
            </a:r>
            <a:endParaRPr lang="en-US" sz="1800" dirty="0"/>
          </a:p>
        </p:txBody>
      </p:sp>
      <p:sp>
        <p:nvSpPr>
          <p:cNvPr id="6" name="pdu_card"/>
          <p:cNvSpPr/>
          <p:nvPr/>
        </p:nvSpPr>
        <p:spPr>
          <a:xfrm>
            <a:off x="548640" y="1325880"/>
            <a:ext cx="11109960" cy="1417320"/>
          </a:xfrm>
          <a:prstGeom prst="roundRect">
            <a:avLst>
              <a:gd name="adj" fmla="val 7742"/>
            </a:avLst>
          </a:prstGeom>
          <a:solidFill>
            <a:schemeClr val="tx2"/>
          </a:solidFill>
          <a:ln w="12700">
            <a:solidFill>
              <a:schemeClr val="tx2"/>
            </a:solidFill>
            <a:prstDash val="solid"/>
          </a:ln>
        </p:spPr>
      </p:sp>
      <p:pic>
        <p:nvPicPr>
          <p:cNvPr id="7" name="pdu_img" descr="/home/claude/fin2/img_38_0.png">    </p:cNvPr>
          <p:cNvPicPr>
            <a:picLocks noChangeAspect="1"/>
          </p:cNvPicPr>
          <p:nvPr/>
        </p:nvPicPr>
        <p:blipFill>
          <a:blip r:embed="rId1"/>
          <a:stretch>
            <a:fillRect/>
          </a:stretch>
        </p:blipFill>
        <p:spPr>
          <a:xfrm>
            <a:off x="1319747" y="1463040"/>
            <a:ext cx="9567746" cy="914400"/>
          </a:xfrm>
          <a:prstGeom prst="rect">
            <a:avLst/>
          </a:prstGeom>
        </p:spPr>
      </p:pic>
      <p:sp>
        <p:nvSpPr>
          <p:cNvPr id="8" name="Text 4"/>
          <p:cNvSpPr txBox="1"/>
          <p:nvPr/>
        </p:nvSpPr>
        <p:spPr>
          <a:xfrm>
            <a:off x="731520" y="2395728"/>
            <a:ext cx="10744200" cy="301752"/>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Inter-VLAN en Lima: Administración → Logística y → Finanzas, ambos exitosos.</a:t>
            </a:r>
            <a:endParaRPr lang="en-US" sz="1200" dirty="0"/>
          </a:p>
        </p:txBody>
      </p:sp>
      <p:pic>
        <p:nvPicPr>
          <p:cNvPr id="9" name="p48" descr="/home/claude/fin2/img_48_0.png">    </p:cNvPr>
          <p:cNvPicPr>
            <a:picLocks noChangeAspect="1"/>
          </p:cNvPicPr>
          <p:nvPr/>
        </p:nvPicPr>
        <p:blipFill>
          <a:blip r:embed="rId2"/>
          <a:stretch>
            <a:fillRect/>
          </a:stretch>
        </p:blipFill>
        <p:spPr>
          <a:xfrm>
            <a:off x="670862" y="2926080"/>
            <a:ext cx="3047396" cy="3108960"/>
          </a:xfrm>
          <a:prstGeom prst="rect">
            <a:avLst/>
          </a:prstGeom>
        </p:spPr>
      </p:pic>
      <p:pic>
        <p:nvPicPr>
          <p:cNvPr id="10" name="p53" descr="/home/claude/fin2/img_53_0.png">    </p:cNvPr>
          <p:cNvPicPr>
            <a:picLocks noChangeAspect="1"/>
          </p:cNvPicPr>
          <p:nvPr/>
        </p:nvPicPr>
        <p:blipFill>
          <a:blip r:embed="rId3"/>
          <a:stretch>
            <a:fillRect/>
          </a:stretch>
        </p:blipFill>
        <p:spPr>
          <a:xfrm>
            <a:off x="4184774" y="2926080"/>
            <a:ext cx="3060451" cy="3108960"/>
          </a:xfrm>
          <a:prstGeom prst="rect">
            <a:avLst/>
          </a:prstGeom>
        </p:spPr>
      </p:pic>
      <p:sp>
        <p:nvSpPr>
          <p:cNvPr id="11" name="Text 5"/>
          <p:cNvSpPr txBox="1"/>
          <p:nvPr/>
        </p:nvSpPr>
        <p:spPr>
          <a:xfrm>
            <a:off x="7680960" y="3017520"/>
            <a:ext cx="3977640" cy="292608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latin typeface="Calibri" pitchFamily="34" charset="0"/>
                <a:ea typeface="Calibri" pitchFamily="34" charset="-122"/>
                <a:cs typeface="Calibri" pitchFamily="34" charset="-120"/>
              </a:rPr>
              <a:t>Qué demuestran</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Ping de un PC de Ventas al router: 0 % de pérdida, pasando por el CORE.</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Laptop WiFi alcanza su gateway y un PC de otra VLAN.</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El mismo resultado se obtuvo en las cuatro sucursales.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Dimensionamiento y costos</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06</a:t>
            </a:r>
            <a:endParaRPr lang="en-US" sz="1800" dirty="0"/>
          </a:p>
        </p:txBody>
      </p:sp>
      <p:sp>
        <p:nvSpPr>
          <p:cNvPr id="6" name="Text 3"/>
          <p:cNvSpPr txBox="1"/>
          <p:nvPr/>
        </p:nvSpPr>
        <p:spPr>
          <a:xfrm>
            <a:off x="548640" y="1280160"/>
            <a:ext cx="11064240" cy="4114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Calculado con los hosts reales (+25 %): switches = hosts ÷ 24 puertos; 1 AP cada 25 usuarios WiFi.</a:t>
            </a:r>
            <a:endParaRPr lang="en-US" sz="1500" dirty="0"/>
          </a:p>
        </p:txBody>
      </p:sp>
      <p:sp>
        <p:nvSpPr>
          <p:cNvPr id="7" name="cs0"/>
          <p:cNvSpPr/>
          <p:nvPr/>
        </p:nvSpPr>
        <p:spPr>
          <a:xfrm>
            <a:off x="548640" y="1920240"/>
            <a:ext cx="2560320" cy="1828800"/>
          </a:xfrm>
          <a:prstGeom prst="roundRect">
            <a:avLst>
              <a:gd name="adj" fmla="val 6000"/>
            </a:avLst>
          </a:prstGeom>
          <a:solidFill>
            <a:schemeClr val="tx2"/>
          </a:solidFill>
          <a:ln w="12700">
            <a:solidFill>
              <a:schemeClr val="tx2"/>
            </a:solidFill>
            <a:prstDash val="solid"/>
          </a:ln>
        </p:spPr>
      </p:sp>
      <p:sp>
        <p:nvSpPr>
          <p:cNvPr id="8" name="Text 5"/>
          <p:cNvSpPr txBox="1"/>
          <p:nvPr/>
        </p:nvSpPr>
        <p:spPr>
          <a:xfrm>
            <a:off x="548640" y="2057400"/>
            <a:ext cx="2560320" cy="914400"/>
          </a:xfrm>
          <a:prstGeom prst="rect">
            <a:avLst/>
          </a:prstGeom>
          <a:noFill/>
          <a:ln/>
        </p:spPr>
        <p:txBody>
          <a:bodyPr wrap="square" lIns="0" tIns="0" rIns="0" bIns="0" rtlCol="0" anchor="t"/>
          <a:lstStyle/>
          <a:p>
            <a:pPr algn="ctr" indent="0" marL="0">
              <a:buNone/>
            </a:pPr>
            <a:r>
              <a:rPr lang="en-US" sz="4400" b="1" dirty="0">
                <a:solidFill>
                  <a:schemeClr val="accent1"/>
                </a:solidFill>
                <a:latin typeface="Cambria" pitchFamily="34" charset="0"/>
                <a:ea typeface="Cambria" pitchFamily="34" charset="-122"/>
                <a:cs typeface="Cambria" pitchFamily="34" charset="-120"/>
              </a:rPr>
              <a:t>112</a:t>
            </a:r>
            <a:endParaRPr lang="en-US" sz="4400" dirty="0"/>
          </a:p>
        </p:txBody>
      </p:sp>
      <p:sp>
        <p:nvSpPr>
          <p:cNvPr id="9" name="Text 6"/>
          <p:cNvSpPr txBox="1"/>
          <p:nvPr/>
        </p:nvSpPr>
        <p:spPr>
          <a:xfrm>
            <a:off x="685800" y="3017520"/>
            <a:ext cx="2286000" cy="59436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switches de acceso 2960</a:t>
            </a:r>
            <a:endParaRPr lang="en-US" sz="1400" dirty="0"/>
          </a:p>
        </p:txBody>
      </p:sp>
      <p:sp>
        <p:nvSpPr>
          <p:cNvPr id="10" name="cs1"/>
          <p:cNvSpPr/>
          <p:nvPr/>
        </p:nvSpPr>
        <p:spPr>
          <a:xfrm>
            <a:off x="3337560" y="1920240"/>
            <a:ext cx="2560320" cy="1828800"/>
          </a:xfrm>
          <a:prstGeom prst="roundRect">
            <a:avLst>
              <a:gd name="adj" fmla="val 6000"/>
            </a:avLst>
          </a:prstGeom>
          <a:solidFill>
            <a:schemeClr val="tx2"/>
          </a:solidFill>
          <a:ln w="12700">
            <a:solidFill>
              <a:schemeClr val="tx2"/>
            </a:solidFill>
            <a:prstDash val="solid"/>
          </a:ln>
        </p:spPr>
      </p:sp>
      <p:sp>
        <p:nvSpPr>
          <p:cNvPr id="11" name="Text 8"/>
          <p:cNvSpPr txBox="1"/>
          <p:nvPr/>
        </p:nvSpPr>
        <p:spPr>
          <a:xfrm>
            <a:off x="3337560" y="2057400"/>
            <a:ext cx="2560320" cy="914400"/>
          </a:xfrm>
          <a:prstGeom prst="rect">
            <a:avLst/>
          </a:prstGeom>
          <a:noFill/>
          <a:ln/>
        </p:spPr>
        <p:txBody>
          <a:bodyPr wrap="square" lIns="0" tIns="0" rIns="0" bIns="0" rtlCol="0" anchor="t"/>
          <a:lstStyle/>
          <a:p>
            <a:pPr algn="ctr" indent="0" marL="0">
              <a:buNone/>
            </a:pPr>
            <a:r>
              <a:rPr lang="en-US" sz="4400" b="1" dirty="0">
                <a:solidFill>
                  <a:schemeClr val="accent1"/>
                </a:solidFill>
                <a:latin typeface="Cambria" pitchFamily="34" charset="0"/>
                <a:ea typeface="Cambria" pitchFamily="34" charset="-122"/>
                <a:cs typeface="Cambria" pitchFamily="34" charset="-120"/>
              </a:rPr>
              <a:t>11</a:t>
            </a:r>
            <a:endParaRPr lang="en-US" sz="4400" dirty="0"/>
          </a:p>
        </p:txBody>
      </p:sp>
      <p:sp>
        <p:nvSpPr>
          <p:cNvPr id="12" name="Text 9"/>
          <p:cNvSpPr txBox="1"/>
          <p:nvPr/>
        </p:nvSpPr>
        <p:spPr>
          <a:xfrm>
            <a:off x="3474720" y="3017520"/>
            <a:ext cx="2286000" cy="59436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switches 3560 y centrales</a:t>
            </a:r>
            <a:endParaRPr lang="en-US" sz="1400" dirty="0"/>
          </a:p>
        </p:txBody>
      </p:sp>
      <p:sp>
        <p:nvSpPr>
          <p:cNvPr id="13" name="cs2"/>
          <p:cNvSpPr/>
          <p:nvPr/>
        </p:nvSpPr>
        <p:spPr>
          <a:xfrm>
            <a:off x="6126480" y="1920240"/>
            <a:ext cx="2560320" cy="1828800"/>
          </a:xfrm>
          <a:prstGeom prst="roundRect">
            <a:avLst>
              <a:gd name="adj" fmla="val 6000"/>
            </a:avLst>
          </a:prstGeom>
          <a:solidFill>
            <a:schemeClr val="tx2"/>
          </a:solidFill>
          <a:ln w="12700">
            <a:solidFill>
              <a:schemeClr val="tx2"/>
            </a:solidFill>
            <a:prstDash val="solid"/>
          </a:ln>
        </p:spPr>
      </p:sp>
      <p:sp>
        <p:nvSpPr>
          <p:cNvPr id="14" name="Text 11"/>
          <p:cNvSpPr txBox="1"/>
          <p:nvPr/>
        </p:nvSpPr>
        <p:spPr>
          <a:xfrm>
            <a:off x="6126480" y="2057400"/>
            <a:ext cx="2560320" cy="914400"/>
          </a:xfrm>
          <a:prstGeom prst="rect">
            <a:avLst/>
          </a:prstGeom>
          <a:noFill/>
          <a:ln/>
        </p:spPr>
        <p:txBody>
          <a:bodyPr wrap="square" lIns="0" tIns="0" rIns="0" bIns="0" rtlCol="0" anchor="t"/>
          <a:lstStyle/>
          <a:p>
            <a:pPr algn="ct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15" name="Text 12"/>
          <p:cNvSpPr txBox="1"/>
          <p:nvPr/>
        </p:nvSpPr>
        <p:spPr>
          <a:xfrm>
            <a:off x="6263640" y="3017520"/>
            <a:ext cx="2286000" cy="59436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routers 2911 + 6 HWIC-2T</a:t>
            </a:r>
            <a:endParaRPr lang="en-US" sz="1400" dirty="0"/>
          </a:p>
        </p:txBody>
      </p:sp>
      <p:sp>
        <p:nvSpPr>
          <p:cNvPr id="16" name="cs3"/>
          <p:cNvSpPr/>
          <p:nvPr/>
        </p:nvSpPr>
        <p:spPr>
          <a:xfrm>
            <a:off x="8915400" y="1920240"/>
            <a:ext cx="2560320" cy="1828800"/>
          </a:xfrm>
          <a:prstGeom prst="roundRect">
            <a:avLst>
              <a:gd name="adj" fmla="val 6000"/>
            </a:avLst>
          </a:prstGeom>
          <a:solidFill>
            <a:schemeClr val="tx2"/>
          </a:solidFill>
          <a:ln w="12700">
            <a:solidFill>
              <a:schemeClr val="tx2"/>
            </a:solidFill>
            <a:prstDash val="solid"/>
          </a:ln>
        </p:spPr>
      </p:sp>
      <p:sp>
        <p:nvSpPr>
          <p:cNvPr id="17" name="Text 14"/>
          <p:cNvSpPr txBox="1"/>
          <p:nvPr/>
        </p:nvSpPr>
        <p:spPr>
          <a:xfrm>
            <a:off x="8915400" y="2057400"/>
            <a:ext cx="2560320" cy="914400"/>
          </a:xfrm>
          <a:prstGeom prst="rect">
            <a:avLst/>
          </a:prstGeom>
          <a:noFill/>
          <a:ln/>
        </p:spPr>
        <p:txBody>
          <a:bodyPr wrap="square" lIns="0" tIns="0" rIns="0" bIns="0" rtlCol="0" anchor="t"/>
          <a:lstStyle/>
          <a:p>
            <a:pPr algn="ctr" indent="0" marL="0">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18" name="Text 15"/>
          <p:cNvSpPr txBox="1"/>
          <p:nvPr/>
        </p:nvSpPr>
        <p:spPr>
          <a:xfrm>
            <a:off x="9052560" y="3017520"/>
            <a:ext cx="2286000" cy="59436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access points en Lima</a:t>
            </a:r>
            <a:endParaRPr lang="en-US" sz="1400" dirty="0"/>
          </a:p>
        </p:txBody>
      </p:sp>
      <p:sp>
        <p:nvSpPr>
          <p:cNvPr id="19" name="total_card"/>
          <p:cNvSpPr/>
          <p:nvPr/>
        </p:nvSpPr>
        <p:spPr>
          <a:xfrm>
            <a:off x="548640" y="4069080"/>
            <a:ext cx="11109960" cy="1737360"/>
          </a:xfrm>
          <a:prstGeom prst="roundRect">
            <a:avLst>
              <a:gd name="adj" fmla="val 6316"/>
            </a:avLst>
          </a:prstGeom>
          <a:solidFill>
            <a:schemeClr val="tx2"/>
          </a:solidFill>
          <a:ln w="12700">
            <a:solidFill>
              <a:schemeClr val="tx2"/>
            </a:solidFill>
            <a:prstDash val="solid"/>
          </a:ln>
        </p:spPr>
      </p:sp>
      <p:sp>
        <p:nvSpPr>
          <p:cNvPr id="20" name="Text 17"/>
          <p:cNvSpPr txBox="1"/>
          <p:nvPr/>
        </p:nvSpPr>
        <p:spPr>
          <a:xfrm>
            <a:off x="822960" y="4206240"/>
            <a:ext cx="457200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US$ 53 835</a:t>
            </a:r>
            <a:endParaRPr lang="en-US" sz="4800" dirty="0"/>
          </a:p>
        </p:txBody>
      </p:sp>
      <p:sp>
        <p:nvSpPr>
          <p:cNvPr id="21" name="Text 18"/>
          <p:cNvSpPr txBox="1"/>
          <p:nvPr/>
        </p:nvSpPr>
        <p:spPr>
          <a:xfrm>
            <a:off x="822960" y="5120640"/>
            <a:ext cx="4572000" cy="45720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inversión referencial en infraestructura de red</a:t>
            </a:r>
            <a:endParaRPr lang="en-US" sz="1400" dirty="0"/>
          </a:p>
        </p:txBody>
      </p:sp>
      <p:sp>
        <p:nvSpPr>
          <p:cNvPr id="22" name="Text 19"/>
          <p:cNvSpPr txBox="1"/>
          <p:nvPr/>
        </p:nvSpPr>
        <p:spPr>
          <a:xfrm>
            <a:off x="5760720" y="4251960"/>
            <a:ext cx="56692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Precios de equipos reacondicionados: los modelos del simulador ya están descontinuados.</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El cableado de 2 607 puntos de red es el mayor costo.</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No incluye PCs ni servidores existentes.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Respaldo en la nube</a:t>
            </a:r>
            <a:endParaRPr lang="en-US" sz="3000" dirty="0"/>
          </a:p>
        </p:txBody>
      </p:sp>
      <p:sp>
        <p:nvSpPr>
          <p:cNvPr id="4" name="badge"/>
          <p:cNvSpPr/>
          <p:nvPr/>
        </p:nvSpPr>
        <p:spPr>
          <a:xfrm>
            <a:off x="548640" y="365760"/>
            <a:ext cx="640080" cy="640080"/>
          </a:xfrm>
          <a:prstGeom prst="ellipse">
            <a:avLst/>
          </a:prstGeom>
          <a:solidFill>
            <a:schemeClr val="accent1"/>
          </a:solidFill>
          <a:ln w="12700">
            <a:solidFill>
              <a:schemeClr val="accent1"/>
            </a:solidFill>
            <a:prstDash val="solid"/>
          </a:ln>
        </p:spPr>
      </p:sp>
      <p:sp>
        <p:nvSpPr>
          <p:cNvPr id="5" name="badge_num"/>
          <p:cNvSpPr txBox="1"/>
          <p:nvPr/>
        </p:nvSpPr>
        <p:spPr>
          <a:xfrm>
            <a:off x="548640" y="3657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07</a:t>
            </a:r>
            <a:endParaRPr lang="en-US" sz="1800" dirty="0"/>
          </a:p>
        </p:txBody>
      </p:sp>
      <p:graphicFrame>
        <p:nvGraphicFramePr>
          <p:cNvPr id="6" name="cloud_chart" descr=""/>
          <p:cNvGraphicFramePr/>
          <p:nvPr/>
        </p:nvGraphicFramePr>
        <p:xfrm>
          <a:off x="54864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577840"/>
            <a:ext cx="5852160" cy="320040"/>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500 GB en acceso poco frecuente + 1 500 GB en archivo</a:t>
            </a:r>
            <a:endParaRPr lang="en-US" sz="1200" dirty="0"/>
          </a:p>
        </p:txBody>
      </p:sp>
      <p:sp>
        <p:nvSpPr>
          <p:cNvPr id="8" name="Text 4"/>
          <p:cNvSpPr txBox="1"/>
          <p:nvPr/>
        </p:nvSpPr>
        <p:spPr>
          <a:xfrm>
            <a:off x="6858000" y="1371600"/>
            <a:ext cx="480060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Matriz ponderada (1 a 5)</a:t>
            </a:r>
            <a:endParaRPr lang="en-US" sz="1800" dirty="0"/>
          </a:p>
        </p:txBody>
      </p:sp>
      <p:sp>
        <p:nvSpPr>
          <p:cNvPr id="9" name="Text 5"/>
          <p:cNvSpPr txBox="1"/>
          <p:nvPr/>
        </p:nvSpPr>
        <p:spPr>
          <a:xfrm>
            <a:off x="6858000" y="1783080"/>
            <a:ext cx="4800600"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Costo 30 % · Seguridad 25 % · Durabilidad 20 % · Ubicación 15 % · Escalabilidad 10 %</a:t>
            </a:r>
            <a:endParaRPr lang="en-US" sz="1200" dirty="0"/>
          </a:p>
        </p:txBody>
      </p:sp>
      <p:sp>
        <p:nvSpPr>
          <p:cNvPr id="10" name="score0"/>
          <p:cNvSpPr/>
          <p:nvPr/>
        </p:nvSpPr>
        <p:spPr>
          <a:xfrm>
            <a:off x="6858000" y="2468880"/>
            <a:ext cx="4800600" cy="731520"/>
          </a:xfrm>
          <a:prstGeom prst="roundRect">
            <a:avLst>
              <a:gd name="adj" fmla="val 12500"/>
            </a:avLst>
          </a:prstGeom>
          <a:solidFill>
            <a:schemeClr val="tx2"/>
          </a:solidFill>
          <a:ln w="12700">
            <a:solidFill>
              <a:schemeClr val="tx2"/>
            </a:solidFill>
            <a:prstDash val="solid"/>
          </a:ln>
        </p:spPr>
      </p:sp>
      <p:sp>
        <p:nvSpPr>
          <p:cNvPr id="11" name="Text 7"/>
          <p:cNvSpPr txBox="1"/>
          <p:nvPr/>
        </p:nvSpPr>
        <p:spPr>
          <a:xfrm>
            <a:off x="7086600" y="2468880"/>
            <a:ext cx="2743200" cy="73152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AWS</a:t>
            </a:r>
            <a:endParaRPr lang="en-US" sz="1700" dirty="0"/>
          </a:p>
        </p:txBody>
      </p:sp>
      <p:sp>
        <p:nvSpPr>
          <p:cNvPr id="12" name="Text 8"/>
          <p:cNvSpPr txBox="1"/>
          <p:nvPr/>
        </p:nvSpPr>
        <p:spPr>
          <a:xfrm>
            <a:off x="9601200" y="2468880"/>
            <a:ext cx="1828800" cy="731520"/>
          </a:xfrm>
          <a:prstGeom prst="rect">
            <a:avLst/>
          </a:prstGeom>
          <a:noFill/>
          <a:ln/>
        </p:spPr>
        <p:txBody>
          <a:bodyPr wrap="square" lIns="0" tIns="0" rIns="0" bIns="0" rtlCol="0" anchor="ctr"/>
          <a:lstStyle/>
          <a:p>
            <a:pPr algn="r" indent="0" marL="0">
              <a:buNone/>
            </a:pPr>
            <a:r>
              <a:rPr lang="en-US" sz="2200" b="1" dirty="0">
                <a:solidFill>
                  <a:schemeClr val="bg1"/>
                </a:solidFill>
                <a:latin typeface="Cambria" pitchFamily="34" charset="0"/>
                <a:ea typeface="Cambria" pitchFamily="34" charset="-122"/>
                <a:cs typeface="Cambria" pitchFamily="34" charset="-120"/>
              </a:rPr>
              <a:t>4.55</a:t>
            </a:r>
            <a:endParaRPr lang="en-US" sz="2200" dirty="0"/>
          </a:p>
        </p:txBody>
      </p:sp>
      <p:sp>
        <p:nvSpPr>
          <p:cNvPr id="13" name="score1"/>
          <p:cNvSpPr/>
          <p:nvPr/>
        </p:nvSpPr>
        <p:spPr>
          <a:xfrm>
            <a:off x="6858000" y="3337560"/>
            <a:ext cx="4800600" cy="731520"/>
          </a:xfrm>
          <a:prstGeom prst="roundRect">
            <a:avLst>
              <a:gd name="adj" fmla="val 12500"/>
            </a:avLst>
          </a:prstGeom>
          <a:solidFill>
            <a:schemeClr val="accent1"/>
          </a:solidFill>
          <a:ln w="12700">
            <a:solidFill>
              <a:schemeClr val="accent1"/>
            </a:solidFill>
            <a:prstDash val="solid"/>
          </a:ln>
        </p:spPr>
      </p:sp>
      <p:sp>
        <p:nvSpPr>
          <p:cNvPr id="14" name="Text 10"/>
          <p:cNvSpPr txBox="1"/>
          <p:nvPr/>
        </p:nvSpPr>
        <p:spPr>
          <a:xfrm>
            <a:off x="7086600" y="3337560"/>
            <a:ext cx="2743200" cy="7315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Azure</a:t>
            </a:r>
            <a:endParaRPr lang="en-US" sz="1700" dirty="0"/>
          </a:p>
        </p:txBody>
      </p:sp>
      <p:sp>
        <p:nvSpPr>
          <p:cNvPr id="15" name="Text 11"/>
          <p:cNvSpPr txBox="1"/>
          <p:nvPr/>
        </p:nvSpPr>
        <p:spPr>
          <a:xfrm>
            <a:off x="9601200" y="3337560"/>
            <a:ext cx="1828800" cy="731520"/>
          </a:xfrm>
          <a:prstGeom prst="rect">
            <a:avLst/>
          </a:prstGeom>
          <a:noFill/>
          <a:ln/>
        </p:spPr>
        <p:txBody>
          <a:bodyPr wrap="square" lIns="0" tIns="0" rIns="0" bIns="0" rtlCol="0" anchor="ctr"/>
          <a:lstStyle/>
          <a:p>
            <a:pPr algn="r" indent="0" marL="0">
              <a:buNone/>
            </a:pPr>
            <a:r>
              <a:rPr lang="en-US" sz="2200" b="1" dirty="0">
                <a:solidFill>
                  <a:schemeClr val="tx1"/>
                </a:solidFill>
                <a:latin typeface="Cambria" pitchFamily="34" charset="0"/>
                <a:ea typeface="Cambria" pitchFamily="34" charset="-122"/>
                <a:cs typeface="Cambria" pitchFamily="34" charset="-120"/>
              </a:rPr>
              <a:t>4.85</a:t>
            </a:r>
            <a:endParaRPr lang="en-US" sz="2200" dirty="0"/>
          </a:p>
        </p:txBody>
      </p:sp>
      <p:sp>
        <p:nvSpPr>
          <p:cNvPr id="16" name="score2"/>
          <p:cNvSpPr/>
          <p:nvPr/>
        </p:nvSpPr>
        <p:spPr>
          <a:xfrm>
            <a:off x="6858000" y="4206240"/>
            <a:ext cx="4800600" cy="731520"/>
          </a:xfrm>
          <a:prstGeom prst="roundRect">
            <a:avLst>
              <a:gd name="adj" fmla="val 12500"/>
            </a:avLst>
          </a:prstGeom>
          <a:solidFill>
            <a:schemeClr val="tx2"/>
          </a:solidFill>
          <a:ln w="12700">
            <a:solidFill>
              <a:schemeClr val="tx2"/>
            </a:solidFill>
            <a:prstDash val="solid"/>
          </a:ln>
        </p:spPr>
      </p:sp>
      <p:sp>
        <p:nvSpPr>
          <p:cNvPr id="17" name="Text 13"/>
          <p:cNvSpPr txBox="1"/>
          <p:nvPr/>
        </p:nvSpPr>
        <p:spPr>
          <a:xfrm>
            <a:off x="7086600" y="4206240"/>
            <a:ext cx="2743200" cy="73152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Google Cloud</a:t>
            </a:r>
            <a:endParaRPr lang="en-US" sz="1700" dirty="0"/>
          </a:p>
        </p:txBody>
      </p:sp>
      <p:sp>
        <p:nvSpPr>
          <p:cNvPr id="18" name="Text 14"/>
          <p:cNvSpPr txBox="1"/>
          <p:nvPr/>
        </p:nvSpPr>
        <p:spPr>
          <a:xfrm>
            <a:off x="9601200" y="4206240"/>
            <a:ext cx="1828800" cy="731520"/>
          </a:xfrm>
          <a:prstGeom prst="rect">
            <a:avLst/>
          </a:prstGeom>
          <a:noFill/>
          <a:ln/>
        </p:spPr>
        <p:txBody>
          <a:bodyPr wrap="square" lIns="0" tIns="0" rIns="0" bIns="0" rtlCol="0" anchor="ctr"/>
          <a:lstStyle/>
          <a:p>
            <a:pPr algn="r" indent="0" marL="0">
              <a:buNone/>
            </a:pPr>
            <a:r>
              <a:rPr lang="en-US" sz="2200" b="1" dirty="0">
                <a:solidFill>
                  <a:schemeClr val="bg1"/>
                </a:solidFill>
                <a:latin typeface="Cambria" pitchFamily="34" charset="0"/>
                <a:ea typeface="Cambria" pitchFamily="34" charset="-122"/>
                <a:cs typeface="Cambria" pitchFamily="34" charset="-120"/>
              </a:rPr>
              <a:t>4.60</a:t>
            </a:r>
            <a:endParaRPr lang="en-US" sz="2200" dirty="0"/>
          </a:p>
        </p:txBody>
      </p:sp>
      <p:sp>
        <p:nvSpPr>
          <p:cNvPr id="19" name="Text 15"/>
          <p:cNvSpPr txBox="1"/>
          <p:nvPr/>
        </p:nvSpPr>
        <p:spPr>
          <a:xfrm>
            <a:off x="6858000" y="5166360"/>
            <a:ext cx="4800600" cy="7315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Elegido: Microsoft Azure (Blob Cool + Archive) con Azure Backup y política de ciclo de vida a 30 días.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AFB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640080"/>
            <a:ext cx="5943600" cy="36576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CONCLUSIONES</a:t>
            </a:r>
            <a:endParaRPr lang="en-US" sz="1300" dirty="0"/>
          </a:p>
        </p:txBody>
      </p:sp>
      <p:sp>
        <p:nvSpPr>
          <p:cNvPr id="4" name="cc0"/>
          <p:cNvSpPr/>
          <p:nvPr/>
        </p:nvSpPr>
        <p:spPr>
          <a:xfrm>
            <a:off x="640080" y="1325880"/>
            <a:ext cx="548640" cy="548640"/>
          </a:xfrm>
          <a:prstGeom prst="ellipse">
            <a:avLst/>
          </a:prstGeom>
          <a:solidFill>
            <a:schemeClr val="accent1"/>
          </a:solidFill>
          <a:ln w="12700">
            <a:solidFill>
              <a:schemeClr val="accent1"/>
            </a:solidFill>
            <a:prstDash val="solid"/>
          </a:ln>
        </p:spPr>
      </p:sp>
      <p:sp>
        <p:nvSpPr>
          <p:cNvPr id="5" name="Text 2"/>
          <p:cNvSpPr txBox="1"/>
          <p:nvPr/>
        </p:nvSpPr>
        <p:spPr>
          <a:xfrm>
            <a:off x="640080" y="132588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1417320" y="1234440"/>
            <a:ext cx="5120640" cy="100584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FLSM y VLSM eliminan la duplicidad de IP y dejan un 25 % de crecimiento.</a:t>
            </a:r>
            <a:endParaRPr lang="en-US" sz="1700" dirty="0"/>
          </a:p>
        </p:txBody>
      </p:sp>
      <p:sp>
        <p:nvSpPr>
          <p:cNvPr id="7" name="cc1"/>
          <p:cNvSpPr/>
          <p:nvPr/>
        </p:nvSpPr>
        <p:spPr>
          <a:xfrm>
            <a:off x="640080" y="2651760"/>
            <a:ext cx="548640" cy="548640"/>
          </a:xfrm>
          <a:prstGeom prst="ellipse">
            <a:avLst/>
          </a:prstGeom>
          <a:solidFill>
            <a:schemeClr val="accent1"/>
          </a:solidFill>
          <a:ln w="12700">
            <a:solidFill>
              <a:schemeClr val="accent1"/>
            </a:solidFill>
            <a:prstDash val="solid"/>
          </a:ln>
        </p:spPr>
      </p:sp>
      <p:sp>
        <p:nvSpPr>
          <p:cNvPr id="8" name="Text 5"/>
          <p:cNvSpPr txBox="1"/>
          <p:nvPr/>
        </p:nvSpPr>
        <p:spPr>
          <a:xfrm>
            <a:off x="640080" y="2651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9" name="Text 6"/>
          <p:cNvSpPr txBox="1"/>
          <p:nvPr/>
        </p:nvSpPr>
        <p:spPr>
          <a:xfrm>
            <a:off x="1417320" y="2560320"/>
            <a:ext cx="5120640" cy="100584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Las VLAN separan cada área; el InterVLAN se adapta al tamaño de cada sede.</a:t>
            </a:r>
            <a:endParaRPr lang="en-US" sz="1700" dirty="0"/>
          </a:p>
        </p:txBody>
      </p:sp>
      <p:sp>
        <p:nvSpPr>
          <p:cNvPr id="10" name="cc2"/>
          <p:cNvSpPr/>
          <p:nvPr/>
        </p:nvSpPr>
        <p:spPr>
          <a:xfrm>
            <a:off x="640080" y="3977640"/>
            <a:ext cx="548640" cy="548640"/>
          </a:xfrm>
          <a:prstGeom prst="ellipse">
            <a:avLst/>
          </a:prstGeom>
          <a:solidFill>
            <a:schemeClr val="accent1"/>
          </a:solidFill>
          <a:ln w="12700">
            <a:solidFill>
              <a:schemeClr val="accent1"/>
            </a:solidFill>
            <a:prstDash val="solid"/>
          </a:ln>
        </p:spPr>
      </p:sp>
      <p:sp>
        <p:nvSpPr>
          <p:cNvPr id="11" name="Text 8"/>
          <p:cNvSpPr txBox="1"/>
          <p:nvPr/>
        </p:nvSpPr>
        <p:spPr>
          <a:xfrm>
            <a:off x="640080" y="397764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2" name="Text 9"/>
          <p:cNvSpPr txBox="1"/>
          <p:nvPr/>
        </p:nvSpPr>
        <p:spPr>
          <a:xfrm>
            <a:off x="1417320" y="3886200"/>
            <a:ext cx="5120640" cy="100584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La red se validó con pruebas de ping y se respalda en Azure al menor costo.</a:t>
            </a:r>
            <a:endParaRPr lang="en-US" sz="1700" dirty="0"/>
          </a:p>
        </p:txBody>
      </p:sp>
      <p:sp>
        <p:nvSpPr>
          <p:cNvPr id="13" name="Text 10"/>
          <p:cNvSpPr txBox="1"/>
          <p:nvPr/>
        </p:nvSpPr>
        <p:spPr>
          <a:xfrm>
            <a:off x="6949440" y="2011680"/>
            <a:ext cx="4663440" cy="1280160"/>
          </a:xfrm>
          <a:prstGeom prst="rect">
            <a:avLst/>
          </a:prstGeom>
          <a:noFill/>
          <a:ln/>
        </p:spPr>
        <p:txBody>
          <a:bodyPr wrap="square" lIns="0" tIns="0" rIns="0" bIns="0" rtlCol="0" anchor="t"/>
          <a:lstStyle/>
          <a:p>
            <a:pPr algn="ctr" indent="0" marL="0">
              <a:buNone/>
            </a:pPr>
            <a:r>
              <a:rPr lang="en-US" sz="6600" b="1" dirty="0">
                <a:solidFill>
                  <a:schemeClr val="bg1"/>
                </a:solidFill>
                <a:latin typeface="Cambria" pitchFamily="34" charset="0"/>
                <a:ea typeface="Cambria" pitchFamily="34" charset="-122"/>
                <a:cs typeface="Cambria" pitchFamily="34" charset="-120"/>
              </a:rPr>
              <a:t>Gracias</a:t>
            </a:r>
            <a:endParaRPr lang="en-US" sz="6600" dirty="0"/>
          </a:p>
        </p:txBody>
      </p:sp>
      <p:sp>
        <p:nvSpPr>
          <p:cNvPr id="14" name="Text 11"/>
          <p:cNvSpPr txBox="1"/>
          <p:nvPr/>
        </p:nvSpPr>
        <p:spPr>
          <a:xfrm>
            <a:off x="6949440" y="3291840"/>
            <a:ext cx="4663440" cy="640080"/>
          </a:xfrm>
          <a:prstGeom prst="rect">
            <a:avLst/>
          </a:prstGeom>
          <a:noFill/>
          <a:ln/>
        </p:spPr>
        <p:txBody>
          <a:bodyPr wrap="square" lIns="0" tIns="0" rIns="0" bIns="0" rtlCol="0" anchor="t"/>
          <a:lstStyle/>
          <a:p>
            <a:pPr algn="ctr" indent="0" marL="0">
              <a:buNone/>
            </a:pPr>
            <a:r>
              <a:rPr lang="en-US" sz="2600" dirty="0">
                <a:solidFill>
                  <a:schemeClr val="accent1"/>
                </a:solidFill>
                <a:latin typeface="Calibri" pitchFamily="34" charset="0"/>
                <a:ea typeface="Calibri" pitchFamily="34" charset="-122"/>
                <a:cs typeface="Calibri" pitchFamily="34" charset="-120"/>
              </a:rPr>
              <a:t>¿Preguntas?</a:t>
            </a:r>
            <a:endParaRPr lang="en-US" sz="2600" dirty="0"/>
          </a:p>
        </p:txBody>
      </p:sp>
      <p:sp>
        <p:nvSpPr>
          <p:cNvPr id="15" name="Text 12"/>
          <p:cNvSpPr txBox="1"/>
          <p:nvPr/>
        </p:nvSpPr>
        <p:spPr>
          <a:xfrm>
            <a:off x="6949440" y="4114800"/>
            <a:ext cx="4663440" cy="365760"/>
          </a:xfrm>
          <a:prstGeom prst="rect">
            <a:avLst/>
          </a:prstGeom>
          <a:noFill/>
          <a:ln/>
        </p:spPr>
        <p:txBody>
          <a:bodyPr wrap="square" lIns="0" tIns="0" rIns="0" bIns="0" rtlCol="0" anchor="t"/>
          <a:lstStyle/>
          <a:p>
            <a:pPr algn="ctr" indent="0" marL="0">
              <a:buNone/>
            </a:pPr>
            <a:r>
              <a:rPr lang="en-US" sz="1400" dirty="0">
                <a:solidFill>
                  <a:schemeClr val="bg2"/>
                </a:solidFill>
                <a:latin typeface="Calibri" pitchFamily="34" charset="0"/>
                <a:ea typeface="Calibri" pitchFamily="34" charset="-122"/>
                <a:cs typeface="Calibri" pitchFamily="34" charset="-120"/>
              </a:rPr>
              <a:t>Grupo 2 · Redes y Comunicaciones de Datos</a:t>
            </a:r>
            <a:endParaRPr lang="en-US" sz="1400" dirty="0"/>
          </a:p>
        </p:txBody>
      </p:sp>
    </p:spTree>
  </p:cSld>
  <p:clrMapOvr>
    <a:masterClrMapping/>
  </p:clrMapOvr>
</p:sld>
</file>

<file path=ppt/theme/theme1.xml><?xml version="1.0" encoding="utf-8"?>
<a:theme xmlns:a="http://schemas.openxmlformats.org/drawingml/2006/main" name="Red Ambar">
  <a:themeElements>
    <a:clrScheme name="Red Ambar">
      <a:dk1>
        <a:srgbClr val="1E2229"/>
      </a:dk1>
      <a:lt1>
        <a:srgbClr val="F4F1EA"/>
      </a:lt1>
      <a:dk2>
        <a:srgbClr val="2A303A"/>
      </a:dk2>
      <a:lt2>
        <a:srgbClr val="A7AFBB"/>
      </a:lt2>
      <a:accent1>
        <a:srgbClr val="F2A541"/>
      </a:accent1>
      <a:accent2>
        <a:srgbClr val="E4572E"/>
      </a:accent2>
      <a:accent3>
        <a:srgbClr val="6CC3A0"/>
      </a:accent3>
      <a:accent4>
        <a:srgbClr val="8FB8DE"/>
      </a:accent4>
      <a:accent5>
        <a:srgbClr val="3A414D"/>
      </a:accent5>
      <a:accent6>
        <a:srgbClr val="FFD38A"/>
      </a:accent6>
      <a:hlink>
        <a:srgbClr val="F2A541"/>
      </a:hlink>
      <a:folHlink>
        <a:srgbClr val="FFD38A"/>
      </a:folHlink>
    </a:clrScheme>
    <a:fontScheme name="Red Amb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MIEMPRESA - Hito 1 - Grupo 2</dc:title>
  <dc:subject>PptxGenJS Presentation</dc:subject>
  <dc:creator>PptxGenJS</dc:creator>
  <cp:lastModifiedBy>PptxGenJS</cp:lastModifiedBy>
  <cp:revision>1</cp:revision>
  <dcterms:created xsi:type="dcterms:W3CDTF">2026-10-07T01:08:15Z</dcterms:created>
  <dcterms:modified xsi:type="dcterms:W3CDTF">2026-10-07T01:08:15Z</dcterms:modified>
</cp:coreProperties>
</file>