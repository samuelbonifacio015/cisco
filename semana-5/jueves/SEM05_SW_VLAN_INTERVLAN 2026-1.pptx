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2.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3.xml" ContentType="application/vnd.openxmlformats-officedocument.presentationml.tags+xml"/>
  <Override PartName="/ppt/notesSlides/notesSlide22.xml" ContentType="application/vnd.openxmlformats-officedocument.presentationml.notesSlide+xml"/>
  <Override PartName="/ppt/tags/tag4.xml" ContentType="application/vnd.openxmlformats-officedocument.presentationml.tags+xml"/>
  <Override PartName="/ppt/notesSlides/notesSlide23.xml" ContentType="application/vnd.openxmlformats-officedocument.presentationml.notesSlide+xml"/>
  <Override PartName="/ppt/tags/tag5.xml" ContentType="application/vnd.openxmlformats-officedocument.presentationml.tags+xml"/>
  <Override PartName="/ppt/notesSlides/notesSlide24.xml" ContentType="application/vnd.openxmlformats-officedocument.presentationml.notesSlide+xml"/>
  <Override PartName="/ppt/tags/tag6.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7.xml" ContentType="application/vnd.openxmlformats-officedocument.presentationml.tags+xml"/>
  <Override PartName="/ppt/notesSlides/notesSlide28.xml" ContentType="application/vnd.openxmlformats-officedocument.presentationml.notesSlide+xml"/>
  <Override PartName="/ppt/tags/tag8.xml" ContentType="application/vnd.openxmlformats-officedocument.presentationml.tags+xml"/>
  <Override PartName="/ppt/notesSlides/notesSlide29.xml" ContentType="application/vnd.openxmlformats-officedocument.presentationml.notesSlide+xml"/>
  <Override PartName="/ppt/tags/tag9.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0.xml" ContentType="application/vnd.openxmlformats-officedocument.presentationml.tags+xml"/>
  <Override PartName="/ppt/notesSlides/notesSlide32.xml" ContentType="application/vnd.openxmlformats-officedocument.presentationml.notesSlide+xml"/>
  <Override PartName="/ppt/tags/tag11.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12.xml" ContentType="application/vnd.openxmlformats-officedocument.presentationml.tags+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4"/>
  </p:sldMasterIdLst>
  <p:notesMasterIdLst>
    <p:notesMasterId r:id="rId50"/>
  </p:notesMasterIdLst>
  <p:sldIdLst>
    <p:sldId id="256" r:id="rId5"/>
    <p:sldId id="923" r:id="rId6"/>
    <p:sldId id="1255" r:id="rId7"/>
    <p:sldId id="1123" r:id="rId8"/>
    <p:sldId id="1162" r:id="rId9"/>
    <p:sldId id="1051" r:id="rId10"/>
    <p:sldId id="1167" r:id="rId11"/>
    <p:sldId id="1168" r:id="rId12"/>
    <p:sldId id="1095" r:id="rId13"/>
    <p:sldId id="1054" r:id="rId14"/>
    <p:sldId id="788" r:id="rId15"/>
    <p:sldId id="1164" r:id="rId16"/>
    <p:sldId id="1056" r:id="rId17"/>
    <p:sldId id="1247" r:id="rId18"/>
    <p:sldId id="993" r:id="rId19"/>
    <p:sldId id="1259" r:id="rId20"/>
    <p:sldId id="1256" r:id="rId21"/>
    <p:sldId id="995" r:id="rId22"/>
    <p:sldId id="997" r:id="rId23"/>
    <p:sldId id="1182" r:id="rId24"/>
    <p:sldId id="1055" r:id="rId25"/>
    <p:sldId id="628" r:id="rId26"/>
    <p:sldId id="1252" r:id="rId27"/>
    <p:sldId id="1258" r:id="rId28"/>
    <p:sldId id="926" r:id="rId29"/>
    <p:sldId id="1149" r:id="rId30"/>
    <p:sldId id="1148" r:id="rId31"/>
    <p:sldId id="1172" r:id="rId32"/>
    <p:sldId id="1071" r:id="rId33"/>
    <p:sldId id="1132" r:id="rId34"/>
    <p:sldId id="1058" r:id="rId35"/>
    <p:sldId id="1171" r:id="rId36"/>
    <p:sldId id="1173" r:id="rId37"/>
    <p:sldId id="1158" r:id="rId38"/>
    <p:sldId id="1227" r:id="rId39"/>
    <p:sldId id="1257" r:id="rId40"/>
    <p:sldId id="1225" r:id="rId41"/>
    <p:sldId id="1159" r:id="rId42"/>
    <p:sldId id="1226" r:id="rId43"/>
    <p:sldId id="1229" r:id="rId44"/>
    <p:sldId id="1261" r:id="rId45"/>
    <p:sldId id="1260" r:id="rId46"/>
    <p:sldId id="1265" r:id="rId47"/>
    <p:sldId id="1228" r:id="rId48"/>
    <p:sldId id="1166" r:id="rId49"/>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65" autoAdjust="0"/>
    <p:restoredTop sz="94012" autoAdjust="0"/>
  </p:normalViewPr>
  <p:slideViewPr>
    <p:cSldViewPr snapToGrid="0" showGuides="1">
      <p:cViewPr varScale="1">
        <p:scale>
          <a:sx n="109" d="100"/>
          <a:sy n="109" d="100"/>
        </p:scale>
        <p:origin x="474" y="108"/>
      </p:cViewPr>
      <p:guideLst>
        <p:guide orient="horz" pos="1620"/>
        <p:guide pos="336"/>
      </p:guideLst>
    </p:cSldViewPr>
  </p:slideViewPr>
  <p:notesTextViewPr>
    <p:cViewPr>
      <p:scale>
        <a:sx n="1" d="1"/>
        <a:sy n="1" d="1"/>
      </p:scale>
      <p:origin x="0" y="0"/>
    </p:cViewPr>
  </p:notesTextViewPr>
  <p:sorterViewPr>
    <p:cViewPr>
      <p:scale>
        <a:sx n="140" d="100"/>
        <a:sy n="140" d="100"/>
      </p:scale>
      <p:origin x="0" y="0"/>
    </p:cViewPr>
  </p:sorterViewPr>
  <p:notesViewPr>
    <p:cSldViewPr snapToGrid="0">
      <p:cViewPr varScale="1">
        <p:scale>
          <a:sx n="83" d="100"/>
          <a:sy n="83" d="100"/>
        </p:scale>
        <p:origin x="-3828"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CSIJOSA (SALCEDO POLO, JORGE LUIS)" userId="2dcc0275-bce4-491c-99ed-7ac9ae3f161e" providerId="ADAL" clId="{4C9D7FD2-292E-49FA-9AC9-91B8108A9ED5}"/>
    <pc:docChg chg="modSld">
      <pc:chgData name="PCSIJOSA (SALCEDO POLO, JORGE LUIS)" userId="2dcc0275-bce4-491c-99ed-7ac9ae3f161e" providerId="ADAL" clId="{4C9D7FD2-292E-49FA-9AC9-91B8108A9ED5}" dt="2026-03-27T23:40:05.455" v="3" actId="20577"/>
      <pc:docMkLst>
        <pc:docMk/>
      </pc:docMkLst>
      <pc:sldChg chg="modSp mod">
        <pc:chgData name="PCSIJOSA (SALCEDO POLO, JORGE LUIS)" userId="2dcc0275-bce4-491c-99ed-7ac9ae3f161e" providerId="ADAL" clId="{4C9D7FD2-292E-49FA-9AC9-91B8108A9ED5}" dt="2026-03-27T23:40:05.455" v="3" actId="20577"/>
        <pc:sldMkLst>
          <pc:docMk/>
          <pc:sldMk cId="0" sldId="256"/>
        </pc:sldMkLst>
        <pc:spChg chg="mod">
          <ac:chgData name="PCSIJOSA (SALCEDO POLO, JORGE LUIS)" userId="2dcc0275-bce4-491c-99ed-7ac9ae3f161e" providerId="ADAL" clId="{4C9D7FD2-292E-49FA-9AC9-91B8108A9ED5}" dt="2026-03-27T23:40:05.455" v="3" actId="20577"/>
          <ac:spMkLst>
            <pc:docMk/>
            <pc:sldMk cId="0" sldId="256"/>
            <ac:spMk id="7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pPr/>
              <a:t>3/27/2026</a:t>
            </a:fld>
            <a:endParaRPr lang="es-E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pPr/>
              <a:t>‹Nº›</a:t>
            </a:fld>
            <a:endParaRPr lang="es-E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3050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s-E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s-ES" b="0" dirty="0"/>
              <a:t>Cisco Networking Academy Program</a:t>
            </a:r>
          </a:p>
          <a:p>
            <a:pPr>
              <a:buFontTx/>
              <a:buNone/>
            </a:pPr>
            <a:r>
              <a:rPr lang="es-ES" b="0" dirty="0"/>
              <a:t>Introducción al Internet de las Cosas</a:t>
            </a:r>
          </a:p>
          <a:p>
            <a:pPr>
              <a:buFontTx/>
              <a:buNone/>
            </a:pPr>
            <a:r>
              <a:rPr lang="es-ES" b="0" dirty="0"/>
              <a:t>Capítulo 1: todo está conectado</a:t>
            </a:r>
          </a:p>
          <a:p>
            <a:endParaRPr lang="es-ES" dirty="0"/>
          </a:p>
        </p:txBody>
      </p:sp>
    </p:spTree>
    <p:extLst>
      <p:ext uri="{BB962C8B-B14F-4D97-AF65-F5344CB8AC3E}">
        <p14:creationId xmlns:p14="http://schemas.microsoft.com/office/powerpoint/2010/main" val="294793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2725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4</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a:solidFill>
                  <a:schemeClr val="accent5">
                    <a:lumMod val="40000"/>
                    <a:lumOff val="60000"/>
                  </a:schemeClr>
                </a:solidFill>
              </a:rPr>
              <a:t>8</a:t>
            </a:r>
            <a:r>
              <a:rPr lang="es-419" sz="1200" baseline="0">
                <a:solidFill>
                  <a:schemeClr val="accent5">
                    <a:lumMod val="40000"/>
                    <a:lumOff val="60000"/>
                  </a:schemeClr>
                </a:solidFill>
              </a:rPr>
              <a:t> – </a:t>
            </a:r>
            <a:r>
              <a:rPr lang="es-419" sz="1200">
                <a:solidFill>
                  <a:schemeClr val="accent5">
                    <a:lumMod val="40000"/>
                    <a:lumOff val="60000"/>
                  </a:schemeClr>
                </a:solidFill>
              </a:rPr>
              <a:t>Capa de red</a:t>
            </a:r>
          </a:p>
          <a:p>
            <a:pPr rtl="0">
              <a:buFontTx/>
              <a:buNone/>
            </a:pPr>
            <a:r>
              <a:rPr lang="es-419" sz="1200" b="0"/>
              <a:t>8.1 – </a:t>
            </a:r>
            <a:r>
              <a:rPr lang="es-419">
                <a:solidFill>
                  <a:schemeClr val="accent5">
                    <a:lumMod val="40000"/>
                    <a:lumOff val="60000"/>
                  </a:schemeClr>
                </a:solidFill>
              </a:rPr>
              <a:t>Características de la Capa de Red</a:t>
            </a:r>
          </a:p>
          <a:p>
            <a:pPr rtl="0">
              <a:lnSpc>
                <a:spcPct val="80000"/>
              </a:lnSpc>
              <a:buFontTx/>
              <a:buNone/>
            </a:pPr>
            <a:r>
              <a:rPr lang="es-419">
                <a:latin typeface="Arial" charset="0"/>
              </a:rPr>
              <a:t>8.1.6</a:t>
            </a:r>
            <a:r>
              <a:rPr lang="es-419" baseline="0">
                <a:latin typeface="Arial" charset="0"/>
              </a:rPr>
              <a:t> </a:t>
            </a:r>
            <a:r>
              <a:rPr lang="es-419" sz="1200" b="0"/>
              <a:t>–</a:t>
            </a:r>
            <a:r>
              <a:rPr lang="es-419" sz="1200" b="0" baseline="0"/>
              <a:t> </a:t>
            </a:r>
            <a:r>
              <a:rPr lang="es-419"/>
              <a:t>Independencia de Medios</a:t>
            </a:r>
          </a:p>
          <a:p>
            <a:pPr rtl="0">
              <a:buFontTx/>
              <a:buNone/>
            </a:pPr>
            <a:r>
              <a:rPr lang="es-419"/>
              <a:t>8.1.7</a:t>
            </a:r>
            <a:r>
              <a:rPr lang="es-419" baseline="0"/>
              <a:t> </a:t>
            </a:r>
            <a:r>
              <a:rPr lang="es-419" sz="1200">
                <a:effectLst/>
              </a:rPr>
              <a:t>Verifique su comprensión – </a:t>
            </a:r>
            <a:r>
              <a:rPr lang="es-419" sz="1200">
                <a:solidFill>
                  <a:schemeClr val="accent5">
                    <a:lumMod val="40000"/>
                    <a:lumOff val="60000"/>
                  </a:schemeClr>
                </a:solidFill>
                <a:effectLst/>
              </a:rPr>
              <a:t>Características </a:t>
            </a:r>
            <a:r>
              <a:rPr lang="es-419">
                <a:solidFill>
                  <a:schemeClr val="accent5">
                    <a:lumMod val="40000"/>
                    <a:lumOff val="60000"/>
                  </a:schemeClr>
                </a:solidFill>
              </a:rPr>
              <a:t>IP</a:t>
            </a:r>
          </a:p>
        </p:txBody>
      </p:sp>
    </p:spTree>
    <p:extLst>
      <p:ext uri="{BB962C8B-B14F-4D97-AF65-F5344CB8AC3E}">
        <p14:creationId xmlns:p14="http://schemas.microsoft.com/office/powerpoint/2010/main" val="2465286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5</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a:solidFill>
                  <a:schemeClr val="accent5">
                    <a:lumMod val="40000"/>
                    <a:lumOff val="60000"/>
                  </a:schemeClr>
                </a:solidFill>
              </a:rPr>
              <a:t>8</a:t>
            </a:r>
            <a:r>
              <a:rPr lang="es-419" sz="1200" baseline="0">
                <a:solidFill>
                  <a:schemeClr val="accent5">
                    <a:lumMod val="40000"/>
                    <a:lumOff val="60000"/>
                  </a:schemeClr>
                </a:solidFill>
              </a:rPr>
              <a:t> – </a:t>
            </a:r>
            <a:r>
              <a:rPr lang="es-419" sz="1200">
                <a:solidFill>
                  <a:schemeClr val="accent5">
                    <a:lumMod val="40000"/>
                    <a:lumOff val="60000"/>
                  </a:schemeClr>
                </a:solidFill>
              </a:rPr>
              <a:t>Capa de red</a:t>
            </a:r>
          </a:p>
          <a:p>
            <a:pPr rtl="0">
              <a:buFontTx/>
              <a:buNone/>
            </a:pPr>
            <a:r>
              <a:rPr lang="es-419" sz="1200" b="0"/>
              <a:t>8.1 – </a:t>
            </a:r>
            <a:r>
              <a:rPr lang="es-419">
                <a:solidFill>
                  <a:schemeClr val="accent5">
                    <a:lumMod val="40000"/>
                    <a:lumOff val="60000"/>
                  </a:schemeClr>
                </a:solidFill>
              </a:rPr>
              <a:t>Características de la Capa de Red</a:t>
            </a:r>
          </a:p>
          <a:p>
            <a:pPr rtl="0">
              <a:lnSpc>
                <a:spcPct val="80000"/>
              </a:lnSpc>
              <a:buFontTx/>
              <a:buNone/>
            </a:pPr>
            <a:r>
              <a:rPr lang="es-419">
                <a:latin typeface="Arial" charset="0"/>
              </a:rPr>
              <a:t>8.1.6</a:t>
            </a:r>
            <a:r>
              <a:rPr lang="es-419" baseline="0">
                <a:latin typeface="Arial" charset="0"/>
              </a:rPr>
              <a:t> </a:t>
            </a:r>
            <a:r>
              <a:rPr lang="es-419" sz="1200" b="0"/>
              <a:t>–</a:t>
            </a:r>
            <a:r>
              <a:rPr lang="es-419" sz="1200" b="0" baseline="0"/>
              <a:t> </a:t>
            </a:r>
            <a:r>
              <a:rPr lang="es-419"/>
              <a:t>Independencia de Medios</a:t>
            </a:r>
          </a:p>
          <a:p>
            <a:pPr rtl="0">
              <a:buFontTx/>
              <a:buNone/>
            </a:pPr>
            <a:r>
              <a:rPr lang="es-419"/>
              <a:t>8.1.7</a:t>
            </a:r>
            <a:r>
              <a:rPr lang="es-419" baseline="0"/>
              <a:t> </a:t>
            </a:r>
            <a:r>
              <a:rPr lang="es-419" sz="1200">
                <a:effectLst/>
              </a:rPr>
              <a:t>Verifique su comprensión – </a:t>
            </a:r>
            <a:r>
              <a:rPr lang="es-419" sz="1200">
                <a:solidFill>
                  <a:schemeClr val="accent5">
                    <a:lumMod val="40000"/>
                    <a:lumOff val="60000"/>
                  </a:schemeClr>
                </a:solidFill>
                <a:effectLst/>
              </a:rPr>
              <a:t>Características </a:t>
            </a:r>
            <a:r>
              <a:rPr lang="es-419">
                <a:solidFill>
                  <a:schemeClr val="accent5">
                    <a:lumMod val="40000"/>
                    <a:lumOff val="60000"/>
                  </a:schemeClr>
                </a:solidFill>
              </a:rPr>
              <a:t>IP</a:t>
            </a:r>
          </a:p>
        </p:txBody>
      </p:sp>
    </p:spTree>
    <p:extLst>
      <p:ext uri="{BB962C8B-B14F-4D97-AF65-F5344CB8AC3E}">
        <p14:creationId xmlns:p14="http://schemas.microsoft.com/office/powerpoint/2010/main" val="3330006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4904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Resolución de dirección</a:t>
            </a:r>
          </a:p>
          <a:p>
            <a:pPr rtl="0"/>
            <a:r>
              <a:rPr lang="es-419"/>
              <a:t>9.1 — MAC e IP</a:t>
            </a:r>
          </a:p>
          <a:p>
            <a:pPr rtl="0"/>
            <a:r>
              <a:rPr lang="es-419"/>
              <a:t>9.1.1 – Destino en la misma red</a:t>
            </a:r>
          </a:p>
        </p:txBody>
      </p:sp>
      <p:sp>
        <p:nvSpPr>
          <p:cNvPr id="4" name="Slide Number Placeholder 3"/>
          <p:cNvSpPr>
            <a:spLocks noGrp="1"/>
          </p:cNvSpPr>
          <p:nvPr>
            <p:ph type="sldNum" sz="quarter" idx="5"/>
          </p:nvPr>
        </p:nvSpPr>
        <p:spPr/>
        <p:txBody>
          <a:bodyPr/>
          <a:lstStyle/>
          <a:p>
            <a:pPr rtl="0"/>
            <a:fld id="{5641018C-6CAF-B84E-B92C-ECB119457FBA}" type="slidenum">
              <a:rPr/>
              <a:t>7</a:t>
            </a:fld>
            <a:endParaRPr/>
          </a:p>
        </p:txBody>
      </p:sp>
    </p:spTree>
    <p:extLst>
      <p:ext uri="{BB962C8B-B14F-4D97-AF65-F5344CB8AC3E}">
        <p14:creationId xmlns:p14="http://schemas.microsoft.com/office/powerpoint/2010/main" val="3092312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Resolución de dirección</a:t>
            </a:r>
          </a:p>
          <a:p>
            <a:pPr rtl="0"/>
            <a:r>
              <a:rPr lang="es-419"/>
              <a:t>9.2 — ARP</a:t>
            </a:r>
          </a:p>
          <a:p>
            <a:pPr rtl="0"/>
            <a:r>
              <a:rPr lang="es-419"/>
              <a:t>9.2.1 — Descripción general de ARP</a:t>
            </a:r>
          </a:p>
        </p:txBody>
      </p:sp>
      <p:sp>
        <p:nvSpPr>
          <p:cNvPr id="4" name="Slide Number Placeholder 3"/>
          <p:cNvSpPr>
            <a:spLocks noGrp="1"/>
          </p:cNvSpPr>
          <p:nvPr>
            <p:ph type="sldNum" sz="quarter" idx="5"/>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2552125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Resolución de dirección</a:t>
            </a:r>
          </a:p>
          <a:p>
            <a:pPr rtl="0"/>
            <a:r>
              <a:rPr lang="es-419"/>
              <a:t>9.2 — ARP</a:t>
            </a:r>
          </a:p>
          <a:p>
            <a:pPr rtl="0"/>
            <a:r>
              <a:rPr lang="es-419"/>
              <a:t>9.2.6– Eliminar entradas de una tabla ARP</a:t>
            </a:r>
          </a:p>
        </p:txBody>
      </p:sp>
      <p:sp>
        <p:nvSpPr>
          <p:cNvPr id="4" name="Slide Number Placeholder 3"/>
          <p:cNvSpPr>
            <a:spLocks noGrp="1"/>
          </p:cNvSpPr>
          <p:nvPr>
            <p:ph type="sldNum" sz="quarter" idx="5"/>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36846645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59818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11</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dirty="0">
                <a:solidFill>
                  <a:schemeClr val="accent5">
                    <a:lumMod val="40000"/>
                    <a:lumOff val="60000"/>
                  </a:schemeClr>
                </a:solidFill>
              </a:rPr>
              <a:t>2</a:t>
            </a:r>
            <a:r>
              <a:rPr lang="es-419" sz="1200" baseline="0" dirty="0">
                <a:solidFill>
                  <a:schemeClr val="accent5">
                    <a:lumMod val="40000"/>
                    <a:lumOff val="60000"/>
                  </a:schemeClr>
                </a:solidFill>
              </a:rPr>
              <a:t> – </a:t>
            </a:r>
            <a:r>
              <a:rPr lang="es-419" sz="1200" dirty="0">
                <a:solidFill>
                  <a:schemeClr val="accent5">
                    <a:lumMod val="40000"/>
                    <a:lumOff val="60000"/>
                  </a:schemeClr>
                </a:solidFill>
              </a:rPr>
              <a:t> Conceptos de switching</a:t>
            </a:r>
          </a:p>
          <a:p>
            <a:pPr rtl="0">
              <a:buFontTx/>
              <a:buNone/>
            </a:pPr>
            <a:r>
              <a:rPr lang="es-419" sz="1200" b="0" dirty="0"/>
              <a:t>2.2 – </a:t>
            </a:r>
            <a:r>
              <a:rPr lang="es-419" dirty="0">
                <a:solidFill>
                  <a:schemeClr val="accent5">
                    <a:lumMod val="40000"/>
                    <a:lumOff val="60000"/>
                  </a:schemeClr>
                </a:solidFill>
              </a:rPr>
              <a:t>Dominios de switching</a:t>
            </a:r>
          </a:p>
          <a:p>
            <a:pPr rtl="0">
              <a:lnSpc>
                <a:spcPct val="80000"/>
              </a:lnSpc>
              <a:buFontTx/>
              <a:buNone/>
            </a:pPr>
            <a:r>
              <a:rPr lang="es-419" sz="1200" kern="1200" dirty="0">
                <a:solidFill>
                  <a:schemeClr val="tx1"/>
                </a:solidFill>
                <a:latin typeface="Arial" charset="0"/>
                <a:ea typeface="ＭＳ Ｐゴシック" charset="0"/>
                <a:cs typeface="ＭＳ Ｐゴシック" charset="0"/>
              </a:rPr>
              <a:t>2.2.1 – </a:t>
            </a:r>
            <a:r>
              <a:rPr lang="es-419" dirty="0"/>
              <a:t>Dominios de colisiones</a:t>
            </a:r>
          </a:p>
        </p:txBody>
      </p:sp>
    </p:spTree>
    <p:extLst>
      <p:ext uri="{BB962C8B-B14F-4D97-AF65-F5344CB8AC3E}">
        <p14:creationId xmlns:p14="http://schemas.microsoft.com/office/powerpoint/2010/main" val="3427554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12</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a:solidFill>
                  <a:schemeClr val="accent5">
                    <a:lumMod val="40000"/>
                    <a:lumOff val="60000"/>
                  </a:schemeClr>
                </a:solidFill>
              </a:rPr>
              <a:t>8</a:t>
            </a:r>
            <a:r>
              <a:rPr lang="es-419" sz="1200" baseline="0">
                <a:solidFill>
                  <a:schemeClr val="accent5">
                    <a:lumMod val="40000"/>
                    <a:lumOff val="60000"/>
                  </a:schemeClr>
                </a:solidFill>
              </a:rPr>
              <a:t> – </a:t>
            </a:r>
            <a:r>
              <a:rPr lang="es-419" sz="1200">
                <a:solidFill>
                  <a:schemeClr val="accent5">
                    <a:lumMod val="40000"/>
                    <a:lumOff val="60000"/>
                  </a:schemeClr>
                </a:solidFill>
              </a:rPr>
              <a:t>Capa de red</a:t>
            </a:r>
          </a:p>
          <a:p>
            <a:pPr rtl="0">
              <a:buFontTx/>
              <a:buNone/>
            </a:pPr>
            <a:r>
              <a:rPr lang="es-419" sz="1200" b="0"/>
              <a:t>8.1 – </a:t>
            </a:r>
            <a:r>
              <a:rPr lang="es-419">
                <a:solidFill>
                  <a:schemeClr val="accent5">
                    <a:lumMod val="40000"/>
                    <a:lumOff val="60000"/>
                  </a:schemeClr>
                </a:solidFill>
              </a:rPr>
              <a:t>Características de la Capa de Red</a:t>
            </a:r>
          </a:p>
          <a:p>
            <a:pPr rtl="0">
              <a:lnSpc>
                <a:spcPct val="80000"/>
              </a:lnSpc>
              <a:buFontTx/>
              <a:buNone/>
            </a:pPr>
            <a:r>
              <a:rPr lang="es-419">
                <a:latin typeface="Arial" charset="0"/>
              </a:rPr>
              <a:t>8.1.6</a:t>
            </a:r>
            <a:r>
              <a:rPr lang="es-419" baseline="0">
                <a:latin typeface="Arial" charset="0"/>
              </a:rPr>
              <a:t> </a:t>
            </a:r>
            <a:r>
              <a:rPr lang="es-419" sz="1200" b="0"/>
              <a:t>–</a:t>
            </a:r>
            <a:r>
              <a:rPr lang="es-419" sz="1200" b="0" baseline="0"/>
              <a:t> </a:t>
            </a:r>
            <a:r>
              <a:rPr lang="es-419"/>
              <a:t>Independencia de Medios</a:t>
            </a:r>
          </a:p>
          <a:p>
            <a:pPr rtl="0">
              <a:buFontTx/>
              <a:buNone/>
            </a:pPr>
            <a:r>
              <a:rPr lang="es-419"/>
              <a:t>8.1.7</a:t>
            </a:r>
            <a:r>
              <a:rPr lang="es-419" baseline="0"/>
              <a:t> </a:t>
            </a:r>
            <a:r>
              <a:rPr lang="es-419" sz="1200">
                <a:effectLst/>
              </a:rPr>
              <a:t>Verifique su comprensión – </a:t>
            </a:r>
            <a:r>
              <a:rPr lang="es-419" sz="1200">
                <a:solidFill>
                  <a:schemeClr val="accent5">
                    <a:lumMod val="40000"/>
                    <a:lumOff val="60000"/>
                  </a:schemeClr>
                </a:solidFill>
                <a:effectLst/>
              </a:rPr>
              <a:t>Características </a:t>
            </a:r>
            <a:r>
              <a:rPr lang="es-419">
                <a:solidFill>
                  <a:schemeClr val="accent5">
                    <a:lumMod val="40000"/>
                    <a:lumOff val="60000"/>
                  </a:schemeClr>
                </a:solidFill>
              </a:rPr>
              <a:t>IP</a:t>
            </a:r>
          </a:p>
        </p:txBody>
      </p:sp>
    </p:spTree>
    <p:extLst>
      <p:ext uri="{BB962C8B-B14F-4D97-AF65-F5344CB8AC3E}">
        <p14:creationId xmlns:p14="http://schemas.microsoft.com/office/powerpoint/2010/main" val="2500936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43300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14</a:t>
            </a:fld>
            <a:endParaRPr lang="es-E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s-ES" sz="1200" kern="1200" dirty="0">
                <a:solidFill>
                  <a:schemeClr val="tx1"/>
                </a:solidFill>
                <a:latin typeface="Arial" charset="0"/>
              </a:rPr>
              <a:t>4.1 – </a:t>
            </a:r>
            <a:r>
              <a:rPr lang="es-ES" sz="1200" dirty="0">
                <a:latin typeface="Arial" charset="0"/>
              </a:rPr>
              <a:t>Diseño de una red LAN</a:t>
            </a:r>
            <a:endParaRPr lang="es-ES" sz="1200" kern="1200" dirty="0">
              <a:solidFill>
                <a:schemeClr val="tx1"/>
              </a:solidFill>
              <a:latin typeface="Arial" charset="0"/>
              <a:ea typeface="ＭＳ Ｐゴシック" charset="0"/>
              <a:cs typeface="ＭＳ Ｐゴシック" charset="0"/>
            </a:endParaRPr>
          </a:p>
          <a:p>
            <a:pPr>
              <a:lnSpc>
                <a:spcPct val="80000"/>
              </a:lnSpc>
              <a:buFontTx/>
              <a:buNone/>
            </a:pPr>
            <a:r>
              <a:rPr lang="es-ES" dirty="0">
                <a:latin typeface="Arial" charset="0"/>
              </a:rPr>
              <a:t>4.1.1 – Redes convergentes</a:t>
            </a:r>
          </a:p>
          <a:p>
            <a:pPr>
              <a:lnSpc>
                <a:spcPct val="80000"/>
              </a:lnSpc>
              <a:buFontTx/>
              <a:buNone/>
            </a:pPr>
            <a:r>
              <a:rPr lang="es-ES" dirty="0">
                <a:latin typeface="Arial" charset="0"/>
              </a:rPr>
              <a:t>4.1.1.1 – Complejidad creciente de las redes</a:t>
            </a:r>
            <a:endParaRPr lang="es-ES" dirty="0"/>
          </a:p>
          <a:p>
            <a:pPr>
              <a:lnSpc>
                <a:spcPct val="80000"/>
              </a:lnSpc>
              <a:buFontTx/>
              <a:buNone/>
            </a:pPr>
            <a:endParaRPr lang="es-ES" dirty="0"/>
          </a:p>
        </p:txBody>
      </p:sp>
    </p:spTree>
    <p:extLst>
      <p:ext uri="{BB962C8B-B14F-4D97-AF65-F5344CB8AC3E}">
        <p14:creationId xmlns:p14="http://schemas.microsoft.com/office/powerpoint/2010/main" val="15044482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15</a:t>
            </a:fld>
            <a:endParaRPr lang="es-E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s-ES" sz="1200" kern="1200" dirty="0">
                <a:solidFill>
                  <a:schemeClr val="tx1"/>
                </a:solidFill>
                <a:latin typeface="Arial" charset="0"/>
              </a:rPr>
              <a:t>4.1 – </a:t>
            </a:r>
            <a:r>
              <a:rPr lang="es-ES" sz="1200" dirty="0">
                <a:latin typeface="Arial" charset="0"/>
              </a:rPr>
              <a:t>Diseño de una red LAN</a:t>
            </a:r>
            <a:endParaRPr lang="es-ES" sz="1200" kern="1200" dirty="0">
              <a:solidFill>
                <a:schemeClr val="tx1"/>
              </a:solidFill>
              <a:latin typeface="Arial" charset="0"/>
              <a:ea typeface="ＭＳ Ｐゴシック" charset="0"/>
              <a:cs typeface="ＭＳ Ｐゴシック" charset="0"/>
            </a:endParaRPr>
          </a:p>
          <a:p>
            <a:pPr>
              <a:lnSpc>
                <a:spcPct val="80000"/>
              </a:lnSpc>
              <a:buFontTx/>
              <a:buNone/>
            </a:pPr>
            <a:r>
              <a:rPr lang="es-ES" dirty="0">
                <a:latin typeface="Arial" charset="0"/>
              </a:rPr>
              <a:t>4.1.2 – Redes conmutadas</a:t>
            </a:r>
          </a:p>
          <a:p>
            <a:pPr>
              <a:lnSpc>
                <a:spcPct val="80000"/>
              </a:lnSpc>
              <a:buFontTx/>
              <a:buNone/>
            </a:pPr>
            <a:r>
              <a:rPr lang="es-ES" baseline="0" dirty="0">
                <a:latin typeface="Arial" charset="0"/>
              </a:rPr>
              <a:t>4.1.2.1 – Función de las redes conmutadas</a:t>
            </a:r>
            <a:endParaRPr lang="es-ES" dirty="0"/>
          </a:p>
        </p:txBody>
      </p:sp>
    </p:spTree>
    <p:extLst>
      <p:ext uri="{BB962C8B-B14F-4D97-AF65-F5344CB8AC3E}">
        <p14:creationId xmlns:p14="http://schemas.microsoft.com/office/powerpoint/2010/main" val="189984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16</a:t>
            </a:fld>
            <a:endParaRPr lang="es-E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s-ES" sz="1200" kern="1200" dirty="0">
                <a:solidFill>
                  <a:schemeClr val="tx1"/>
                </a:solidFill>
                <a:latin typeface="Arial" charset="0"/>
              </a:rPr>
              <a:t>4.1 – </a:t>
            </a:r>
            <a:r>
              <a:rPr lang="es-ES" sz="1200" dirty="0">
                <a:latin typeface="Arial" charset="0"/>
              </a:rPr>
              <a:t>Diseño de una red LAN</a:t>
            </a:r>
            <a:endParaRPr lang="es-ES" sz="1200" kern="1200" dirty="0">
              <a:solidFill>
                <a:schemeClr val="tx1"/>
              </a:solidFill>
              <a:latin typeface="Arial" charset="0"/>
              <a:ea typeface="ＭＳ Ｐゴシック" charset="0"/>
              <a:cs typeface="ＭＳ Ｐゴシック" charset="0"/>
            </a:endParaRPr>
          </a:p>
          <a:p>
            <a:pPr>
              <a:lnSpc>
                <a:spcPct val="80000"/>
              </a:lnSpc>
              <a:buFontTx/>
              <a:buNone/>
            </a:pPr>
            <a:r>
              <a:rPr lang="es-ES" dirty="0">
                <a:latin typeface="Arial" charset="0"/>
              </a:rPr>
              <a:t>4.1.2 – Redes conmutadas</a:t>
            </a:r>
          </a:p>
          <a:p>
            <a:pPr>
              <a:lnSpc>
                <a:spcPct val="80000"/>
              </a:lnSpc>
              <a:buFontTx/>
              <a:buNone/>
            </a:pPr>
            <a:r>
              <a:rPr lang="es-ES" baseline="0" dirty="0">
                <a:latin typeface="Arial" charset="0"/>
              </a:rPr>
              <a:t>4.1.2.1 – Función de las redes conmutadas</a:t>
            </a:r>
            <a:endParaRPr lang="es-ES" dirty="0"/>
          </a:p>
        </p:txBody>
      </p:sp>
    </p:spTree>
    <p:extLst>
      <p:ext uri="{BB962C8B-B14F-4D97-AF65-F5344CB8AC3E}">
        <p14:creationId xmlns:p14="http://schemas.microsoft.com/office/powerpoint/2010/main" val="38759442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17</a:t>
            </a:fld>
            <a:endParaRPr lang="es-E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s-ES" sz="1200" kern="1200" dirty="0">
                <a:solidFill>
                  <a:schemeClr val="tx1"/>
                </a:solidFill>
                <a:latin typeface="Arial" charset="0"/>
              </a:rPr>
              <a:t>4.1 – </a:t>
            </a:r>
            <a:r>
              <a:rPr lang="es-ES" sz="1200" dirty="0">
                <a:latin typeface="Arial" charset="0"/>
              </a:rPr>
              <a:t>Diseño de una red LAN</a:t>
            </a:r>
            <a:endParaRPr lang="es-ES" sz="1200" kern="1200" dirty="0">
              <a:solidFill>
                <a:schemeClr val="tx1"/>
              </a:solidFill>
              <a:latin typeface="Arial" charset="0"/>
              <a:ea typeface="ＭＳ Ｐゴシック" charset="0"/>
              <a:cs typeface="ＭＳ Ｐゴシック" charset="0"/>
            </a:endParaRPr>
          </a:p>
          <a:p>
            <a:pPr>
              <a:lnSpc>
                <a:spcPct val="80000"/>
              </a:lnSpc>
              <a:buFontTx/>
              <a:buNone/>
            </a:pPr>
            <a:r>
              <a:rPr lang="es-ES" dirty="0">
                <a:latin typeface="Arial" charset="0"/>
              </a:rPr>
              <a:t>4.1.2 – Redes conmutadas</a:t>
            </a:r>
          </a:p>
          <a:p>
            <a:pPr>
              <a:lnSpc>
                <a:spcPct val="80000"/>
              </a:lnSpc>
              <a:buFontTx/>
              <a:buNone/>
            </a:pPr>
            <a:r>
              <a:rPr lang="es-ES" baseline="0" dirty="0">
                <a:latin typeface="Arial" charset="0"/>
              </a:rPr>
              <a:t>4.1.2.1 – Función de las redes conmutadas</a:t>
            </a:r>
            <a:endParaRPr lang="es-ES" dirty="0"/>
          </a:p>
        </p:txBody>
      </p:sp>
    </p:spTree>
    <p:extLst>
      <p:ext uri="{BB962C8B-B14F-4D97-AF65-F5344CB8AC3E}">
        <p14:creationId xmlns:p14="http://schemas.microsoft.com/office/powerpoint/2010/main" val="1899849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18</a:t>
            </a:fld>
            <a:endParaRPr lang="es-E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s-ES" sz="1200" kern="1200" dirty="0">
                <a:solidFill>
                  <a:schemeClr val="tx1"/>
                </a:solidFill>
                <a:latin typeface="Arial" charset="0"/>
              </a:rPr>
              <a:t>4.1 – </a:t>
            </a:r>
            <a:r>
              <a:rPr lang="es-ES" sz="1200" dirty="0">
                <a:latin typeface="Arial" charset="0"/>
              </a:rPr>
              <a:t>Diseño de una red LAN</a:t>
            </a:r>
            <a:endParaRPr lang="es-ES" sz="1200" kern="1200" dirty="0">
              <a:solidFill>
                <a:schemeClr val="tx1"/>
              </a:solidFill>
              <a:latin typeface="Arial" charset="0"/>
              <a:ea typeface="ＭＳ Ｐゴシック" charset="0"/>
              <a:cs typeface="ＭＳ Ｐゴシック" charset="0"/>
            </a:endParaRPr>
          </a:p>
          <a:p>
            <a:pPr>
              <a:lnSpc>
                <a:spcPct val="80000"/>
              </a:lnSpc>
              <a:buFontTx/>
              <a:buNone/>
            </a:pPr>
            <a:r>
              <a:rPr lang="es-ES" dirty="0">
                <a:latin typeface="Arial" charset="0"/>
              </a:rPr>
              <a:t>4.1.2 – Redes conmutadas</a:t>
            </a:r>
          </a:p>
          <a:p>
            <a:pPr>
              <a:lnSpc>
                <a:spcPct val="80000"/>
              </a:lnSpc>
              <a:buFontTx/>
              <a:buNone/>
            </a:pPr>
            <a:r>
              <a:rPr lang="es-ES" baseline="0" dirty="0">
                <a:latin typeface="Arial" charset="0"/>
              </a:rPr>
              <a:t>4.1.2.2 – Factores de forma</a:t>
            </a:r>
            <a:endParaRPr lang="es-ES" dirty="0"/>
          </a:p>
        </p:txBody>
      </p:sp>
    </p:spTree>
    <p:extLst>
      <p:ext uri="{BB962C8B-B14F-4D97-AF65-F5344CB8AC3E}">
        <p14:creationId xmlns:p14="http://schemas.microsoft.com/office/powerpoint/2010/main" val="18998493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19</a:t>
            </a:fld>
            <a:endParaRPr lang="es-E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s-ES" sz="1200" kern="1200" dirty="0">
                <a:solidFill>
                  <a:schemeClr val="tx1"/>
                </a:solidFill>
                <a:latin typeface="Arial" charset="0"/>
              </a:rPr>
              <a:t>4.1 – </a:t>
            </a:r>
            <a:r>
              <a:rPr lang="es-ES" sz="1200" dirty="0">
                <a:latin typeface="Arial" charset="0"/>
              </a:rPr>
              <a:t>Diseño de una red LAN</a:t>
            </a:r>
            <a:endParaRPr lang="es-ES" sz="1200" kern="1200" dirty="0">
              <a:solidFill>
                <a:schemeClr val="tx1"/>
              </a:solidFill>
              <a:latin typeface="Arial" charset="0"/>
              <a:ea typeface="ＭＳ Ｐゴシック" charset="0"/>
              <a:cs typeface="ＭＳ Ｐゴシック" charset="0"/>
            </a:endParaRPr>
          </a:p>
          <a:p>
            <a:pPr>
              <a:lnSpc>
                <a:spcPct val="80000"/>
              </a:lnSpc>
              <a:buFontTx/>
              <a:buNone/>
            </a:pPr>
            <a:r>
              <a:rPr lang="es-ES" dirty="0">
                <a:latin typeface="Arial" charset="0"/>
              </a:rPr>
              <a:t>4.1.2 – Redes conmutadas</a:t>
            </a:r>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s-ES" baseline="0" dirty="0">
                <a:latin typeface="Arial" charset="0"/>
              </a:rPr>
              <a:t>4.1.2.2 – Factores de forma</a:t>
            </a:r>
            <a:endParaRPr lang="es-ES" dirty="0"/>
          </a:p>
          <a:p>
            <a:pPr>
              <a:lnSpc>
                <a:spcPct val="80000"/>
              </a:lnSpc>
              <a:buFontTx/>
              <a:buNone/>
            </a:pPr>
            <a:endParaRPr lang="es-ES" dirty="0"/>
          </a:p>
        </p:txBody>
      </p:sp>
    </p:spTree>
    <p:extLst>
      <p:ext uri="{BB962C8B-B14F-4D97-AF65-F5344CB8AC3E}">
        <p14:creationId xmlns:p14="http://schemas.microsoft.com/office/powerpoint/2010/main" val="18998493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1 – Configuración básica de dispositivos</a:t>
            </a:r>
          </a:p>
          <a:p>
            <a:pPr rtl="0"/>
            <a:r>
              <a:rPr lang="es-419" dirty="0"/>
              <a:t>1.1. – Configurar un </a:t>
            </a:r>
            <a:r>
              <a:rPr lang="es-419" dirty="0" err="1"/>
              <a:t>switch</a:t>
            </a:r>
            <a:r>
              <a:rPr lang="es-419" dirty="0"/>
              <a:t> con parámetros iniciales</a:t>
            </a:r>
          </a:p>
          <a:p>
            <a:pPr rtl="0"/>
            <a:r>
              <a:rPr lang="es-419" dirty="0"/>
              <a:t>1.1.5 — Acceso a administración de </a:t>
            </a:r>
            <a:r>
              <a:rPr lang="es-419" dirty="0" err="1"/>
              <a:t>switch</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8671911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25707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rtl="0"/>
              <a:t>22</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b="0"/>
              <a:t>3 — </a:t>
            </a:r>
            <a:r>
              <a:rPr lang="es-419" sz="1200">
                <a:solidFill>
                  <a:schemeClr val="accent5">
                    <a:lumMod val="40000"/>
                    <a:lumOff val="60000"/>
                  </a:schemeClr>
                </a:solidFill>
              </a:rPr>
              <a:t>VLAN</a:t>
            </a:r>
          </a:p>
          <a:p>
            <a:pPr rtl="0">
              <a:buFontTx/>
              <a:buNone/>
            </a:pPr>
            <a:r>
              <a:rPr lang="es-419" sz="1200" b="0"/>
              <a:t>3.1 – Descripción</a:t>
            </a:r>
            <a:r>
              <a:rPr lang="es-419" sz="1200" b="0" baseline="0"/>
              <a:t> general de las</a:t>
            </a:r>
            <a:r>
              <a:rPr lang="es-419" sz="1200">
                <a:solidFill>
                  <a:schemeClr val="accent5">
                    <a:lumMod val="40000"/>
                    <a:lumOff val="60000"/>
                  </a:schemeClr>
                </a:solidFill>
              </a:rPr>
              <a:t>VLAN</a:t>
            </a:r>
          </a:p>
          <a:p>
            <a:pPr rtl="0">
              <a:lnSpc>
                <a:spcPct val="80000"/>
              </a:lnSpc>
              <a:buFontTx/>
              <a:buNone/>
            </a:pPr>
            <a:r>
              <a:rPr lang="es-419" sz="1200" kern="1200">
                <a:solidFill>
                  <a:schemeClr val="tx1"/>
                </a:solidFill>
                <a:latin typeface="Arial" charset="0"/>
                <a:ea typeface="ＭＳ Ｐゴシック" charset="0"/>
                <a:cs typeface="ＭＳ Ｐゴシック" charset="0"/>
              </a:rPr>
              <a:t>3.1.1 – </a:t>
            </a:r>
            <a:r>
              <a:rPr lang="es-419" sz="1200" kern="1200" baseline="0">
                <a:solidFill>
                  <a:schemeClr val="tx1"/>
                </a:solidFill>
                <a:latin typeface="+mn-lt"/>
                <a:ea typeface="+mn-ea"/>
                <a:cs typeface="+mn-cs"/>
              </a:rPr>
              <a:t> </a:t>
            </a:r>
            <a:r>
              <a:rPr lang="es-419"/>
              <a:t>Definiciones de VLAN</a:t>
            </a:r>
          </a:p>
        </p:txBody>
      </p:sp>
    </p:spTree>
    <p:extLst>
      <p:ext uri="{BB962C8B-B14F-4D97-AF65-F5344CB8AC3E}">
        <p14:creationId xmlns:p14="http://schemas.microsoft.com/office/powerpoint/2010/main" val="35251901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23</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b="0"/>
              <a:t>3 — </a:t>
            </a:r>
            <a:r>
              <a:rPr lang="es-419" sz="1200">
                <a:solidFill>
                  <a:schemeClr val="accent5">
                    <a:lumMod val="40000"/>
                    <a:lumOff val="60000"/>
                  </a:schemeClr>
                </a:solidFill>
              </a:rPr>
              <a:t>VLAN</a:t>
            </a:r>
          </a:p>
          <a:p>
            <a:pPr rtl="0">
              <a:buFontTx/>
              <a:buNone/>
            </a:pPr>
            <a:r>
              <a:rPr lang="es-419" sz="1200" b="0"/>
              <a:t>3.2 – </a:t>
            </a:r>
            <a:r>
              <a:rPr lang="es-419">
                <a:solidFill>
                  <a:schemeClr val="accent5">
                    <a:lumMod val="40000"/>
                    <a:lumOff val="60000"/>
                  </a:schemeClr>
                </a:solidFill>
              </a:rPr>
              <a:t>VLAN en un entorno de conmutación múltiple</a:t>
            </a:r>
          </a:p>
          <a:p>
            <a:pPr rtl="0">
              <a:lnSpc>
                <a:spcPct val="80000"/>
              </a:lnSpc>
              <a:buFontTx/>
              <a:buNone/>
            </a:pPr>
            <a:r>
              <a:rPr lang="es-419" sz="1200" kern="1200">
                <a:solidFill>
                  <a:schemeClr val="tx1"/>
                </a:solidFill>
                <a:latin typeface="Arial" charset="0"/>
                <a:ea typeface="ＭＳ Ｐゴシック" charset="0"/>
                <a:cs typeface="ＭＳ Ｐゴシック" charset="0"/>
              </a:rPr>
              <a:t>3.2.3</a:t>
            </a:r>
            <a:r>
              <a:rPr lang="es-419" sz="1200" kern="1200" baseline="0">
                <a:solidFill>
                  <a:schemeClr val="tx1"/>
                </a:solidFill>
                <a:latin typeface="Arial" charset="0"/>
                <a:ea typeface="ＭＳ Ｐゴシック" charset="0"/>
                <a:cs typeface="ＭＳ Ｐゴシック" charset="0"/>
              </a:rPr>
              <a:t> </a:t>
            </a:r>
            <a:r>
              <a:rPr lang="es-419" sz="1200" kern="1200">
                <a:solidFill>
                  <a:schemeClr val="tx1"/>
                </a:solidFill>
                <a:latin typeface="Arial" charset="0"/>
                <a:ea typeface="ＭＳ Ｐゴシック" charset="0"/>
                <a:cs typeface="ＭＳ Ｐゴシック" charset="0"/>
              </a:rPr>
              <a:t>— </a:t>
            </a:r>
            <a:r>
              <a:rPr lang="es-419"/>
              <a:t>Redes con VLAN </a:t>
            </a:r>
          </a:p>
          <a:p>
            <a:pPr>
              <a:lnSpc>
                <a:spcPct val="80000"/>
              </a:lnSpc>
              <a:buFontTx/>
              <a:buNone/>
            </a:pP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2084083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rtl="0"/>
              <a:t>24</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b="0"/>
              <a:t>3 — </a:t>
            </a:r>
            <a:r>
              <a:rPr lang="es-419" sz="1200">
                <a:solidFill>
                  <a:schemeClr val="accent5">
                    <a:lumMod val="40000"/>
                    <a:lumOff val="60000"/>
                  </a:schemeClr>
                </a:solidFill>
              </a:rPr>
              <a:t>VLAN</a:t>
            </a:r>
          </a:p>
          <a:p>
            <a:pPr rtl="0">
              <a:buFontTx/>
              <a:buNone/>
            </a:pPr>
            <a:r>
              <a:rPr lang="es-419" sz="1200" b="0"/>
              <a:t>3.1 – Descripción</a:t>
            </a:r>
            <a:r>
              <a:rPr lang="es-419" sz="1200" b="0" baseline="0"/>
              <a:t> general de las</a:t>
            </a:r>
            <a:r>
              <a:rPr lang="es-419" sz="1200">
                <a:solidFill>
                  <a:schemeClr val="accent5">
                    <a:lumMod val="40000"/>
                    <a:lumOff val="60000"/>
                  </a:schemeClr>
                </a:solidFill>
              </a:rPr>
              <a:t>VLAN</a:t>
            </a:r>
          </a:p>
          <a:p>
            <a:pPr rtl="0">
              <a:lnSpc>
                <a:spcPct val="80000"/>
              </a:lnSpc>
              <a:buFontTx/>
              <a:buNone/>
            </a:pPr>
            <a:r>
              <a:rPr lang="es-419" sz="1200" kern="1200">
                <a:solidFill>
                  <a:schemeClr val="tx1"/>
                </a:solidFill>
                <a:latin typeface="Arial" charset="0"/>
                <a:ea typeface="ＭＳ Ｐゴシック" charset="0"/>
                <a:cs typeface="ＭＳ Ｐゴシック" charset="0"/>
              </a:rPr>
              <a:t>3.1.1 – </a:t>
            </a:r>
            <a:r>
              <a:rPr lang="es-419" sz="1200" kern="1200" baseline="0">
                <a:solidFill>
                  <a:schemeClr val="tx1"/>
                </a:solidFill>
                <a:latin typeface="+mn-lt"/>
                <a:ea typeface="+mn-ea"/>
                <a:cs typeface="+mn-cs"/>
              </a:rPr>
              <a:t> </a:t>
            </a:r>
            <a:r>
              <a:rPr lang="es-419"/>
              <a:t>Definiciones de VLAN</a:t>
            </a:r>
          </a:p>
        </p:txBody>
      </p:sp>
    </p:spTree>
    <p:extLst>
      <p:ext uri="{BB962C8B-B14F-4D97-AF65-F5344CB8AC3E}">
        <p14:creationId xmlns:p14="http://schemas.microsoft.com/office/powerpoint/2010/main" val="3525190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25</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b="0"/>
              <a:t>3 — </a:t>
            </a:r>
            <a:r>
              <a:rPr lang="es-419" sz="1200">
                <a:solidFill>
                  <a:schemeClr val="accent5">
                    <a:lumMod val="40000"/>
                    <a:lumOff val="60000"/>
                  </a:schemeClr>
                </a:solidFill>
              </a:rPr>
              <a:t>VLAN</a:t>
            </a:r>
          </a:p>
          <a:p>
            <a:pPr rtl="0">
              <a:buFontTx/>
              <a:buNone/>
            </a:pPr>
            <a:r>
              <a:rPr lang="es-419" sz="1200" b="0"/>
              <a:t>3.1 – Descripción</a:t>
            </a:r>
            <a:r>
              <a:rPr lang="es-419" sz="1200" b="0" baseline="0"/>
              <a:t> general de las</a:t>
            </a:r>
            <a:r>
              <a:rPr lang="es-419" sz="1200">
                <a:solidFill>
                  <a:schemeClr val="accent5">
                    <a:lumMod val="40000"/>
                    <a:lumOff val="60000"/>
                  </a:schemeClr>
                </a:solidFill>
              </a:rPr>
              <a:t>VLAN</a:t>
            </a:r>
          </a:p>
          <a:p>
            <a:pPr rtl="0">
              <a:lnSpc>
                <a:spcPct val="80000"/>
              </a:lnSpc>
              <a:buFontTx/>
              <a:buNone/>
            </a:pPr>
            <a:r>
              <a:rPr lang="es-419">
                <a:latin typeface="Arial" charset="0"/>
              </a:rPr>
              <a:t>3.1.2</a:t>
            </a:r>
            <a:r>
              <a:rPr lang="es-419" baseline="0">
                <a:latin typeface="Arial" charset="0"/>
              </a:rPr>
              <a:t> </a:t>
            </a:r>
            <a:r>
              <a:rPr lang="es-419" sz="1200" b="0"/>
              <a:t>— </a:t>
            </a:r>
            <a:r>
              <a:rPr lang="es-419"/>
              <a:t> Ventajas de un diseño de VLAN </a:t>
            </a: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26</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b="0"/>
              <a:t>3 — </a:t>
            </a:r>
            <a:r>
              <a:rPr lang="es-419" sz="1200">
                <a:solidFill>
                  <a:schemeClr val="accent5">
                    <a:lumMod val="40000"/>
                    <a:lumOff val="60000"/>
                  </a:schemeClr>
                </a:solidFill>
              </a:rPr>
              <a:t>VLAN</a:t>
            </a:r>
          </a:p>
          <a:p>
            <a:pPr rtl="0">
              <a:buFontTx/>
              <a:buNone/>
            </a:pPr>
            <a:r>
              <a:rPr lang="es-419" sz="1200" b="0"/>
              <a:t>3.1 – Descripción</a:t>
            </a:r>
            <a:r>
              <a:rPr lang="es-419" sz="1200" b="0" baseline="0"/>
              <a:t> general de las</a:t>
            </a:r>
            <a:r>
              <a:rPr lang="es-419" sz="1200">
                <a:solidFill>
                  <a:schemeClr val="accent5">
                    <a:lumMod val="40000"/>
                    <a:lumOff val="60000"/>
                  </a:schemeClr>
                </a:solidFill>
              </a:rPr>
              <a:t>VLAN</a:t>
            </a:r>
          </a:p>
          <a:p>
            <a:pPr rtl="0">
              <a:lnSpc>
                <a:spcPct val="80000"/>
              </a:lnSpc>
              <a:buFontTx/>
              <a:buNone/>
            </a:pPr>
            <a:r>
              <a:rPr lang="es-419">
                <a:latin typeface="Arial" charset="0"/>
              </a:rPr>
              <a:t>3.1.3</a:t>
            </a:r>
            <a:r>
              <a:rPr lang="es-419" baseline="0">
                <a:latin typeface="Arial" charset="0"/>
              </a:rPr>
              <a:t> </a:t>
            </a:r>
            <a:r>
              <a:rPr lang="es-419" sz="1200" b="0"/>
              <a:t>– </a:t>
            </a:r>
            <a:r>
              <a:rPr lang="es-419"/>
              <a:t>Tipos de VLAN (Cont.)</a:t>
            </a:r>
          </a:p>
        </p:txBody>
      </p:sp>
    </p:spTree>
    <p:extLst>
      <p:ext uri="{BB962C8B-B14F-4D97-AF65-F5344CB8AC3E}">
        <p14:creationId xmlns:p14="http://schemas.microsoft.com/office/powerpoint/2010/main" val="7853359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27</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b="0"/>
              <a:t>3 — </a:t>
            </a:r>
            <a:r>
              <a:rPr lang="es-419" sz="1200">
                <a:solidFill>
                  <a:schemeClr val="accent5">
                    <a:lumMod val="40000"/>
                    <a:lumOff val="60000"/>
                  </a:schemeClr>
                </a:solidFill>
              </a:rPr>
              <a:t>VLAN</a:t>
            </a:r>
          </a:p>
          <a:p>
            <a:pPr rtl="0">
              <a:buFontTx/>
              <a:buNone/>
            </a:pPr>
            <a:r>
              <a:rPr lang="es-419" sz="1200" b="0"/>
              <a:t>3.1 – Descripción</a:t>
            </a:r>
            <a:r>
              <a:rPr lang="es-419" sz="1200" b="0" baseline="0"/>
              <a:t> general de las</a:t>
            </a:r>
            <a:r>
              <a:rPr lang="es-419" sz="1200">
                <a:solidFill>
                  <a:schemeClr val="accent5">
                    <a:lumMod val="40000"/>
                    <a:lumOff val="60000"/>
                  </a:schemeClr>
                </a:solidFill>
              </a:rPr>
              <a:t>VLAN</a:t>
            </a:r>
          </a:p>
          <a:p>
            <a:pPr rtl="0">
              <a:lnSpc>
                <a:spcPct val="80000"/>
              </a:lnSpc>
              <a:buFontTx/>
              <a:buNone/>
            </a:pPr>
            <a:r>
              <a:rPr lang="es-419">
                <a:latin typeface="Arial" charset="0"/>
              </a:rPr>
              <a:t>3.1.3</a:t>
            </a:r>
            <a:r>
              <a:rPr lang="es-419" baseline="0">
                <a:latin typeface="Arial" charset="0"/>
              </a:rPr>
              <a:t> </a:t>
            </a:r>
            <a:r>
              <a:rPr lang="es-419" sz="1200" b="0"/>
              <a:t>– </a:t>
            </a:r>
            <a:r>
              <a:rPr lang="es-419"/>
              <a:t>Tipos de VLAN (Cont.)</a:t>
            </a:r>
          </a:p>
        </p:txBody>
      </p:sp>
    </p:spTree>
    <p:extLst>
      <p:ext uri="{BB962C8B-B14F-4D97-AF65-F5344CB8AC3E}">
        <p14:creationId xmlns:p14="http://schemas.microsoft.com/office/powerpoint/2010/main" val="7853359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28</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b="0"/>
              <a:t>3 — </a:t>
            </a:r>
            <a:r>
              <a:rPr lang="es-419" sz="1200">
                <a:solidFill>
                  <a:schemeClr val="accent5">
                    <a:lumMod val="40000"/>
                    <a:lumOff val="60000"/>
                  </a:schemeClr>
                </a:solidFill>
              </a:rPr>
              <a:t>VLAN</a:t>
            </a:r>
          </a:p>
          <a:p>
            <a:pPr rtl="0">
              <a:buFontTx/>
              <a:buNone/>
            </a:pPr>
            <a:r>
              <a:rPr lang="es-419" sz="1200" b="0"/>
              <a:t>3.2 – </a:t>
            </a:r>
            <a:r>
              <a:rPr lang="es-419">
                <a:solidFill>
                  <a:schemeClr val="accent5">
                    <a:lumMod val="40000"/>
                    <a:lumOff val="60000"/>
                  </a:schemeClr>
                </a:solidFill>
              </a:rPr>
              <a:t>VLAN en un entorno de conmutación múltiple</a:t>
            </a:r>
          </a:p>
          <a:p>
            <a:pPr rtl="0">
              <a:lnSpc>
                <a:spcPct val="80000"/>
              </a:lnSpc>
              <a:buFontTx/>
              <a:buNone/>
            </a:pPr>
            <a:r>
              <a:rPr lang="es-419" sz="1200" kern="1200">
                <a:solidFill>
                  <a:schemeClr val="tx1"/>
                </a:solidFill>
                <a:latin typeface="Arial" charset="0"/>
                <a:ea typeface="ＭＳ Ｐゴシック" charset="0"/>
                <a:cs typeface="ＭＳ Ｐゴシック" charset="0"/>
              </a:rPr>
              <a:t>3.2.2</a:t>
            </a:r>
            <a:r>
              <a:rPr lang="es-419" sz="1200" kern="1200" baseline="0">
                <a:solidFill>
                  <a:schemeClr val="tx1"/>
                </a:solidFill>
                <a:latin typeface="Arial" charset="0"/>
                <a:ea typeface="ＭＳ Ｐゴシック" charset="0"/>
                <a:cs typeface="ＭＳ Ｐゴシック" charset="0"/>
              </a:rPr>
              <a:t> </a:t>
            </a:r>
            <a:r>
              <a:rPr lang="es-419" sz="1200" kern="1200">
                <a:solidFill>
                  <a:schemeClr val="tx1"/>
                </a:solidFill>
                <a:latin typeface="Arial" charset="0"/>
                <a:ea typeface="ＭＳ Ｐゴシック" charset="0"/>
                <a:cs typeface="ＭＳ Ｐゴシック" charset="0"/>
              </a:rPr>
              <a:t>– </a:t>
            </a:r>
            <a:r>
              <a:rPr lang="es-419"/>
              <a:t>Redes sin VLAN</a:t>
            </a:r>
          </a:p>
        </p:txBody>
      </p:sp>
    </p:spTree>
    <p:extLst>
      <p:ext uri="{BB962C8B-B14F-4D97-AF65-F5344CB8AC3E}">
        <p14:creationId xmlns:p14="http://schemas.microsoft.com/office/powerpoint/2010/main" val="34275545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29</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b="0"/>
              <a:t>3 — </a:t>
            </a:r>
            <a:r>
              <a:rPr lang="es-419" sz="1200">
                <a:solidFill>
                  <a:schemeClr val="accent5">
                    <a:lumMod val="40000"/>
                    <a:lumOff val="60000"/>
                  </a:schemeClr>
                </a:solidFill>
              </a:rPr>
              <a:t>VLAN</a:t>
            </a:r>
          </a:p>
          <a:p>
            <a:pPr rtl="0">
              <a:buFontTx/>
              <a:buNone/>
            </a:pPr>
            <a:r>
              <a:rPr lang="es-419" sz="1200" b="0"/>
              <a:t>3.2 – </a:t>
            </a:r>
            <a:r>
              <a:rPr lang="es-419">
                <a:solidFill>
                  <a:schemeClr val="accent5">
                    <a:lumMod val="40000"/>
                    <a:lumOff val="60000"/>
                  </a:schemeClr>
                </a:solidFill>
              </a:rPr>
              <a:t>VLAN en un entorno de conmutación múltiple</a:t>
            </a:r>
          </a:p>
          <a:p>
            <a:pPr rtl="0">
              <a:lnSpc>
                <a:spcPct val="80000"/>
              </a:lnSpc>
              <a:buFontTx/>
              <a:buNone/>
            </a:pPr>
            <a:r>
              <a:rPr lang="es-419" sz="1200" kern="1200">
                <a:solidFill>
                  <a:schemeClr val="tx1"/>
                </a:solidFill>
                <a:latin typeface="Arial" charset="0"/>
                <a:ea typeface="ＭＳ Ｐゴシック" charset="0"/>
                <a:cs typeface="ＭＳ Ｐゴシック" charset="0"/>
              </a:rPr>
              <a:t>3.2.3</a:t>
            </a:r>
            <a:r>
              <a:rPr lang="es-419" sz="1200" kern="1200" baseline="0">
                <a:solidFill>
                  <a:schemeClr val="tx1"/>
                </a:solidFill>
                <a:latin typeface="Arial" charset="0"/>
                <a:ea typeface="ＭＳ Ｐゴシック" charset="0"/>
                <a:cs typeface="ＭＳ Ｐゴシック" charset="0"/>
              </a:rPr>
              <a:t> </a:t>
            </a:r>
            <a:r>
              <a:rPr lang="es-419" sz="1200" kern="1200">
                <a:solidFill>
                  <a:schemeClr val="tx1"/>
                </a:solidFill>
                <a:latin typeface="Arial" charset="0"/>
                <a:ea typeface="ＭＳ Ｐゴシック" charset="0"/>
                <a:cs typeface="ＭＳ Ｐゴシック" charset="0"/>
              </a:rPr>
              <a:t>— </a:t>
            </a:r>
            <a:r>
              <a:rPr lang="es-419"/>
              <a:t>Redes con VLAN </a:t>
            </a:r>
          </a:p>
          <a:p>
            <a:pPr>
              <a:lnSpc>
                <a:spcPct val="80000"/>
              </a:lnSpc>
              <a:buFontTx/>
              <a:buNone/>
            </a:pP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30</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b="0"/>
              <a:t>3 — </a:t>
            </a:r>
            <a:r>
              <a:rPr lang="es-419" sz="1200">
                <a:solidFill>
                  <a:schemeClr val="accent5">
                    <a:lumMod val="40000"/>
                    <a:lumOff val="60000"/>
                  </a:schemeClr>
                </a:solidFill>
              </a:rPr>
              <a:t>VLAN</a:t>
            </a:r>
          </a:p>
          <a:p>
            <a:pPr rtl="0">
              <a:buFontTx/>
              <a:buNone/>
            </a:pPr>
            <a:r>
              <a:rPr lang="es-419" sz="1200" b="0"/>
              <a:t>3.2 – </a:t>
            </a:r>
            <a:r>
              <a:rPr lang="es-419">
                <a:solidFill>
                  <a:schemeClr val="accent5">
                    <a:lumMod val="40000"/>
                    <a:lumOff val="60000"/>
                  </a:schemeClr>
                </a:solidFill>
              </a:rPr>
              <a:t>VLAN en un entorno de conmutación múltiple</a:t>
            </a:r>
          </a:p>
          <a:p>
            <a:pPr rtl="0">
              <a:lnSpc>
                <a:spcPct val="80000"/>
              </a:lnSpc>
              <a:buFontTx/>
              <a:buNone/>
            </a:pPr>
            <a:r>
              <a:rPr lang="es-419" sz="1200" kern="1200">
                <a:solidFill>
                  <a:schemeClr val="tx1"/>
                </a:solidFill>
                <a:latin typeface="Arial" charset="0"/>
                <a:ea typeface="ＭＳ Ｐゴシック" charset="0"/>
                <a:cs typeface="ＭＳ Ｐゴシック" charset="0"/>
              </a:rPr>
              <a:t>3.2.5</a:t>
            </a:r>
            <a:r>
              <a:rPr lang="es-419" sz="1200" kern="1200" baseline="0">
                <a:solidFill>
                  <a:schemeClr val="tx1"/>
                </a:solidFill>
                <a:latin typeface="Arial" charset="0"/>
                <a:ea typeface="ＭＳ Ｐゴシック" charset="0"/>
                <a:cs typeface="ＭＳ Ｐゴシック" charset="0"/>
              </a:rPr>
              <a:t> </a:t>
            </a:r>
            <a:r>
              <a:rPr lang="es-419" sz="1200" kern="1200">
                <a:solidFill>
                  <a:schemeClr val="tx1"/>
                </a:solidFill>
                <a:latin typeface="Arial" charset="0"/>
                <a:ea typeface="ＭＳ Ｐゴシック" charset="0"/>
                <a:cs typeface="ＭＳ Ｐゴシック" charset="0"/>
              </a:rPr>
              <a:t>– </a:t>
            </a:r>
            <a:r>
              <a:rPr lang="es-419"/>
              <a:t>VLAN nativas y etiquetado 802.1Q</a:t>
            </a:r>
          </a:p>
          <a:p>
            <a:pPr>
              <a:lnSpc>
                <a:spcPct val="80000"/>
              </a:lnSpc>
              <a:buFontTx/>
              <a:buNone/>
            </a:pP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74922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32</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b="0"/>
              <a:t>3 — </a:t>
            </a:r>
            <a:r>
              <a:rPr lang="es-419" sz="1200">
                <a:solidFill>
                  <a:schemeClr val="accent5">
                    <a:lumMod val="40000"/>
                    <a:lumOff val="60000"/>
                  </a:schemeClr>
                </a:solidFill>
              </a:rPr>
              <a:t>VLAN</a:t>
            </a:r>
          </a:p>
          <a:p>
            <a:pPr rtl="0">
              <a:buFontTx/>
              <a:buNone/>
            </a:pPr>
            <a:r>
              <a:rPr lang="es-419" sz="1200" b="0"/>
              <a:t>3.2 – </a:t>
            </a:r>
            <a:r>
              <a:rPr lang="es-419">
                <a:solidFill>
                  <a:schemeClr val="accent5">
                    <a:lumMod val="40000"/>
                    <a:lumOff val="60000"/>
                  </a:schemeClr>
                </a:solidFill>
              </a:rPr>
              <a:t>VLAN en un entorno de conmutación múltiple</a:t>
            </a:r>
          </a:p>
          <a:p>
            <a:pPr rtl="0">
              <a:lnSpc>
                <a:spcPct val="80000"/>
              </a:lnSpc>
              <a:buFontTx/>
              <a:buNone/>
            </a:pPr>
            <a:r>
              <a:rPr lang="es-419" sz="1200" kern="1200">
                <a:solidFill>
                  <a:schemeClr val="tx1"/>
                </a:solidFill>
                <a:latin typeface="Arial" charset="0"/>
                <a:ea typeface="ＭＳ Ｐゴシック" charset="0"/>
                <a:cs typeface="ＭＳ Ｐゴシック" charset="0"/>
              </a:rPr>
              <a:t>3.2.1 — </a:t>
            </a:r>
            <a:r>
              <a:rPr lang="es-419"/>
              <a:t> Definición de troncos de VLAN</a:t>
            </a:r>
          </a:p>
        </p:txBody>
      </p:sp>
    </p:spTree>
    <p:extLst>
      <p:ext uri="{BB962C8B-B14F-4D97-AF65-F5344CB8AC3E}">
        <p14:creationId xmlns:p14="http://schemas.microsoft.com/office/powerpoint/2010/main" val="34275545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33</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b="0"/>
              <a:t>3 — </a:t>
            </a:r>
            <a:r>
              <a:rPr lang="es-419" sz="1200">
                <a:solidFill>
                  <a:schemeClr val="accent5">
                    <a:lumMod val="40000"/>
                    <a:lumOff val="60000"/>
                  </a:schemeClr>
                </a:solidFill>
              </a:rPr>
              <a:t>VLAN</a:t>
            </a:r>
          </a:p>
          <a:p>
            <a:pPr rtl="0">
              <a:buFontTx/>
              <a:buNone/>
            </a:pPr>
            <a:r>
              <a:rPr lang="es-419" sz="1200" b="0"/>
              <a:t>3.2 – </a:t>
            </a:r>
            <a:r>
              <a:rPr lang="es-419">
                <a:solidFill>
                  <a:schemeClr val="accent5">
                    <a:lumMod val="40000"/>
                    <a:lumOff val="60000"/>
                  </a:schemeClr>
                </a:solidFill>
              </a:rPr>
              <a:t>VLAN en un entorno de conmutación múltiple</a:t>
            </a:r>
          </a:p>
          <a:p>
            <a:pPr rtl="0">
              <a:lnSpc>
                <a:spcPct val="80000"/>
              </a:lnSpc>
              <a:buFontTx/>
              <a:buNone/>
            </a:pPr>
            <a:r>
              <a:rPr lang="es-419" sz="1200" kern="1200">
                <a:solidFill>
                  <a:schemeClr val="tx1"/>
                </a:solidFill>
                <a:latin typeface="Arial" charset="0"/>
                <a:ea typeface="ＭＳ Ｐゴシック" charset="0"/>
                <a:cs typeface="ＭＳ Ｐゴシック" charset="0"/>
              </a:rPr>
              <a:t>3.2.4</a:t>
            </a:r>
            <a:r>
              <a:rPr lang="es-419" sz="1200" kern="1200" baseline="0">
                <a:solidFill>
                  <a:schemeClr val="tx1"/>
                </a:solidFill>
                <a:latin typeface="Arial" charset="0"/>
                <a:ea typeface="ＭＳ Ｐゴシック" charset="0"/>
                <a:cs typeface="ＭＳ Ｐゴシック" charset="0"/>
              </a:rPr>
              <a:t> </a:t>
            </a:r>
            <a:r>
              <a:rPr lang="es-419" sz="1200" kern="1200">
                <a:solidFill>
                  <a:schemeClr val="tx1"/>
                </a:solidFill>
                <a:latin typeface="Arial" charset="0"/>
                <a:ea typeface="ＭＳ Ｐゴシック" charset="0"/>
                <a:cs typeface="ＭＳ Ｐゴシック" charset="0"/>
              </a:rPr>
              <a:t>— </a:t>
            </a:r>
            <a:r>
              <a:rPr lang="es-419"/>
              <a:t>Identificación de VLAN con una etiqueta </a:t>
            </a:r>
          </a:p>
          <a:p>
            <a:pPr>
              <a:lnSpc>
                <a:spcPct val="80000"/>
              </a:lnSpc>
              <a:buFontTx/>
              <a:buNone/>
            </a:pP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71235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4.1 – Funcionamiento del routing entre redes VLAN</a:t>
            </a:r>
          </a:p>
          <a:p>
            <a:pPr rtl="0"/>
            <a:r>
              <a:rPr lang="es-419"/>
              <a:t>4.1.4 - Enrutamiento entre VLAN en un conmutador de capa 3</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25887276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71235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4.1 – Funcionamiento del routing entre redes VLAN</a:t>
            </a:r>
          </a:p>
          <a:p>
            <a:pPr rtl="0"/>
            <a:r>
              <a:rPr lang="es-419"/>
              <a:t>4.1.2 – Routing entre redes VLAN antiguo</a:t>
            </a:r>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38510808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96148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4.1 – Funcionamiento del routing entre redes VLAN</a:t>
            </a:r>
          </a:p>
          <a:p>
            <a:pPr rtl="0"/>
            <a:r>
              <a:rPr lang="es-419"/>
              <a:t>4.1.3 – Router-on-a-Stick Inter-VLAN Routing</a:t>
            </a:r>
          </a:p>
        </p:txBody>
      </p:sp>
      <p:sp>
        <p:nvSpPr>
          <p:cNvPr id="4" name="Slide Number Placeholder 3"/>
          <p:cNvSpPr>
            <a:spLocks noGrp="1"/>
          </p:cNvSpPr>
          <p:nvPr>
            <p:ph type="sldNum" sz="quarter" idx="5"/>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658400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4.2 - </a:t>
            </a:r>
            <a:r>
              <a:rPr lang="es-419" dirty="0" err="1"/>
              <a:t>Routing</a:t>
            </a:r>
            <a:r>
              <a:rPr lang="es-419" dirty="0"/>
              <a:t> entre redes VLAN con </a:t>
            </a:r>
            <a:r>
              <a:rPr lang="es-419" dirty="0" err="1"/>
              <a:t>router</a:t>
            </a:r>
            <a:r>
              <a:rPr lang="es-419" dirty="0"/>
              <a:t>-</a:t>
            </a:r>
            <a:r>
              <a:rPr lang="es-419" dirty="0" err="1"/>
              <a:t>on</a:t>
            </a:r>
            <a:r>
              <a:rPr lang="es-419" dirty="0"/>
              <a:t>-a-</a:t>
            </a:r>
            <a:r>
              <a:rPr lang="es-419" dirty="0" err="1"/>
              <a:t>stick</a:t>
            </a:r>
            <a:endParaRPr lang="es-419" dirty="0"/>
          </a:p>
          <a:p>
            <a:pPr rtl="0"/>
            <a:r>
              <a:rPr lang="es-419" dirty="0"/>
              <a:t>4.2.1 — Escenario de enrutador en un </a:t>
            </a:r>
            <a:r>
              <a:rPr lang="es-419" dirty="0" err="1"/>
              <a:t>stick</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37296601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719ECA3-256C-DA36-3BA2-7A10A4FC8C32}"/>
            </a:ext>
          </a:extLst>
        </p:cNvPr>
        <p:cNvGrpSpPr/>
        <p:nvPr/>
      </p:nvGrpSpPr>
      <p:grpSpPr>
        <a:xfrm>
          <a:off x="0" y="0"/>
          <a:ext cx="0" cy="0"/>
          <a:chOff x="0" y="0"/>
          <a:chExt cx="0" cy="0"/>
        </a:xfrm>
      </p:grpSpPr>
      <p:sp>
        <p:nvSpPr>
          <p:cNvPr id="69" name="Google Shape;69;p1:notes">
            <a:extLst>
              <a:ext uri="{FF2B5EF4-FFF2-40B4-BE49-F238E27FC236}">
                <a16:creationId xmlns:a16="http://schemas.microsoft.com/office/drawing/2014/main" id="{9C44A457-EFF5-01E8-AB1C-9F58EB343BF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a:extLst>
              <a:ext uri="{FF2B5EF4-FFF2-40B4-BE49-F238E27FC236}">
                <a16:creationId xmlns:a16="http://schemas.microsoft.com/office/drawing/2014/main" id="{12AF6767-6985-CA1F-B02A-2908C477C0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16092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76C3C-F24D-3D97-7D5E-191B67758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8D57DD-7C76-90B3-600E-3D57E61C14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F23A83-6D20-0814-1682-D8C675591A15}"/>
              </a:ext>
            </a:extLst>
          </p:cNvPr>
          <p:cNvSpPr>
            <a:spLocks noGrp="1"/>
          </p:cNvSpPr>
          <p:nvPr>
            <p:ph type="body" idx="1"/>
          </p:nvPr>
        </p:nvSpPr>
        <p:spPr/>
        <p:txBody>
          <a:bodyPr/>
          <a:lstStyle/>
          <a:p>
            <a:pPr rtl="0"/>
            <a:r>
              <a:rPr lang="es-419"/>
              <a:t>4 – Inter-VLAN Routing</a:t>
            </a:r>
          </a:p>
          <a:p>
            <a:pPr rtl="0"/>
            <a:r>
              <a:rPr lang="es-419"/>
              <a:t>4.1 – Funcionamiento del routing entre redes VLAN</a:t>
            </a:r>
          </a:p>
          <a:p>
            <a:pPr rtl="0"/>
            <a:r>
              <a:rPr lang="es-419"/>
              <a:t>4.1.3 – Router-on-a-Stick Inter-VLAN Routing</a:t>
            </a:r>
          </a:p>
        </p:txBody>
      </p:sp>
      <p:sp>
        <p:nvSpPr>
          <p:cNvPr id="4" name="Slide Number Placeholder 3">
            <a:extLst>
              <a:ext uri="{FF2B5EF4-FFF2-40B4-BE49-F238E27FC236}">
                <a16:creationId xmlns:a16="http://schemas.microsoft.com/office/drawing/2014/main" id="{E955448E-27C7-8999-399D-35B55F19A6B0}"/>
              </a:ext>
            </a:extLst>
          </p:cNvPr>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30155902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4.3 – Enrutamiento entre VLAN mediante conmutadores de capa 3</a:t>
            </a:r>
          </a:p>
          <a:p>
            <a:pPr rtl="0"/>
            <a:r>
              <a:rPr lang="es-419" dirty="0"/>
              <a:t>4.3.3 – </a:t>
            </a:r>
            <a:r>
              <a:rPr lang="es-419" dirty="0" err="1"/>
              <a:t>Configuracion</a:t>
            </a:r>
            <a:r>
              <a:rPr lang="es-419" dirty="0"/>
              <a:t> de </a:t>
            </a:r>
            <a:r>
              <a:rPr lang="es-419" dirty="0" err="1"/>
              <a:t>switch</a:t>
            </a:r>
            <a:r>
              <a:rPr lang="es-419" dirty="0"/>
              <a:t> de capa 3</a:t>
            </a: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5641018C-6CAF-B84E-B92C-ECB119457FBA}" type="slidenum">
              <a:rPr kumimoji="0" sz="1300" b="0" i="0" u="none" strike="noStrike" kern="1200" cap="none" spc="0" normalizeH="0" baseline="0" noProof="0">
                <a:ln>
                  <a:noFill/>
                </a:ln>
                <a:solidFill>
                  <a:prstClr val="black"/>
                </a:solidFill>
                <a:effectLst/>
                <a:uLnTx/>
                <a:uFillTx/>
                <a:latin typeface="Arial" charset="0"/>
                <a:ea typeface="ＭＳ Ｐゴシック"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43</a:t>
            </a:fld>
            <a:endParaRPr kumimoji="0" sz="1300" b="0" i="0" u="none" strike="noStrike" kern="1200" cap="none" spc="0" normalizeH="0" baseline="0" noProof="0">
              <a:ln>
                <a:noFill/>
              </a:ln>
              <a:solidFill>
                <a:prstClr val="black"/>
              </a:solidFill>
              <a:effectLst/>
              <a:uLnTx/>
              <a:uFillTx/>
              <a:latin typeface="Arial" charset="0"/>
              <a:ea typeface="ＭＳ Ｐゴシック" pitchFamily="34" charset="-128"/>
              <a:cs typeface="+mn-cs"/>
            </a:endParaRPr>
          </a:p>
        </p:txBody>
      </p:sp>
    </p:spTree>
    <p:extLst>
      <p:ext uri="{BB962C8B-B14F-4D97-AF65-F5344CB8AC3E}">
        <p14:creationId xmlns:p14="http://schemas.microsoft.com/office/powerpoint/2010/main" val="39123350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4.1 – Funcionamiento del routing entre redes VLAN</a:t>
            </a:r>
          </a:p>
          <a:p>
            <a:pPr rtl="0"/>
            <a:r>
              <a:rPr lang="es-419"/>
              <a:t>4.1.4 - Enrutamiento entre VLAN en un conmutador de capa 3 (Cont.)</a:t>
            </a:r>
          </a:p>
          <a:p>
            <a:pPr rtl="0"/>
            <a:r>
              <a:rPr lang="es-419"/>
              <a:t>4.1.5 — Compruebe su comprensión — Operación de enrutamiento entre VLAN</a:t>
            </a: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5641018C-6CAF-B84E-B92C-ECB119457FBA}" type="slidenum">
              <a:rPr kumimoji="0" sz="1300" b="0" i="0" u="none" strike="noStrike" kern="1200" cap="none" spc="0" normalizeH="0" baseline="0" noProof="0">
                <a:ln>
                  <a:noFill/>
                </a:ln>
                <a:solidFill>
                  <a:prstClr val="black"/>
                </a:solidFill>
                <a:effectLst/>
                <a:uLnTx/>
                <a:uFillTx/>
                <a:latin typeface="Arial" charset="0"/>
                <a:ea typeface="ＭＳ Ｐゴシック"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44</a:t>
            </a:fld>
            <a:endParaRPr kumimoji="0" sz="1300" b="0" i="0" u="none" strike="noStrike" kern="1200" cap="none" spc="0" normalizeH="0" baseline="0" noProof="0">
              <a:ln>
                <a:noFill/>
              </a:ln>
              <a:solidFill>
                <a:prstClr val="black"/>
              </a:solidFill>
              <a:effectLst/>
              <a:uLnTx/>
              <a:uFillTx/>
              <a:latin typeface="Arial" charset="0"/>
              <a:ea typeface="ＭＳ Ｐゴシック" pitchFamily="34" charset="-128"/>
              <a:cs typeface="+mn-cs"/>
            </a:endParaRPr>
          </a:p>
        </p:txBody>
      </p:sp>
    </p:spTree>
    <p:extLst>
      <p:ext uri="{BB962C8B-B14F-4D97-AF65-F5344CB8AC3E}">
        <p14:creationId xmlns:p14="http://schemas.microsoft.com/office/powerpoint/2010/main" val="18169265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45</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sz="1200"/>
              <a:t>7- Conmutación Ethernet</a:t>
            </a:r>
          </a:p>
          <a:p>
            <a:pPr rtl="0"/>
            <a:r>
              <a:rPr lang="es-419" sz="1200"/>
              <a:t>7.5 – Práctica del módulo y cuestionario</a:t>
            </a:r>
          </a:p>
          <a:p>
            <a:pPr rtl="0"/>
            <a:r>
              <a:rPr lang="es-419" sz="1200"/>
              <a:t>7.5.1 - ¿Qué aprendí en este módulo?</a:t>
            </a:r>
          </a:p>
          <a:p>
            <a:pPr rtl="0"/>
            <a:r>
              <a:rPr lang="es-419" sz="1200"/>
              <a:t>7.5.2 — Prueba de módulo — Ethernet Switchig</a:t>
            </a:r>
          </a:p>
        </p:txBody>
      </p:sp>
    </p:spTree>
    <p:extLst>
      <p:ext uri="{BB962C8B-B14F-4D97-AF65-F5344CB8AC3E}">
        <p14:creationId xmlns:p14="http://schemas.microsoft.com/office/powerpoint/2010/main" val="36516327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hf hdr="0" ftr="0" dt="0"/>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hf hdr="0" ftr="0" dt="0"/>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hf hdr="0" ftr="0" dt="0"/>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‹Nº›</a:t>
            </a:fld>
            <a:endParaRPr lang="es-E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073041" y="4741653"/>
            <a:ext cx="3452486"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s-ES" sz="600" dirty="0">
                <a:solidFill>
                  <a:schemeClr val="accent5">
                    <a:lumMod val="50000"/>
                  </a:schemeClr>
                </a:solidFill>
                <a:latin typeface="+mn-lt"/>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‹Nº›</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l="25516" t="21265" r="10732" b="19208"/>
          <a:stretch/>
        </p:blipFill>
        <p:spPr>
          <a:xfrm>
            <a:off x="0" y="-44054"/>
            <a:ext cx="9251950" cy="5183982"/>
          </a:xfrm>
          <a:prstGeom prst="rect">
            <a:avLst/>
          </a:prstGeom>
          <a:noFill/>
          <a:ln>
            <a:noFill/>
          </a:ln>
        </p:spPr>
      </p:pic>
      <p:sp>
        <p:nvSpPr>
          <p:cNvPr id="17" name="Google Shape;17;p48"/>
          <p:cNvSpPr txBox="1">
            <a:spLocks noGrp="1"/>
          </p:cNvSpPr>
          <p:nvPr>
            <p:ph type="ctrTitle"/>
          </p:nvPr>
        </p:nvSpPr>
        <p:spPr>
          <a:xfrm>
            <a:off x="457200" y="1937148"/>
            <a:ext cx="7772400" cy="1102519"/>
          </a:xfrm>
          <a:prstGeom prst="rect">
            <a:avLst/>
          </a:prstGeom>
          <a:noFill/>
          <a:ln w="9525" cap="flat" cmpd="sng">
            <a:solidFill>
              <a:srgbClr val="4F81BD"/>
            </a:solidFill>
            <a:prstDash val="solid"/>
            <a:miter lim="800000"/>
            <a:headEnd type="none" w="sm" len="sm"/>
            <a:tailEnd type="none" w="sm" len="sm"/>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extLst>
      <p:ext uri="{BB962C8B-B14F-4D97-AF65-F5344CB8AC3E}">
        <p14:creationId xmlns:p14="http://schemas.microsoft.com/office/powerpoint/2010/main" val="135268846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‹Nº›</a:t>
            </a:fld>
            <a:endParaRPr lang="es-E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087501" y="4741653"/>
            <a:ext cx="3438026"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s-ES" sz="600" dirty="0">
                <a:solidFill>
                  <a:schemeClr val="accent3">
                    <a:lumMod val="85000"/>
                  </a:schemeClr>
                </a:solidFill>
                <a:latin typeface="+mn-lt"/>
              </a:rPr>
              <a:t>© 2016 Cisco y/o sus filiales.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 id="2147484032" r:id="rId15"/>
  </p:sldLayoutIdLst>
  <p:transition spd="slow">
    <p:wipe/>
  </p:transition>
  <p:hf hdr="0" ftr="0" dt="0"/>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3.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4.xml"/><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5.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tags" Target="../tags/tag7.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8.xml"/><Relationship Id="rId5" Type="http://schemas.openxmlformats.org/officeDocument/2006/relationships/image" Target="../media/image3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1044889" y="1844733"/>
            <a:ext cx="7495395"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PE" sz="3000" i="1" dirty="0">
                <a:solidFill>
                  <a:schemeClr val="lt1"/>
                </a:solidFill>
                <a:latin typeface="Arial"/>
                <a:ea typeface="Arial"/>
                <a:cs typeface="Arial"/>
                <a:sym typeface="Arial"/>
              </a:rPr>
              <a:t>REDES Y COMUNICACIONES DE DATOS</a:t>
            </a:r>
            <a:br>
              <a:rPr lang="es-PE" sz="30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a:solidFill>
                  <a:schemeClr val="lt1"/>
                </a:solidFill>
                <a:latin typeface="Arial"/>
                <a:ea typeface="Arial"/>
                <a:cs typeface="Arial"/>
                <a:sym typeface="Arial"/>
              </a:rPr>
            </a:br>
            <a:r>
              <a:rPr lang="es-PE" sz="1500" i="1">
                <a:solidFill>
                  <a:schemeClr val="lt1"/>
                </a:solidFill>
                <a:latin typeface="Arial"/>
                <a:ea typeface="Arial"/>
                <a:cs typeface="Arial"/>
                <a:sym typeface="Arial"/>
              </a:rPr>
              <a:t>2026-1</a:t>
            </a:r>
            <a:br>
              <a:rPr lang="es-PE" sz="1500" i="1" dirty="0">
                <a:solidFill>
                  <a:schemeClr val="lt1"/>
                </a:solidFill>
                <a:latin typeface="Arial"/>
                <a:ea typeface="Arial"/>
                <a:cs typeface="Arial"/>
                <a:sym typeface="Arial"/>
              </a:rPr>
            </a:br>
            <a:br>
              <a:rPr lang="es-PE" sz="1500" i="1" dirty="0">
                <a:solidFill>
                  <a:schemeClr val="lt1"/>
                </a:solidFill>
                <a:latin typeface="Arial"/>
                <a:ea typeface="Arial"/>
                <a:cs typeface="Arial"/>
                <a:sym typeface="Arial"/>
              </a:rPr>
            </a:b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Docentes del curso</a:t>
            </a:r>
            <a:endParaRPr dirty="0">
              <a:solidFill>
                <a:schemeClr val="lt1"/>
              </a:solidFill>
            </a:endParaRPr>
          </a:p>
        </p:txBody>
      </p:sp>
      <p:sp>
        <p:nvSpPr>
          <p:cNvPr id="3" name="Slide Number Placeholder 1">
            <a:extLst>
              <a:ext uri="{FF2B5EF4-FFF2-40B4-BE49-F238E27FC236}">
                <a16:creationId xmlns:a16="http://schemas.microsoft.com/office/drawing/2014/main" id="{ACFBA5BC-36E0-5FD2-15F8-9585AF01D39C}"/>
              </a:ext>
            </a:extLst>
          </p:cNvPr>
          <p:cNvSpPr txBox="1">
            <a:spLocks/>
          </p:cNvSpPr>
          <p:nvPr/>
        </p:nvSpPr>
        <p:spPr>
          <a:xfrm>
            <a:off x="8837122" y="4772423"/>
            <a:ext cx="304570" cy="371078"/>
          </a:xfrm>
          <a:prstGeom prst="rect">
            <a:avLst/>
          </a:prstGeom>
        </p:spPr>
        <p:txBody>
          <a:bodyPr lIns="91440" tIns="45720" rIns="91440" bIns="45720" anchor="t"/>
          <a:ls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fld id="{2F5CCB13-0A32-4557-88E9-079F0C330695}" type="slidenum">
              <a:rPr lang="en-US" sz="1200" kern="0" dirty="0" smtClean="0">
                <a:solidFill>
                  <a:schemeClr val="bg1"/>
                </a:solidFill>
                <a:latin typeface="Arial"/>
                <a:ea typeface="ＭＳ Ｐゴシック"/>
                <a:cs typeface="Arial"/>
              </a:rPr>
              <a:pPr/>
              <a:t>1</a:t>
            </a:fld>
            <a:endParaRPr lang="en-US" sz="1200">
              <a:solidFill>
                <a:schemeClr val="bg1"/>
              </a:solidFill>
              <a:latin typeface="Arial"/>
              <a:ea typeface="ＭＳ Ｐゴシック"/>
              <a:cs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9" name="Rectangle 34"/>
          <p:cNvSpPr>
            <a:spLocks noGrp="1" noChangeArrowheads="1"/>
          </p:cNvSpPr>
          <p:nvPr>
            <p:ph idx="1"/>
          </p:nvPr>
        </p:nvSpPr>
        <p:spPr>
          <a:xfrm>
            <a:off x="46094" y="651988"/>
            <a:ext cx="8945748" cy="822659"/>
          </a:xfrm>
        </p:spPr>
        <p:txBody>
          <a:bodyPr/>
          <a:lstStyle/>
          <a:p>
            <a:pPr marL="0" indent="0" algn="just">
              <a:buNone/>
            </a:pPr>
            <a:r>
              <a:rPr lang="es-PE" sz="1600" dirty="0">
                <a:ea typeface="ＭＳ Ｐゴシック"/>
              </a:rPr>
              <a:t>Al finalizar la semana, el alumno será capaz de explicar </a:t>
            </a:r>
            <a:r>
              <a:rPr lang="es-PE" sz="1600" dirty="0">
                <a:solidFill>
                  <a:srgbClr val="0000CC"/>
                </a:solidFill>
                <a:ea typeface="ＭＳ Ｐゴシック"/>
              </a:rPr>
              <a:t>cómo funciona un SWITCH, configurarlo para su administración remotas </a:t>
            </a:r>
            <a:r>
              <a:rPr lang="es-PE" sz="1600" dirty="0">
                <a:ea typeface="ＭＳ Ｐゴシック"/>
              </a:rPr>
              <a:t>y comprender el proceso de configuración de una VLAN e Inter-VLAN, verificar y diagnosticar fallas, así como entiende la tecnología Ethernet. </a:t>
            </a:r>
            <a:endParaRPr lang="es-PE" sz="1600" dirty="0">
              <a:solidFill>
                <a:srgbClr val="0000CC"/>
              </a:solidFill>
            </a:endParaRPr>
          </a:p>
        </p:txBody>
      </p:sp>
      <p:sp>
        <p:nvSpPr>
          <p:cNvPr id="4098" name="Rectangle 33"/>
          <p:cNvSpPr>
            <a:spLocks noGrp="1" noChangeArrowheads="1"/>
          </p:cNvSpPr>
          <p:nvPr>
            <p:ph type="title"/>
          </p:nvPr>
        </p:nvSpPr>
        <p:spPr>
          <a:xfrm>
            <a:off x="1" y="572"/>
            <a:ext cx="5380265" cy="757551"/>
          </a:xfrm>
        </p:spPr>
        <p:txBody>
          <a:bodyPr/>
          <a:lstStyle/>
          <a:p>
            <a:pPr eaLnBrk="1" hangingPunct="1"/>
            <a:r>
              <a:rPr lang="es-ES" sz="3200" dirty="0">
                <a:solidFill>
                  <a:schemeClr val="accent2"/>
                </a:solidFill>
              </a:rPr>
              <a:t>Objetivos de la Semana 05</a:t>
            </a:r>
          </a:p>
        </p:txBody>
      </p:sp>
      <p:graphicFrame>
        <p:nvGraphicFramePr>
          <p:cNvPr id="2" name="Table 1">
            <a:extLst>
              <a:ext uri="{FF2B5EF4-FFF2-40B4-BE49-F238E27FC236}">
                <a16:creationId xmlns:a16="http://schemas.microsoft.com/office/drawing/2014/main" id="{209E1AAB-423B-4EF8-8EEE-CFC1DF7E7F89}"/>
              </a:ext>
            </a:extLst>
          </p:cNvPr>
          <p:cNvGraphicFramePr>
            <a:graphicFrameLocks noGrp="1"/>
          </p:cNvGraphicFramePr>
          <p:nvPr>
            <p:extLst>
              <p:ext uri="{D42A27DB-BD31-4B8C-83A1-F6EECF244321}">
                <p14:modId xmlns:p14="http://schemas.microsoft.com/office/powerpoint/2010/main" val="4003136380"/>
              </p:ext>
            </p:extLst>
          </p:nvPr>
        </p:nvGraphicFramePr>
        <p:xfrm>
          <a:off x="103252" y="1549518"/>
          <a:ext cx="8527192" cy="3402620"/>
        </p:xfrm>
        <a:graphic>
          <a:graphicData uri="http://schemas.openxmlformats.org/drawingml/2006/table">
            <a:tbl>
              <a:tblPr firstRow="1" firstCol="1" lastCol="1" bandRow="1">
                <a:tableStyleId>{72833802-FEF1-4C79-8D5D-14CF1EAF98D9}</a:tableStyleId>
              </a:tblPr>
              <a:tblGrid>
                <a:gridCol w="1922567">
                  <a:extLst>
                    <a:ext uri="{9D8B030D-6E8A-4147-A177-3AD203B41FA5}">
                      <a16:colId xmlns:a16="http://schemas.microsoft.com/office/drawing/2014/main" val="2506231601"/>
                    </a:ext>
                  </a:extLst>
                </a:gridCol>
                <a:gridCol w="6604625">
                  <a:extLst>
                    <a:ext uri="{9D8B030D-6E8A-4147-A177-3AD203B41FA5}">
                      <a16:colId xmlns:a16="http://schemas.microsoft.com/office/drawing/2014/main" val="2266843073"/>
                    </a:ext>
                  </a:extLst>
                </a:gridCol>
              </a:tblGrid>
              <a:tr h="189500">
                <a:tc>
                  <a:txBody>
                    <a:bodyPr/>
                    <a:lstStyle/>
                    <a:p>
                      <a:pPr marL="0" marR="0" rtl="0">
                        <a:lnSpc>
                          <a:spcPct val="107000"/>
                        </a:lnSpc>
                        <a:spcBef>
                          <a:spcPts val="0"/>
                        </a:spcBef>
                        <a:spcAft>
                          <a:spcPts val="0"/>
                        </a:spcAft>
                      </a:pPr>
                      <a:r>
                        <a:rPr lang="es-419" sz="1200" dirty="0">
                          <a:effectLst/>
                        </a:rPr>
                        <a:t>Título del Tema</a:t>
                      </a:r>
                    </a:p>
                  </a:txBody>
                  <a:tcPr marL="60168" marR="60168" marT="0" marB="0"/>
                </a:tc>
                <a:tc>
                  <a:txBody>
                    <a:bodyPr/>
                    <a:lstStyle/>
                    <a:p>
                      <a:pPr marL="0" marR="0" rtl="0">
                        <a:lnSpc>
                          <a:spcPct val="107000"/>
                        </a:lnSpc>
                        <a:spcBef>
                          <a:spcPts val="0"/>
                        </a:spcBef>
                        <a:spcAft>
                          <a:spcPts val="0"/>
                        </a:spcAft>
                      </a:pPr>
                      <a:r>
                        <a:rPr lang="es-419" sz="1200" dirty="0">
                          <a:effectLst/>
                        </a:rPr>
                        <a:t>Objetivo del Tema </a:t>
                      </a:r>
                    </a:p>
                  </a:txBody>
                  <a:tcPr marL="60168" marR="60168" marT="0" marB="0"/>
                </a:tc>
                <a:extLst>
                  <a:ext uri="{0D108BD9-81ED-4DB2-BD59-A6C34878D82A}">
                    <a16:rowId xmlns:a16="http://schemas.microsoft.com/office/drawing/2014/main" val="347891655"/>
                  </a:ext>
                </a:extLst>
              </a:tr>
              <a:tr h="393780">
                <a:tc>
                  <a:txBody>
                    <a:bodyPr/>
                    <a:lstStyle/>
                    <a:p>
                      <a:pPr marL="0" marR="0" indent="0" rtl="0">
                        <a:lnSpc>
                          <a:spcPct val="107000"/>
                        </a:lnSpc>
                        <a:spcBef>
                          <a:spcPts val="0"/>
                        </a:spcBef>
                        <a:spcAft>
                          <a:spcPts val="0"/>
                        </a:spcAft>
                        <a:buFontTx/>
                        <a:buNone/>
                      </a:pPr>
                      <a:r>
                        <a:rPr lang="es-419" sz="1400" dirty="0">
                          <a:solidFill>
                            <a:srgbClr val="000000"/>
                          </a:solidFill>
                          <a:effectLst/>
                        </a:rPr>
                        <a:t>Ethernet</a:t>
                      </a:r>
                    </a:p>
                  </a:txBody>
                  <a:tcPr marL="60168" marR="60168" marT="0" marB="0"/>
                </a:tc>
                <a:tc>
                  <a:txBody>
                    <a:bodyPr/>
                    <a:lstStyle/>
                    <a:p>
                      <a:pPr marL="0" marR="0" rtl="0">
                        <a:lnSpc>
                          <a:spcPct val="107000"/>
                        </a:lnSpc>
                        <a:spcBef>
                          <a:spcPts val="0"/>
                        </a:spcBef>
                        <a:spcAft>
                          <a:spcPts val="0"/>
                        </a:spcAft>
                      </a:pPr>
                      <a:r>
                        <a:rPr lang="es-419" sz="1200" b="0" dirty="0">
                          <a:solidFill>
                            <a:srgbClr val="000000"/>
                          </a:solidFill>
                          <a:effectLst/>
                        </a:rPr>
                        <a:t>Comprender la tecnología LAN más importantes así como las capas y estándares que lo soportan</a:t>
                      </a:r>
                    </a:p>
                  </a:txBody>
                  <a:tcPr marL="60168" marR="60168" marT="0" marB="0"/>
                </a:tc>
                <a:extLst>
                  <a:ext uri="{0D108BD9-81ED-4DB2-BD59-A6C34878D82A}">
                    <a16:rowId xmlns:a16="http://schemas.microsoft.com/office/drawing/2014/main" val="2743645629"/>
                  </a:ext>
                </a:extLst>
              </a:tr>
              <a:tr h="383257">
                <a:tc>
                  <a:txBody>
                    <a:bodyPr/>
                    <a:lstStyle/>
                    <a:p>
                      <a:pPr marL="0" marR="0" indent="0" rtl="0">
                        <a:lnSpc>
                          <a:spcPct val="107000"/>
                        </a:lnSpc>
                        <a:spcBef>
                          <a:spcPts val="0"/>
                        </a:spcBef>
                        <a:spcAft>
                          <a:spcPts val="0"/>
                        </a:spcAft>
                        <a:buFontTx/>
                        <a:buNone/>
                      </a:pPr>
                      <a:r>
                        <a:rPr lang="es-419" sz="1400" dirty="0">
                          <a:solidFill>
                            <a:srgbClr val="000000"/>
                          </a:solidFill>
                          <a:effectLst/>
                        </a:rPr>
                        <a:t>MAC</a:t>
                      </a:r>
                    </a:p>
                  </a:txBody>
                  <a:tcPr marL="60168" marR="60168" marT="0" marB="0"/>
                </a:tc>
                <a:tc>
                  <a:txBody>
                    <a:bodyPr/>
                    <a:lstStyle/>
                    <a:p>
                      <a:pPr marL="0" marR="0" rtl="0">
                        <a:lnSpc>
                          <a:spcPct val="107000"/>
                        </a:lnSpc>
                        <a:spcBef>
                          <a:spcPts val="0"/>
                        </a:spcBef>
                        <a:spcAft>
                          <a:spcPts val="0"/>
                        </a:spcAft>
                      </a:pPr>
                      <a:r>
                        <a:rPr lang="es-419" sz="1200" b="0" dirty="0">
                          <a:solidFill>
                            <a:srgbClr val="000000"/>
                          </a:solidFill>
                          <a:effectLst/>
                        </a:rPr>
                        <a:t>Entender como está estructurado y que dispositivo lo utiliza</a:t>
                      </a:r>
                    </a:p>
                  </a:txBody>
                  <a:tcPr marL="60168" marR="60168" marT="0" marB="0"/>
                </a:tc>
                <a:extLst>
                  <a:ext uri="{0D108BD9-81ED-4DB2-BD59-A6C34878D82A}">
                    <a16:rowId xmlns:a16="http://schemas.microsoft.com/office/drawing/2014/main" val="3565740935"/>
                  </a:ext>
                </a:extLst>
              </a:tr>
              <a:tr h="335145">
                <a:tc>
                  <a:txBody>
                    <a:bodyPr/>
                    <a:lstStyle/>
                    <a:p>
                      <a:pPr marL="0" marR="0" indent="0" rtl="0">
                        <a:lnSpc>
                          <a:spcPct val="107000"/>
                        </a:lnSpc>
                        <a:spcBef>
                          <a:spcPts val="0"/>
                        </a:spcBef>
                        <a:spcAft>
                          <a:spcPts val="0"/>
                        </a:spcAft>
                        <a:buFontTx/>
                        <a:buNone/>
                      </a:pPr>
                      <a:r>
                        <a:rPr lang="es-419" sz="1400" dirty="0">
                          <a:solidFill>
                            <a:srgbClr val="000000"/>
                          </a:solidFill>
                          <a:effectLst/>
                        </a:rPr>
                        <a:t>ARP</a:t>
                      </a:r>
                    </a:p>
                  </a:txBody>
                  <a:tcPr marL="60168" marR="60168" marT="0" marB="0"/>
                </a:tc>
                <a:tc>
                  <a:txBody>
                    <a:bodyPr/>
                    <a:lstStyle/>
                    <a:p>
                      <a:pPr marL="0" marR="0" rtl="0">
                        <a:lnSpc>
                          <a:spcPct val="107000"/>
                        </a:lnSpc>
                        <a:spcBef>
                          <a:spcPts val="0"/>
                        </a:spcBef>
                        <a:spcAft>
                          <a:spcPts val="0"/>
                        </a:spcAft>
                      </a:pPr>
                      <a:r>
                        <a:rPr lang="es-419" sz="1200" b="0" kern="1200" dirty="0">
                          <a:solidFill>
                            <a:srgbClr val="000000"/>
                          </a:solidFill>
                          <a:effectLst/>
                        </a:rPr>
                        <a:t>Explicar el uso y funcionaiento del protocolo ARP</a:t>
                      </a:r>
                      <a:endParaRPr lang="es-419" sz="1200" b="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3543717417"/>
                  </a:ext>
                </a:extLst>
              </a:tr>
              <a:tr h="393780">
                <a:tc>
                  <a:txBody>
                    <a:bodyPr/>
                    <a:lstStyle/>
                    <a:p>
                      <a:pPr marL="0" marR="0" rtl="0">
                        <a:lnSpc>
                          <a:spcPct val="107000"/>
                        </a:lnSpc>
                        <a:spcBef>
                          <a:spcPts val="0"/>
                        </a:spcBef>
                        <a:spcAft>
                          <a:spcPts val="0"/>
                        </a:spcAft>
                      </a:pPr>
                      <a:r>
                        <a:rPr lang="es-419" sz="1400" dirty="0">
                          <a:solidFill>
                            <a:srgbClr val="000000"/>
                          </a:solidFill>
                          <a:effectLst/>
                        </a:rPr>
                        <a:t>Conceptos y Switches</a:t>
                      </a:r>
                      <a:endParaRPr lang="es-419"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rtl="0">
                        <a:lnSpc>
                          <a:spcPct val="107000"/>
                        </a:lnSpc>
                        <a:spcBef>
                          <a:spcPts val="0"/>
                        </a:spcBef>
                        <a:spcAft>
                          <a:spcPts val="0"/>
                        </a:spcAft>
                      </a:pPr>
                      <a:r>
                        <a:rPr lang="es-419" sz="1200" b="0" kern="1200" dirty="0">
                          <a:solidFill>
                            <a:srgbClr val="000000"/>
                          </a:solidFill>
                          <a:effectLst/>
                        </a:rPr>
                        <a:t>Comprender los conceptos fundamentales e Identificar los diferentes dispositivos así como configurarlo y entender los conceptos de switching</a:t>
                      </a:r>
                      <a:endParaRPr lang="es-419" sz="1200" b="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807677161"/>
                  </a:ext>
                </a:extLst>
              </a:tr>
              <a:tr h="302687">
                <a:tc>
                  <a:txBody>
                    <a:bodyPr/>
                    <a:lstStyle/>
                    <a:p>
                      <a:pPr marL="0" marR="0" rtl="0">
                        <a:lnSpc>
                          <a:spcPct val="107000"/>
                        </a:lnSpc>
                        <a:spcBef>
                          <a:spcPts val="0"/>
                        </a:spcBef>
                        <a:spcAft>
                          <a:spcPts val="0"/>
                        </a:spcAft>
                      </a:pPr>
                      <a:r>
                        <a:rPr lang="es-419" sz="1400" dirty="0">
                          <a:solidFill>
                            <a:srgbClr val="000000"/>
                          </a:solidFill>
                          <a:effectLst/>
                        </a:rPr>
                        <a:t>VLAN</a:t>
                      </a:r>
                      <a:endParaRPr lang="es-419"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rtl="0">
                        <a:lnSpc>
                          <a:spcPct val="107000"/>
                        </a:lnSpc>
                        <a:spcBef>
                          <a:spcPts val="0"/>
                        </a:spcBef>
                        <a:spcAft>
                          <a:spcPts val="0"/>
                        </a:spcAft>
                      </a:pPr>
                      <a:r>
                        <a:rPr lang="es-419" sz="1200" b="0" kern="1200" dirty="0">
                          <a:solidFill>
                            <a:srgbClr val="000000"/>
                          </a:solidFill>
                          <a:effectLst/>
                        </a:rPr>
                        <a:t>Comprender los beneficios y tipos de VLAN así como realizar una configuración básica</a:t>
                      </a:r>
                      <a:endParaRPr lang="es-419" sz="1200" b="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2962997290"/>
                  </a:ext>
                </a:extLst>
              </a:tr>
              <a:tr h="300068">
                <a:tc>
                  <a:txBody>
                    <a:bodyPr/>
                    <a:lstStyle/>
                    <a:p>
                      <a:pPr marL="0" marR="0" rtl="0">
                        <a:lnSpc>
                          <a:spcPct val="107000"/>
                        </a:lnSpc>
                        <a:spcBef>
                          <a:spcPts val="0"/>
                        </a:spcBef>
                        <a:spcAft>
                          <a:spcPts val="0"/>
                        </a:spcAft>
                      </a:pPr>
                      <a:r>
                        <a:rPr lang="es-419" sz="1400" dirty="0" err="1">
                          <a:solidFill>
                            <a:srgbClr val="000000"/>
                          </a:solidFill>
                          <a:effectLst/>
                        </a:rPr>
                        <a:t>Trunking</a:t>
                      </a:r>
                      <a:endParaRPr lang="es-419"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rtl="0">
                        <a:lnSpc>
                          <a:spcPct val="107000"/>
                        </a:lnSpc>
                        <a:spcBef>
                          <a:spcPts val="0"/>
                        </a:spcBef>
                        <a:spcAft>
                          <a:spcPts val="0"/>
                        </a:spcAft>
                      </a:pPr>
                      <a:r>
                        <a:rPr lang="es-419" sz="1200" b="0" kern="1200" dirty="0">
                          <a:solidFill>
                            <a:srgbClr val="000000"/>
                          </a:solidFill>
                          <a:effectLst/>
                        </a:rPr>
                        <a:t>Entender el funcionamiento y configuración básica del </a:t>
                      </a:r>
                      <a:r>
                        <a:rPr lang="es-419" sz="1200" b="0" kern="1200" dirty="0" err="1">
                          <a:solidFill>
                            <a:srgbClr val="000000"/>
                          </a:solidFill>
                          <a:effectLst/>
                        </a:rPr>
                        <a:t>trunking</a:t>
                      </a:r>
                      <a:endParaRPr lang="es-419" sz="1200" b="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2752093182"/>
                  </a:ext>
                </a:extLst>
              </a:tr>
              <a:tr h="323669">
                <a:tc>
                  <a:txBody>
                    <a:bodyPr/>
                    <a:lstStyle/>
                    <a:p>
                      <a:pPr marL="0" marR="0" rtl="0">
                        <a:lnSpc>
                          <a:spcPct val="107000"/>
                        </a:lnSpc>
                        <a:spcBef>
                          <a:spcPts val="0"/>
                        </a:spcBef>
                        <a:spcAft>
                          <a:spcPts val="0"/>
                        </a:spcAft>
                      </a:pPr>
                      <a:r>
                        <a:rPr lang="es-419" sz="1400" dirty="0">
                          <a:solidFill>
                            <a:srgbClr val="000000"/>
                          </a:solidFill>
                          <a:effectLst/>
                        </a:rPr>
                        <a:t>InterVLAN</a:t>
                      </a:r>
                      <a:endParaRPr lang="es-419"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rtl="0">
                        <a:lnSpc>
                          <a:spcPct val="107000"/>
                        </a:lnSpc>
                        <a:spcBef>
                          <a:spcPts val="0"/>
                        </a:spcBef>
                        <a:spcAft>
                          <a:spcPts val="0"/>
                        </a:spcAft>
                      </a:pPr>
                      <a:r>
                        <a:rPr lang="es-419" sz="1200" b="0" kern="1200" dirty="0">
                          <a:solidFill>
                            <a:srgbClr val="000000"/>
                          </a:solidFill>
                          <a:effectLst/>
                        </a:rPr>
                        <a:t>Comprender el proceso de comunicación de diferentes </a:t>
                      </a:r>
                      <a:r>
                        <a:rPr lang="es-419" sz="1200" b="0" kern="1200" dirty="0" err="1">
                          <a:solidFill>
                            <a:srgbClr val="000000"/>
                          </a:solidFill>
                          <a:effectLst/>
                        </a:rPr>
                        <a:t>VLANs</a:t>
                      </a:r>
                      <a:endParaRPr lang="es-419" sz="1200" b="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27681236"/>
                  </a:ext>
                </a:extLst>
              </a:tr>
              <a:tr h="473537">
                <a:tc>
                  <a:txBody>
                    <a:bodyPr/>
                    <a:lstStyle/>
                    <a:p>
                      <a:pPr marL="0" marR="0" rtl="0">
                        <a:lnSpc>
                          <a:spcPct val="107000"/>
                        </a:lnSpc>
                        <a:spcBef>
                          <a:spcPts val="0"/>
                        </a:spcBef>
                        <a:spcAft>
                          <a:spcPts val="0"/>
                        </a:spcAft>
                      </a:pPr>
                      <a:r>
                        <a:rPr lang="es-419" sz="1400" dirty="0">
                          <a:solidFill>
                            <a:srgbClr val="000000"/>
                          </a:solidFill>
                          <a:effectLst/>
                        </a:rPr>
                        <a:t>Switch </a:t>
                      </a:r>
                      <a:r>
                        <a:rPr lang="es-419" sz="1400" dirty="0" err="1">
                          <a:solidFill>
                            <a:srgbClr val="000000"/>
                          </a:solidFill>
                          <a:effectLst/>
                        </a:rPr>
                        <a:t>Muklticapa</a:t>
                      </a:r>
                      <a:endParaRPr lang="es-419"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rtl="0">
                        <a:lnSpc>
                          <a:spcPct val="107000"/>
                        </a:lnSpc>
                        <a:spcBef>
                          <a:spcPts val="0"/>
                        </a:spcBef>
                        <a:spcAft>
                          <a:spcPts val="0"/>
                        </a:spcAft>
                      </a:pPr>
                      <a:r>
                        <a:rPr lang="es-419" sz="1200" b="0" dirty="0">
                          <a:solidFill>
                            <a:srgbClr val="000000"/>
                          </a:solidFill>
                          <a:effectLst/>
                        </a:rPr>
                        <a:t>Implementar la configuración básica para realizar InterVLAN utilizando un Switch Multicapa</a:t>
                      </a:r>
                    </a:p>
                  </a:txBody>
                  <a:tcPr marL="60168" marR="60168" marT="0" marB="0"/>
                </a:tc>
                <a:extLst>
                  <a:ext uri="{0D108BD9-81ED-4DB2-BD59-A6C34878D82A}">
                    <a16:rowId xmlns:a16="http://schemas.microsoft.com/office/drawing/2014/main" val="1447885710"/>
                  </a:ext>
                </a:extLst>
              </a:tr>
              <a:tr h="260985">
                <a:tc>
                  <a:txBody>
                    <a:bodyPr/>
                    <a:lstStyle/>
                    <a:p>
                      <a:pPr marL="0" marR="0" rtl="0">
                        <a:lnSpc>
                          <a:spcPct val="107000"/>
                        </a:lnSpc>
                        <a:spcBef>
                          <a:spcPts val="0"/>
                        </a:spcBef>
                        <a:spcAft>
                          <a:spcPts val="0"/>
                        </a:spcAft>
                      </a:pPr>
                      <a:r>
                        <a:rPr lang="es-419" sz="1400" dirty="0">
                          <a:solidFill>
                            <a:srgbClr val="000000"/>
                          </a:solidFill>
                          <a:effectLst/>
                          <a:latin typeface="+mn-lt"/>
                          <a:ea typeface="Calibri" panose="020F0502020204030204" pitchFamily="34" charset="0"/>
                          <a:cs typeface="Times New Roman" panose="02020603050405020304" pitchFamily="18" charset="0"/>
                        </a:rPr>
                        <a:t>Conclusiones</a:t>
                      </a:r>
                    </a:p>
                  </a:txBody>
                  <a:tcPr marL="68580" marR="68580" marT="0" marB="0"/>
                </a:tc>
                <a:tc>
                  <a:txBody>
                    <a:bodyPr/>
                    <a:lstStyle/>
                    <a:p>
                      <a:pPr marL="0" marR="0" rtl="0">
                        <a:lnSpc>
                          <a:spcPct val="107000"/>
                        </a:lnSpc>
                        <a:spcBef>
                          <a:spcPts val="0"/>
                        </a:spcBef>
                        <a:spcAft>
                          <a:spcPts val="0"/>
                        </a:spcAft>
                      </a:pPr>
                      <a:r>
                        <a:rPr lang="es-419" sz="1200" b="0" dirty="0">
                          <a:solidFill>
                            <a:srgbClr val="000000"/>
                          </a:solidFill>
                          <a:effectLst/>
                        </a:rPr>
                        <a:t>Síntesis y evaluación de lo aprendido en clase</a:t>
                      </a:r>
                    </a:p>
                  </a:txBody>
                  <a:tcPr marL="60168" marR="60168" marT="0" marB="0"/>
                </a:tc>
                <a:extLst>
                  <a:ext uri="{0D108BD9-81ED-4DB2-BD59-A6C34878D82A}">
                    <a16:rowId xmlns:a16="http://schemas.microsoft.com/office/drawing/2014/main" val="1477007732"/>
                  </a:ext>
                </a:extLst>
              </a:tr>
            </a:tbl>
          </a:graphicData>
        </a:graphic>
      </p:graphicFrame>
      <p:sp>
        <p:nvSpPr>
          <p:cNvPr id="3" name="Slide Number Placeholder 2">
            <a:extLst>
              <a:ext uri="{FF2B5EF4-FFF2-40B4-BE49-F238E27FC236}">
                <a16:creationId xmlns:a16="http://schemas.microsoft.com/office/drawing/2014/main" id="{54868FB8-721D-A860-82A6-1BD687A08DAF}"/>
              </a:ext>
            </a:extLst>
          </p:cNvPr>
          <p:cNvSpPr>
            <a:spLocks noGrp="1"/>
          </p:cNvSpPr>
          <p:nvPr>
            <p:ph type="sldNum" sz="quarter" idx="4"/>
          </p:nvPr>
        </p:nvSpPr>
        <p:spPr>
          <a:xfrm>
            <a:off x="8824504" y="4660349"/>
            <a:ext cx="317683" cy="483152"/>
          </a:xfrm>
        </p:spPr>
        <p:txBody>
          <a:bodyPr/>
          <a:lstStyle/>
          <a:p>
            <a:fld id="{2F5CCB13-0A32-4557-88E9-079F0C330695}" type="slidenum">
              <a:rPr lang="en-US" sz="1200" kern="0" dirty="0" smtClean="0">
                <a:solidFill>
                  <a:srgbClr val="595959"/>
                </a:solidFill>
                <a:latin typeface="Arial"/>
                <a:ea typeface="ＭＳ Ｐゴシック"/>
                <a:cs typeface="Arial"/>
              </a:rPr>
              <a:pPr defTabSz="385763">
                <a:defRPr/>
              </a:pPr>
              <a:t>2</a:t>
            </a:fld>
            <a:endParaRPr lang="en-US" sz="1200" dirty="0">
              <a:latin typeface="Arial"/>
              <a:ea typeface="ＭＳ Ｐゴシック"/>
              <a:cs typeface="Arial"/>
            </a:endParaRPr>
          </a:p>
        </p:txBody>
      </p:sp>
    </p:spTree>
    <p:extLst>
      <p:ext uri="{BB962C8B-B14F-4D97-AF65-F5344CB8AC3E}">
        <p14:creationId xmlns:p14="http://schemas.microsoft.com/office/powerpoint/2010/main" val="20653423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1143001" y="1715226"/>
            <a:ext cx="6941225"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5.1Ethernet y MAC</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2025-2</a:t>
            </a:r>
            <a:endParaRPr dirty="0"/>
          </a:p>
        </p:txBody>
      </p:sp>
      <p:sp>
        <p:nvSpPr>
          <p:cNvPr id="3" name="Slide Number Placeholder 1">
            <a:extLst>
              <a:ext uri="{FF2B5EF4-FFF2-40B4-BE49-F238E27FC236}">
                <a16:creationId xmlns:a16="http://schemas.microsoft.com/office/drawing/2014/main" id="{330E68C1-D529-D267-F1CF-6FBEA29C371E}"/>
              </a:ext>
            </a:extLst>
          </p:cNvPr>
          <p:cNvSpPr txBox="1">
            <a:spLocks/>
          </p:cNvSpPr>
          <p:nvPr/>
        </p:nvSpPr>
        <p:spPr>
          <a:xfrm>
            <a:off x="8837122" y="4772423"/>
            <a:ext cx="304570" cy="371078"/>
          </a:xfrm>
          <a:prstGeom prst="rect">
            <a:avLst/>
          </a:prstGeom>
        </p:spPr>
        <p:txBody>
          <a:bodyPr lIns="91440" tIns="45720" rIns="91440" bIns="45720" anchor="t"/>
          <a:ls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fld id="{2F5CCB13-0A32-4557-88E9-079F0C330695}" type="slidenum">
              <a:rPr lang="en-US" sz="1200" kern="0" dirty="0" smtClean="0">
                <a:solidFill>
                  <a:schemeClr val="bg1"/>
                </a:solidFill>
                <a:latin typeface="Arial"/>
                <a:ea typeface="ＭＳ Ｐゴシック"/>
                <a:cs typeface="Arial"/>
              </a:rPr>
              <a:pPr/>
              <a:t>3</a:t>
            </a:fld>
            <a:endParaRPr lang="en-US" sz="1200">
              <a:solidFill>
                <a:schemeClr val="bg1"/>
              </a:solidFill>
              <a:latin typeface="Arial"/>
              <a:ea typeface="ＭＳ Ｐゴシック"/>
              <a:cs typeface="Arial"/>
            </a:endParaRPr>
          </a:p>
        </p:txBody>
      </p:sp>
    </p:spTree>
    <p:extLst>
      <p:ext uri="{BB962C8B-B14F-4D97-AF65-F5344CB8AC3E}">
        <p14:creationId xmlns:p14="http://schemas.microsoft.com/office/powerpoint/2010/main" val="15129104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572"/>
            <a:ext cx="3567793" cy="569773"/>
          </a:xfrm>
        </p:spPr>
        <p:txBody>
          <a:bodyPr/>
          <a:lstStyle/>
          <a:p>
            <a:r>
              <a:rPr lang="es-419" dirty="0">
                <a:solidFill>
                  <a:srgbClr val="C00000"/>
                </a:solidFill>
              </a:rPr>
              <a:t>Ethernet y Subcapas L2</a:t>
            </a:r>
          </a:p>
        </p:txBody>
      </p:sp>
      <p:pic>
        <p:nvPicPr>
          <p:cNvPr id="7" name="Picture 6">
            <a:extLst>
              <a:ext uri="{FF2B5EF4-FFF2-40B4-BE49-F238E27FC236}">
                <a16:creationId xmlns:a16="http://schemas.microsoft.com/office/drawing/2014/main" id="{81D1A284-9B4E-4FF5-89F8-492CE274A562}"/>
              </a:ext>
            </a:extLst>
          </p:cNvPr>
          <p:cNvPicPr>
            <a:picLocks noChangeAspect="1"/>
          </p:cNvPicPr>
          <p:nvPr/>
        </p:nvPicPr>
        <p:blipFill>
          <a:blip r:embed="rId3"/>
          <a:stretch>
            <a:fillRect/>
          </a:stretch>
        </p:blipFill>
        <p:spPr>
          <a:xfrm>
            <a:off x="-9891" y="1641831"/>
            <a:ext cx="4717211" cy="3451013"/>
          </a:xfrm>
          <a:prstGeom prst="rect">
            <a:avLst/>
          </a:prstGeom>
        </p:spPr>
      </p:pic>
      <p:pic>
        <p:nvPicPr>
          <p:cNvPr id="8" name="Content Placeholder 3">
            <a:extLst>
              <a:ext uri="{FF2B5EF4-FFF2-40B4-BE49-F238E27FC236}">
                <a16:creationId xmlns:a16="http://schemas.microsoft.com/office/drawing/2014/main" id="{BE7C3565-D860-4CCA-B87F-1A048146B576}"/>
              </a:ext>
            </a:extLst>
          </p:cNvPr>
          <p:cNvPicPr>
            <a:picLocks noChangeAspect="1"/>
          </p:cNvPicPr>
          <p:nvPr/>
        </p:nvPicPr>
        <p:blipFill>
          <a:blip r:embed="rId4"/>
          <a:stretch>
            <a:fillRect/>
          </a:stretch>
        </p:blipFill>
        <p:spPr bwMode="auto">
          <a:xfrm>
            <a:off x="4743726" y="1640037"/>
            <a:ext cx="4191765" cy="3376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 name="TextBox 2">
            <a:extLst>
              <a:ext uri="{FF2B5EF4-FFF2-40B4-BE49-F238E27FC236}">
                <a16:creationId xmlns:a16="http://schemas.microsoft.com/office/drawing/2014/main" id="{FF93116E-336F-1EC2-ADDB-5F30C3F16A98}"/>
              </a:ext>
            </a:extLst>
          </p:cNvPr>
          <p:cNvSpPr txBox="1"/>
          <p:nvPr/>
        </p:nvSpPr>
        <p:spPr>
          <a:xfrm>
            <a:off x="125428" y="612284"/>
            <a:ext cx="4446572" cy="738664"/>
          </a:xfrm>
          <a:prstGeom prst="rect">
            <a:avLst/>
          </a:prstGeom>
          <a:noFill/>
        </p:spPr>
        <p:txBody>
          <a:bodyPr wrap="square">
            <a:spAutoFit/>
          </a:bodyPr>
          <a:lstStyle/>
          <a:p>
            <a:pPr algn="just"/>
            <a:r>
              <a:rPr lang="es-419" sz="1400" dirty="0">
                <a:solidFill>
                  <a:srgbClr val="000000"/>
                </a:solidFill>
              </a:rPr>
              <a:t>Ethernet funciona en la </a:t>
            </a:r>
            <a:r>
              <a:rPr lang="es-419" sz="1400" dirty="0">
                <a:solidFill>
                  <a:srgbClr val="0000CC"/>
                </a:solidFill>
              </a:rPr>
              <a:t>capa de enlace de datos </a:t>
            </a:r>
            <a:r>
              <a:rPr lang="es-419" sz="1400" dirty="0">
                <a:solidFill>
                  <a:srgbClr val="000000"/>
                </a:solidFill>
              </a:rPr>
              <a:t>y en </a:t>
            </a:r>
            <a:r>
              <a:rPr lang="es-419" sz="1400" dirty="0">
                <a:solidFill>
                  <a:srgbClr val="0000CC"/>
                </a:solidFill>
              </a:rPr>
              <a:t>la capa física</a:t>
            </a:r>
            <a:r>
              <a:rPr lang="es-419" sz="1400" dirty="0">
                <a:solidFill>
                  <a:srgbClr val="000000"/>
                </a:solidFill>
              </a:rPr>
              <a:t>. Es una familia de tecnologías de red definidas en los estándares </a:t>
            </a:r>
            <a:r>
              <a:rPr lang="es-419" sz="1400" dirty="0">
                <a:solidFill>
                  <a:srgbClr val="0000CC"/>
                </a:solidFill>
              </a:rPr>
              <a:t>IEEE 802.2 </a:t>
            </a:r>
            <a:r>
              <a:rPr lang="es-419" sz="1400" dirty="0">
                <a:solidFill>
                  <a:srgbClr val="000000"/>
                </a:solidFill>
              </a:rPr>
              <a:t>y </a:t>
            </a:r>
            <a:r>
              <a:rPr lang="es-419" sz="1400" dirty="0">
                <a:solidFill>
                  <a:srgbClr val="0000CC"/>
                </a:solidFill>
              </a:rPr>
              <a:t>802.3</a:t>
            </a:r>
            <a:endParaRPr lang="fr-FR" sz="1400" dirty="0"/>
          </a:p>
        </p:txBody>
      </p:sp>
      <p:sp>
        <p:nvSpPr>
          <p:cNvPr id="5" name="TextBox 4">
            <a:extLst>
              <a:ext uri="{FF2B5EF4-FFF2-40B4-BE49-F238E27FC236}">
                <a16:creationId xmlns:a16="http://schemas.microsoft.com/office/drawing/2014/main" id="{56FE7F37-60DB-3FEB-53D1-8768305957E5}"/>
              </a:ext>
            </a:extLst>
          </p:cNvPr>
          <p:cNvSpPr txBox="1"/>
          <p:nvPr/>
        </p:nvSpPr>
        <p:spPr>
          <a:xfrm>
            <a:off x="4743450" y="41393"/>
            <a:ext cx="4267234" cy="1600438"/>
          </a:xfrm>
          <a:prstGeom prst="rect">
            <a:avLst/>
          </a:prstGeom>
          <a:noFill/>
        </p:spPr>
        <p:txBody>
          <a:bodyPr wrap="square">
            <a:spAutoFit/>
          </a:bodyPr>
          <a:lstStyle/>
          <a:p>
            <a:pPr algn="just" rtl="0"/>
            <a:r>
              <a:rPr lang="es-419" sz="1400" b="1" dirty="0">
                <a:solidFill>
                  <a:srgbClr val="000000"/>
                </a:solidFill>
              </a:rPr>
              <a:t>Subcapa LLC</a:t>
            </a:r>
            <a:r>
              <a:rPr lang="es-419" sz="1400" dirty="0">
                <a:solidFill>
                  <a:srgbClr val="000000"/>
                </a:solidFill>
              </a:rPr>
              <a:t>: (</a:t>
            </a:r>
            <a:r>
              <a:rPr lang="es-419" sz="1400" dirty="0">
                <a:solidFill>
                  <a:srgbClr val="0000CC"/>
                </a:solidFill>
              </a:rPr>
              <a:t>IEEE 802.2</a:t>
            </a:r>
            <a:r>
              <a:rPr lang="es-419" sz="1400" dirty="0">
                <a:solidFill>
                  <a:srgbClr val="000000"/>
                </a:solidFill>
              </a:rPr>
              <a:t>)</a:t>
            </a:r>
          </a:p>
          <a:p>
            <a:pPr algn="just" rtl="0"/>
            <a:r>
              <a:rPr lang="es-419" sz="1400" dirty="0">
                <a:solidFill>
                  <a:srgbClr val="000000"/>
                </a:solidFill>
              </a:rPr>
              <a:t>Coloca información en la trama para identificar qué protocolo de capa 3, se utiliza para la trama.</a:t>
            </a:r>
          </a:p>
          <a:p>
            <a:pPr algn="just" rtl="0"/>
            <a:r>
              <a:rPr lang="es-419" sz="1400" b="1" dirty="0">
                <a:solidFill>
                  <a:srgbClr val="000000"/>
                </a:solidFill>
              </a:rPr>
              <a:t>Subcapa MAC</a:t>
            </a:r>
            <a:r>
              <a:rPr lang="es-419" sz="1400" dirty="0">
                <a:solidFill>
                  <a:srgbClr val="000000"/>
                </a:solidFill>
              </a:rPr>
              <a:t>: (</a:t>
            </a:r>
            <a:r>
              <a:rPr lang="es-419" sz="1400" dirty="0">
                <a:solidFill>
                  <a:srgbClr val="0000CC"/>
                </a:solidFill>
              </a:rPr>
              <a:t>IEEE 802.3, 802.11 o 802.15</a:t>
            </a:r>
            <a:r>
              <a:rPr lang="es-419" sz="1400" dirty="0">
                <a:solidFill>
                  <a:srgbClr val="000000"/>
                </a:solidFill>
              </a:rPr>
              <a:t>) Responsable de la encapsulación de datos y control de acceso a medios, y proporciona direccionamiento de capa de enlace de datos. </a:t>
            </a:r>
          </a:p>
        </p:txBody>
      </p:sp>
      <p:sp>
        <p:nvSpPr>
          <p:cNvPr id="2" name="Slide Number Placeholder 1">
            <a:extLst>
              <a:ext uri="{FF2B5EF4-FFF2-40B4-BE49-F238E27FC236}">
                <a16:creationId xmlns:a16="http://schemas.microsoft.com/office/drawing/2014/main" id="{B8D42129-BA48-DF03-7519-30E45E078BCC}"/>
              </a:ext>
            </a:extLst>
          </p:cNvPr>
          <p:cNvSpPr>
            <a:spLocks noGrp="1"/>
          </p:cNvSpPr>
          <p:nvPr>
            <p:ph type="sldNum" sz="quarter" idx="4"/>
          </p:nvPr>
        </p:nvSpPr>
        <p:spPr>
          <a:xfrm>
            <a:off x="8837122" y="4772423"/>
            <a:ext cx="304570" cy="371078"/>
          </a:xfrm>
        </p:spPr>
        <p:txBody>
          <a:bodyPr/>
          <a:lstStyle/>
          <a:p>
            <a:fld id="{2F5CCB13-0A32-4557-88E9-079F0C330695}" type="slidenum">
              <a:rPr lang="en-US" sz="1200" kern="0" dirty="0" smtClean="0">
                <a:solidFill>
                  <a:srgbClr val="595959"/>
                </a:solidFill>
                <a:latin typeface="Arial"/>
                <a:ea typeface="ＭＳ Ｐゴシック"/>
                <a:cs typeface="Arial"/>
              </a:rPr>
              <a:pPr defTabSz="385763">
                <a:defRPr/>
              </a:pPr>
              <a:t>4</a:t>
            </a:fld>
            <a:endParaRPr lang="en-US" sz="1200" dirty="0">
              <a:latin typeface="Arial"/>
              <a:ea typeface="ＭＳ Ｐゴシック"/>
              <a:cs typeface="Arial"/>
            </a:endParaRPr>
          </a:p>
        </p:txBody>
      </p:sp>
    </p:spTree>
    <p:extLst>
      <p:ext uri="{BB962C8B-B14F-4D97-AF65-F5344CB8AC3E}">
        <p14:creationId xmlns:p14="http://schemas.microsoft.com/office/powerpoint/2010/main" val="11893087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991" y="-137425"/>
            <a:ext cx="9144000" cy="757551"/>
          </a:xfrm>
        </p:spPr>
        <p:txBody>
          <a:bodyPr/>
          <a:lstStyle/>
          <a:p>
            <a:r>
              <a:rPr lang="es-419" dirty="0">
                <a:solidFill>
                  <a:srgbClr val="C00000"/>
                </a:solidFill>
              </a:rPr>
              <a:t>Tabla de direcciones MAC</a:t>
            </a:r>
          </a:p>
        </p:txBody>
      </p:sp>
      <p:pic>
        <p:nvPicPr>
          <p:cNvPr id="17" name="Picture 16">
            <a:extLst>
              <a:ext uri="{FF2B5EF4-FFF2-40B4-BE49-F238E27FC236}">
                <a16:creationId xmlns:a16="http://schemas.microsoft.com/office/drawing/2014/main" id="{65C01EEC-A4CF-44E4-9EE2-9F7B1ACE8691}"/>
              </a:ext>
            </a:extLst>
          </p:cNvPr>
          <p:cNvPicPr>
            <a:picLocks noChangeAspect="1"/>
          </p:cNvPicPr>
          <p:nvPr/>
        </p:nvPicPr>
        <p:blipFill>
          <a:blip r:embed="rId3"/>
          <a:stretch>
            <a:fillRect/>
          </a:stretch>
        </p:blipFill>
        <p:spPr>
          <a:xfrm>
            <a:off x="2405597" y="813080"/>
            <a:ext cx="3723308" cy="2397481"/>
          </a:xfrm>
          <a:prstGeom prst="rect">
            <a:avLst/>
          </a:prstGeom>
        </p:spPr>
      </p:pic>
      <p:pic>
        <p:nvPicPr>
          <p:cNvPr id="3" name="Picture 2">
            <a:extLst>
              <a:ext uri="{FF2B5EF4-FFF2-40B4-BE49-F238E27FC236}">
                <a16:creationId xmlns:a16="http://schemas.microsoft.com/office/drawing/2014/main" id="{28139723-BE61-9658-932E-A92EB66A796C}"/>
              </a:ext>
            </a:extLst>
          </p:cNvPr>
          <p:cNvPicPr>
            <a:picLocks noChangeAspect="1"/>
          </p:cNvPicPr>
          <p:nvPr/>
        </p:nvPicPr>
        <p:blipFill>
          <a:blip r:embed="rId4"/>
          <a:stretch>
            <a:fillRect/>
          </a:stretch>
        </p:blipFill>
        <p:spPr>
          <a:xfrm>
            <a:off x="65320" y="3569404"/>
            <a:ext cx="5252053" cy="1323689"/>
          </a:xfrm>
          <a:prstGeom prst="rect">
            <a:avLst/>
          </a:prstGeom>
        </p:spPr>
      </p:pic>
      <p:sp>
        <p:nvSpPr>
          <p:cNvPr id="4" name="Rectangle 2">
            <a:extLst>
              <a:ext uri="{FF2B5EF4-FFF2-40B4-BE49-F238E27FC236}">
                <a16:creationId xmlns:a16="http://schemas.microsoft.com/office/drawing/2014/main" id="{11F89F5B-DD99-0C79-538C-D5C6A7571F9D}"/>
              </a:ext>
            </a:extLst>
          </p:cNvPr>
          <p:cNvSpPr txBox="1">
            <a:spLocks noChangeArrowheads="1"/>
          </p:cNvSpPr>
          <p:nvPr/>
        </p:nvSpPr>
        <p:spPr bwMode="auto">
          <a:xfrm>
            <a:off x="65314" y="3137082"/>
            <a:ext cx="4895729" cy="365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s-419" dirty="0">
                <a:solidFill>
                  <a:srgbClr val="C00000"/>
                </a:solidFill>
              </a:rPr>
              <a:t>Configuración Dúplex y velocidad</a:t>
            </a:r>
          </a:p>
        </p:txBody>
      </p:sp>
      <p:sp>
        <p:nvSpPr>
          <p:cNvPr id="5" name="TextBox 4">
            <a:extLst>
              <a:ext uri="{FF2B5EF4-FFF2-40B4-BE49-F238E27FC236}">
                <a16:creationId xmlns:a16="http://schemas.microsoft.com/office/drawing/2014/main" id="{E87B9DF8-A862-31F3-23BA-45171101D82C}"/>
              </a:ext>
            </a:extLst>
          </p:cNvPr>
          <p:cNvSpPr txBox="1"/>
          <p:nvPr/>
        </p:nvSpPr>
        <p:spPr>
          <a:xfrm>
            <a:off x="-82550" y="518526"/>
            <a:ext cx="3365500" cy="2308324"/>
          </a:xfrm>
          <a:prstGeom prst="rect">
            <a:avLst/>
          </a:prstGeom>
          <a:noFill/>
        </p:spPr>
        <p:txBody>
          <a:bodyPr wrap="square">
            <a:spAutoFit/>
          </a:bodyPr>
          <a:lstStyle/>
          <a:p>
            <a:pPr marL="188912" lvl="1" indent="0" algn="just">
              <a:buNone/>
            </a:pPr>
            <a:r>
              <a:rPr lang="es-419" sz="1600" dirty="0">
                <a:solidFill>
                  <a:srgbClr val="000000"/>
                </a:solidFill>
              </a:rPr>
              <a:t>Un switch Ethernet de capa 2, usa </a:t>
            </a:r>
            <a:r>
              <a:rPr lang="es-419" sz="1600" dirty="0">
                <a:solidFill>
                  <a:srgbClr val="0000CC"/>
                </a:solidFill>
                <a:effectLst>
                  <a:outerShdw blurRad="38100" dist="38100" dir="2700000" algn="tl">
                    <a:srgbClr val="000000">
                      <a:alpha val="43137"/>
                    </a:srgbClr>
                  </a:outerShdw>
                </a:effectLst>
              </a:rPr>
              <a:t>direcciones MAC de capa 2, para tomar decisiones de reenvío</a:t>
            </a:r>
            <a:r>
              <a:rPr lang="es-419" sz="1600" dirty="0">
                <a:solidFill>
                  <a:srgbClr val="000000"/>
                </a:solidFill>
              </a:rPr>
              <a:t>. El switch toma sus decisiones de reenvío basándose únicamente en las direcciones MAC. Cuando un switch está encendido, la tabla de direcciones MAC está vacía.</a:t>
            </a:r>
          </a:p>
        </p:txBody>
      </p:sp>
      <p:sp>
        <p:nvSpPr>
          <p:cNvPr id="6" name="TextBox 5">
            <a:extLst>
              <a:ext uri="{FF2B5EF4-FFF2-40B4-BE49-F238E27FC236}">
                <a16:creationId xmlns:a16="http://schemas.microsoft.com/office/drawing/2014/main" id="{2D97B867-A557-07F3-BC21-048BD91A3407}"/>
              </a:ext>
            </a:extLst>
          </p:cNvPr>
          <p:cNvSpPr txBox="1"/>
          <p:nvPr/>
        </p:nvSpPr>
        <p:spPr>
          <a:xfrm>
            <a:off x="5048250" y="0"/>
            <a:ext cx="4006850" cy="2800767"/>
          </a:xfrm>
          <a:prstGeom prst="rect">
            <a:avLst/>
          </a:prstGeom>
          <a:noFill/>
        </p:spPr>
        <p:txBody>
          <a:bodyPr wrap="square">
            <a:spAutoFit/>
          </a:bodyPr>
          <a:lstStyle/>
          <a:p>
            <a:pPr marL="285750" indent="-285750" algn="just" rtl="0">
              <a:buFont typeface="Arial" panose="020B0604020202020204" pitchFamily="34" charset="0"/>
              <a:buChar char="•"/>
            </a:pPr>
            <a:r>
              <a:rPr lang="es-419" sz="1600" dirty="0"/>
              <a:t>Un switch utilizará </a:t>
            </a:r>
            <a:r>
              <a:rPr lang="es-419" sz="1600" dirty="0">
                <a:solidFill>
                  <a:srgbClr val="0000CC"/>
                </a:solidFill>
              </a:rPr>
              <a:t>la dirección MAC de destino </a:t>
            </a:r>
            <a:r>
              <a:rPr lang="es-419" sz="1600" dirty="0"/>
              <a:t>para determinar la interfaz de salida. Antes de que un switch pueda tomar esta decisión, debe saber qué interfaz se encuentra el destino.</a:t>
            </a:r>
          </a:p>
          <a:p>
            <a:pPr marL="285750" indent="-285750" algn="just" rtl="0">
              <a:buFont typeface="Arial" panose="020B0604020202020204" pitchFamily="34" charset="0"/>
              <a:buChar char="•"/>
            </a:pPr>
            <a:endParaRPr lang="es-419" sz="1600" dirty="0"/>
          </a:p>
          <a:p>
            <a:pPr marL="285750" indent="-285750" algn="just" rtl="0">
              <a:buFont typeface="Arial" panose="020B0604020202020204" pitchFamily="34" charset="0"/>
              <a:buChar char="•"/>
            </a:pPr>
            <a:r>
              <a:rPr lang="es-419" sz="1600" dirty="0"/>
              <a:t>Un switch crea una </a:t>
            </a:r>
            <a:r>
              <a:rPr lang="es-419" sz="1600" dirty="0">
                <a:solidFill>
                  <a:srgbClr val="0000CC"/>
                </a:solidFill>
              </a:rPr>
              <a:t>tabla de direcciones MAC</a:t>
            </a:r>
            <a:r>
              <a:rPr lang="es-419" sz="1600" dirty="0"/>
              <a:t>, grabando la dirección MAC de origen en la tabla junto con el puerto en el que se recibió.</a:t>
            </a:r>
          </a:p>
        </p:txBody>
      </p:sp>
      <p:sp>
        <p:nvSpPr>
          <p:cNvPr id="8" name="TextBox 7">
            <a:extLst>
              <a:ext uri="{FF2B5EF4-FFF2-40B4-BE49-F238E27FC236}">
                <a16:creationId xmlns:a16="http://schemas.microsoft.com/office/drawing/2014/main" id="{B9E34609-ECC5-76F0-3F5B-8D9C39875E16}"/>
              </a:ext>
            </a:extLst>
          </p:cNvPr>
          <p:cNvSpPr txBox="1"/>
          <p:nvPr/>
        </p:nvSpPr>
        <p:spPr>
          <a:xfrm>
            <a:off x="5234854" y="3097004"/>
            <a:ext cx="3844739" cy="2062103"/>
          </a:xfrm>
          <a:prstGeom prst="rect">
            <a:avLst/>
          </a:prstGeom>
          <a:noFill/>
        </p:spPr>
        <p:txBody>
          <a:bodyPr wrap="square">
            <a:spAutoFit/>
          </a:bodyPr>
          <a:lstStyle/>
          <a:p>
            <a:pPr marL="285750" indent="-285750" algn="just" rtl="0">
              <a:buFont typeface="Arial" panose="020B0604020202020204" pitchFamily="34" charset="0"/>
              <a:buChar char="•"/>
            </a:pPr>
            <a:r>
              <a:rPr lang="es-419" sz="1600" dirty="0">
                <a:solidFill>
                  <a:srgbClr val="000000"/>
                </a:solidFill>
              </a:rPr>
              <a:t>Dos de las configuraciones más básicas en un switch son el </a:t>
            </a:r>
            <a:r>
              <a:rPr lang="es-419" sz="1600" dirty="0">
                <a:solidFill>
                  <a:srgbClr val="0000CC"/>
                </a:solidFill>
              </a:rPr>
              <a:t>ancho de banda ("velocidad") </a:t>
            </a:r>
            <a:r>
              <a:rPr lang="es-419" sz="1600" dirty="0">
                <a:solidFill>
                  <a:srgbClr val="000000"/>
                </a:solidFill>
              </a:rPr>
              <a:t>y la configuración </a:t>
            </a:r>
            <a:r>
              <a:rPr lang="es-419" sz="1600" dirty="0">
                <a:solidFill>
                  <a:srgbClr val="0000CC"/>
                </a:solidFill>
              </a:rPr>
              <a:t>dúplex</a:t>
            </a:r>
            <a:r>
              <a:rPr lang="es-419" sz="1600" dirty="0">
                <a:solidFill>
                  <a:srgbClr val="000000"/>
                </a:solidFill>
              </a:rPr>
              <a:t> para cada puerto de switch individual.</a:t>
            </a:r>
            <a:r>
              <a:rPr lang="es-419" sz="1600" b="1" dirty="0">
                <a:solidFill>
                  <a:srgbClr val="000000"/>
                </a:solidFill>
                <a:effectLst>
                  <a:outerShdw blurRad="38100" dist="38100" dir="2700000" algn="tl">
                    <a:srgbClr val="000000">
                      <a:alpha val="43137"/>
                    </a:srgbClr>
                  </a:outerShdw>
                </a:effectLst>
              </a:rPr>
              <a:t>. </a:t>
            </a:r>
          </a:p>
          <a:p>
            <a:pPr marL="285750" indent="-285750" algn="just" rtl="0">
              <a:buFont typeface="Arial" panose="020B0604020202020204" pitchFamily="34" charset="0"/>
              <a:buChar char="•"/>
            </a:pPr>
            <a:r>
              <a:rPr lang="es-419" sz="1600" dirty="0"/>
              <a:t>Se utilizan dos tipos de parámetros dúplex: </a:t>
            </a:r>
            <a:r>
              <a:rPr lang="es-419" sz="1600" dirty="0">
                <a:solidFill>
                  <a:srgbClr val="0000CC"/>
                </a:solidFill>
              </a:rPr>
              <a:t>FULL-DUPLEX, SEMIDÚPLEX</a:t>
            </a:r>
          </a:p>
        </p:txBody>
      </p:sp>
      <p:sp>
        <p:nvSpPr>
          <p:cNvPr id="10" name="TextBox 9">
            <a:extLst>
              <a:ext uri="{FF2B5EF4-FFF2-40B4-BE49-F238E27FC236}">
                <a16:creationId xmlns:a16="http://schemas.microsoft.com/office/drawing/2014/main" id="{C26F4399-774F-ED3E-8794-439729347ECB}"/>
              </a:ext>
            </a:extLst>
          </p:cNvPr>
          <p:cNvSpPr txBox="1"/>
          <p:nvPr/>
        </p:nvSpPr>
        <p:spPr>
          <a:xfrm>
            <a:off x="3601731" y="4901166"/>
            <a:ext cx="1365250" cy="307777"/>
          </a:xfrm>
          <a:prstGeom prst="rect">
            <a:avLst/>
          </a:prstGeom>
          <a:noFill/>
        </p:spPr>
        <p:txBody>
          <a:bodyPr wrap="square">
            <a:spAutoFit/>
          </a:bodyPr>
          <a:lstStyle/>
          <a:p>
            <a:r>
              <a:rPr lang="es-419" sz="1400" dirty="0">
                <a:solidFill>
                  <a:srgbClr val="0000CC"/>
                </a:solidFill>
              </a:rPr>
              <a:t>auto-MDIX</a:t>
            </a:r>
            <a:endParaRPr lang="fr-FR" sz="1400" dirty="0"/>
          </a:p>
        </p:txBody>
      </p:sp>
      <p:sp>
        <p:nvSpPr>
          <p:cNvPr id="2" name="Slide Number Placeholder 1">
            <a:extLst>
              <a:ext uri="{FF2B5EF4-FFF2-40B4-BE49-F238E27FC236}">
                <a16:creationId xmlns:a16="http://schemas.microsoft.com/office/drawing/2014/main" id="{8746635C-49CA-9084-E113-A2D294166F0B}"/>
              </a:ext>
            </a:extLst>
          </p:cNvPr>
          <p:cNvSpPr>
            <a:spLocks noGrp="1"/>
          </p:cNvSpPr>
          <p:nvPr>
            <p:ph type="sldNum" sz="quarter" idx="4"/>
          </p:nvPr>
        </p:nvSpPr>
        <p:spPr>
          <a:xfrm>
            <a:off x="8741872" y="4798400"/>
            <a:ext cx="408479" cy="345101"/>
          </a:xfrm>
        </p:spPr>
        <p:txBody>
          <a:bodyPr/>
          <a:lstStyle/>
          <a:p>
            <a:fld id="{2F5CCB13-0A32-4557-88E9-079F0C330695}" type="slidenum">
              <a:rPr lang="en-US" sz="1200" kern="0" dirty="0" smtClean="0">
                <a:solidFill>
                  <a:srgbClr val="595959"/>
                </a:solidFill>
                <a:latin typeface="Arial"/>
                <a:ea typeface="ＭＳ Ｐゴシック"/>
                <a:cs typeface="Arial"/>
              </a:rPr>
              <a:pPr defTabSz="385763">
                <a:defRPr/>
              </a:pPr>
              <a:t>5</a:t>
            </a:fld>
            <a:endParaRPr lang="en-US" sz="1200" dirty="0">
              <a:latin typeface="Arial"/>
              <a:ea typeface="ＭＳ Ｐゴシック"/>
              <a:cs typeface="Arial"/>
            </a:endParaRPr>
          </a:p>
        </p:txBody>
      </p:sp>
    </p:spTree>
    <p:extLst>
      <p:ext uri="{BB962C8B-B14F-4D97-AF65-F5344CB8AC3E}">
        <p14:creationId xmlns:p14="http://schemas.microsoft.com/office/powerpoint/2010/main" val="10730732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1143001" y="1715226"/>
            <a:ext cx="6941225"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5.2 ARP</a:t>
            </a:r>
            <a:br>
              <a:rPr lang="es-PE" sz="1500" dirty="0">
                <a:solidFill>
                  <a:schemeClr val="lt1"/>
                </a:solidFill>
                <a:latin typeface="Arial"/>
                <a:ea typeface="Arial"/>
                <a:cs typeface="Arial"/>
                <a:sym typeface="Arial"/>
              </a:rPr>
            </a:b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2025-2</a:t>
            </a:r>
            <a:endParaRPr dirty="0"/>
          </a:p>
        </p:txBody>
      </p:sp>
      <p:sp>
        <p:nvSpPr>
          <p:cNvPr id="3" name="Slide Number Placeholder 1">
            <a:extLst>
              <a:ext uri="{FF2B5EF4-FFF2-40B4-BE49-F238E27FC236}">
                <a16:creationId xmlns:a16="http://schemas.microsoft.com/office/drawing/2014/main" id="{15714A14-48FC-10A4-7F21-43FE1CF56AD1}"/>
              </a:ext>
            </a:extLst>
          </p:cNvPr>
          <p:cNvSpPr txBox="1">
            <a:spLocks/>
          </p:cNvSpPr>
          <p:nvPr/>
        </p:nvSpPr>
        <p:spPr>
          <a:xfrm>
            <a:off x="8837122" y="4772423"/>
            <a:ext cx="304570" cy="371078"/>
          </a:xfrm>
          <a:prstGeom prst="rect">
            <a:avLst/>
          </a:prstGeom>
        </p:spPr>
        <p:txBody>
          <a:bodyPr lIns="91440" tIns="45720" rIns="91440" bIns="45720" anchor="t"/>
          <a:ls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fld id="{2F5CCB13-0A32-4557-88E9-079F0C330695}" type="slidenum">
              <a:rPr lang="en-US" sz="1200" kern="0" dirty="0" smtClean="0">
                <a:solidFill>
                  <a:schemeClr val="bg1"/>
                </a:solidFill>
                <a:latin typeface="Arial"/>
                <a:ea typeface="ＭＳ Ｐゴシック"/>
                <a:cs typeface="Arial"/>
              </a:rPr>
              <a:pPr/>
              <a:t>6</a:t>
            </a:fld>
            <a:endParaRPr lang="en-US" sz="1200">
              <a:solidFill>
                <a:schemeClr val="bg1"/>
              </a:solidFill>
              <a:latin typeface="Arial"/>
              <a:ea typeface="ＭＳ Ｐゴシック"/>
              <a:cs typeface="Arial"/>
            </a:endParaRPr>
          </a:p>
        </p:txBody>
      </p:sp>
    </p:spTree>
    <p:extLst>
      <p:ext uri="{BB962C8B-B14F-4D97-AF65-F5344CB8AC3E}">
        <p14:creationId xmlns:p14="http://schemas.microsoft.com/office/powerpoint/2010/main" val="312266377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Destino en la misma red</a:t>
            </a:r>
          </a:p>
        </p:txBody>
      </p:sp>
      <p:pic>
        <p:nvPicPr>
          <p:cNvPr id="2" name="Picture 1">
            <a:extLst>
              <a:ext uri="{FF2B5EF4-FFF2-40B4-BE49-F238E27FC236}">
                <a16:creationId xmlns:a16="http://schemas.microsoft.com/office/drawing/2014/main" id="{DB3295B7-4667-438E-A1A4-0A077F091E61}"/>
              </a:ext>
            </a:extLst>
          </p:cNvPr>
          <p:cNvPicPr>
            <a:picLocks noChangeAspect="1"/>
          </p:cNvPicPr>
          <p:nvPr/>
        </p:nvPicPr>
        <p:blipFill>
          <a:blip r:embed="rId3"/>
          <a:stretch>
            <a:fillRect/>
          </a:stretch>
        </p:blipFill>
        <p:spPr>
          <a:xfrm>
            <a:off x="4338153" y="783000"/>
            <a:ext cx="4630409" cy="1834690"/>
          </a:xfrm>
          <a:prstGeom prst="rect">
            <a:avLst/>
          </a:prstGeom>
        </p:spPr>
      </p:pic>
      <p:pic>
        <p:nvPicPr>
          <p:cNvPr id="5" name="Imagen 4">
            <a:extLst>
              <a:ext uri="{FF2B5EF4-FFF2-40B4-BE49-F238E27FC236}">
                <a16:creationId xmlns:a16="http://schemas.microsoft.com/office/drawing/2014/main" id="{5B2A395D-8FD2-E707-1C13-DD60D29EA576}"/>
              </a:ext>
            </a:extLst>
          </p:cNvPr>
          <p:cNvPicPr>
            <a:picLocks noChangeAspect="1"/>
          </p:cNvPicPr>
          <p:nvPr/>
        </p:nvPicPr>
        <p:blipFill rotWithShape="1">
          <a:blip r:embed="rId4"/>
          <a:srcRect b="56351"/>
          <a:stretch/>
        </p:blipFill>
        <p:spPr>
          <a:xfrm>
            <a:off x="119358" y="600933"/>
            <a:ext cx="3900904" cy="1883622"/>
          </a:xfrm>
          <a:prstGeom prst="rect">
            <a:avLst/>
          </a:prstGeom>
        </p:spPr>
      </p:pic>
      <p:sp>
        <p:nvSpPr>
          <p:cNvPr id="6" name="Rectángulo: esquinas redondeadas 5">
            <a:extLst>
              <a:ext uri="{FF2B5EF4-FFF2-40B4-BE49-F238E27FC236}">
                <a16:creationId xmlns:a16="http://schemas.microsoft.com/office/drawing/2014/main" id="{47F2289E-5005-5A34-176F-04CD021545BF}"/>
              </a:ext>
            </a:extLst>
          </p:cNvPr>
          <p:cNvSpPr/>
          <p:nvPr/>
        </p:nvSpPr>
        <p:spPr>
          <a:xfrm>
            <a:off x="612687" y="1382234"/>
            <a:ext cx="1402184" cy="212650"/>
          </a:xfrm>
          <a:prstGeom prst="roundRect">
            <a:avLst/>
          </a:prstGeom>
          <a:no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ln>
                <a:solidFill>
                  <a:srgbClr val="C00000"/>
                </a:solidFill>
              </a:ln>
              <a:noFill/>
            </a:endParaRPr>
          </a:p>
        </p:txBody>
      </p:sp>
      <p:sp>
        <p:nvSpPr>
          <p:cNvPr id="7" name="Flecha: hacia la izquierda 6">
            <a:extLst>
              <a:ext uri="{FF2B5EF4-FFF2-40B4-BE49-F238E27FC236}">
                <a16:creationId xmlns:a16="http://schemas.microsoft.com/office/drawing/2014/main" id="{32CFF18A-7B58-3424-EF9F-461C4708360C}"/>
              </a:ext>
            </a:extLst>
          </p:cNvPr>
          <p:cNvSpPr/>
          <p:nvPr/>
        </p:nvSpPr>
        <p:spPr>
          <a:xfrm>
            <a:off x="2162801" y="1382234"/>
            <a:ext cx="854765" cy="233569"/>
          </a:xfrm>
          <a:prstGeom prst="leftArrow">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0" name="Title 2">
            <a:extLst>
              <a:ext uri="{FF2B5EF4-FFF2-40B4-BE49-F238E27FC236}">
                <a16:creationId xmlns:a16="http://schemas.microsoft.com/office/drawing/2014/main" id="{5CA9BC6D-B3D8-6B3A-5D0E-B12796B68F58}"/>
              </a:ext>
            </a:extLst>
          </p:cNvPr>
          <p:cNvSpPr txBox="1">
            <a:spLocks/>
          </p:cNvSpPr>
          <p:nvPr/>
        </p:nvSpPr>
        <p:spPr bwMode="auto">
          <a:xfrm>
            <a:off x="-1772" y="2406510"/>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0000"/>
              </a:lnSpc>
              <a:spcBef>
                <a:spcPct val="0"/>
              </a:spcBef>
              <a:spcAft>
                <a:spcPct val="0"/>
              </a:spcAft>
              <a:defRPr lang="en-US" sz="3200" kern="1200">
                <a:solidFill>
                  <a:srgbClr val="004C69"/>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s-419" sz="2400">
                <a:solidFill>
                  <a:srgbClr val="C00000"/>
                </a:solidFill>
              </a:rPr>
              <a:t>Destino en una red remota</a:t>
            </a:r>
            <a:endParaRPr lang="es-419" sz="2400" dirty="0">
              <a:solidFill>
                <a:srgbClr val="C00000"/>
              </a:solidFill>
            </a:endParaRPr>
          </a:p>
        </p:txBody>
      </p:sp>
      <p:pic>
        <p:nvPicPr>
          <p:cNvPr id="11" name="Picture 10">
            <a:extLst>
              <a:ext uri="{FF2B5EF4-FFF2-40B4-BE49-F238E27FC236}">
                <a16:creationId xmlns:a16="http://schemas.microsoft.com/office/drawing/2014/main" id="{361CC222-1270-B3ED-1429-15E3F0B17066}"/>
              </a:ext>
            </a:extLst>
          </p:cNvPr>
          <p:cNvPicPr>
            <a:picLocks noChangeAspect="1"/>
          </p:cNvPicPr>
          <p:nvPr/>
        </p:nvPicPr>
        <p:blipFill>
          <a:blip r:embed="rId5"/>
          <a:stretch>
            <a:fillRect/>
          </a:stretch>
        </p:blipFill>
        <p:spPr>
          <a:xfrm>
            <a:off x="4010837" y="2950407"/>
            <a:ext cx="5133162" cy="1957294"/>
          </a:xfrm>
          <a:prstGeom prst="rect">
            <a:avLst/>
          </a:prstGeom>
        </p:spPr>
      </p:pic>
      <p:sp>
        <p:nvSpPr>
          <p:cNvPr id="8" name="TextBox 7">
            <a:extLst>
              <a:ext uri="{FF2B5EF4-FFF2-40B4-BE49-F238E27FC236}">
                <a16:creationId xmlns:a16="http://schemas.microsoft.com/office/drawing/2014/main" id="{1C335C7A-6525-9C77-06AF-0B8132CCDB9A}"/>
              </a:ext>
            </a:extLst>
          </p:cNvPr>
          <p:cNvSpPr txBox="1"/>
          <p:nvPr/>
        </p:nvSpPr>
        <p:spPr>
          <a:xfrm>
            <a:off x="3702050" y="62321"/>
            <a:ext cx="5441949" cy="584775"/>
          </a:xfrm>
          <a:prstGeom prst="rect">
            <a:avLst/>
          </a:prstGeom>
          <a:noFill/>
        </p:spPr>
        <p:txBody>
          <a:bodyPr wrap="square">
            <a:spAutoFit/>
          </a:bodyPr>
          <a:lstStyle/>
          <a:p>
            <a:pPr marL="285750" indent="-285750" algn="just">
              <a:buFont typeface="Arial" panose="020B0604020202020204" pitchFamily="34" charset="0"/>
              <a:buChar char="•"/>
            </a:pPr>
            <a:r>
              <a:rPr lang="es-419" sz="1600" dirty="0">
                <a:solidFill>
                  <a:srgbClr val="000000"/>
                </a:solidFill>
              </a:rPr>
              <a:t>Las dos direcciones principales asignadas a un dispositivo en una LAN Ethernet</a:t>
            </a:r>
            <a:r>
              <a:rPr lang="es-419" sz="1600" dirty="0">
                <a:solidFill>
                  <a:srgbClr val="0000CC"/>
                </a:solidFill>
              </a:rPr>
              <a:t>: Dir. MAC, y la Dir. IP.</a:t>
            </a:r>
            <a:endParaRPr lang="fr-FR" sz="1600" dirty="0"/>
          </a:p>
        </p:txBody>
      </p:sp>
      <p:sp>
        <p:nvSpPr>
          <p:cNvPr id="12" name="TextBox 11">
            <a:extLst>
              <a:ext uri="{FF2B5EF4-FFF2-40B4-BE49-F238E27FC236}">
                <a16:creationId xmlns:a16="http://schemas.microsoft.com/office/drawing/2014/main" id="{4C9DC1E7-A678-6F14-0651-07D7DDA99000}"/>
              </a:ext>
            </a:extLst>
          </p:cNvPr>
          <p:cNvSpPr txBox="1"/>
          <p:nvPr/>
        </p:nvSpPr>
        <p:spPr>
          <a:xfrm>
            <a:off x="0" y="2950407"/>
            <a:ext cx="3900904" cy="1077218"/>
          </a:xfrm>
          <a:prstGeom prst="rect">
            <a:avLst/>
          </a:prstGeom>
          <a:noFill/>
        </p:spPr>
        <p:txBody>
          <a:bodyPr wrap="square">
            <a:spAutoFit/>
          </a:bodyPr>
          <a:lstStyle/>
          <a:p>
            <a:pPr marL="285750" indent="-285750" algn="just" rtl="0">
              <a:buFont typeface="Arial" panose="020B0604020202020204" pitchFamily="34" charset="0"/>
              <a:buChar char="•"/>
            </a:pPr>
            <a:r>
              <a:rPr lang="es-419" sz="1600" dirty="0">
                <a:solidFill>
                  <a:srgbClr val="000000"/>
                </a:solidFill>
              </a:rPr>
              <a:t>Cuando la dirección IP de destino está en una red remota, la dirección MAC de destino es la de la puerta de enlace predeterminada.</a:t>
            </a:r>
          </a:p>
        </p:txBody>
      </p:sp>
      <p:sp>
        <p:nvSpPr>
          <p:cNvPr id="9" name="Slide Number Placeholder 1">
            <a:extLst>
              <a:ext uri="{FF2B5EF4-FFF2-40B4-BE49-F238E27FC236}">
                <a16:creationId xmlns:a16="http://schemas.microsoft.com/office/drawing/2014/main" id="{8CCC94E5-7855-7ED3-8753-22C791013379}"/>
              </a:ext>
            </a:extLst>
          </p:cNvPr>
          <p:cNvSpPr txBox="1">
            <a:spLocks/>
          </p:cNvSpPr>
          <p:nvPr/>
        </p:nvSpPr>
        <p:spPr>
          <a:xfrm>
            <a:off x="8741872" y="4798400"/>
            <a:ext cx="408479" cy="345101"/>
          </a:xfrm>
          <a:prstGeom prst="rect">
            <a:avLst/>
          </a:prstGeom>
        </p:spPr>
        <p:txBody>
          <a:bodyPr/>
          <a:ls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fld id="{2F5CCB13-0A32-4557-88E9-079F0C330695}" type="slidenum">
              <a:rPr lang="en-US" sz="1200" kern="0" dirty="0" smtClean="0">
                <a:solidFill>
                  <a:srgbClr val="595959"/>
                </a:solidFill>
                <a:latin typeface="Arial"/>
                <a:ea typeface="ＭＳ Ｐゴシック"/>
                <a:cs typeface="Arial"/>
              </a:rPr>
              <a:pPr/>
              <a:t>7</a:t>
            </a:fld>
            <a:endParaRPr lang="en-US" sz="1200" dirty="0">
              <a:latin typeface="Arial"/>
              <a:ea typeface="ＭＳ Ｐゴシック"/>
              <a:cs typeface="Arial"/>
            </a:endParaRPr>
          </a:p>
        </p:txBody>
      </p:sp>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Descripción y Función del ARP </a:t>
            </a:r>
          </a:p>
        </p:txBody>
      </p:sp>
      <p:pic>
        <p:nvPicPr>
          <p:cNvPr id="6" name="Picture 5">
            <a:extLst>
              <a:ext uri="{FF2B5EF4-FFF2-40B4-BE49-F238E27FC236}">
                <a16:creationId xmlns:a16="http://schemas.microsoft.com/office/drawing/2014/main" id="{5741986A-C605-432D-B527-C5259DB44374}"/>
              </a:ext>
            </a:extLst>
          </p:cNvPr>
          <p:cNvPicPr>
            <a:picLocks noChangeAspect="1"/>
          </p:cNvPicPr>
          <p:nvPr/>
        </p:nvPicPr>
        <p:blipFill>
          <a:blip r:embed="rId3"/>
          <a:stretch>
            <a:fillRect/>
          </a:stretch>
        </p:blipFill>
        <p:spPr>
          <a:xfrm>
            <a:off x="1037373" y="2686455"/>
            <a:ext cx="3028098" cy="2457045"/>
          </a:xfrm>
          <a:prstGeom prst="rect">
            <a:avLst/>
          </a:prstGeom>
        </p:spPr>
      </p:pic>
      <p:sp>
        <p:nvSpPr>
          <p:cNvPr id="5" name="Content Placeholder 3">
            <a:extLst>
              <a:ext uri="{FF2B5EF4-FFF2-40B4-BE49-F238E27FC236}">
                <a16:creationId xmlns:a16="http://schemas.microsoft.com/office/drawing/2014/main" id="{467753B7-28E4-31B9-B4A1-5C45ACA33DE2}"/>
              </a:ext>
            </a:extLst>
          </p:cNvPr>
          <p:cNvSpPr>
            <a:spLocks noGrp="1"/>
          </p:cNvSpPr>
          <p:nvPr>
            <p:ph idx="1"/>
          </p:nvPr>
        </p:nvSpPr>
        <p:spPr>
          <a:xfrm>
            <a:off x="4929923" y="130968"/>
            <a:ext cx="4214077" cy="4936332"/>
          </a:xfrm>
        </p:spPr>
        <p:txBody>
          <a:bodyPr/>
          <a:lstStyle/>
          <a:p>
            <a:pPr marL="0" indent="0" algn="just" rtl="0"/>
            <a:r>
              <a:rPr lang="es-419" sz="1600" dirty="0">
                <a:solidFill>
                  <a:srgbClr val="000000"/>
                </a:solidFill>
              </a:rPr>
              <a:t>Para enviar una trama, un dispositivo </a:t>
            </a:r>
            <a:r>
              <a:rPr lang="es-419" sz="1600" dirty="0">
                <a:solidFill>
                  <a:srgbClr val="0000CC"/>
                </a:solidFill>
              </a:rPr>
              <a:t>buscará en su tabla ARP una dirección IPv4 de destino y una dirección MAC correspondiente</a:t>
            </a:r>
            <a:r>
              <a:rPr lang="es-419" sz="1600" dirty="0">
                <a:solidFill>
                  <a:srgbClr val="000000"/>
                </a:solidFill>
              </a:rPr>
              <a:t>.</a:t>
            </a:r>
          </a:p>
          <a:p>
            <a:pPr marL="415985" lvl="1" indent="-342900" algn="just" rtl="0">
              <a:buFont typeface="Arial" panose="020B0604020202020204" pitchFamily="34" charset="0"/>
              <a:buChar char="•"/>
            </a:pPr>
            <a:r>
              <a:rPr lang="es-419" sz="1600" dirty="0">
                <a:solidFill>
                  <a:srgbClr val="000000"/>
                </a:solidFill>
              </a:rPr>
              <a:t>Si la dirección IPv4 de destino del paquete está en la misma red, el dispositivo buscará en la tabla ARP la dirección IPv4 de destino.</a:t>
            </a:r>
          </a:p>
          <a:p>
            <a:pPr marL="415985" lvl="1" indent="-342900" algn="just" rtl="0">
              <a:buFont typeface="Arial" panose="020B0604020202020204" pitchFamily="34" charset="0"/>
              <a:buChar char="•"/>
            </a:pPr>
            <a:r>
              <a:rPr lang="es-419" sz="1600" dirty="0">
                <a:solidFill>
                  <a:srgbClr val="000000"/>
                </a:solidFill>
              </a:rPr>
              <a:t>Si la dirección IPv4 de destino está en una red diferente, el dispositivo buscará en la tabla ARP la dirección IPv4 de la puerta de enlace predeterminada.</a:t>
            </a:r>
          </a:p>
          <a:p>
            <a:pPr marL="415985" lvl="1" indent="-342900" algn="just" rtl="0">
              <a:buFont typeface="Arial" panose="020B0604020202020204" pitchFamily="34" charset="0"/>
              <a:buChar char="•"/>
            </a:pPr>
            <a:r>
              <a:rPr lang="es-419" sz="1600" dirty="0">
                <a:solidFill>
                  <a:srgbClr val="000000"/>
                </a:solidFill>
              </a:rPr>
              <a:t>Si el dispositivo localiza la dirección IPv4, se utiliza la dirección MAC correspondiente como la dirección MAC de destino de la trama. </a:t>
            </a:r>
          </a:p>
          <a:p>
            <a:pPr marL="415985" lvl="1" indent="-342900" algn="just" rtl="0">
              <a:buFont typeface="Arial" panose="020B0604020202020204" pitchFamily="34" charset="0"/>
              <a:buChar char="•"/>
            </a:pPr>
            <a:r>
              <a:rPr lang="es-419" sz="1600" dirty="0">
                <a:solidFill>
                  <a:srgbClr val="000000"/>
                </a:solidFill>
              </a:rPr>
              <a:t>Si no se encuentra una entrada en la tabla ARP, el dispositivo envía una solicitud ARP.</a:t>
            </a:r>
          </a:p>
        </p:txBody>
      </p:sp>
      <p:sp>
        <p:nvSpPr>
          <p:cNvPr id="4" name="TextBox 3">
            <a:extLst>
              <a:ext uri="{FF2B5EF4-FFF2-40B4-BE49-F238E27FC236}">
                <a16:creationId xmlns:a16="http://schemas.microsoft.com/office/drawing/2014/main" id="{9FDB71F5-B627-443E-21DA-B5071D8EFC7E}"/>
              </a:ext>
            </a:extLst>
          </p:cNvPr>
          <p:cNvSpPr txBox="1"/>
          <p:nvPr/>
        </p:nvSpPr>
        <p:spPr>
          <a:xfrm>
            <a:off x="8674" y="566471"/>
            <a:ext cx="4794249" cy="830997"/>
          </a:xfrm>
          <a:prstGeom prst="rect">
            <a:avLst/>
          </a:prstGeom>
          <a:noFill/>
        </p:spPr>
        <p:txBody>
          <a:bodyPr wrap="square">
            <a:spAutoFit/>
          </a:bodyPr>
          <a:lstStyle/>
          <a:p>
            <a:pPr marL="285750" indent="-285750" algn="just" rtl="0">
              <a:buFont typeface="Arial" panose="020B0604020202020204" pitchFamily="34" charset="0"/>
              <a:buChar char="•"/>
            </a:pPr>
            <a:r>
              <a:rPr lang="es-419" sz="1600" dirty="0">
                <a:solidFill>
                  <a:srgbClr val="000000"/>
                </a:solidFill>
              </a:rPr>
              <a:t>Un dispositivo utiliza ARP para determinar la dirección MAC de destino de un dispositivo local cuando conoce su dirección IPv4.</a:t>
            </a:r>
          </a:p>
        </p:txBody>
      </p:sp>
      <p:sp>
        <p:nvSpPr>
          <p:cNvPr id="8" name="TextBox 7">
            <a:extLst>
              <a:ext uri="{FF2B5EF4-FFF2-40B4-BE49-F238E27FC236}">
                <a16:creationId xmlns:a16="http://schemas.microsoft.com/office/drawing/2014/main" id="{C14DFC3E-3073-BA32-7C67-1DE1510DBAEC}"/>
              </a:ext>
            </a:extLst>
          </p:cNvPr>
          <p:cNvSpPr txBox="1"/>
          <p:nvPr/>
        </p:nvSpPr>
        <p:spPr>
          <a:xfrm>
            <a:off x="272198" y="1397468"/>
            <a:ext cx="4979252" cy="1323439"/>
          </a:xfrm>
          <a:prstGeom prst="rect">
            <a:avLst/>
          </a:prstGeom>
          <a:noFill/>
        </p:spPr>
        <p:txBody>
          <a:bodyPr wrap="square">
            <a:spAutoFit/>
          </a:bodyPr>
          <a:lstStyle/>
          <a:p>
            <a:pPr marL="0" indent="0" algn="l" rtl="0"/>
            <a:r>
              <a:rPr lang="es-419" sz="1600" dirty="0">
                <a:solidFill>
                  <a:srgbClr val="000000"/>
                </a:solidFill>
              </a:rPr>
              <a:t>ARP proporciona dos funciones básicas:</a:t>
            </a:r>
          </a:p>
          <a:p>
            <a:pPr marL="415985" lvl="1" indent="-342900" rtl="0">
              <a:buFont typeface="Arial" panose="020B0604020202020204" pitchFamily="34" charset="0"/>
              <a:buChar char="•"/>
            </a:pPr>
            <a:r>
              <a:rPr lang="es-419" sz="1600" dirty="0">
                <a:solidFill>
                  <a:srgbClr val="000000"/>
                </a:solidFill>
              </a:rPr>
              <a:t>Resolución de direcciones IPv4 a direcciones MAC</a:t>
            </a:r>
          </a:p>
          <a:p>
            <a:pPr marL="415985" lvl="1" indent="-342900" rtl="0">
              <a:buFont typeface="Arial" panose="020B0604020202020204" pitchFamily="34" charset="0"/>
              <a:buChar char="•"/>
            </a:pPr>
            <a:r>
              <a:rPr lang="es-419" sz="1600" dirty="0">
                <a:solidFill>
                  <a:srgbClr val="000000"/>
                </a:solidFill>
              </a:rPr>
              <a:t>Mantenimiento de una tabla ARP de asignaciones de direcciones IPv4 a MAC</a:t>
            </a:r>
          </a:p>
        </p:txBody>
      </p:sp>
    </p:spTree>
    <p:extLst>
      <p:ext uri="{BB962C8B-B14F-4D97-AF65-F5344CB8AC3E}">
        <p14:creationId xmlns:p14="http://schemas.microsoft.com/office/powerpoint/2010/main" val="25695039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Eliminación de entradas de una tabla de ARP</a:t>
            </a:r>
          </a:p>
        </p:txBody>
      </p:sp>
      <p:pic>
        <p:nvPicPr>
          <p:cNvPr id="2" name="Picture 1">
            <a:extLst>
              <a:ext uri="{FF2B5EF4-FFF2-40B4-BE49-F238E27FC236}">
                <a16:creationId xmlns:a16="http://schemas.microsoft.com/office/drawing/2014/main" id="{88E1F9DB-BF06-458F-943E-47F1D805506A}"/>
              </a:ext>
            </a:extLst>
          </p:cNvPr>
          <p:cNvPicPr>
            <a:picLocks noChangeAspect="1"/>
          </p:cNvPicPr>
          <p:nvPr/>
        </p:nvPicPr>
        <p:blipFill>
          <a:blip r:embed="rId3"/>
          <a:stretch>
            <a:fillRect/>
          </a:stretch>
        </p:blipFill>
        <p:spPr>
          <a:xfrm>
            <a:off x="568373" y="501029"/>
            <a:ext cx="8558164" cy="4585322"/>
          </a:xfrm>
          <a:prstGeom prst="rect">
            <a:avLst/>
          </a:prstGeom>
        </p:spPr>
      </p:pic>
      <p:sp>
        <p:nvSpPr>
          <p:cNvPr id="5" name="TextBox 4">
            <a:extLst>
              <a:ext uri="{FF2B5EF4-FFF2-40B4-BE49-F238E27FC236}">
                <a16:creationId xmlns:a16="http://schemas.microsoft.com/office/drawing/2014/main" id="{2E5181E0-27FC-CC75-2119-E496C5003798}"/>
              </a:ext>
            </a:extLst>
          </p:cNvPr>
          <p:cNvSpPr txBox="1"/>
          <p:nvPr/>
        </p:nvSpPr>
        <p:spPr>
          <a:xfrm>
            <a:off x="17463" y="1471136"/>
            <a:ext cx="2636837" cy="1384995"/>
          </a:xfrm>
          <a:prstGeom prst="rect">
            <a:avLst/>
          </a:prstGeom>
          <a:noFill/>
        </p:spPr>
        <p:txBody>
          <a:bodyPr wrap="square">
            <a:spAutoFit/>
          </a:bodyPr>
          <a:lstStyle/>
          <a:p>
            <a:pPr algn="just"/>
            <a:r>
              <a:rPr lang="es-419" sz="1400" dirty="0">
                <a:solidFill>
                  <a:srgbClr val="000000"/>
                </a:solidFill>
              </a:rPr>
              <a:t>Las entradas de la tabla ARP no son permanentes y se eliminan cuando un temporizador de caché ARP caduca después de un período de tiempo especificado</a:t>
            </a:r>
            <a:endParaRPr lang="fr-FR" sz="1400" dirty="0"/>
          </a:p>
        </p:txBody>
      </p:sp>
    </p:spTree>
    <p:extLst>
      <p:ext uri="{BB962C8B-B14F-4D97-AF65-F5344CB8AC3E}">
        <p14:creationId xmlns:p14="http://schemas.microsoft.com/office/powerpoint/2010/main" val="3332036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390889" y="1715226"/>
            <a:ext cx="8582097"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5.3 Conceptos de </a:t>
            </a:r>
            <a:r>
              <a:rPr lang="es-ES" sz="4000" dirty="0" err="1">
                <a:solidFill>
                  <a:schemeClr val="bg1"/>
                </a:solidFill>
                <a:effectLst>
                  <a:outerShdw blurRad="38100" dist="38100" dir="2700000" algn="tl">
                    <a:srgbClr val="000000">
                      <a:alpha val="43137"/>
                    </a:srgbClr>
                  </a:outerShdw>
                </a:effectLst>
                <a:latin typeface="Arial"/>
                <a:ea typeface="Arial"/>
                <a:cs typeface="Arial"/>
                <a:sym typeface="Arial"/>
              </a:rPr>
              <a:t>Switching</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2025-2</a:t>
            </a:r>
            <a:endParaRPr dirty="0"/>
          </a:p>
        </p:txBody>
      </p:sp>
    </p:spTree>
    <p:extLst>
      <p:ext uri="{BB962C8B-B14F-4D97-AF65-F5344CB8AC3E}">
        <p14:creationId xmlns:p14="http://schemas.microsoft.com/office/powerpoint/2010/main" val="249702601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es-419" dirty="0">
                <a:solidFill>
                  <a:srgbClr val="C00000"/>
                </a:solidFill>
              </a:rPr>
              <a:t>Dominios de colisiones</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721551"/>
            <a:ext cx="4407195" cy="2846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CEAE900D-3CFF-BD7C-3BB9-0862095555F7}"/>
              </a:ext>
            </a:extLst>
          </p:cNvPr>
          <p:cNvSpPr txBox="1">
            <a:spLocks noChangeArrowheads="1"/>
          </p:cNvSpPr>
          <p:nvPr/>
        </p:nvSpPr>
        <p:spPr bwMode="auto">
          <a:xfrm>
            <a:off x="5247170" y="41393"/>
            <a:ext cx="7239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fr-FR" altLang="en-US" dirty="0" err="1">
                <a:solidFill>
                  <a:srgbClr val="C00000"/>
                </a:solidFill>
              </a:rPr>
              <a:t>Dominios</a:t>
            </a:r>
            <a:r>
              <a:rPr lang="fr-FR" altLang="en-US" dirty="0">
                <a:solidFill>
                  <a:srgbClr val="C00000"/>
                </a:solidFill>
              </a:rPr>
              <a:t> de </a:t>
            </a:r>
            <a:r>
              <a:rPr lang="fr-FR" dirty="0">
                <a:solidFill>
                  <a:srgbClr val="C00000"/>
                </a:solidFill>
              </a:rPr>
              <a:t>Broadcast</a:t>
            </a:r>
          </a:p>
        </p:txBody>
      </p:sp>
      <p:pic>
        <p:nvPicPr>
          <p:cNvPr id="4" name="Picture 2">
            <a:extLst>
              <a:ext uri="{FF2B5EF4-FFF2-40B4-BE49-F238E27FC236}">
                <a16:creationId xmlns:a16="http://schemas.microsoft.com/office/drawing/2014/main" id="{480393CA-AF63-1DA3-FD23-181DD020B0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3637" y="2353223"/>
            <a:ext cx="3833033" cy="27488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a:extLst>
              <a:ext uri="{FF2B5EF4-FFF2-40B4-BE49-F238E27FC236}">
                <a16:creationId xmlns:a16="http://schemas.microsoft.com/office/drawing/2014/main" id="{500ABB34-1903-A8C1-CB05-A1E586475E49}"/>
              </a:ext>
            </a:extLst>
          </p:cNvPr>
          <p:cNvSpPr txBox="1"/>
          <p:nvPr/>
        </p:nvSpPr>
        <p:spPr>
          <a:xfrm>
            <a:off x="0" y="798944"/>
            <a:ext cx="4456112" cy="646331"/>
          </a:xfrm>
          <a:prstGeom prst="rect">
            <a:avLst/>
          </a:prstGeom>
          <a:noFill/>
        </p:spPr>
        <p:txBody>
          <a:bodyPr wrap="square">
            <a:spAutoFit/>
          </a:bodyPr>
          <a:lstStyle/>
          <a:p>
            <a:pPr marL="285750" indent="-285750" algn="just">
              <a:buFont typeface="Arial" panose="020B0604020202020204" pitchFamily="34" charset="0"/>
              <a:buChar char="•"/>
            </a:pPr>
            <a:r>
              <a:rPr lang="es-419" sz="1800" dirty="0">
                <a:solidFill>
                  <a:srgbClr val="0000CC"/>
                </a:solidFill>
              </a:rPr>
              <a:t>Los switch eliminan los dominios de colisión y reducen la congestión</a:t>
            </a:r>
            <a:endParaRPr lang="fr-FR" dirty="0"/>
          </a:p>
        </p:txBody>
      </p:sp>
      <p:sp>
        <p:nvSpPr>
          <p:cNvPr id="7" name="TextBox 6">
            <a:extLst>
              <a:ext uri="{FF2B5EF4-FFF2-40B4-BE49-F238E27FC236}">
                <a16:creationId xmlns:a16="http://schemas.microsoft.com/office/drawing/2014/main" id="{6BF61E21-8AB8-B89E-10D1-18BAA563CA4F}"/>
              </a:ext>
            </a:extLst>
          </p:cNvPr>
          <p:cNvSpPr txBox="1"/>
          <p:nvPr/>
        </p:nvSpPr>
        <p:spPr>
          <a:xfrm>
            <a:off x="4572000" y="673058"/>
            <a:ext cx="4668541" cy="1323439"/>
          </a:xfrm>
          <a:prstGeom prst="rect">
            <a:avLst/>
          </a:prstGeom>
          <a:noFill/>
        </p:spPr>
        <p:txBody>
          <a:bodyPr wrap="square">
            <a:spAutoFit/>
          </a:bodyPr>
          <a:lstStyle/>
          <a:p>
            <a:pPr marL="285750" indent="-285750" algn="just" rtl="0">
              <a:buFont typeface="Arial" panose="020B0604020202020204" pitchFamily="34" charset="0"/>
              <a:buChar char="•"/>
            </a:pPr>
            <a:r>
              <a:rPr lang="es-419" sz="1600" dirty="0"/>
              <a:t>Un dominio de difusión </a:t>
            </a:r>
            <a:r>
              <a:rPr lang="es-419" sz="1600" dirty="0">
                <a:solidFill>
                  <a:srgbClr val="0000CC"/>
                </a:solidFill>
              </a:rPr>
              <a:t>se extiende a todos los dispositivos de Capa 1 o Capa 2 de una LAN.</a:t>
            </a:r>
          </a:p>
          <a:p>
            <a:pPr marL="285750" indent="-285750" algn="just" rtl="0">
              <a:buFont typeface="Arial" panose="020B0604020202020204" pitchFamily="34" charset="0"/>
              <a:buChar char="•"/>
            </a:pPr>
            <a:r>
              <a:rPr lang="es-419" sz="1600" dirty="0"/>
              <a:t>Sólo un dispositivo de capa 3 (enrutador) romperá el dominio de difusión, también llamado dominio de difusión MAC.</a:t>
            </a:r>
          </a:p>
        </p:txBody>
      </p:sp>
      <p:sp>
        <p:nvSpPr>
          <p:cNvPr id="2" name="Slide Number Placeholder 1">
            <a:extLst>
              <a:ext uri="{FF2B5EF4-FFF2-40B4-BE49-F238E27FC236}">
                <a16:creationId xmlns:a16="http://schemas.microsoft.com/office/drawing/2014/main" id="{94AF1BE4-E18C-FF1A-AF06-CCC89CFB014A}"/>
              </a:ext>
            </a:extLst>
          </p:cNvPr>
          <p:cNvSpPr>
            <a:spLocks noGrp="1"/>
          </p:cNvSpPr>
          <p:nvPr>
            <p:ph type="sldNum" sz="quarter" idx="4"/>
          </p:nvPr>
        </p:nvSpPr>
        <p:spPr/>
        <p:txBody>
          <a:bodyPr/>
          <a:lstStyle/>
          <a:p>
            <a:fld id="{2F5CCB13-0A32-4557-88E9-079F0C330695}" type="slidenum">
              <a:rPr lang="en-US" kern="0" smtClean="0">
                <a:solidFill>
                  <a:srgbClr val="595959"/>
                </a:solidFill>
              </a:rPr>
              <a:pPr defTabSz="385763">
                <a:defRPr/>
              </a:pPr>
              <a:t>11</a:t>
            </a:fld>
            <a:endParaRPr lang="en-US"/>
          </a:p>
        </p:txBody>
      </p:sp>
    </p:spTree>
    <p:custDataLst>
      <p:tags r:id="rId1"/>
    </p:custDataLst>
    <p:extLst>
      <p:ext uri="{BB962C8B-B14F-4D97-AF65-F5344CB8AC3E}">
        <p14:creationId xmlns:p14="http://schemas.microsoft.com/office/powerpoint/2010/main" val="492233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9144000" cy="757551"/>
          </a:xfrm>
        </p:spPr>
        <p:txBody>
          <a:bodyPr/>
          <a:lstStyle/>
          <a:p>
            <a:r>
              <a:rPr lang="es-419" dirty="0">
                <a:solidFill>
                  <a:srgbClr val="C00000"/>
                </a:solidFill>
              </a:rPr>
              <a:t>Métodos de reenvío de tramas en Swiches</a:t>
            </a:r>
          </a:p>
        </p:txBody>
      </p:sp>
      <p:sp>
        <p:nvSpPr>
          <p:cNvPr id="8" name="Content Placeholder 3">
            <a:extLst>
              <a:ext uri="{FF2B5EF4-FFF2-40B4-BE49-F238E27FC236}">
                <a16:creationId xmlns:a16="http://schemas.microsoft.com/office/drawing/2014/main" id="{825FB88E-397F-447C-9E37-92A57F471249}"/>
              </a:ext>
            </a:extLst>
          </p:cNvPr>
          <p:cNvSpPr>
            <a:spLocks noGrp="1"/>
          </p:cNvSpPr>
          <p:nvPr>
            <p:ph idx="1"/>
          </p:nvPr>
        </p:nvSpPr>
        <p:spPr>
          <a:xfrm>
            <a:off x="231006" y="545371"/>
            <a:ext cx="8787866" cy="3657998"/>
          </a:xfrm>
        </p:spPr>
        <p:txBody>
          <a:bodyPr/>
          <a:lstStyle/>
          <a:p>
            <a:pPr marL="0" indent="0" algn="l" rtl="0"/>
            <a:r>
              <a:rPr lang="es-419" sz="1500" dirty="0">
                <a:solidFill>
                  <a:srgbClr val="000000"/>
                </a:solidFill>
              </a:rPr>
              <a:t>Los switches utilizan uno de los siguientes métodos de reenvío entre puertos de la red:</a:t>
            </a:r>
          </a:p>
          <a:p>
            <a:pPr marL="285750" indent="-285750" algn="just" rtl="0">
              <a:buFont typeface="Arial" panose="020B0604020202020204" pitchFamily="34" charset="0"/>
              <a:buChar char="•"/>
            </a:pPr>
            <a:r>
              <a:rPr lang="es-419" sz="1600" b="1" dirty="0">
                <a:solidFill>
                  <a:srgbClr val="000000"/>
                </a:solidFill>
              </a:rPr>
              <a:t>Conmutación de almacenamiento y reenvío</a:t>
            </a:r>
            <a:r>
              <a:rPr lang="es-419" sz="1600" dirty="0">
                <a:solidFill>
                  <a:srgbClr val="000000"/>
                </a:solidFill>
              </a:rPr>
              <a:t>: recibe toda la trama y garantiza que la trama es válida. Si la CRC es válida, el switch busca la dirección de destino, que determina la interfaz de salida. Luego, la trama se reenvía desde el puerto correcto. Tiene dos características: Comprobación de errores y almacenamiento de búfer.</a:t>
            </a:r>
          </a:p>
          <a:p>
            <a:pPr lvl="1" algn="just" rtl="0">
              <a:buFont typeface="Arial" panose="020B0604020202020204" pitchFamily="34" charset="0"/>
              <a:buChar char="•"/>
            </a:pPr>
            <a:r>
              <a:rPr lang="es-419" sz="1600" b="1" dirty="0">
                <a:solidFill>
                  <a:srgbClr val="000000"/>
                </a:solidFill>
              </a:rPr>
              <a:t>Conmutación de corte: </a:t>
            </a:r>
            <a:r>
              <a:rPr lang="es-419" sz="1600" dirty="0">
                <a:solidFill>
                  <a:srgbClr val="000000"/>
                </a:solidFill>
              </a:rPr>
              <a:t> este método de reenvío de trama reenvía la trama antes de que se reciba por completo. Como mínimo, se debe leer la dirección de destino para que la trama se pueda enviar. </a:t>
            </a:r>
            <a:r>
              <a:rPr lang="es-419" sz="1600" dirty="0"/>
              <a:t>Es apropiado para los switches que necesitan latencia de menos de 10 microsegundos. No comprueba el FCS, por lo que puede propagar errores.</a:t>
            </a:r>
            <a:endParaRPr lang="en-US" sz="1500" dirty="0">
              <a:solidFill>
                <a:srgbClr val="000000"/>
              </a:solidFill>
            </a:endParaRPr>
          </a:p>
          <a:p>
            <a:pPr marL="285750" indent="-285750" algn="just" rtl="0">
              <a:buFont typeface="Arial" panose="020B0604020202020204" pitchFamily="34" charset="0"/>
              <a:buChar char="•"/>
            </a:pPr>
            <a:r>
              <a:rPr lang="es-419" sz="1500" dirty="0">
                <a:solidFill>
                  <a:srgbClr val="000000"/>
                </a:solidFill>
              </a:rPr>
              <a:t>Una gran ventaja de la conmutación de almacenamiento y reenvío es que </a:t>
            </a:r>
            <a:r>
              <a:rPr lang="es-419" sz="1500" dirty="0">
                <a:solidFill>
                  <a:srgbClr val="0000CC"/>
                </a:solidFill>
                <a:effectLst>
                  <a:outerShdw blurRad="38100" dist="38100" dir="2700000" algn="tl">
                    <a:srgbClr val="000000">
                      <a:alpha val="43137"/>
                    </a:srgbClr>
                  </a:outerShdw>
                </a:effectLst>
              </a:rPr>
              <a:t>determina si una trama tiene errores antes de propagarla</a:t>
            </a:r>
            <a:r>
              <a:rPr lang="es-419" sz="1500" dirty="0">
                <a:solidFill>
                  <a:srgbClr val="000000"/>
                </a:solidFill>
              </a:rPr>
              <a:t>. Cuando se detecta un error en la trama, el switch la descarta. El proceso de descarte de las tramas con errores reduce el ancho de banda consumido por datos dañados. </a:t>
            </a:r>
          </a:p>
          <a:p>
            <a:pPr marL="285750" indent="-285750" algn="l" rtl="0">
              <a:buFont typeface="Arial" panose="020B0604020202020204" pitchFamily="34" charset="0"/>
              <a:buChar char="•"/>
            </a:pPr>
            <a:r>
              <a:rPr lang="es-419" sz="1500" dirty="0">
                <a:solidFill>
                  <a:srgbClr val="000000"/>
                </a:solidFill>
              </a:rPr>
              <a:t>El switching de almacenamiento y envío </a:t>
            </a:r>
            <a:r>
              <a:rPr lang="es-419" sz="1500" dirty="0">
                <a:solidFill>
                  <a:srgbClr val="0000CC"/>
                </a:solidFill>
                <a:effectLst>
                  <a:outerShdw blurRad="38100" dist="38100" dir="2700000" algn="tl">
                    <a:srgbClr val="000000">
                      <a:alpha val="43137"/>
                    </a:srgbClr>
                  </a:outerShdw>
                </a:effectLst>
              </a:rPr>
              <a:t>se requiere para el análisis de calidad de servicio </a:t>
            </a:r>
            <a:r>
              <a:rPr lang="es-419" sz="1500" dirty="0">
                <a:solidFill>
                  <a:srgbClr val="000000"/>
                </a:solidFill>
              </a:rPr>
              <a:t>(QoS) en las redes convergentes, donde se necesita una clasificación de la trama para decidir el orden de prioridad del tráfico. Por ejemplo, los flujos de datos de voz sobre IP deben tener prioridad sobre el tráfico de navegación web.</a:t>
            </a:r>
          </a:p>
          <a:p>
            <a:pPr marL="285750" indent="-285750" algn="l">
              <a:buFont typeface="Arial" panose="020B0604020202020204" pitchFamily="34" charset="0"/>
              <a:buChar char="•"/>
            </a:pPr>
            <a:endParaRPr lang="en-US" sz="1400" dirty="0">
              <a:solidFill>
                <a:srgbClr val="000000"/>
              </a:solidFill>
            </a:endParaRPr>
          </a:p>
        </p:txBody>
      </p:sp>
      <p:sp>
        <p:nvSpPr>
          <p:cNvPr id="2" name="Slide Number Placeholder 1">
            <a:extLst>
              <a:ext uri="{FF2B5EF4-FFF2-40B4-BE49-F238E27FC236}">
                <a16:creationId xmlns:a16="http://schemas.microsoft.com/office/drawing/2014/main" id="{DDA1A5CD-A340-EFCF-5F49-A9A30BD75196}"/>
              </a:ext>
            </a:extLst>
          </p:cNvPr>
          <p:cNvSpPr>
            <a:spLocks noGrp="1"/>
          </p:cNvSpPr>
          <p:nvPr>
            <p:ph type="sldNum" sz="quarter" idx="4"/>
          </p:nvPr>
        </p:nvSpPr>
        <p:spPr/>
        <p:txBody>
          <a:bodyPr/>
          <a:lstStyle/>
          <a:p>
            <a:fld id="{2F5CCB13-0A32-4557-88E9-079F0C330695}" type="slidenum">
              <a:rPr lang="en-US" kern="0" smtClean="0">
                <a:solidFill>
                  <a:srgbClr val="595959"/>
                </a:solidFill>
              </a:rPr>
              <a:pPr defTabSz="385763">
                <a:defRPr/>
              </a:pPr>
              <a:t>12</a:t>
            </a:fld>
            <a:endParaRPr lang="en-US"/>
          </a:p>
        </p:txBody>
      </p:sp>
    </p:spTree>
    <p:extLst>
      <p:ext uri="{BB962C8B-B14F-4D97-AF65-F5344CB8AC3E}">
        <p14:creationId xmlns:p14="http://schemas.microsoft.com/office/powerpoint/2010/main" val="27577067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1143001" y="1715226"/>
            <a:ext cx="6941225"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5.4 Switches </a:t>
            </a:r>
            <a:br>
              <a:rPr lang="es-PE" sz="28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2025-2</a:t>
            </a:r>
            <a:endParaRPr dirty="0"/>
          </a:p>
        </p:txBody>
      </p:sp>
    </p:spTree>
    <p:extLst>
      <p:ext uri="{BB962C8B-B14F-4D97-AF65-F5344CB8AC3E}">
        <p14:creationId xmlns:p14="http://schemas.microsoft.com/office/powerpoint/2010/main" val="14076785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s-ES" sz="2100" dirty="0">
                <a:solidFill>
                  <a:srgbClr val="C00000"/>
                </a:solidFill>
              </a:rPr>
              <a:t>Complejidad creciente de las redes</a:t>
            </a:r>
            <a:endParaRPr lang="es-ES" sz="2100" dirty="0">
              <a:solidFill>
                <a:srgbClr val="C00000"/>
              </a:solidFill>
              <a:latin typeface="Arial" charset="0"/>
            </a:endParaRPr>
          </a:p>
        </p:txBody>
      </p:sp>
      <p:sp>
        <p:nvSpPr>
          <p:cNvPr id="3" name="Content Placeholder 2"/>
          <p:cNvSpPr>
            <a:spLocks noGrp="1"/>
          </p:cNvSpPr>
          <p:nvPr>
            <p:ph idx="1"/>
          </p:nvPr>
        </p:nvSpPr>
        <p:spPr>
          <a:xfrm>
            <a:off x="0" y="694311"/>
            <a:ext cx="9143999" cy="2705384"/>
          </a:xfrm>
        </p:spPr>
        <p:txBody>
          <a:bodyPr/>
          <a:lstStyle/>
          <a:p>
            <a:r>
              <a:rPr lang="es-ES" dirty="0"/>
              <a:t>El mundo digital está cambiando, se debe acceder a la información desde cualquier lugar del mundo.</a:t>
            </a:r>
          </a:p>
        </p:txBody>
      </p:sp>
      <p:sp>
        <p:nvSpPr>
          <p:cNvPr id="5" name="Content Placeholder 2">
            <a:extLst>
              <a:ext uri="{FF2B5EF4-FFF2-40B4-BE49-F238E27FC236}">
                <a16:creationId xmlns:a16="http://schemas.microsoft.com/office/drawing/2014/main" id="{EC71F8AA-669F-489B-9B17-3DEDCBB448DB}"/>
              </a:ext>
            </a:extLst>
          </p:cNvPr>
          <p:cNvSpPr txBox="1">
            <a:spLocks/>
          </p:cNvSpPr>
          <p:nvPr/>
        </p:nvSpPr>
        <p:spPr bwMode="auto">
          <a:xfrm>
            <a:off x="1838170" y="4626290"/>
            <a:ext cx="6120194" cy="368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ctr">
              <a:buNone/>
            </a:pPr>
            <a:endParaRPr lang="es-ES" dirty="0"/>
          </a:p>
        </p:txBody>
      </p:sp>
      <p:pic>
        <p:nvPicPr>
          <p:cNvPr id="4" name="Picture 3">
            <a:extLst>
              <a:ext uri="{FF2B5EF4-FFF2-40B4-BE49-F238E27FC236}">
                <a16:creationId xmlns:a16="http://schemas.microsoft.com/office/drawing/2014/main" id="{458C7962-9C5B-6706-2A3E-1075660A5F91}"/>
              </a:ext>
            </a:extLst>
          </p:cNvPr>
          <p:cNvPicPr>
            <a:picLocks noChangeAspect="1"/>
          </p:cNvPicPr>
          <p:nvPr/>
        </p:nvPicPr>
        <p:blipFill>
          <a:blip r:embed="rId3"/>
          <a:stretch>
            <a:fillRect/>
          </a:stretch>
        </p:blipFill>
        <p:spPr>
          <a:xfrm>
            <a:off x="2004236" y="1015363"/>
            <a:ext cx="4977540" cy="3593851"/>
          </a:xfrm>
          <a:prstGeom prst="rect">
            <a:avLst/>
          </a:prstGeom>
        </p:spPr>
      </p:pic>
      <p:sp>
        <p:nvSpPr>
          <p:cNvPr id="8" name="TextBox 7">
            <a:extLst>
              <a:ext uri="{FF2B5EF4-FFF2-40B4-BE49-F238E27FC236}">
                <a16:creationId xmlns:a16="http://schemas.microsoft.com/office/drawing/2014/main" id="{8518D4BD-D694-6EBA-67DD-6647BACC42D1}"/>
              </a:ext>
            </a:extLst>
          </p:cNvPr>
          <p:cNvSpPr txBox="1"/>
          <p:nvPr/>
        </p:nvSpPr>
        <p:spPr>
          <a:xfrm>
            <a:off x="2533208" y="4609214"/>
            <a:ext cx="4606556" cy="307777"/>
          </a:xfrm>
          <a:prstGeom prst="rect">
            <a:avLst/>
          </a:prstGeom>
          <a:noFill/>
        </p:spPr>
        <p:txBody>
          <a:bodyPr wrap="square">
            <a:spAutoFit/>
          </a:bodyPr>
          <a:lstStyle/>
          <a:p>
            <a:r>
              <a:rPr lang="fr-FR" sz="1400" dirty="0"/>
              <a:t>https://www.itcandor.com/hpe-juniper-acquisition/</a:t>
            </a:r>
          </a:p>
        </p:txBody>
      </p:sp>
      <p:sp>
        <p:nvSpPr>
          <p:cNvPr id="2" name="Slide Number Placeholder 1">
            <a:extLst>
              <a:ext uri="{FF2B5EF4-FFF2-40B4-BE49-F238E27FC236}">
                <a16:creationId xmlns:a16="http://schemas.microsoft.com/office/drawing/2014/main" id="{9A46C7FA-57CE-C04B-0530-8FB93CE989AB}"/>
              </a:ext>
            </a:extLst>
          </p:cNvPr>
          <p:cNvSpPr>
            <a:spLocks noGrp="1"/>
          </p:cNvSpPr>
          <p:nvPr>
            <p:ph type="sldNum" sz="quarter" idx="4"/>
          </p:nvPr>
        </p:nvSpPr>
        <p:spPr/>
        <p:txBody>
          <a:bodyPr/>
          <a:lstStyle/>
          <a:p>
            <a:fld id="{2F5CCB13-0A32-4557-88E9-079F0C330695}" type="slidenum">
              <a:rPr lang="en-US" kern="0" smtClean="0">
                <a:solidFill>
                  <a:srgbClr val="595959"/>
                </a:solidFill>
              </a:rPr>
              <a:pPr defTabSz="385763">
                <a:defRPr/>
              </a:pPr>
              <a:t>14</a:t>
            </a:fld>
            <a:endParaRPr lang="en-US"/>
          </a:p>
        </p:txBody>
      </p:sp>
    </p:spTree>
    <p:extLst>
      <p:ext uri="{BB962C8B-B14F-4D97-AF65-F5344CB8AC3E}">
        <p14:creationId xmlns:p14="http://schemas.microsoft.com/office/powerpoint/2010/main" val="27000308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s-ES" sz="2100" dirty="0">
                <a:solidFill>
                  <a:srgbClr val="C00000"/>
                </a:solidFill>
                <a:latin typeface="Arial" charset="0"/>
              </a:rPr>
              <a:t>CISCO vs HUAWEI</a:t>
            </a:r>
          </a:p>
        </p:txBody>
      </p:sp>
      <p:sp>
        <p:nvSpPr>
          <p:cNvPr id="4" name="TextBox 3">
            <a:extLst>
              <a:ext uri="{FF2B5EF4-FFF2-40B4-BE49-F238E27FC236}">
                <a16:creationId xmlns:a16="http://schemas.microsoft.com/office/drawing/2014/main" id="{EA6CDC73-7C55-7BF2-A780-584331CF5141}"/>
              </a:ext>
            </a:extLst>
          </p:cNvPr>
          <p:cNvSpPr txBox="1"/>
          <p:nvPr/>
        </p:nvSpPr>
        <p:spPr>
          <a:xfrm>
            <a:off x="-1359639" y="4934886"/>
            <a:ext cx="7547787" cy="215444"/>
          </a:xfrm>
          <a:prstGeom prst="rect">
            <a:avLst/>
          </a:prstGeom>
          <a:noFill/>
        </p:spPr>
        <p:txBody>
          <a:bodyPr wrap="square">
            <a:spAutoFit/>
          </a:bodyPr>
          <a:lstStyle/>
          <a:p>
            <a:pPr algn="ctr"/>
            <a:r>
              <a:rPr lang="fr-FR" sz="800" dirty="0"/>
              <a:t>https://www.gartner.com/reviews/market/data-center-and-cloud-networking/compare/cisco-vs-huawei</a:t>
            </a:r>
          </a:p>
        </p:txBody>
      </p:sp>
      <p:sp>
        <p:nvSpPr>
          <p:cNvPr id="6" name="TextBox 5">
            <a:extLst>
              <a:ext uri="{FF2B5EF4-FFF2-40B4-BE49-F238E27FC236}">
                <a16:creationId xmlns:a16="http://schemas.microsoft.com/office/drawing/2014/main" id="{D6B8C02B-37DD-C0B0-73A6-16CC0F549E14}"/>
              </a:ext>
            </a:extLst>
          </p:cNvPr>
          <p:cNvSpPr txBox="1"/>
          <p:nvPr/>
        </p:nvSpPr>
        <p:spPr>
          <a:xfrm>
            <a:off x="1273913" y="4743089"/>
            <a:ext cx="6436685" cy="215444"/>
          </a:xfrm>
          <a:prstGeom prst="rect">
            <a:avLst/>
          </a:prstGeom>
          <a:noFill/>
        </p:spPr>
        <p:txBody>
          <a:bodyPr wrap="square">
            <a:spAutoFit/>
          </a:bodyPr>
          <a:lstStyle/>
          <a:p>
            <a:pPr algn="ctr"/>
            <a:r>
              <a:rPr lang="fr-FR" sz="800" dirty="0"/>
              <a:t>https://www.trustradius.com/compare-products/cisco-catalyst-9600-series-switches-vs-huawei-ethernet-switches</a:t>
            </a:r>
          </a:p>
        </p:txBody>
      </p:sp>
      <p:pic>
        <p:nvPicPr>
          <p:cNvPr id="9" name="Picture 8">
            <a:extLst>
              <a:ext uri="{FF2B5EF4-FFF2-40B4-BE49-F238E27FC236}">
                <a16:creationId xmlns:a16="http://schemas.microsoft.com/office/drawing/2014/main" id="{1B437CCA-62DE-0583-3C65-D81A99CC1713}"/>
              </a:ext>
            </a:extLst>
          </p:cNvPr>
          <p:cNvPicPr>
            <a:picLocks noChangeAspect="1"/>
          </p:cNvPicPr>
          <p:nvPr/>
        </p:nvPicPr>
        <p:blipFill>
          <a:blip r:embed="rId3"/>
          <a:stretch>
            <a:fillRect/>
          </a:stretch>
        </p:blipFill>
        <p:spPr>
          <a:xfrm>
            <a:off x="47848" y="1017180"/>
            <a:ext cx="4283486" cy="3607874"/>
          </a:xfrm>
          <a:prstGeom prst="rect">
            <a:avLst/>
          </a:prstGeom>
        </p:spPr>
      </p:pic>
      <p:pic>
        <p:nvPicPr>
          <p:cNvPr id="11" name="Picture 10">
            <a:extLst>
              <a:ext uri="{FF2B5EF4-FFF2-40B4-BE49-F238E27FC236}">
                <a16:creationId xmlns:a16="http://schemas.microsoft.com/office/drawing/2014/main" id="{92B77C61-8326-6C4E-CBF9-E96721BF692A}"/>
              </a:ext>
            </a:extLst>
          </p:cNvPr>
          <p:cNvPicPr>
            <a:picLocks noChangeAspect="1"/>
          </p:cNvPicPr>
          <p:nvPr/>
        </p:nvPicPr>
        <p:blipFill>
          <a:blip r:embed="rId4"/>
          <a:stretch>
            <a:fillRect/>
          </a:stretch>
        </p:blipFill>
        <p:spPr>
          <a:xfrm>
            <a:off x="5385391" y="420168"/>
            <a:ext cx="2945218" cy="2096146"/>
          </a:xfrm>
          <a:prstGeom prst="rect">
            <a:avLst/>
          </a:prstGeom>
        </p:spPr>
      </p:pic>
      <p:pic>
        <p:nvPicPr>
          <p:cNvPr id="13" name="Picture 12">
            <a:extLst>
              <a:ext uri="{FF2B5EF4-FFF2-40B4-BE49-F238E27FC236}">
                <a16:creationId xmlns:a16="http://schemas.microsoft.com/office/drawing/2014/main" id="{AFC7B391-4198-A15B-368D-1B90D1780B60}"/>
              </a:ext>
            </a:extLst>
          </p:cNvPr>
          <p:cNvPicPr>
            <a:picLocks noChangeAspect="1"/>
          </p:cNvPicPr>
          <p:nvPr/>
        </p:nvPicPr>
        <p:blipFill>
          <a:blip r:embed="rId5"/>
          <a:stretch>
            <a:fillRect/>
          </a:stretch>
        </p:blipFill>
        <p:spPr>
          <a:xfrm>
            <a:off x="5523613" y="2516314"/>
            <a:ext cx="2945219" cy="1962673"/>
          </a:xfrm>
          <a:prstGeom prst="rect">
            <a:avLst/>
          </a:prstGeom>
        </p:spPr>
      </p:pic>
      <p:sp>
        <p:nvSpPr>
          <p:cNvPr id="15" name="TextBox 14">
            <a:extLst>
              <a:ext uri="{FF2B5EF4-FFF2-40B4-BE49-F238E27FC236}">
                <a16:creationId xmlns:a16="http://schemas.microsoft.com/office/drawing/2014/main" id="{82A2648A-1EEB-FC70-1E69-86B17699DD89}"/>
              </a:ext>
            </a:extLst>
          </p:cNvPr>
          <p:cNvSpPr txBox="1"/>
          <p:nvPr/>
        </p:nvSpPr>
        <p:spPr>
          <a:xfrm>
            <a:off x="5159449" y="4933932"/>
            <a:ext cx="5300330" cy="230832"/>
          </a:xfrm>
          <a:prstGeom prst="rect">
            <a:avLst/>
          </a:prstGeom>
          <a:noFill/>
        </p:spPr>
        <p:txBody>
          <a:bodyPr wrap="square">
            <a:spAutoFit/>
          </a:bodyPr>
          <a:lstStyle/>
          <a:p>
            <a:r>
              <a:rPr lang="fr-FR" sz="900" dirty="0"/>
              <a:t>https://e.huawei.com/en/products/switches/data-center-switches</a:t>
            </a:r>
          </a:p>
        </p:txBody>
      </p:sp>
      <p:sp>
        <p:nvSpPr>
          <p:cNvPr id="2" name="Slide Number Placeholder 1">
            <a:extLst>
              <a:ext uri="{FF2B5EF4-FFF2-40B4-BE49-F238E27FC236}">
                <a16:creationId xmlns:a16="http://schemas.microsoft.com/office/drawing/2014/main" id="{8D05516A-67D9-7BC1-4B14-C289543205E9}"/>
              </a:ext>
            </a:extLst>
          </p:cNvPr>
          <p:cNvSpPr>
            <a:spLocks noGrp="1"/>
          </p:cNvSpPr>
          <p:nvPr>
            <p:ph type="sldNum" sz="quarter" idx="4"/>
          </p:nvPr>
        </p:nvSpPr>
        <p:spPr/>
        <p:txBody>
          <a:bodyPr/>
          <a:lstStyle/>
          <a:p>
            <a:fld id="{2F5CCB13-0A32-4557-88E9-079F0C330695}" type="slidenum">
              <a:rPr lang="en-US" kern="0" smtClean="0">
                <a:solidFill>
                  <a:srgbClr val="595959"/>
                </a:solidFill>
              </a:rPr>
              <a:pPr defTabSz="385763">
                <a:defRPr/>
              </a:pPr>
              <a:t>15</a:t>
            </a:fld>
            <a:endParaRPr lang="en-US"/>
          </a:p>
        </p:txBody>
      </p:sp>
    </p:spTree>
    <p:extLst>
      <p:ext uri="{BB962C8B-B14F-4D97-AF65-F5344CB8AC3E}">
        <p14:creationId xmlns:p14="http://schemas.microsoft.com/office/powerpoint/2010/main" val="36572916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s-PE" sz="2400" dirty="0">
                <a:solidFill>
                  <a:srgbClr val="C00000"/>
                </a:solidFill>
                <a:ea typeface="ＭＳ Ｐゴシック" charset="0"/>
              </a:rPr>
              <a:t>Switches en las redes LAN</a:t>
            </a:r>
            <a:endParaRPr lang="es-ES" sz="2100" dirty="0">
              <a:solidFill>
                <a:srgbClr val="C00000"/>
              </a:solidFill>
              <a:latin typeface="Arial" charset="0"/>
            </a:endParaRPr>
          </a:p>
        </p:txBody>
      </p:sp>
      <p:sp>
        <p:nvSpPr>
          <p:cNvPr id="8" name="Content Placeholder 1"/>
          <p:cNvSpPr>
            <a:spLocks noGrp="1"/>
          </p:cNvSpPr>
          <p:nvPr>
            <p:ph idx="1"/>
          </p:nvPr>
        </p:nvSpPr>
        <p:spPr>
          <a:xfrm>
            <a:off x="108535" y="798944"/>
            <a:ext cx="5625654" cy="3216743"/>
          </a:xfrm>
        </p:spPr>
        <p:txBody>
          <a:bodyPr/>
          <a:lstStyle/>
          <a:p>
            <a:pPr marL="0" indent="0" algn="just">
              <a:buNone/>
            </a:pPr>
            <a:r>
              <a:rPr lang="es-PE" sz="1400" dirty="0"/>
              <a:t>Los switches, son los encargados de la interconexión de equipos dentro de una misma red, o lo que es lo mismo, son los dispositivos que, junto al cableado, constituyen las redes de área local o LAN cuyas especificaciones técnicas siguen el estándar conocido como Ethernet (o técnicamente IEEE 802.3).</a:t>
            </a:r>
          </a:p>
          <a:p>
            <a:r>
              <a:rPr lang="es-PE" sz="1400" dirty="0"/>
              <a:t>Un switch crea un circuito virtual entre dos dispositivos conectados, estableciendo un enlace dedicado entre dos dispositivos. </a:t>
            </a:r>
          </a:p>
          <a:p>
            <a:r>
              <a:rPr lang="es-PE" sz="1400" dirty="0"/>
              <a:t>Un switch provee </a:t>
            </a:r>
            <a:r>
              <a:rPr lang="es-PE" sz="1400" dirty="0" err="1"/>
              <a:t>microsegmentacion</a:t>
            </a:r>
            <a:r>
              <a:rPr lang="es-PE" sz="1400" dirty="0"/>
              <a:t> en la red</a:t>
            </a:r>
          </a:p>
          <a:p>
            <a:pPr algn="just"/>
            <a:endParaRPr lang="es-ES" sz="1400" dirty="0"/>
          </a:p>
          <a:p>
            <a:pPr marL="0" indent="0" algn="just">
              <a:buNone/>
            </a:pPr>
            <a:endParaRPr lang="es-ES" sz="1400" dirty="0"/>
          </a:p>
        </p:txBody>
      </p:sp>
      <p:pic>
        <p:nvPicPr>
          <p:cNvPr id="3076" name="Picture 4"/>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240450" y="123501"/>
            <a:ext cx="1809150" cy="26038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a:extLst>
              <a:ext uri="{FF2B5EF4-FFF2-40B4-BE49-F238E27FC236}">
                <a16:creationId xmlns:a16="http://schemas.microsoft.com/office/drawing/2014/main" id="{F6C1DE6E-9A37-4358-A77A-855020301DE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8163" y="3143858"/>
            <a:ext cx="3301437" cy="19582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a:extLst>
              <a:ext uri="{FF2B5EF4-FFF2-40B4-BE49-F238E27FC236}">
                <a16:creationId xmlns:a16="http://schemas.microsoft.com/office/drawing/2014/main" id="{6DF968B1-C513-4E41-895A-F88BAE5F5AC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18253" y="2643800"/>
            <a:ext cx="2937608" cy="2376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5370034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s-ES" sz="2100" dirty="0">
                <a:solidFill>
                  <a:srgbClr val="C00000"/>
                </a:solidFill>
              </a:rPr>
              <a:t>Función de las redes conmutadas</a:t>
            </a:r>
            <a:endParaRPr lang="es-ES" sz="2100" dirty="0">
              <a:solidFill>
                <a:srgbClr val="C00000"/>
              </a:solidFill>
              <a:latin typeface="Arial" charset="0"/>
            </a:endParaRPr>
          </a:p>
        </p:txBody>
      </p:sp>
      <p:sp>
        <p:nvSpPr>
          <p:cNvPr id="8" name="Content Placeholder 1"/>
          <p:cNvSpPr>
            <a:spLocks noGrp="1"/>
          </p:cNvSpPr>
          <p:nvPr>
            <p:ph idx="1"/>
          </p:nvPr>
        </p:nvSpPr>
        <p:spPr>
          <a:xfrm>
            <a:off x="116118" y="851719"/>
            <a:ext cx="4947201" cy="3440062"/>
          </a:xfrm>
        </p:spPr>
        <p:txBody>
          <a:bodyPr/>
          <a:lstStyle/>
          <a:p>
            <a:pPr algn="just"/>
            <a:r>
              <a:rPr lang="es-ES" sz="1800" dirty="0"/>
              <a:t>Las tecnologías de switching son fundamentales para el diseño de una red. </a:t>
            </a:r>
          </a:p>
          <a:p>
            <a:pPr algn="just"/>
            <a:r>
              <a:rPr lang="es-ES" sz="1800" dirty="0"/>
              <a:t>El switching permite que el tráfico se envíe solo cuando se necesita en la mayoría de los casos, con métodos rápidos.</a:t>
            </a:r>
          </a:p>
          <a:p>
            <a:pPr algn="just"/>
            <a:r>
              <a:rPr lang="es-ES" sz="1800" dirty="0"/>
              <a:t>Una red LAN conmutada:</a:t>
            </a:r>
          </a:p>
          <a:p>
            <a:pPr marL="510778" lvl="1" indent="-257175" algn="just">
              <a:buFont typeface="Wingdings" pitchFamily="2" charset="2"/>
              <a:buChar char="§"/>
            </a:pPr>
            <a:r>
              <a:rPr lang="es-ES" sz="1600" dirty="0"/>
              <a:t>Permite más </a:t>
            </a:r>
            <a:r>
              <a:rPr lang="es-ES" sz="1600" dirty="0">
                <a:solidFill>
                  <a:srgbClr val="0000CC"/>
                </a:solidFill>
              </a:rPr>
              <a:t>flexibilidad </a:t>
            </a:r>
          </a:p>
          <a:p>
            <a:pPr marL="510778" lvl="1" indent="-257175" algn="just">
              <a:buFont typeface="Wingdings" pitchFamily="2" charset="2"/>
              <a:buChar char="§"/>
            </a:pPr>
            <a:r>
              <a:rPr lang="es-ES" sz="1600" dirty="0"/>
              <a:t>Permite más </a:t>
            </a:r>
            <a:r>
              <a:rPr lang="es-ES" sz="1600" dirty="0">
                <a:solidFill>
                  <a:srgbClr val="0000CC"/>
                </a:solidFill>
              </a:rPr>
              <a:t>administración de tráfico</a:t>
            </a:r>
          </a:p>
          <a:p>
            <a:pPr marL="510778" lvl="1" indent="-257175" algn="just">
              <a:buFont typeface="Wingdings" pitchFamily="2" charset="2"/>
              <a:buChar char="§"/>
            </a:pPr>
            <a:r>
              <a:rPr lang="es-ES" sz="1600" dirty="0"/>
              <a:t>Admite </a:t>
            </a:r>
            <a:r>
              <a:rPr lang="es-ES" sz="1600" dirty="0">
                <a:solidFill>
                  <a:srgbClr val="0000CC"/>
                </a:solidFill>
              </a:rPr>
              <a:t>calidad de servicio, seguridad adicional, redes inalámbricas, telefonía IP y servicios de movilidad</a:t>
            </a:r>
          </a:p>
          <a:p>
            <a:pPr marL="0" indent="0" algn="just">
              <a:buNone/>
            </a:pPr>
            <a:endParaRPr lang="es-ES" sz="1600" dirty="0"/>
          </a:p>
        </p:txBody>
      </p:sp>
      <p:pic>
        <p:nvPicPr>
          <p:cNvPr id="3076" name="Picture 4"/>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308980" y="41393"/>
            <a:ext cx="3516129" cy="50607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112FA4D8-087C-AC74-06A8-A8792F4554FE}"/>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17</a:t>
            </a:fld>
            <a:endParaRPr lang="en-US"/>
          </a:p>
        </p:txBody>
      </p:sp>
    </p:spTree>
    <p:extLst>
      <p:ext uri="{BB962C8B-B14F-4D97-AF65-F5344CB8AC3E}">
        <p14:creationId xmlns:p14="http://schemas.microsoft.com/office/powerpoint/2010/main" val="28966118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s-ES" sz="2100" dirty="0">
                <a:solidFill>
                  <a:srgbClr val="C00000"/>
                </a:solidFill>
              </a:rPr>
              <a:t>Factores de forma</a:t>
            </a:r>
            <a:endParaRPr lang="es-ES" sz="2100" dirty="0">
              <a:solidFill>
                <a:srgbClr val="C00000"/>
              </a:solidFill>
              <a:latin typeface="Arial" charset="0"/>
            </a:endParaRPr>
          </a:p>
        </p:txBody>
      </p:sp>
      <p:sp>
        <p:nvSpPr>
          <p:cNvPr id="8" name="Content Placeholder 1"/>
          <p:cNvSpPr>
            <a:spLocks noGrp="1"/>
          </p:cNvSpPr>
          <p:nvPr>
            <p:ph idx="1"/>
          </p:nvPr>
        </p:nvSpPr>
        <p:spPr>
          <a:xfrm>
            <a:off x="387478" y="645491"/>
            <a:ext cx="4088987" cy="730046"/>
          </a:xfrm>
        </p:spPr>
        <p:txBody>
          <a:bodyPr/>
          <a:lstStyle/>
          <a:p>
            <a:pPr marL="0" indent="0">
              <a:buNone/>
            </a:pPr>
            <a:r>
              <a:rPr lang="es-ES" b="1" dirty="0"/>
              <a:t>Switches de configuración fija</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1023048"/>
            <a:ext cx="4508310" cy="3793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a:extLst>
              <a:ext uri="{FF2B5EF4-FFF2-40B4-BE49-F238E27FC236}">
                <a16:creationId xmlns:a16="http://schemas.microsoft.com/office/drawing/2014/main" id="{75B3463D-D900-468E-AE49-F232EFCB921F}"/>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tretch>
            <a:fillRect/>
          </a:stretch>
        </p:blipFill>
        <p:spPr bwMode="auto">
          <a:xfrm>
            <a:off x="4572000" y="1032117"/>
            <a:ext cx="4591399" cy="37897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1">
            <a:extLst>
              <a:ext uri="{FF2B5EF4-FFF2-40B4-BE49-F238E27FC236}">
                <a16:creationId xmlns:a16="http://schemas.microsoft.com/office/drawing/2014/main" id="{777360A7-F625-4A59-9154-752090676B08}"/>
              </a:ext>
            </a:extLst>
          </p:cNvPr>
          <p:cNvSpPr txBox="1">
            <a:spLocks/>
          </p:cNvSpPr>
          <p:nvPr/>
        </p:nvSpPr>
        <p:spPr bwMode="auto">
          <a:xfrm>
            <a:off x="5184510" y="658025"/>
            <a:ext cx="3366378" cy="730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ctr">
              <a:buFont typeface="Wingdings" panose="05000000000000000000" pitchFamily="2" charset="2"/>
              <a:buNone/>
            </a:pPr>
            <a:r>
              <a:rPr lang="es-ES" b="1" dirty="0"/>
              <a:t>Plataforma Modular</a:t>
            </a:r>
          </a:p>
        </p:txBody>
      </p:sp>
      <p:sp>
        <p:nvSpPr>
          <p:cNvPr id="2" name="Slide Number Placeholder 1">
            <a:extLst>
              <a:ext uri="{FF2B5EF4-FFF2-40B4-BE49-F238E27FC236}">
                <a16:creationId xmlns:a16="http://schemas.microsoft.com/office/drawing/2014/main" id="{230846FC-8C62-4B9C-C5B0-7048E8924681}"/>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18</a:t>
            </a:fld>
            <a:endParaRPr lang="en-US"/>
          </a:p>
        </p:txBody>
      </p:sp>
    </p:spTree>
    <p:extLst>
      <p:ext uri="{BB962C8B-B14F-4D97-AF65-F5344CB8AC3E}">
        <p14:creationId xmlns:p14="http://schemas.microsoft.com/office/powerpoint/2010/main" val="1946862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s-ES" sz="2100" dirty="0">
                <a:solidFill>
                  <a:srgbClr val="C00000"/>
                </a:solidFill>
              </a:rPr>
              <a:t>Factores de forma</a:t>
            </a:r>
            <a:endParaRPr lang="es-ES" sz="2100" dirty="0">
              <a:solidFill>
                <a:srgbClr val="C00000"/>
              </a:solidFill>
              <a:latin typeface="Arial" charset="0"/>
            </a:endParaRPr>
          </a:p>
        </p:txBody>
      </p:sp>
      <p:sp>
        <p:nvSpPr>
          <p:cNvPr id="8" name="Content Placeholder 1"/>
          <p:cNvSpPr>
            <a:spLocks noGrp="1"/>
          </p:cNvSpPr>
          <p:nvPr>
            <p:ph idx="1"/>
          </p:nvPr>
        </p:nvSpPr>
        <p:spPr>
          <a:xfrm>
            <a:off x="2671618" y="358291"/>
            <a:ext cx="4952932" cy="1106129"/>
          </a:xfrm>
        </p:spPr>
        <p:txBody>
          <a:bodyPr/>
          <a:lstStyle/>
          <a:p>
            <a:pPr marL="0" indent="0">
              <a:buNone/>
            </a:pPr>
            <a:r>
              <a:rPr lang="es-ES" b="1" dirty="0"/>
              <a:t>Switches de configuración  apilable</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571099" y="618709"/>
            <a:ext cx="5867005" cy="45247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A2650745-491F-D66D-5366-E8E57C1DE6E5}"/>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19</a:t>
            </a:fld>
            <a:endParaRPr lang="en-US"/>
          </a:p>
        </p:txBody>
      </p:sp>
    </p:spTree>
    <p:extLst>
      <p:ext uri="{BB962C8B-B14F-4D97-AF65-F5344CB8AC3E}">
        <p14:creationId xmlns:p14="http://schemas.microsoft.com/office/powerpoint/2010/main" val="23807137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911611" cy="731837"/>
          </a:xfrm>
        </p:spPr>
        <p:txBody>
          <a:bodyPr/>
          <a:lstStyle/>
          <a:p>
            <a:pPr rtl="0"/>
            <a:r>
              <a:rPr lang="es-419" sz="2400" dirty="0">
                <a:solidFill>
                  <a:srgbClr val="C00000"/>
                </a:solidFill>
              </a:rPr>
              <a:t>Modos de Consola y El acceso a la administración de un switch</a:t>
            </a:r>
          </a:p>
        </p:txBody>
      </p:sp>
      <p:pic>
        <p:nvPicPr>
          <p:cNvPr id="7" name="Picture 6">
            <a:extLst>
              <a:ext uri="{FF2B5EF4-FFF2-40B4-BE49-F238E27FC236}">
                <a16:creationId xmlns:a16="http://schemas.microsoft.com/office/drawing/2014/main" id="{F30D33CE-D938-E74D-A865-30363F7C08B7}"/>
              </a:ext>
            </a:extLst>
          </p:cNvPr>
          <p:cNvPicPr>
            <a:picLocks noChangeAspect="1"/>
          </p:cNvPicPr>
          <p:nvPr/>
        </p:nvPicPr>
        <p:blipFill>
          <a:blip r:embed="rId4"/>
          <a:stretch>
            <a:fillRect/>
          </a:stretch>
        </p:blipFill>
        <p:spPr>
          <a:xfrm>
            <a:off x="5189111" y="1288244"/>
            <a:ext cx="3915564" cy="2426546"/>
          </a:xfrm>
          <a:prstGeom prst="rect">
            <a:avLst/>
          </a:prstGeom>
        </p:spPr>
      </p:pic>
      <p:pic>
        <p:nvPicPr>
          <p:cNvPr id="4" name="Imagen 3" descr="Interfaz de usuario gráfica, Texto&#10;&#10;Descripción generada automáticamente">
            <a:extLst>
              <a:ext uri="{FF2B5EF4-FFF2-40B4-BE49-F238E27FC236}">
                <a16:creationId xmlns:a16="http://schemas.microsoft.com/office/drawing/2014/main" id="{566D68F6-3816-5A44-5465-0BB12A911A8B}"/>
              </a:ext>
            </a:extLst>
          </p:cNvPr>
          <p:cNvPicPr>
            <a:picLocks noChangeAspect="1"/>
          </p:cNvPicPr>
          <p:nvPr/>
        </p:nvPicPr>
        <p:blipFill>
          <a:blip r:embed="rId5"/>
          <a:stretch>
            <a:fillRect/>
          </a:stretch>
        </p:blipFill>
        <p:spPr>
          <a:xfrm>
            <a:off x="-1957" y="1215415"/>
            <a:ext cx="5194387" cy="3041477"/>
          </a:xfrm>
          <a:prstGeom prst="rect">
            <a:avLst/>
          </a:prstGeom>
        </p:spPr>
      </p:pic>
    </p:spTree>
    <p:custDataLst>
      <p:tags r:id="rId1"/>
    </p:custDataLst>
    <p:extLst>
      <p:ext uri="{BB962C8B-B14F-4D97-AF65-F5344CB8AC3E}">
        <p14:creationId xmlns:p14="http://schemas.microsoft.com/office/powerpoint/2010/main" val="42285179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1143001" y="1715226"/>
            <a:ext cx="6941225"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5.5 VLAN</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2025-2</a:t>
            </a:r>
            <a:endParaRPr dirty="0"/>
          </a:p>
        </p:txBody>
      </p:sp>
    </p:spTree>
    <p:extLst>
      <p:ext uri="{BB962C8B-B14F-4D97-AF65-F5344CB8AC3E}">
        <p14:creationId xmlns:p14="http://schemas.microsoft.com/office/powerpoint/2010/main" val="28204422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3676"/>
            <a:ext cx="4210545" cy="789880"/>
          </a:xfrm>
        </p:spPr>
        <p:txBody>
          <a:bodyPr/>
          <a:lstStyle/>
          <a:p>
            <a:pPr rtl="0"/>
            <a:r>
              <a:rPr lang="es-419" dirty="0">
                <a:solidFill>
                  <a:srgbClr val="C00000"/>
                </a:solidFill>
              </a:rPr>
              <a:t>Definiciones de VLAN</a:t>
            </a:r>
          </a:p>
        </p:txBody>
      </p:sp>
      <p:pic>
        <p:nvPicPr>
          <p:cNvPr id="8" name="Picture 7">
            <a:extLst>
              <a:ext uri="{FF2B5EF4-FFF2-40B4-BE49-F238E27FC236}">
                <a16:creationId xmlns:a16="http://schemas.microsoft.com/office/drawing/2014/main" id="{1FFCF778-B48E-D945-89D4-AB7BC07C2607}"/>
              </a:ext>
            </a:extLst>
          </p:cNvPr>
          <p:cNvPicPr>
            <a:picLocks noChangeAspect="1"/>
          </p:cNvPicPr>
          <p:nvPr/>
        </p:nvPicPr>
        <p:blipFill>
          <a:blip r:embed="rId4"/>
          <a:stretch>
            <a:fillRect/>
          </a:stretch>
        </p:blipFill>
        <p:spPr>
          <a:xfrm>
            <a:off x="180754" y="524604"/>
            <a:ext cx="6411432" cy="4516721"/>
          </a:xfrm>
          <a:prstGeom prst="rect">
            <a:avLst/>
          </a:prstGeom>
        </p:spPr>
      </p:pic>
      <p:sp>
        <p:nvSpPr>
          <p:cNvPr id="10" name="TextBox 9">
            <a:extLst>
              <a:ext uri="{FF2B5EF4-FFF2-40B4-BE49-F238E27FC236}">
                <a16:creationId xmlns:a16="http://schemas.microsoft.com/office/drawing/2014/main" id="{55A31F25-3532-5E6A-1A49-91F9423A5A7A}"/>
              </a:ext>
            </a:extLst>
          </p:cNvPr>
          <p:cNvSpPr txBox="1"/>
          <p:nvPr/>
        </p:nvSpPr>
        <p:spPr>
          <a:xfrm>
            <a:off x="6734711" y="450772"/>
            <a:ext cx="2316822" cy="2800767"/>
          </a:xfrm>
          <a:prstGeom prst="rect">
            <a:avLst/>
          </a:prstGeom>
          <a:noFill/>
        </p:spPr>
        <p:txBody>
          <a:bodyPr wrap="square">
            <a:spAutoFit/>
          </a:bodyPr>
          <a:lstStyle/>
          <a:p>
            <a:r>
              <a:rPr lang="es-ES" sz="1600" b="0" i="0" dirty="0">
                <a:solidFill>
                  <a:srgbClr val="000000"/>
                </a:solidFill>
                <a:effectLst/>
                <a:latin typeface="Arial" panose="020B0604020202020204" pitchFamily="34" charset="0"/>
              </a:rPr>
              <a:t>Una red de área local virtual (VLAN) es una red conmutada que está segmentada lógicamente según una base organizativa, por funciones, equipos de proyecto o aplicaciones, en lugar de según una base física o geográfica</a:t>
            </a:r>
            <a:endParaRPr lang="fr-FR" sz="1600" dirty="0"/>
          </a:p>
        </p:txBody>
      </p:sp>
      <p:sp>
        <p:nvSpPr>
          <p:cNvPr id="2" name="Slide Number Placeholder 1">
            <a:extLst>
              <a:ext uri="{FF2B5EF4-FFF2-40B4-BE49-F238E27FC236}">
                <a16:creationId xmlns:a16="http://schemas.microsoft.com/office/drawing/2014/main" id="{CB84FDBE-C53A-B7FC-8196-4859ACC27801}"/>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22</a:t>
            </a:fld>
            <a:endParaRPr lang="en-US"/>
          </a:p>
        </p:txBody>
      </p:sp>
    </p:spTree>
    <p:custDataLst>
      <p:tags r:id="rId1"/>
    </p:custDataLst>
    <p:extLst>
      <p:ext uri="{BB962C8B-B14F-4D97-AF65-F5344CB8AC3E}">
        <p14:creationId xmlns:p14="http://schemas.microsoft.com/office/powerpoint/2010/main" val="23424782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4688113" cy="829464"/>
          </a:xfrm>
        </p:spPr>
        <p:txBody>
          <a:bodyPr/>
          <a:lstStyle/>
          <a:p>
            <a:pPr rtl="0"/>
            <a:r>
              <a:rPr lang="es-419" dirty="0">
                <a:solidFill>
                  <a:srgbClr val="C00000"/>
                </a:solidFill>
              </a:rPr>
              <a:t>Redes con VLAN</a:t>
            </a:r>
          </a:p>
        </p:txBody>
      </p:sp>
      <p:pic>
        <p:nvPicPr>
          <p:cNvPr id="6" name="Picture 2">
            <a:extLst>
              <a:ext uri="{FF2B5EF4-FFF2-40B4-BE49-F238E27FC236}">
                <a16:creationId xmlns:a16="http://schemas.microsoft.com/office/drawing/2014/main" id="{1CB8DA21-B9EB-43AF-8349-A3EAE618D732}"/>
              </a:ext>
            </a:extLst>
          </p:cNvPr>
          <p:cNvPicPr>
            <a:picLocks noGrp="1" noChangeAspect="1" noChangeArrowheads="1"/>
          </p:cNvPicPr>
          <p:nvPr>
            <p:ph idx="1"/>
          </p:nvPr>
        </p:nvPicPr>
        <p:blipFill>
          <a:blip r:embed="rId4" cstate="print">
            <a:extLst>
              <a:ext uri="{28A0092B-C50C-407E-A947-70E740481C1C}">
                <a14:useLocalDpi xmlns:a14="http://schemas.microsoft.com/office/drawing/2010/main" val="0"/>
              </a:ext>
            </a:extLst>
          </a:blip>
          <a:stretch>
            <a:fillRect/>
          </a:stretch>
        </p:blipFill>
        <p:spPr bwMode="auto">
          <a:xfrm>
            <a:off x="724725" y="1301130"/>
            <a:ext cx="7190550" cy="2832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Imagen 6">
            <a:extLst>
              <a:ext uri="{FF2B5EF4-FFF2-40B4-BE49-F238E27FC236}">
                <a16:creationId xmlns:a16="http://schemas.microsoft.com/office/drawing/2014/main" id="{03E1352A-483D-41AF-84AB-A888D1647F1D}"/>
              </a:ext>
            </a:extLst>
          </p:cNvPr>
          <p:cNvPicPr>
            <a:picLocks noChangeAspect="1"/>
          </p:cNvPicPr>
          <p:nvPr/>
        </p:nvPicPr>
        <p:blipFill>
          <a:blip r:embed="rId5"/>
          <a:stretch>
            <a:fillRect/>
          </a:stretch>
        </p:blipFill>
        <p:spPr>
          <a:xfrm>
            <a:off x="4774513" y="1952121"/>
            <a:ext cx="611087" cy="289874"/>
          </a:xfrm>
          <a:prstGeom prst="rect">
            <a:avLst/>
          </a:prstGeom>
        </p:spPr>
      </p:pic>
    </p:spTree>
    <p:custDataLst>
      <p:tags r:id="rId1"/>
    </p:custDataLst>
    <p:extLst>
      <p:ext uri="{BB962C8B-B14F-4D97-AF65-F5344CB8AC3E}">
        <p14:creationId xmlns:p14="http://schemas.microsoft.com/office/powerpoint/2010/main" val="138056610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30256"/>
            <a:ext cx="4210545" cy="789880"/>
          </a:xfrm>
        </p:spPr>
        <p:txBody>
          <a:bodyPr/>
          <a:lstStyle/>
          <a:p>
            <a:pPr rtl="0"/>
            <a:r>
              <a:rPr lang="es-419" dirty="0">
                <a:solidFill>
                  <a:srgbClr val="C00000"/>
                </a:solidFill>
              </a:rPr>
              <a:t>Definiciones de VLAN</a:t>
            </a:r>
          </a:p>
        </p:txBody>
      </p:sp>
      <p:sp>
        <p:nvSpPr>
          <p:cNvPr id="2" name="Content Placeholder 1"/>
          <p:cNvSpPr>
            <a:spLocks noGrp="1"/>
          </p:cNvSpPr>
          <p:nvPr>
            <p:ph idx="1"/>
          </p:nvPr>
        </p:nvSpPr>
        <p:spPr>
          <a:xfrm>
            <a:off x="4210546" y="605969"/>
            <a:ext cx="4767079" cy="4112335"/>
          </a:xfrm>
        </p:spPr>
        <p:txBody>
          <a:bodyPr/>
          <a:lstStyle/>
          <a:p>
            <a:pPr marL="0" indent="0" algn="just" rtl="0">
              <a:buNone/>
            </a:pPr>
            <a:r>
              <a:rPr lang="es-419" sz="1400" dirty="0"/>
              <a:t>Las VLAN </a:t>
            </a:r>
            <a:r>
              <a:rPr lang="es-419" sz="1400" dirty="0">
                <a:solidFill>
                  <a:srgbClr val="0000CC"/>
                </a:solidFill>
              </a:rPr>
              <a:t>son conexiones lógicas con otros dispositivos similares.</a:t>
            </a:r>
          </a:p>
          <a:p>
            <a:pPr marL="0" indent="0" algn="just" rtl="0">
              <a:buNone/>
            </a:pPr>
            <a:r>
              <a:rPr lang="es-419" sz="1400" dirty="0"/>
              <a:t>La colocación de dispositivos en varias VLAN tiene las siguientes características:</a:t>
            </a:r>
          </a:p>
          <a:p>
            <a:pPr lvl="1" algn="just" rtl="0">
              <a:buFont typeface="Arial" panose="020B0604020202020204" pitchFamily="34" charset="0"/>
              <a:buChar char="•"/>
            </a:pPr>
            <a:r>
              <a:rPr lang="es-419" dirty="0"/>
              <a:t>Proporciona segmentación de los diversos grupos de dispositivos en los mismos conmutadores</a:t>
            </a:r>
          </a:p>
          <a:p>
            <a:pPr lvl="1" algn="just" rtl="0">
              <a:buFont typeface="Arial" panose="020B0604020202020204" pitchFamily="34" charset="0"/>
              <a:buChar char="•"/>
            </a:pPr>
            <a:r>
              <a:rPr lang="es-419" dirty="0">
                <a:solidFill>
                  <a:srgbClr val="0000CC"/>
                </a:solidFill>
              </a:rPr>
              <a:t>Proporcionar una organización más manejable</a:t>
            </a:r>
          </a:p>
          <a:p>
            <a:pPr lvl="3" algn="just" rtl="0">
              <a:buFont typeface="Arial" panose="020B0604020202020204" pitchFamily="34" charset="0"/>
              <a:buChar char="•"/>
            </a:pPr>
            <a:r>
              <a:rPr lang="es-419" sz="1400" dirty="0">
                <a:effectLst>
                  <a:outerShdw blurRad="38100" dist="38100" dir="2700000" algn="tl">
                    <a:srgbClr val="000000">
                      <a:alpha val="43137"/>
                    </a:srgbClr>
                  </a:outerShdw>
                </a:effectLst>
              </a:rPr>
              <a:t>Difusiones, multidifusión y unidifusión se aíslan en la VLAN individual</a:t>
            </a:r>
          </a:p>
          <a:p>
            <a:pPr lvl="3" rtl="0">
              <a:buFont typeface="Arial" panose="020B0604020202020204" pitchFamily="34" charset="0"/>
              <a:buChar char="•"/>
            </a:pPr>
            <a:r>
              <a:rPr lang="es-419" sz="1400" dirty="0"/>
              <a:t>Cada VLAN tendrá su propia gama única de direcciones IP</a:t>
            </a:r>
          </a:p>
          <a:p>
            <a:pPr lvl="3" rtl="0">
              <a:buFont typeface="Arial" panose="020B0604020202020204" pitchFamily="34" charset="0"/>
              <a:buChar char="•"/>
            </a:pPr>
            <a:r>
              <a:rPr lang="es-419" sz="1400" dirty="0"/>
              <a:t>Dominios de difusión más pequeños (Broadcast).</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437151"/>
            <a:ext cx="4032000" cy="25035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68576238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92960"/>
            <a:ext cx="5661837" cy="690127"/>
          </a:xfrm>
        </p:spPr>
        <p:txBody>
          <a:bodyPr/>
          <a:lstStyle/>
          <a:p>
            <a:pPr rtl="0"/>
            <a:r>
              <a:rPr lang="es-419" dirty="0">
                <a:solidFill>
                  <a:srgbClr val="C00000"/>
                </a:solidFill>
              </a:rPr>
              <a:t>Beneficios de un diseño de VLAN</a:t>
            </a:r>
          </a:p>
        </p:txBody>
      </p:sp>
      <p:graphicFrame>
        <p:nvGraphicFramePr>
          <p:cNvPr id="5" name="Table 4"/>
          <p:cNvGraphicFramePr>
            <a:graphicFrameLocks noGrp="1"/>
          </p:cNvGraphicFramePr>
          <p:nvPr>
            <p:extLst>
              <p:ext uri="{D42A27DB-BD31-4B8C-83A1-F6EECF244321}">
                <p14:modId xmlns:p14="http://schemas.microsoft.com/office/powerpoint/2010/main" val="3860886446"/>
              </p:ext>
            </p:extLst>
          </p:nvPr>
        </p:nvGraphicFramePr>
        <p:xfrm>
          <a:off x="0" y="1215934"/>
          <a:ext cx="9112154" cy="2793604"/>
        </p:xfrm>
        <a:graphic>
          <a:graphicData uri="http://schemas.openxmlformats.org/drawingml/2006/table">
            <a:tbl>
              <a:tblPr firstRow="1" bandRow="1">
                <a:tableStyleId>{21E4AEA4-8DFA-4A89-87EB-49C32662AFE0}</a:tableStyleId>
              </a:tblPr>
              <a:tblGrid>
                <a:gridCol w="2288393">
                  <a:extLst>
                    <a:ext uri="{9D8B030D-6E8A-4147-A177-3AD203B41FA5}">
                      <a16:colId xmlns:a16="http://schemas.microsoft.com/office/drawing/2014/main" val="20000"/>
                    </a:ext>
                  </a:extLst>
                </a:gridCol>
                <a:gridCol w="6823761">
                  <a:extLst>
                    <a:ext uri="{9D8B030D-6E8A-4147-A177-3AD203B41FA5}">
                      <a16:colId xmlns:a16="http://schemas.microsoft.com/office/drawing/2014/main" val="20001"/>
                    </a:ext>
                  </a:extLst>
                </a:gridCol>
              </a:tblGrid>
              <a:tr h="298590">
                <a:tc>
                  <a:txBody>
                    <a:bodyPr/>
                    <a:lstStyle/>
                    <a:p>
                      <a:pPr rtl="0"/>
                      <a:r>
                        <a:rPr lang="es-419"/>
                        <a:t>Beneficios</a:t>
                      </a:r>
                    </a:p>
                  </a:txBody>
                  <a:tcPr/>
                </a:tc>
                <a:tc>
                  <a:txBody>
                    <a:bodyPr/>
                    <a:lstStyle/>
                    <a:p>
                      <a:pPr rtl="0"/>
                      <a:r>
                        <a:rPr lang="es-419"/>
                        <a:t>Descripción</a:t>
                      </a:r>
                    </a:p>
                  </a:txBody>
                  <a:tcPr/>
                </a:tc>
                <a:extLst>
                  <a:ext uri="{0D108BD9-81ED-4DB2-BD59-A6C34878D82A}">
                    <a16:rowId xmlns:a16="http://schemas.microsoft.com/office/drawing/2014/main" val="10000"/>
                  </a:ext>
                </a:extLst>
              </a:tr>
              <a:tr h="353569">
                <a:tc>
                  <a:txBody>
                    <a:bodyPr/>
                    <a:lstStyle/>
                    <a:p>
                      <a:pPr rtl="0"/>
                      <a:r>
                        <a:rPr lang="es-419" baseline="0" dirty="0"/>
                        <a:t>Dominios de difusión más pequeños</a:t>
                      </a:r>
                    </a:p>
                  </a:txBody>
                  <a:tcPr/>
                </a:tc>
                <a:tc>
                  <a:txBody>
                    <a:bodyPr/>
                    <a:lstStyle/>
                    <a:p>
                      <a:pPr rtl="0"/>
                      <a:r>
                        <a:rPr lang="es-419"/>
                        <a:t>Dividir</a:t>
                      </a:r>
                      <a:r>
                        <a:rPr lang="es-419" baseline="0"/>
                        <a:t> la LAN reduce el número de dominios de difusión</a:t>
                      </a:r>
                    </a:p>
                  </a:txBody>
                  <a:tcPr/>
                </a:tc>
                <a:extLst>
                  <a:ext uri="{0D108BD9-81ED-4DB2-BD59-A6C34878D82A}">
                    <a16:rowId xmlns:a16="http://schemas.microsoft.com/office/drawing/2014/main" val="10001"/>
                  </a:ext>
                </a:extLst>
              </a:tr>
              <a:tr h="310896">
                <a:tc>
                  <a:txBody>
                    <a:bodyPr/>
                    <a:lstStyle/>
                    <a:p>
                      <a:pPr rtl="0"/>
                      <a:r>
                        <a:rPr lang="es-419" baseline="0" dirty="0"/>
                        <a:t>Seguridad</a:t>
                      </a:r>
                      <a:r>
                        <a:rPr lang="es-419" dirty="0"/>
                        <a:t> mejorada</a:t>
                      </a:r>
                    </a:p>
                  </a:txBody>
                  <a:tcPr/>
                </a:tc>
                <a:tc>
                  <a:txBody>
                    <a:bodyPr/>
                    <a:lstStyle/>
                    <a:p>
                      <a:pPr rtl="0"/>
                      <a:r>
                        <a:rPr lang="es-419"/>
                        <a:t>Solo los usuarios</a:t>
                      </a:r>
                      <a:r>
                        <a:rPr lang="es-419" baseline="0"/>
                        <a:t> de la misma VLAN pueden comunicarse juntos</a:t>
                      </a:r>
                    </a:p>
                  </a:txBody>
                  <a:tcPr/>
                </a:tc>
                <a:extLst>
                  <a:ext uri="{0D108BD9-81ED-4DB2-BD59-A6C34878D82A}">
                    <a16:rowId xmlns:a16="http://schemas.microsoft.com/office/drawing/2014/main" val="10002"/>
                  </a:ext>
                </a:extLst>
              </a:tr>
              <a:tr h="530352">
                <a:tc>
                  <a:txBody>
                    <a:bodyPr/>
                    <a:lstStyle/>
                    <a:p>
                      <a:pPr rtl="0"/>
                      <a:r>
                        <a:rPr lang="es-419"/>
                        <a:t>Eficiencia de TI mejorada</a:t>
                      </a:r>
                    </a:p>
                  </a:txBody>
                  <a:tcPr/>
                </a:tc>
                <a:tc>
                  <a:txBody>
                    <a:bodyPr/>
                    <a:lstStyle/>
                    <a:p>
                      <a:pPr rtl="0"/>
                      <a:r>
                        <a:rPr lang="es-419"/>
                        <a:t>Las VLAN pueden agrupar dispositivos con requisitos similares, por ejemplo, profesores frente a estudiantes</a:t>
                      </a:r>
                    </a:p>
                  </a:txBody>
                  <a:tcPr/>
                </a:tc>
                <a:extLst>
                  <a:ext uri="{0D108BD9-81ED-4DB2-BD59-A6C34878D82A}">
                    <a16:rowId xmlns:a16="http://schemas.microsoft.com/office/drawing/2014/main" val="10003"/>
                  </a:ext>
                </a:extLst>
              </a:tr>
              <a:tr h="298590">
                <a:tc>
                  <a:txBody>
                    <a:bodyPr/>
                    <a:lstStyle/>
                    <a:p>
                      <a:pPr rtl="0"/>
                      <a:r>
                        <a:rPr lang="es-419"/>
                        <a:t>Reducción de costos</a:t>
                      </a:r>
                    </a:p>
                  </a:txBody>
                  <a:tcPr/>
                </a:tc>
                <a:tc>
                  <a:txBody>
                    <a:bodyPr/>
                    <a:lstStyle/>
                    <a:p>
                      <a:pPr rtl="0"/>
                      <a:r>
                        <a:rPr lang="es-419"/>
                        <a:t>Un</a:t>
                      </a:r>
                      <a:r>
                        <a:rPr lang="es-419" baseline="0"/>
                        <a:t> switch puede admitir varios grupos o VLAN</a:t>
                      </a:r>
                    </a:p>
                  </a:txBody>
                  <a:tcPr/>
                </a:tc>
                <a:extLst>
                  <a:ext uri="{0D108BD9-81ED-4DB2-BD59-A6C34878D82A}">
                    <a16:rowId xmlns:a16="http://schemas.microsoft.com/office/drawing/2014/main" val="10004"/>
                  </a:ext>
                </a:extLst>
              </a:tr>
              <a:tr h="316992">
                <a:tc>
                  <a:txBody>
                    <a:bodyPr/>
                    <a:lstStyle/>
                    <a:p>
                      <a:pPr rtl="0"/>
                      <a:r>
                        <a:rPr lang="es-419"/>
                        <a:t>Mejor rendimiento</a:t>
                      </a:r>
                    </a:p>
                  </a:txBody>
                  <a:tcPr/>
                </a:tc>
                <a:tc>
                  <a:txBody>
                    <a:bodyPr/>
                    <a:lstStyle/>
                    <a:p>
                      <a:pPr rtl="0"/>
                      <a:r>
                        <a:rPr lang="es-419"/>
                        <a:t>Los pequeños dominios de difusión</a:t>
                      </a:r>
                      <a:r>
                        <a:rPr lang="es-419" baseline="0"/>
                        <a:t> reducen el tráfico y mejoran el ancho de banda</a:t>
                      </a:r>
                    </a:p>
                  </a:txBody>
                  <a:tcPr/>
                </a:tc>
                <a:extLst>
                  <a:ext uri="{0D108BD9-81ED-4DB2-BD59-A6C34878D82A}">
                    <a16:rowId xmlns:a16="http://schemas.microsoft.com/office/drawing/2014/main" val="10005"/>
                  </a:ext>
                </a:extLst>
              </a:tr>
              <a:tr h="507604">
                <a:tc>
                  <a:txBody>
                    <a:bodyPr/>
                    <a:lstStyle/>
                    <a:p>
                      <a:pPr rtl="0"/>
                      <a:r>
                        <a:rPr lang="es-419"/>
                        <a:t>Simpler</a:t>
                      </a:r>
                      <a:r>
                        <a:rPr lang="es-419" baseline="0"/>
                        <a:t> Management</a:t>
                      </a:r>
                    </a:p>
                  </a:txBody>
                  <a:tcPr/>
                </a:tc>
                <a:tc>
                  <a:txBody>
                    <a:bodyPr/>
                    <a:lstStyle/>
                    <a:p>
                      <a:pPr rtl="0"/>
                      <a:r>
                        <a:rPr lang="es-419" dirty="0"/>
                        <a:t>Grupos similares necesitarán aplicaciones similares</a:t>
                      </a:r>
                      <a:r>
                        <a:rPr lang="es-419" baseline="0" dirty="0"/>
                        <a:t> y otros recursos de red</a:t>
                      </a:r>
                    </a:p>
                  </a:txBody>
                  <a:tcPr/>
                </a:tc>
                <a:extLst>
                  <a:ext uri="{0D108BD9-81ED-4DB2-BD59-A6C34878D82A}">
                    <a16:rowId xmlns:a16="http://schemas.microsoft.com/office/drawing/2014/main" val="10006"/>
                  </a:ext>
                </a:extLst>
              </a:tr>
            </a:tbl>
          </a:graphicData>
        </a:graphic>
      </p:graphicFrame>
      <p:sp>
        <p:nvSpPr>
          <p:cNvPr id="2" name="Slide Number Placeholder 1">
            <a:extLst>
              <a:ext uri="{FF2B5EF4-FFF2-40B4-BE49-F238E27FC236}">
                <a16:creationId xmlns:a16="http://schemas.microsoft.com/office/drawing/2014/main" id="{0CA502A5-042D-0E94-BA6D-D11ADAF95488}"/>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25</a:t>
            </a:fld>
            <a:endParaRPr lang="en-US"/>
          </a:p>
        </p:txBody>
      </p:sp>
    </p:spTree>
    <p:custDataLst>
      <p:tags r:id="rId1"/>
    </p:custDataLst>
    <p:extLst>
      <p:ext uri="{BB962C8B-B14F-4D97-AF65-F5344CB8AC3E}">
        <p14:creationId xmlns:p14="http://schemas.microsoft.com/office/powerpoint/2010/main" val="35292127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9144000" cy="635263"/>
          </a:xfrm>
        </p:spPr>
        <p:txBody>
          <a:bodyPr/>
          <a:lstStyle/>
          <a:p>
            <a:pPr rtl="0"/>
            <a:r>
              <a:rPr lang="es-419" dirty="0">
                <a:solidFill>
                  <a:srgbClr val="C00000"/>
                </a:solidFill>
              </a:rPr>
              <a:t>Tipos de VLAN</a:t>
            </a:r>
          </a:p>
        </p:txBody>
      </p:sp>
      <p:sp>
        <p:nvSpPr>
          <p:cNvPr id="8195" name="Rectangle 6"/>
          <p:cNvSpPr>
            <a:spLocks noGrp="1" noChangeArrowheads="1"/>
          </p:cNvSpPr>
          <p:nvPr>
            <p:ph idx="1"/>
          </p:nvPr>
        </p:nvSpPr>
        <p:spPr>
          <a:xfrm>
            <a:off x="183088" y="676656"/>
            <a:ext cx="8873087" cy="4348827"/>
          </a:xfrm>
        </p:spPr>
        <p:txBody>
          <a:bodyPr/>
          <a:lstStyle/>
          <a:p>
            <a:pPr marL="0" indent="0" rtl="0">
              <a:buNone/>
            </a:pPr>
            <a:r>
              <a:rPr lang="es-419" sz="1200" b="1" dirty="0"/>
              <a:t>VLAN predeterminada (VLAN 1)</a:t>
            </a:r>
          </a:p>
          <a:p>
            <a:pPr lvl="1" rtl="0">
              <a:buFont typeface="Arial" panose="020B0604020202020204" pitchFamily="34" charset="0"/>
              <a:buChar char="•"/>
            </a:pPr>
            <a:r>
              <a:rPr lang="es-419" sz="1200" dirty="0"/>
              <a:t>La VLAN predeterminada</a:t>
            </a:r>
          </a:p>
          <a:p>
            <a:pPr lvl="1" rtl="0">
              <a:buFont typeface="Arial" panose="020B0604020202020204" pitchFamily="34" charset="0"/>
              <a:buChar char="•"/>
            </a:pPr>
            <a:r>
              <a:rPr lang="es-419" sz="1200" dirty="0"/>
              <a:t>La VLAN predeterminada para puertos de acceso sin VLAN asignada</a:t>
            </a:r>
          </a:p>
          <a:p>
            <a:pPr lvl="1" rtl="0">
              <a:buFont typeface="Arial" panose="020B0604020202020204" pitchFamily="34" charset="0"/>
              <a:buChar char="•"/>
            </a:pPr>
            <a:r>
              <a:rPr lang="es-419" sz="1200" dirty="0"/>
              <a:t>No se puede eliminar ni cambiar el nombre</a:t>
            </a:r>
          </a:p>
          <a:p>
            <a:pPr marL="0" indent="0" rtl="0">
              <a:buNone/>
            </a:pPr>
            <a:r>
              <a:rPr lang="es-419" sz="1200" b="1" dirty="0"/>
              <a:t>VLAN de datos </a:t>
            </a:r>
          </a:p>
          <a:p>
            <a:pPr rtl="0">
              <a:buFont typeface="Arial" panose="020B0604020202020204" pitchFamily="34" charset="0"/>
              <a:buChar char="•"/>
            </a:pPr>
            <a:r>
              <a:rPr lang="es-419" sz="1200" dirty="0"/>
              <a:t>Dedicado al tráfico generado por el usuario (correo electrónico y tráfico web). </a:t>
            </a:r>
          </a:p>
          <a:p>
            <a:pPr rtl="0">
              <a:buFont typeface="Arial" panose="020B0604020202020204" pitchFamily="34" charset="0"/>
              <a:buChar char="•"/>
            </a:pPr>
            <a:r>
              <a:rPr lang="es-419" sz="1200" dirty="0"/>
              <a:t>VLAN 1 es la VLAN de datos predeterminada porque todas las interfaces están asignadas a esta VLAN.</a:t>
            </a:r>
          </a:p>
          <a:p>
            <a:pPr marL="0" indent="0" rtl="0">
              <a:buNone/>
            </a:pPr>
            <a:r>
              <a:rPr lang="es-419" sz="1200" b="1" dirty="0"/>
              <a:t>VLAN nativa</a:t>
            </a:r>
          </a:p>
          <a:p>
            <a:pPr rtl="0">
              <a:buFont typeface="Arial" panose="020B0604020202020204" pitchFamily="34" charset="0"/>
              <a:buChar char="•"/>
            </a:pPr>
            <a:r>
              <a:rPr lang="es-419" sz="1200" dirty="0"/>
              <a:t>Esto se utiliza sólo para enlaces troncales. Debe ser la misma en ambos switches del </a:t>
            </a:r>
            <a:r>
              <a:rPr lang="es-419" sz="1200" dirty="0" err="1"/>
              <a:t>trunk</a:t>
            </a:r>
            <a:endParaRPr lang="es-419" sz="1200" dirty="0"/>
          </a:p>
          <a:p>
            <a:pPr>
              <a:buFont typeface="Arial" panose="020B0604020202020204" pitchFamily="34" charset="0"/>
              <a:buChar char="•"/>
            </a:pPr>
            <a:r>
              <a:rPr lang="es-419" sz="1200" dirty="0"/>
              <a:t>Usada para tráfico sin etiqueta VLAN, como switches sin capacidad VLAN </a:t>
            </a:r>
          </a:p>
          <a:p>
            <a:pPr rtl="0">
              <a:buFont typeface="Arial" panose="020B0604020202020204" pitchFamily="34" charset="0"/>
              <a:buChar char="•"/>
            </a:pPr>
            <a:r>
              <a:rPr lang="es-419" sz="1200" dirty="0"/>
              <a:t>Todas las tramas están etiquetadas en un enlace troncal 802.1Q excepto las de la VLAN nativa. </a:t>
            </a:r>
          </a:p>
          <a:p>
            <a:pPr marL="0" indent="0" rtl="0">
              <a:buNone/>
            </a:pPr>
            <a:r>
              <a:rPr lang="es-419" sz="1200" b="1" dirty="0"/>
              <a:t>VLAN de administración </a:t>
            </a:r>
          </a:p>
          <a:p>
            <a:pPr rtl="0">
              <a:buFont typeface="Arial" panose="020B0604020202020204" pitchFamily="34" charset="0"/>
              <a:buChar char="•"/>
            </a:pPr>
            <a:r>
              <a:rPr lang="es-419" sz="1200" dirty="0"/>
              <a:t>Esto se utiliza para el tráfico SSH/Telnet VTY y no debe ser llevado con el tráfico de usuario final.</a:t>
            </a:r>
          </a:p>
          <a:p>
            <a:pPr rtl="0">
              <a:buFont typeface="Arial" panose="020B0604020202020204" pitchFamily="34" charset="0"/>
              <a:buChar char="•"/>
            </a:pPr>
            <a:r>
              <a:rPr lang="es-419" sz="1200" dirty="0"/>
              <a:t>Normalmente, la VLAN que es el SVI para el conmutador de capa 2. </a:t>
            </a:r>
          </a:p>
          <a:p>
            <a:pPr>
              <a:buFont typeface="Arial" panose="020B0604020202020204" pitchFamily="34" charset="0"/>
              <a:buChar char="•"/>
            </a:pPr>
            <a:endParaRPr lang="en-US" sz="1200" dirty="0"/>
          </a:p>
          <a:p>
            <a:pPr marL="0" indent="0" rtl="0">
              <a:buNone/>
            </a:pPr>
            <a:r>
              <a:rPr lang="es-419" sz="1200" dirty="0"/>
              <a:t>   </a:t>
            </a:r>
          </a:p>
        </p:txBody>
      </p:sp>
      <p:sp>
        <p:nvSpPr>
          <p:cNvPr id="2" name="Slide Number Placeholder 1">
            <a:extLst>
              <a:ext uri="{FF2B5EF4-FFF2-40B4-BE49-F238E27FC236}">
                <a16:creationId xmlns:a16="http://schemas.microsoft.com/office/drawing/2014/main" id="{31A86134-C64F-BFFA-16CB-8D472712A3ED}"/>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26</a:t>
            </a:fld>
            <a:endParaRPr lang="en-US"/>
          </a:p>
        </p:txBody>
      </p:sp>
    </p:spTree>
    <p:extLst>
      <p:ext uri="{BB962C8B-B14F-4D97-AF65-F5344CB8AC3E}">
        <p14:creationId xmlns:p14="http://schemas.microsoft.com/office/powerpoint/2010/main" val="7925027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es-419" dirty="0">
                <a:solidFill>
                  <a:srgbClr val="C00000"/>
                </a:solidFill>
              </a:rPr>
              <a:t>Tipos de VLAN (Cont.)</a:t>
            </a:r>
          </a:p>
        </p:txBody>
      </p:sp>
      <p:sp>
        <p:nvSpPr>
          <p:cNvPr id="8195" name="Rectangle 6"/>
          <p:cNvSpPr>
            <a:spLocks noGrp="1" noChangeArrowheads="1"/>
          </p:cNvSpPr>
          <p:nvPr>
            <p:ph idx="1"/>
          </p:nvPr>
        </p:nvSpPr>
        <p:spPr>
          <a:xfrm>
            <a:off x="124609" y="894073"/>
            <a:ext cx="4657703" cy="3723647"/>
          </a:xfrm>
        </p:spPr>
        <p:txBody>
          <a:bodyPr/>
          <a:lstStyle/>
          <a:p>
            <a:pPr marL="0" indent="0" rtl="0">
              <a:buNone/>
            </a:pPr>
            <a:r>
              <a:rPr lang="es-419" sz="1600" b="1"/>
              <a:t>VLAN de voz  </a:t>
            </a:r>
          </a:p>
          <a:p>
            <a:pPr lvl="1" rtl="0">
              <a:buFont typeface="Arial" panose="020B0604020202020204" pitchFamily="34" charset="0"/>
              <a:buChar char="•"/>
            </a:pPr>
            <a:r>
              <a:rPr lang="es-419" sz="1600"/>
              <a:t>Se requiere una VLAN separada porque el tráfico de voz requiere:</a:t>
            </a:r>
          </a:p>
          <a:p>
            <a:pPr lvl="3" rtl="0">
              <a:buFont typeface="Arial" panose="020B0604020202020204" pitchFamily="34" charset="0"/>
              <a:buChar char="•"/>
            </a:pPr>
            <a:r>
              <a:rPr lang="es-419" sz="1600"/>
              <a:t>Ancho de banda asegurado</a:t>
            </a:r>
          </a:p>
          <a:p>
            <a:pPr lvl="3" rtl="0">
              <a:buFont typeface="Arial" panose="020B0604020202020204" pitchFamily="34" charset="0"/>
              <a:buChar char="•"/>
            </a:pPr>
            <a:r>
              <a:rPr lang="es-419" sz="1600"/>
              <a:t>Alta prioridad de QoS</a:t>
            </a:r>
          </a:p>
          <a:p>
            <a:pPr lvl="3" rtl="0">
              <a:buFont typeface="Arial" panose="020B0604020202020204" pitchFamily="34" charset="0"/>
              <a:buChar char="•"/>
            </a:pPr>
            <a:r>
              <a:rPr lang="es-419" sz="1600"/>
              <a:t>Capacidad para evitar la congestión</a:t>
            </a:r>
          </a:p>
          <a:p>
            <a:pPr lvl="3" rtl="0">
              <a:buFont typeface="Arial" panose="020B0604020202020204" pitchFamily="34" charset="0"/>
              <a:buChar char="•"/>
            </a:pPr>
            <a:r>
              <a:rPr lang="es-419" sz="1600"/>
              <a:t>Retraso menos de 150 ms desde el origen hasta el destino</a:t>
            </a:r>
          </a:p>
          <a:p>
            <a:pPr lvl="1" rtl="0">
              <a:buFont typeface="Arial" panose="020B0604020202020204" pitchFamily="34" charset="0"/>
              <a:buChar char="•"/>
            </a:pPr>
            <a:r>
              <a:rPr lang="es-419" sz="1600"/>
              <a:t>Toda la red debe estar diseñada para admitir la voz.</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8876" y="923544"/>
            <a:ext cx="3777162" cy="30590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7D31BCBE-C3A4-F6A1-133F-B2F2486000B0}"/>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27</a:t>
            </a:fld>
            <a:endParaRPr lang="en-US"/>
          </a:p>
        </p:txBody>
      </p:sp>
    </p:spTree>
    <p:extLst>
      <p:ext uri="{BB962C8B-B14F-4D97-AF65-F5344CB8AC3E}">
        <p14:creationId xmlns:p14="http://schemas.microsoft.com/office/powerpoint/2010/main" val="24343486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9011652" cy="757551"/>
          </a:xfrm>
        </p:spPr>
        <p:txBody>
          <a:bodyPr/>
          <a:lstStyle/>
          <a:p>
            <a:pPr rtl="0"/>
            <a:r>
              <a:rPr lang="es-419" dirty="0">
                <a:solidFill>
                  <a:srgbClr val="C00000"/>
                </a:solidFill>
              </a:rPr>
              <a:t>Múltiple Redes sin VLAN</a:t>
            </a:r>
          </a:p>
        </p:txBody>
      </p:sp>
      <p:sp>
        <p:nvSpPr>
          <p:cNvPr id="8195" name="Rectangle 6"/>
          <p:cNvSpPr>
            <a:spLocks noGrp="1" noChangeArrowheads="1"/>
          </p:cNvSpPr>
          <p:nvPr>
            <p:ph idx="1"/>
          </p:nvPr>
        </p:nvSpPr>
        <p:spPr>
          <a:xfrm>
            <a:off x="261256" y="856343"/>
            <a:ext cx="8526128" cy="755889"/>
          </a:xfrm>
        </p:spPr>
        <p:txBody>
          <a:bodyPr/>
          <a:lstStyle/>
          <a:p>
            <a:pPr marL="0" indent="0" rtl="0">
              <a:buNone/>
            </a:pPr>
            <a:r>
              <a:rPr lang="es-419" sz="1600"/>
              <a:t>Sin VLAN, todos los dispositivos conectados a los switches recibirán todo el tráfico de unidifusión, multidifusión y difusión.</a:t>
            </a:r>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0985" y="1923401"/>
            <a:ext cx="4637831" cy="2785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40F67D18-A54C-D1C2-A168-884D7761BE89}"/>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28</a:t>
            </a:fld>
            <a:endParaRPr lang="en-US"/>
          </a:p>
        </p:txBody>
      </p:sp>
    </p:spTree>
    <p:custDataLst>
      <p:tags r:id="rId1"/>
    </p:custDataLst>
    <p:extLst>
      <p:ext uri="{BB962C8B-B14F-4D97-AF65-F5344CB8AC3E}">
        <p14:creationId xmlns:p14="http://schemas.microsoft.com/office/powerpoint/2010/main" val="40279099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4688113" cy="829464"/>
          </a:xfrm>
        </p:spPr>
        <p:txBody>
          <a:bodyPr/>
          <a:lstStyle/>
          <a:p>
            <a:pPr rtl="0"/>
            <a:r>
              <a:rPr lang="es-419" dirty="0">
                <a:solidFill>
                  <a:srgbClr val="C00000"/>
                </a:solidFill>
              </a:rPr>
              <a:t>Redes con VLAN</a:t>
            </a:r>
          </a:p>
        </p:txBody>
      </p:sp>
      <p:sp>
        <p:nvSpPr>
          <p:cNvPr id="8195" name="Rectangle 6"/>
          <p:cNvSpPr>
            <a:spLocks noGrp="1" noChangeArrowheads="1"/>
          </p:cNvSpPr>
          <p:nvPr>
            <p:ph idx="1"/>
          </p:nvPr>
        </p:nvSpPr>
        <p:spPr>
          <a:xfrm>
            <a:off x="203200" y="986971"/>
            <a:ext cx="8712199" cy="768677"/>
          </a:xfrm>
        </p:spPr>
        <p:txBody>
          <a:bodyPr/>
          <a:lstStyle/>
          <a:p>
            <a:pPr marL="0" indent="0" rtl="0">
              <a:buNone/>
            </a:pPr>
            <a:r>
              <a:rPr lang="es-419" sz="1600"/>
              <a:t>Con las VLAN, el tráfico de unidifusión, multidifusión y difusión se limita a una VLAN. Sin un dispositivo de capa 3 para conectar las VLAN, los dispositivos de diferentes VLAN no pueden comunicarse. </a:t>
            </a:r>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193" y="2022005"/>
            <a:ext cx="4763931" cy="2670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678BFE85-C981-EB3D-8FC0-5C5E2833AA12}"/>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29</a:t>
            </a:fld>
            <a:endParaRPr lang="en-US"/>
          </a:p>
        </p:txBody>
      </p:sp>
      <p:pic>
        <p:nvPicPr>
          <p:cNvPr id="3" name="Picture 2">
            <a:extLst>
              <a:ext uri="{FF2B5EF4-FFF2-40B4-BE49-F238E27FC236}">
                <a16:creationId xmlns:a16="http://schemas.microsoft.com/office/drawing/2014/main" id="{D651B63A-2CCA-6075-2976-B0B63DC2D8D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4868546" y="2308091"/>
            <a:ext cx="3943350" cy="11974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5741446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9006840" cy="829464"/>
          </a:xfrm>
        </p:spPr>
        <p:txBody>
          <a:bodyPr/>
          <a:lstStyle/>
          <a:p>
            <a:pPr rtl="0"/>
            <a:r>
              <a:rPr lang="es-419" dirty="0">
                <a:solidFill>
                  <a:srgbClr val="C00000"/>
                </a:solidFill>
              </a:rPr>
              <a:t>VLAN nativas y etiquetado 802.1Q</a:t>
            </a:r>
          </a:p>
        </p:txBody>
      </p:sp>
      <p:sp>
        <p:nvSpPr>
          <p:cNvPr id="8195" name="Rectangle 6"/>
          <p:cNvSpPr>
            <a:spLocks noGrp="1" noChangeArrowheads="1"/>
          </p:cNvSpPr>
          <p:nvPr>
            <p:ph idx="1"/>
          </p:nvPr>
        </p:nvSpPr>
        <p:spPr>
          <a:xfrm>
            <a:off x="203201" y="986970"/>
            <a:ext cx="4572000" cy="3414045"/>
          </a:xfrm>
        </p:spPr>
        <p:txBody>
          <a:bodyPr/>
          <a:lstStyle/>
          <a:p>
            <a:pPr marL="0" indent="0" rtl="0">
              <a:buNone/>
            </a:pPr>
            <a:r>
              <a:rPr lang="es-419" sz="1600"/>
              <a:t>Conceptos básicos del tronco 802.1Q:</a:t>
            </a:r>
          </a:p>
          <a:p>
            <a:pPr rtl="0">
              <a:buFont typeface="Arial" panose="020B0604020202020204" pitchFamily="34" charset="0"/>
              <a:buChar char="•"/>
            </a:pPr>
            <a:r>
              <a:rPr lang="es-419" sz="1600"/>
              <a:t>El etiquetado se realiza normalmente en todas las VLAN.</a:t>
            </a:r>
          </a:p>
          <a:p>
            <a:pPr rtl="0">
              <a:buFont typeface="Arial" panose="020B0604020202020204" pitchFamily="34" charset="0"/>
              <a:buChar char="•"/>
            </a:pPr>
            <a:r>
              <a:rPr lang="es-419" sz="1600"/>
              <a:t>El uso de una VLAN nativa se diseñó para uso heredado, como el concentrador en el ejemplo.</a:t>
            </a:r>
          </a:p>
          <a:p>
            <a:pPr rtl="0">
              <a:buFont typeface="Arial" panose="020B0604020202020204" pitchFamily="34" charset="0"/>
              <a:buChar char="•"/>
            </a:pPr>
            <a:r>
              <a:rPr lang="es-419" sz="1600"/>
              <a:t>A menos que se modifique, VLAN1 es la VLAN nativa.</a:t>
            </a:r>
          </a:p>
          <a:p>
            <a:pPr rtl="0">
              <a:buFont typeface="Arial" panose="020B0604020202020204" pitchFamily="34" charset="0"/>
              <a:buChar char="•"/>
            </a:pPr>
            <a:r>
              <a:rPr lang="es-419" sz="1600"/>
              <a:t>Ambos extremos de un enlace troncal deben configurarse con la misma VLAN nativa.</a:t>
            </a:r>
          </a:p>
          <a:p>
            <a:pPr rtl="0">
              <a:buFont typeface="Arial" panose="020B0604020202020204" pitchFamily="34" charset="0"/>
              <a:buChar char="•"/>
            </a:pPr>
            <a:r>
              <a:rPr lang="es-419" sz="1600"/>
              <a:t>Cada troncal se configura por separado, por lo que es posible tener una VLAN nativa diferente en troncos separados.</a:t>
            </a:r>
          </a:p>
        </p:txBody>
      </p:sp>
      <p:pic>
        <p:nvPicPr>
          <p:cNvPr id="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2789" y="1317324"/>
            <a:ext cx="3962848" cy="2797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48DDEF58-39A5-6C97-074A-41332BB3295C}"/>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30</a:t>
            </a:fld>
            <a:endParaRPr lang="en-US"/>
          </a:p>
        </p:txBody>
      </p:sp>
    </p:spTree>
    <p:custDataLst>
      <p:tags r:id="rId1"/>
    </p:custDataLst>
    <p:extLst>
      <p:ext uri="{BB962C8B-B14F-4D97-AF65-F5344CB8AC3E}">
        <p14:creationId xmlns:p14="http://schemas.microsoft.com/office/powerpoint/2010/main" val="13087407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1143001" y="1715226"/>
            <a:ext cx="6941225"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5.6 </a:t>
            </a:r>
            <a:r>
              <a:rPr lang="es-ES" sz="4000" dirty="0" err="1">
                <a:solidFill>
                  <a:schemeClr val="bg1"/>
                </a:solidFill>
                <a:effectLst>
                  <a:outerShdw blurRad="38100" dist="38100" dir="2700000" algn="tl">
                    <a:srgbClr val="000000">
                      <a:alpha val="43137"/>
                    </a:srgbClr>
                  </a:outerShdw>
                </a:effectLst>
                <a:latin typeface="Arial"/>
                <a:ea typeface="Arial"/>
                <a:cs typeface="Arial"/>
                <a:sym typeface="Arial"/>
              </a:rPr>
              <a:t>Trunking</a:t>
            </a: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 VLAN</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2025-2</a:t>
            </a:r>
            <a:endParaRPr dirty="0"/>
          </a:p>
        </p:txBody>
      </p:sp>
    </p:spTree>
    <p:extLst>
      <p:ext uri="{BB962C8B-B14F-4D97-AF65-F5344CB8AC3E}">
        <p14:creationId xmlns:p14="http://schemas.microsoft.com/office/powerpoint/2010/main" val="16265597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es-419" dirty="0">
                <a:solidFill>
                  <a:srgbClr val="C00000"/>
                </a:solidFill>
              </a:rPr>
              <a:t>Definición de troncales de VLAN</a:t>
            </a:r>
          </a:p>
        </p:txBody>
      </p:sp>
      <p:sp>
        <p:nvSpPr>
          <p:cNvPr id="8195" name="Rectangle 6"/>
          <p:cNvSpPr>
            <a:spLocks noGrp="1" noChangeArrowheads="1"/>
          </p:cNvSpPr>
          <p:nvPr>
            <p:ph idx="1"/>
          </p:nvPr>
        </p:nvSpPr>
        <p:spPr>
          <a:xfrm>
            <a:off x="246742" y="798945"/>
            <a:ext cx="4184809" cy="3827919"/>
          </a:xfrm>
        </p:spPr>
        <p:txBody>
          <a:bodyPr/>
          <a:lstStyle/>
          <a:p>
            <a:pPr marL="0" indent="0" rtl="0">
              <a:buNone/>
            </a:pPr>
            <a:r>
              <a:rPr lang="es-419" sz="1600" dirty="0"/>
              <a:t>Un enlace troncal es un enlace punto a punto entre dos dispositivos de red.</a:t>
            </a:r>
          </a:p>
          <a:p>
            <a:pPr marL="0" indent="0" rtl="0">
              <a:buNone/>
            </a:pPr>
            <a:r>
              <a:rPr lang="es-419" sz="1600" dirty="0"/>
              <a:t>Funciones troncal de Cisco:</a:t>
            </a:r>
          </a:p>
          <a:p>
            <a:pPr rtl="0">
              <a:buFont typeface="Arial" panose="020B0604020202020204" pitchFamily="34" charset="0"/>
              <a:buChar char="•"/>
            </a:pPr>
            <a:r>
              <a:rPr lang="es-419" sz="1600" dirty="0"/>
              <a:t>Permitir más de una VLAN</a:t>
            </a:r>
          </a:p>
          <a:p>
            <a:pPr rtl="0">
              <a:buFont typeface="Arial" panose="020B0604020202020204" pitchFamily="34" charset="0"/>
              <a:buChar char="•"/>
            </a:pPr>
            <a:r>
              <a:rPr lang="es-419" sz="1600" dirty="0"/>
              <a:t>Extender la VLAN a través de toda la red</a:t>
            </a:r>
          </a:p>
          <a:p>
            <a:pPr rtl="0">
              <a:buFont typeface="Arial" panose="020B0604020202020204" pitchFamily="34" charset="0"/>
              <a:buChar char="•"/>
            </a:pPr>
            <a:r>
              <a:rPr lang="es-419" sz="1600" dirty="0"/>
              <a:t>De forma predeterminada, admite todas las VLAN</a:t>
            </a:r>
          </a:p>
          <a:p>
            <a:pPr rtl="0">
              <a:buFont typeface="Arial" panose="020B0604020202020204" pitchFamily="34" charset="0"/>
              <a:buChar char="•"/>
            </a:pPr>
            <a:r>
              <a:rPr lang="es-419" sz="1600" dirty="0"/>
              <a:t>Soporta enlace troncal 802.1Q</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1551" y="1327641"/>
            <a:ext cx="4718800" cy="24882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41CAA037-95C4-CA91-61A9-A9BD9DADC316}"/>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32</a:t>
            </a:fld>
            <a:endParaRPr lang="en-US"/>
          </a:p>
        </p:txBody>
      </p:sp>
    </p:spTree>
    <p:custDataLst>
      <p:tags r:id="rId1"/>
    </p:custDataLst>
    <p:extLst>
      <p:ext uri="{BB962C8B-B14F-4D97-AF65-F5344CB8AC3E}">
        <p14:creationId xmlns:p14="http://schemas.microsoft.com/office/powerpoint/2010/main" val="5523988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38895"/>
            <a:ext cx="5782101" cy="781567"/>
          </a:xfrm>
        </p:spPr>
        <p:txBody>
          <a:bodyPr/>
          <a:lstStyle/>
          <a:p>
            <a:pPr rtl="0"/>
            <a:r>
              <a:rPr lang="es-419" dirty="0">
                <a:solidFill>
                  <a:srgbClr val="C00000"/>
                </a:solidFill>
              </a:rPr>
              <a:t>Identificación de VLAN con una etiqueta</a:t>
            </a:r>
          </a:p>
        </p:txBody>
      </p:sp>
      <p:sp>
        <p:nvSpPr>
          <p:cNvPr id="8195" name="Rectangle 6"/>
          <p:cNvSpPr>
            <a:spLocks noGrp="1" noChangeArrowheads="1"/>
          </p:cNvSpPr>
          <p:nvPr>
            <p:ph idx="1"/>
          </p:nvPr>
        </p:nvSpPr>
        <p:spPr>
          <a:xfrm>
            <a:off x="175768" y="804090"/>
            <a:ext cx="5307394" cy="1811093"/>
          </a:xfrm>
        </p:spPr>
        <p:txBody>
          <a:bodyPr/>
          <a:lstStyle/>
          <a:p>
            <a:pPr rtl="0">
              <a:buFont typeface="Arial" panose="020B0604020202020204" pitchFamily="34" charset="0"/>
              <a:buChar char="•"/>
            </a:pPr>
            <a:r>
              <a:rPr lang="es-419" sz="1600"/>
              <a:t>El encabezado IEEE 802.1Q es de 4 Bytes</a:t>
            </a:r>
          </a:p>
          <a:p>
            <a:pPr rtl="0">
              <a:buFont typeface="Arial" panose="020B0604020202020204" pitchFamily="34" charset="0"/>
              <a:buChar char="•"/>
            </a:pPr>
            <a:r>
              <a:rPr lang="es-419" sz="1600"/>
              <a:t>Cuando se crea la etiqueta, se debe volver a calcular el FCS.</a:t>
            </a:r>
          </a:p>
          <a:p>
            <a:pPr rtl="0">
              <a:buFont typeface="Arial" panose="020B0604020202020204" pitchFamily="34" charset="0"/>
              <a:buChar char="•"/>
            </a:pPr>
            <a:r>
              <a:rPr lang="es-419" sz="1600"/>
              <a:t>Cuando se envía a los dispositivos finales, esta etiqueta debe eliminarse y el FCS vuelve a calcular su número original.</a:t>
            </a:r>
          </a:p>
          <a:p>
            <a:pPr marL="0" indent="0">
              <a:buNone/>
            </a:pPr>
            <a:endParaRPr lang="en-US" altLang="ja-JP" dirty="0"/>
          </a:p>
        </p:txBody>
      </p:sp>
      <p:graphicFrame>
        <p:nvGraphicFramePr>
          <p:cNvPr id="2" name="Table 1"/>
          <p:cNvGraphicFramePr>
            <a:graphicFrameLocks noGrp="1"/>
          </p:cNvGraphicFramePr>
          <p:nvPr/>
        </p:nvGraphicFramePr>
        <p:xfrm>
          <a:off x="14964" y="2793292"/>
          <a:ext cx="9115385" cy="2207622"/>
        </p:xfrm>
        <a:graphic>
          <a:graphicData uri="http://schemas.openxmlformats.org/drawingml/2006/table">
            <a:tbl>
              <a:tblPr firstRow="1" bandRow="1">
                <a:tableStyleId>{21E4AEA4-8DFA-4A89-87EB-49C32662AFE0}</a:tableStyleId>
              </a:tblPr>
              <a:tblGrid>
                <a:gridCol w="2341395">
                  <a:extLst>
                    <a:ext uri="{9D8B030D-6E8A-4147-A177-3AD203B41FA5}">
                      <a16:colId xmlns:a16="http://schemas.microsoft.com/office/drawing/2014/main" val="20000"/>
                    </a:ext>
                  </a:extLst>
                </a:gridCol>
                <a:gridCol w="6773990">
                  <a:extLst>
                    <a:ext uri="{9D8B030D-6E8A-4147-A177-3AD203B41FA5}">
                      <a16:colId xmlns:a16="http://schemas.microsoft.com/office/drawing/2014/main" val="20001"/>
                    </a:ext>
                  </a:extLst>
                </a:gridCol>
              </a:tblGrid>
              <a:tr h="302463">
                <a:tc>
                  <a:txBody>
                    <a:bodyPr/>
                    <a:lstStyle/>
                    <a:p>
                      <a:pPr rtl="0"/>
                      <a:r>
                        <a:rPr lang="es-419" sz="1400"/>
                        <a:t>Campo de etiqueta VLAN 802.1Q</a:t>
                      </a:r>
                    </a:p>
                  </a:txBody>
                  <a:tcPr/>
                </a:tc>
                <a:tc>
                  <a:txBody>
                    <a:bodyPr/>
                    <a:lstStyle/>
                    <a:p>
                      <a:pPr rtl="0"/>
                      <a:r>
                        <a:rPr lang="es-419" sz="1400"/>
                        <a:t>Función</a:t>
                      </a:r>
                    </a:p>
                  </a:txBody>
                  <a:tcPr/>
                </a:tc>
                <a:extLst>
                  <a:ext uri="{0D108BD9-81ED-4DB2-BD59-A6C34878D82A}">
                    <a16:rowId xmlns:a16="http://schemas.microsoft.com/office/drawing/2014/main" val="10000"/>
                  </a:ext>
                </a:extLst>
              </a:tr>
              <a:tr h="323562">
                <a:tc>
                  <a:txBody>
                    <a:bodyPr/>
                    <a:lstStyle/>
                    <a:p>
                      <a:pPr rtl="0"/>
                      <a:r>
                        <a:rPr lang="es-419" sz="1400" b="1"/>
                        <a:t>Tipo</a:t>
                      </a:r>
                    </a:p>
                  </a:txBody>
                  <a:tcPr/>
                </a:tc>
                <a:tc>
                  <a:txBody>
                    <a:bodyPr/>
                    <a:lstStyle/>
                    <a:p>
                      <a:pPr marL="285750" indent="-285750" rtl="0">
                        <a:buFont typeface="Arial" panose="020B0604020202020204" pitchFamily="34" charset="0"/>
                        <a:buChar char="•"/>
                      </a:pPr>
                      <a:r>
                        <a:rPr lang="es-419" sz="1400"/>
                        <a:t>Campo de 2 bytes</a:t>
                      </a:r>
                      <a:r>
                        <a:rPr lang="es-419" sz="1400" baseline="0"/>
                        <a:t> con hexadecimal 0x8100</a:t>
                      </a:r>
                    </a:p>
                    <a:p>
                      <a:pPr marL="285750" indent="-285750" rtl="0">
                        <a:buFont typeface="Arial" panose="020B0604020202020204" pitchFamily="34" charset="0"/>
                        <a:buChar char="•"/>
                      </a:pPr>
                      <a:r>
                        <a:rPr lang="es-419" sz="1400"/>
                        <a:t>Esto se conoce como ID de protocolo de etiqueta (TPID)</a:t>
                      </a:r>
                    </a:p>
                  </a:txBody>
                  <a:tcPr/>
                </a:tc>
                <a:extLst>
                  <a:ext uri="{0D108BD9-81ED-4DB2-BD59-A6C34878D82A}">
                    <a16:rowId xmlns:a16="http://schemas.microsoft.com/office/drawing/2014/main" val="10001"/>
                  </a:ext>
                </a:extLst>
              </a:tr>
              <a:tr h="333828">
                <a:tc>
                  <a:txBody>
                    <a:bodyPr/>
                    <a:lstStyle/>
                    <a:p>
                      <a:pPr rtl="0"/>
                      <a:r>
                        <a:rPr lang="es-419" sz="1400" b="1" baseline="0"/>
                        <a:t>Prioridad</a:t>
                      </a:r>
                      <a:r>
                        <a:rPr lang="es-419" sz="1400" b="1"/>
                        <a:t> de usuario</a:t>
                      </a:r>
                    </a:p>
                  </a:txBody>
                  <a:tcPr/>
                </a:tc>
                <a:tc>
                  <a:txBody>
                    <a:bodyPr/>
                    <a:lstStyle/>
                    <a:p>
                      <a:pPr marL="285750" indent="-285750" rtl="0">
                        <a:buFont typeface="Arial" panose="020B0604020202020204" pitchFamily="34" charset="0"/>
                        <a:buChar char="•"/>
                      </a:pPr>
                      <a:r>
                        <a:rPr lang="es-419" sz="1400"/>
                        <a:t>Valor de 3 bits</a:t>
                      </a:r>
                      <a:r>
                        <a:rPr lang="es-419" sz="1400" baseline="0"/>
                        <a:t> que admite </a:t>
                      </a:r>
                    </a:p>
                  </a:txBody>
                  <a:tcPr/>
                </a:tc>
                <a:extLst>
                  <a:ext uri="{0D108BD9-81ED-4DB2-BD59-A6C34878D82A}">
                    <a16:rowId xmlns:a16="http://schemas.microsoft.com/office/drawing/2014/main" val="10002"/>
                  </a:ext>
                </a:extLst>
              </a:tr>
              <a:tr h="335320">
                <a:tc>
                  <a:txBody>
                    <a:bodyPr/>
                    <a:lstStyle/>
                    <a:p>
                      <a:pPr rtl="0"/>
                      <a:r>
                        <a:rPr lang="es-419" sz="1400" b="1"/>
                        <a:t>Identificador de</a:t>
                      </a:r>
                      <a:r>
                        <a:rPr lang="es-419" sz="1400" b="1" baseline="0"/>
                        <a:t> formato canónico (CFI)</a:t>
                      </a:r>
                    </a:p>
                  </a:txBody>
                  <a:tcPr/>
                </a:tc>
                <a:tc>
                  <a:txBody>
                    <a:bodyPr/>
                    <a:lstStyle/>
                    <a:p>
                      <a:pPr marL="285750" indent="-285750" rtl="0">
                        <a:buFont typeface="Arial" panose="020B0604020202020204" pitchFamily="34" charset="0"/>
                        <a:buChar char="•"/>
                      </a:pPr>
                      <a:r>
                        <a:rPr lang="es-419" sz="1400" baseline="0"/>
                        <a:t> Valor de 1 bit que puede admitir marcos de anillo de tokens en Ethernet</a:t>
                      </a:r>
                    </a:p>
                  </a:txBody>
                  <a:tcPr/>
                </a:tc>
                <a:extLst>
                  <a:ext uri="{0D108BD9-81ED-4DB2-BD59-A6C34878D82A}">
                    <a16:rowId xmlns:a16="http://schemas.microsoft.com/office/drawing/2014/main" val="10003"/>
                  </a:ext>
                </a:extLst>
              </a:tr>
              <a:tr h="319314">
                <a:tc>
                  <a:txBody>
                    <a:bodyPr/>
                    <a:lstStyle/>
                    <a:p>
                      <a:pPr rtl="0"/>
                      <a:r>
                        <a:rPr lang="es-419" sz="1400" b="1"/>
                        <a:t>VLAN ID (VID)</a:t>
                      </a:r>
                    </a:p>
                  </a:txBody>
                  <a:tcPr/>
                </a:tc>
                <a:tc>
                  <a:txBody>
                    <a:bodyPr/>
                    <a:lstStyle/>
                    <a:p>
                      <a:pPr marL="285750" indent="-285750" rtl="0">
                        <a:buFont typeface="Arial" panose="020B0604020202020204" pitchFamily="34" charset="0"/>
                        <a:buChar char="•"/>
                      </a:pPr>
                      <a:r>
                        <a:rPr lang="es-419" sz="1400" baseline="0" dirty="0"/>
                        <a:t> Identificador de VLAN de 12 bits que puede admitir hasta 4096 VLAN</a:t>
                      </a:r>
                    </a:p>
                  </a:txBody>
                  <a:tcPr/>
                </a:tc>
                <a:extLst>
                  <a:ext uri="{0D108BD9-81ED-4DB2-BD59-A6C34878D82A}">
                    <a16:rowId xmlns:a16="http://schemas.microsoft.com/office/drawing/2014/main" val="10004"/>
                  </a:ext>
                </a:extLst>
              </a:tr>
            </a:tbl>
          </a:graphicData>
        </a:graphic>
      </p:graphicFrame>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2386" y="149893"/>
            <a:ext cx="3341210" cy="2193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a:extLst>
              <a:ext uri="{FF2B5EF4-FFF2-40B4-BE49-F238E27FC236}">
                <a16:creationId xmlns:a16="http://schemas.microsoft.com/office/drawing/2014/main" id="{FFB2BEC3-EC8C-909A-AEA2-B5EB76DAC968}"/>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33</a:t>
            </a:fld>
            <a:endParaRPr lang="en-US"/>
          </a:p>
        </p:txBody>
      </p:sp>
    </p:spTree>
    <p:custDataLst>
      <p:tags r:id="rId1"/>
    </p:custDataLst>
    <p:extLst>
      <p:ext uri="{BB962C8B-B14F-4D97-AF65-F5344CB8AC3E}">
        <p14:creationId xmlns:p14="http://schemas.microsoft.com/office/powerpoint/2010/main" val="12253273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391237" y="1715226"/>
            <a:ext cx="8316036"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5.7 Inter-VLAN </a:t>
            </a:r>
            <a:r>
              <a:rPr lang="es-ES" sz="4000" dirty="0" err="1">
                <a:solidFill>
                  <a:schemeClr val="bg1"/>
                </a:solidFill>
                <a:effectLst>
                  <a:outerShdw blurRad="38100" dist="38100" dir="2700000" algn="tl">
                    <a:srgbClr val="000000">
                      <a:alpha val="43137"/>
                    </a:srgbClr>
                  </a:outerShdw>
                </a:effectLst>
                <a:latin typeface="Arial"/>
                <a:ea typeface="Arial"/>
                <a:cs typeface="Arial"/>
                <a:sym typeface="Arial"/>
              </a:rPr>
              <a:t>Routing</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2025-2</a:t>
            </a:r>
            <a:endParaRPr dirty="0"/>
          </a:p>
        </p:txBody>
      </p:sp>
    </p:spTree>
    <p:extLst>
      <p:ext uri="{BB962C8B-B14F-4D97-AF65-F5344CB8AC3E}">
        <p14:creationId xmlns:p14="http://schemas.microsoft.com/office/powerpoint/2010/main" val="20457564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Inter-VLAN </a:t>
            </a:r>
            <a:r>
              <a:rPr lang="es-419" sz="2400" dirty="0" err="1">
                <a:solidFill>
                  <a:srgbClr val="C00000"/>
                </a:solidFill>
              </a:rPr>
              <a:t>Routing</a:t>
            </a:r>
            <a:endParaRPr lang="es-419" sz="2400" dirty="0">
              <a:solidFill>
                <a:srgbClr val="C00000"/>
              </a:solidFill>
            </a:endParaRPr>
          </a:p>
        </p:txBody>
      </p:sp>
      <p:sp>
        <p:nvSpPr>
          <p:cNvPr id="4" name="Content Placeholder 3">
            <a:extLst>
              <a:ext uri="{FF2B5EF4-FFF2-40B4-BE49-F238E27FC236}">
                <a16:creationId xmlns:a16="http://schemas.microsoft.com/office/drawing/2014/main" id="{48826254-EE24-7943-9316-7EFCA38FE816}"/>
              </a:ext>
            </a:extLst>
          </p:cNvPr>
          <p:cNvSpPr>
            <a:spLocks noGrp="1"/>
          </p:cNvSpPr>
          <p:nvPr>
            <p:ph idx="1"/>
          </p:nvPr>
        </p:nvSpPr>
        <p:spPr>
          <a:xfrm>
            <a:off x="116194" y="593668"/>
            <a:ext cx="8911611" cy="1337626"/>
          </a:xfrm>
        </p:spPr>
        <p:txBody>
          <a:bodyPr/>
          <a:lstStyle/>
          <a:p>
            <a:pPr marL="0" indent="0" algn="just" rtl="0"/>
            <a:r>
              <a:rPr lang="es-419" sz="1600" dirty="0">
                <a:solidFill>
                  <a:srgbClr val="000000"/>
                </a:solidFill>
              </a:rPr>
              <a:t>Las VLAN se utilizan para </a:t>
            </a:r>
            <a:r>
              <a:rPr lang="es-419" sz="1600" dirty="0">
                <a:solidFill>
                  <a:srgbClr val="0000CC"/>
                </a:solidFill>
              </a:rPr>
              <a:t>segmentar las redes conmutadas de Capa 2 </a:t>
            </a:r>
            <a:r>
              <a:rPr lang="es-419" sz="1600" dirty="0">
                <a:solidFill>
                  <a:srgbClr val="000000"/>
                </a:solidFill>
              </a:rPr>
              <a:t>por diversas razones. Independientemente del motivo, los hosts de una VLAN no pueden comunicarse con los hosts de otra VLAN a menos que haya un enrutador o un conmutador de capa 3 para proporcionar servicios de enrutamiento.</a:t>
            </a:r>
            <a:r>
              <a:rPr lang="en-US" sz="1600" dirty="0">
                <a:solidFill>
                  <a:srgbClr val="000000"/>
                </a:solidFill>
              </a:rPr>
              <a:t> </a:t>
            </a:r>
            <a:r>
              <a:rPr lang="es-419" sz="1600" dirty="0">
                <a:solidFill>
                  <a:srgbClr val="000000"/>
                </a:solidFill>
              </a:rPr>
              <a:t>Inter-VLA </a:t>
            </a:r>
            <a:r>
              <a:rPr lang="es-419" sz="1600" dirty="0" err="1">
                <a:solidFill>
                  <a:srgbClr val="000000"/>
                </a:solidFill>
              </a:rPr>
              <a:t>routing</a:t>
            </a:r>
            <a:r>
              <a:rPr lang="es-419" sz="1600" dirty="0">
                <a:solidFill>
                  <a:srgbClr val="000000"/>
                </a:solidFill>
              </a:rPr>
              <a:t> es el </a:t>
            </a:r>
            <a:r>
              <a:rPr lang="es-419" sz="1600" dirty="0">
                <a:solidFill>
                  <a:srgbClr val="0000CC"/>
                </a:solidFill>
              </a:rPr>
              <a:t>proceso de reenviar el tráfico de red de una VLAN </a:t>
            </a:r>
            <a:r>
              <a:rPr lang="es-419" sz="1600" dirty="0">
                <a:solidFill>
                  <a:srgbClr val="000000"/>
                </a:solidFill>
              </a:rPr>
              <a:t>a otra VLAN.</a:t>
            </a:r>
            <a:endParaRPr lang="es-419" sz="1600" b="1" dirty="0">
              <a:solidFill>
                <a:srgbClr val="000000"/>
              </a:solidFill>
            </a:endParaRPr>
          </a:p>
        </p:txBody>
      </p:sp>
      <p:pic>
        <p:nvPicPr>
          <p:cNvPr id="7" name="Picture 6">
            <a:extLst>
              <a:ext uri="{FF2B5EF4-FFF2-40B4-BE49-F238E27FC236}">
                <a16:creationId xmlns:a16="http://schemas.microsoft.com/office/drawing/2014/main" id="{25B6DF6E-1A76-DA43-AD91-742D3B35BFA4}"/>
              </a:ext>
            </a:extLst>
          </p:cNvPr>
          <p:cNvPicPr>
            <a:picLocks noChangeAspect="1"/>
          </p:cNvPicPr>
          <p:nvPr/>
        </p:nvPicPr>
        <p:blipFill>
          <a:blip r:embed="rId3"/>
          <a:stretch>
            <a:fillRect/>
          </a:stretch>
        </p:blipFill>
        <p:spPr>
          <a:xfrm>
            <a:off x="4657881" y="2154023"/>
            <a:ext cx="4203700" cy="2501900"/>
          </a:xfrm>
          <a:prstGeom prst="rect">
            <a:avLst/>
          </a:prstGeom>
        </p:spPr>
      </p:pic>
      <p:sp>
        <p:nvSpPr>
          <p:cNvPr id="2" name="Content Placeholder 3">
            <a:extLst>
              <a:ext uri="{FF2B5EF4-FFF2-40B4-BE49-F238E27FC236}">
                <a16:creationId xmlns:a16="http://schemas.microsoft.com/office/drawing/2014/main" id="{B2029383-D012-3F52-327C-D21D85E58F4F}"/>
              </a:ext>
            </a:extLst>
          </p:cNvPr>
          <p:cNvSpPr txBox="1">
            <a:spLocks/>
          </p:cNvSpPr>
          <p:nvPr/>
        </p:nvSpPr>
        <p:spPr>
          <a:xfrm>
            <a:off x="116194" y="1995662"/>
            <a:ext cx="4299196" cy="293675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just"/>
            <a:r>
              <a:rPr lang="es-ES" sz="1600" b="1" dirty="0">
                <a:solidFill>
                  <a:srgbClr val="000000"/>
                </a:solidFill>
              </a:rPr>
              <a:t>Hay tres opciones inter-VLAN </a:t>
            </a:r>
            <a:r>
              <a:rPr lang="es-ES" sz="1600" b="1" dirty="0" err="1">
                <a:solidFill>
                  <a:srgbClr val="000000"/>
                </a:solidFill>
              </a:rPr>
              <a:t>routing</a:t>
            </a:r>
            <a:r>
              <a:rPr lang="es-ES" sz="1600" dirty="0">
                <a:solidFill>
                  <a:srgbClr val="000000"/>
                </a:solidFill>
              </a:rPr>
              <a:t>:</a:t>
            </a:r>
          </a:p>
          <a:p>
            <a:pPr marL="358835" lvl="1" indent="-285750" algn="just">
              <a:buFont typeface="Arial" panose="020B0604020202020204" pitchFamily="34" charset="0"/>
              <a:buChar char="•"/>
            </a:pPr>
            <a:r>
              <a:rPr lang="es-ES" sz="1600" dirty="0">
                <a:solidFill>
                  <a:srgbClr val="000000"/>
                </a:solidFill>
              </a:rPr>
              <a:t>Enrutamiento entre VLAN heredado - Esta es una solución heredada. No escala bien</a:t>
            </a:r>
          </a:p>
          <a:p>
            <a:pPr marL="358835" lvl="1" indent="-285750" algn="just">
              <a:buFont typeface="Arial" panose="020B0604020202020204" pitchFamily="34" charset="0"/>
              <a:buChar char="•"/>
            </a:pPr>
            <a:r>
              <a:rPr lang="es-ES" sz="1600" dirty="0" err="1">
                <a:solidFill>
                  <a:srgbClr val="000000"/>
                </a:solidFill>
              </a:rPr>
              <a:t>Router</a:t>
            </a:r>
            <a:r>
              <a:rPr lang="es-ES" sz="1600" dirty="0">
                <a:solidFill>
                  <a:srgbClr val="000000"/>
                </a:solidFill>
              </a:rPr>
              <a:t>-</a:t>
            </a:r>
            <a:r>
              <a:rPr lang="es-ES" sz="1600" dirty="0" err="1">
                <a:solidFill>
                  <a:srgbClr val="000000"/>
                </a:solidFill>
              </a:rPr>
              <a:t>on</a:t>
            </a:r>
            <a:r>
              <a:rPr lang="es-ES" sz="1600" dirty="0">
                <a:solidFill>
                  <a:srgbClr val="000000"/>
                </a:solidFill>
              </a:rPr>
              <a:t>-a-</a:t>
            </a:r>
            <a:r>
              <a:rPr lang="es-ES" sz="1600" dirty="0" err="1">
                <a:solidFill>
                  <a:srgbClr val="000000"/>
                </a:solidFill>
              </a:rPr>
              <a:t>stick</a:t>
            </a:r>
            <a:r>
              <a:rPr lang="es-ES" sz="1600" dirty="0">
                <a:solidFill>
                  <a:srgbClr val="000000"/>
                </a:solidFill>
              </a:rPr>
              <a:t> - Esta es una solución aceptable para una red pequeña y mediana. </a:t>
            </a:r>
          </a:p>
          <a:p>
            <a:pPr marL="358835" lvl="1" indent="-285750" algn="just">
              <a:buFont typeface="Arial" panose="020B0604020202020204" pitchFamily="34" charset="0"/>
              <a:buChar char="•"/>
            </a:pPr>
            <a:r>
              <a:rPr lang="es-ES" sz="1600" dirty="0"/>
              <a:t>Conmutador de nivel 3 con interfaces virtuales conmutadas (</a:t>
            </a:r>
            <a:r>
              <a:rPr lang="es-ES" sz="1600" dirty="0" err="1"/>
              <a:t>SVIs</a:t>
            </a:r>
            <a:r>
              <a:rPr lang="es-ES" sz="1600" dirty="0"/>
              <a:t>) </a:t>
            </a:r>
            <a:r>
              <a:rPr lang="es-ES" sz="1600" dirty="0">
                <a:solidFill>
                  <a:srgbClr val="000000"/>
                </a:solidFill>
              </a:rPr>
              <a:t>: esta es la solución más escalable para organizaciones medianas y grandes. </a:t>
            </a:r>
          </a:p>
        </p:txBody>
      </p:sp>
    </p:spTree>
    <p:extLst>
      <p:ext uri="{BB962C8B-B14F-4D97-AF65-F5344CB8AC3E}">
        <p14:creationId xmlns:p14="http://schemas.microsoft.com/office/powerpoint/2010/main" val="38389408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391237" y="1715226"/>
            <a:ext cx="8316036"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5.8 Funcionamiento Inter-VLAN </a:t>
            </a:r>
            <a:r>
              <a:rPr lang="es-ES" sz="4000" dirty="0" err="1">
                <a:solidFill>
                  <a:schemeClr val="bg1"/>
                </a:solidFill>
                <a:effectLst>
                  <a:outerShdw blurRad="38100" dist="38100" dir="2700000" algn="tl">
                    <a:srgbClr val="000000">
                      <a:alpha val="43137"/>
                    </a:srgbClr>
                  </a:outerShdw>
                </a:effectLst>
                <a:latin typeface="Arial"/>
                <a:ea typeface="Arial"/>
                <a:cs typeface="Arial"/>
                <a:sym typeface="Arial"/>
              </a:rPr>
              <a:t>Routing</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2025-2</a:t>
            </a:r>
            <a:endParaRPr dirty="0"/>
          </a:p>
        </p:txBody>
      </p:sp>
    </p:spTree>
    <p:extLst>
      <p:ext uri="{BB962C8B-B14F-4D97-AF65-F5344CB8AC3E}">
        <p14:creationId xmlns:p14="http://schemas.microsoft.com/office/powerpoint/2010/main" val="30017834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Inter-VLAN </a:t>
            </a:r>
            <a:r>
              <a:rPr lang="es-419" sz="2400" dirty="0" err="1">
                <a:solidFill>
                  <a:srgbClr val="C00000"/>
                </a:solidFill>
              </a:rPr>
              <a:t>Routing</a:t>
            </a:r>
            <a:r>
              <a:rPr lang="es-419" sz="2400" dirty="0">
                <a:solidFill>
                  <a:srgbClr val="C00000"/>
                </a:solidFill>
              </a:rPr>
              <a:t> antiguo</a:t>
            </a:r>
          </a:p>
        </p:txBody>
      </p:sp>
      <p:sp>
        <p:nvSpPr>
          <p:cNvPr id="4" name="Content Placeholder 3">
            <a:extLst>
              <a:ext uri="{FF2B5EF4-FFF2-40B4-BE49-F238E27FC236}">
                <a16:creationId xmlns:a16="http://schemas.microsoft.com/office/drawing/2014/main" id="{EEC262F2-F016-904F-A7D1-E53C0815C6A2}"/>
              </a:ext>
            </a:extLst>
          </p:cNvPr>
          <p:cNvSpPr>
            <a:spLocks noGrp="1"/>
          </p:cNvSpPr>
          <p:nvPr>
            <p:ph idx="1"/>
          </p:nvPr>
        </p:nvSpPr>
        <p:spPr>
          <a:xfrm>
            <a:off x="1" y="731837"/>
            <a:ext cx="4375150" cy="3986213"/>
          </a:xfrm>
        </p:spPr>
        <p:txBody>
          <a:bodyPr/>
          <a:lstStyle/>
          <a:p>
            <a:pPr marL="342900" indent="-342900" algn="just" rtl="0">
              <a:buFont typeface="Arial" panose="020B0604020202020204" pitchFamily="34" charset="0"/>
              <a:buChar char="•"/>
            </a:pPr>
            <a:r>
              <a:rPr lang="es-419" sz="1400" dirty="0">
                <a:solidFill>
                  <a:srgbClr val="000000"/>
                </a:solidFill>
              </a:rPr>
              <a:t>La primera solución de enrutamiento entre VLAN se basó en el uso de un </a:t>
            </a:r>
            <a:r>
              <a:rPr lang="es-419" sz="1400" dirty="0" err="1">
                <a:solidFill>
                  <a:srgbClr val="000000"/>
                </a:solidFill>
              </a:rPr>
              <a:t>router</a:t>
            </a:r>
            <a:r>
              <a:rPr lang="es-419" sz="1400" dirty="0">
                <a:solidFill>
                  <a:srgbClr val="000000"/>
                </a:solidFill>
              </a:rPr>
              <a:t> con múltiples interfaces Ethernet. Cada interfaz del </a:t>
            </a:r>
            <a:r>
              <a:rPr lang="es-419" sz="1400" dirty="0" err="1">
                <a:solidFill>
                  <a:srgbClr val="000000"/>
                </a:solidFill>
              </a:rPr>
              <a:t>router</a:t>
            </a:r>
            <a:r>
              <a:rPr lang="es-419" sz="1400" dirty="0">
                <a:solidFill>
                  <a:srgbClr val="000000"/>
                </a:solidFill>
              </a:rPr>
              <a:t> estaba conectada a un puerto del switch en diferentes VLAN. Las interfaces del </a:t>
            </a:r>
            <a:r>
              <a:rPr lang="es-419" sz="1400" dirty="0" err="1">
                <a:solidFill>
                  <a:srgbClr val="000000"/>
                </a:solidFill>
              </a:rPr>
              <a:t>router</a:t>
            </a:r>
            <a:r>
              <a:rPr lang="es-419" sz="1400" dirty="0">
                <a:solidFill>
                  <a:srgbClr val="000000"/>
                </a:solidFill>
              </a:rPr>
              <a:t> sirven como default </a:t>
            </a:r>
            <a:r>
              <a:rPr lang="es-419" sz="1400" dirty="0" err="1">
                <a:solidFill>
                  <a:srgbClr val="000000"/>
                </a:solidFill>
              </a:rPr>
              <a:t>gateways</a:t>
            </a:r>
            <a:r>
              <a:rPr lang="es-419" sz="1400" dirty="0">
                <a:solidFill>
                  <a:srgbClr val="000000"/>
                </a:solidFill>
              </a:rPr>
              <a:t> para los hosts locales en la subred de la VLAN.</a:t>
            </a:r>
          </a:p>
          <a:p>
            <a:pPr marL="342900" indent="-342900" algn="just" rtl="0">
              <a:buFont typeface="Arial" panose="020B0604020202020204" pitchFamily="34" charset="0"/>
              <a:buChar char="•"/>
            </a:pPr>
            <a:r>
              <a:rPr lang="es-419" sz="1400" dirty="0">
                <a:solidFill>
                  <a:srgbClr val="000000"/>
                </a:solidFill>
              </a:rPr>
              <a:t>Inter-VLAN </a:t>
            </a:r>
            <a:r>
              <a:rPr lang="es-419" sz="1400" dirty="0" err="1">
                <a:solidFill>
                  <a:srgbClr val="000000"/>
                </a:solidFill>
              </a:rPr>
              <a:t>routing</a:t>
            </a:r>
            <a:r>
              <a:rPr lang="es-419" sz="1400" dirty="0">
                <a:solidFill>
                  <a:srgbClr val="000000"/>
                </a:solidFill>
              </a:rPr>
              <a:t> heredado, usa las interfaces </a:t>
            </a:r>
            <a:r>
              <a:rPr lang="es-419" sz="1400" dirty="0" err="1">
                <a:solidFill>
                  <a:srgbClr val="000000"/>
                </a:solidFill>
              </a:rPr>
              <a:t>fisicas</a:t>
            </a:r>
            <a:r>
              <a:rPr lang="es-419" sz="1400" dirty="0">
                <a:solidFill>
                  <a:srgbClr val="000000"/>
                </a:solidFill>
              </a:rPr>
              <a:t> funciona, pero tiene limitaciones significantes. No es razonablemente escalable porque los enrutadores tienen un número limitado de interfaces físicas. Requerir una interfaz física del </a:t>
            </a:r>
            <a:r>
              <a:rPr lang="es-419" sz="1400" dirty="0" err="1">
                <a:solidFill>
                  <a:srgbClr val="000000"/>
                </a:solidFill>
              </a:rPr>
              <a:t>router</a:t>
            </a:r>
            <a:r>
              <a:rPr lang="es-419" sz="1400" dirty="0">
                <a:solidFill>
                  <a:srgbClr val="000000"/>
                </a:solidFill>
              </a:rPr>
              <a:t> por VLAN agota rápidamente la capacidad de la interfaz física del </a:t>
            </a:r>
            <a:r>
              <a:rPr lang="es-419" sz="1400" dirty="0" err="1">
                <a:solidFill>
                  <a:srgbClr val="000000"/>
                </a:solidFill>
              </a:rPr>
              <a:t>router</a:t>
            </a:r>
            <a:endParaRPr lang="es-419" sz="1400" dirty="0">
              <a:solidFill>
                <a:srgbClr val="000000"/>
              </a:solidFill>
            </a:endParaRPr>
          </a:p>
          <a:p>
            <a:pPr marL="0" indent="0" algn="just" rtl="0"/>
            <a:endParaRPr lang="es-419" sz="1400" b="1" dirty="0">
              <a:solidFill>
                <a:srgbClr val="000000"/>
              </a:solidFill>
            </a:endParaRPr>
          </a:p>
          <a:p>
            <a:pPr marL="0" indent="0" algn="just" rtl="0"/>
            <a:r>
              <a:rPr lang="es-419" sz="1400" b="1" dirty="0">
                <a:solidFill>
                  <a:srgbClr val="000000"/>
                </a:solidFill>
              </a:rPr>
              <a:t>Nota</a:t>
            </a:r>
            <a:r>
              <a:rPr lang="es-419" sz="1400" dirty="0">
                <a:solidFill>
                  <a:srgbClr val="000000"/>
                </a:solidFill>
              </a:rPr>
              <a:t>: Este método de inter-VLAN </a:t>
            </a:r>
            <a:r>
              <a:rPr lang="es-419" sz="1400" dirty="0" err="1">
                <a:solidFill>
                  <a:srgbClr val="000000"/>
                </a:solidFill>
              </a:rPr>
              <a:t>routing</a:t>
            </a:r>
            <a:r>
              <a:rPr lang="es-419" sz="1400" dirty="0">
                <a:solidFill>
                  <a:srgbClr val="000000"/>
                </a:solidFill>
              </a:rPr>
              <a:t> ya no se implementa en redes de switches y se incluye únicamente con fines explicativos.</a:t>
            </a:r>
          </a:p>
        </p:txBody>
      </p:sp>
      <p:pic>
        <p:nvPicPr>
          <p:cNvPr id="7" name="Picture 6">
            <a:extLst>
              <a:ext uri="{FF2B5EF4-FFF2-40B4-BE49-F238E27FC236}">
                <a16:creationId xmlns:a16="http://schemas.microsoft.com/office/drawing/2014/main" id="{4C68F331-22AB-E84A-B6A1-B8209A49DF1E}"/>
              </a:ext>
            </a:extLst>
          </p:cNvPr>
          <p:cNvPicPr>
            <a:picLocks noChangeAspect="1"/>
          </p:cNvPicPr>
          <p:nvPr/>
        </p:nvPicPr>
        <p:blipFill>
          <a:blip r:embed="rId3"/>
          <a:stretch>
            <a:fillRect/>
          </a:stretch>
        </p:blipFill>
        <p:spPr>
          <a:xfrm>
            <a:off x="4432479" y="1304978"/>
            <a:ext cx="4637671" cy="2533543"/>
          </a:xfrm>
          <a:prstGeom prst="rect">
            <a:avLst/>
          </a:prstGeom>
        </p:spPr>
      </p:pic>
    </p:spTree>
    <p:extLst>
      <p:ext uri="{BB962C8B-B14F-4D97-AF65-F5344CB8AC3E}">
        <p14:creationId xmlns:p14="http://schemas.microsoft.com/office/powerpoint/2010/main" val="1614140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478810" y="1765268"/>
            <a:ext cx="7787184"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5.9 </a:t>
            </a:r>
            <a:r>
              <a:rPr lang="es-419" sz="4000" dirty="0" err="1">
                <a:solidFill>
                  <a:schemeClr val="bg1"/>
                </a:solidFill>
              </a:rPr>
              <a:t>Router</a:t>
            </a:r>
            <a:r>
              <a:rPr lang="es-419" sz="4000" dirty="0">
                <a:solidFill>
                  <a:schemeClr val="bg1"/>
                </a:solidFill>
              </a:rPr>
              <a:t>-</a:t>
            </a:r>
            <a:r>
              <a:rPr lang="es-419" sz="4000" dirty="0" err="1">
                <a:solidFill>
                  <a:schemeClr val="bg1"/>
                </a:solidFill>
              </a:rPr>
              <a:t>on</a:t>
            </a:r>
            <a:r>
              <a:rPr lang="es-419" sz="4000" dirty="0">
                <a:solidFill>
                  <a:schemeClr val="bg1"/>
                </a:solidFill>
              </a:rPr>
              <a:t>-a-</a:t>
            </a:r>
            <a:r>
              <a:rPr lang="es-419" sz="4000" dirty="0" err="1">
                <a:solidFill>
                  <a:schemeClr val="bg1"/>
                </a:solidFill>
              </a:rPr>
              <a:t>Stick</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2025-2</a:t>
            </a:r>
            <a:endParaRPr dirty="0"/>
          </a:p>
        </p:txBody>
      </p:sp>
    </p:spTree>
    <p:extLst>
      <p:ext uri="{BB962C8B-B14F-4D97-AF65-F5344CB8AC3E}">
        <p14:creationId xmlns:p14="http://schemas.microsoft.com/office/powerpoint/2010/main" val="18684894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err="1">
                <a:solidFill>
                  <a:srgbClr val="C00000"/>
                </a:solidFill>
              </a:rPr>
              <a:t>Router</a:t>
            </a:r>
            <a:r>
              <a:rPr lang="es-419" sz="2400" dirty="0">
                <a:solidFill>
                  <a:srgbClr val="C00000"/>
                </a:solidFill>
              </a:rPr>
              <a:t>-</a:t>
            </a:r>
            <a:r>
              <a:rPr lang="es-419" sz="2400" dirty="0" err="1">
                <a:solidFill>
                  <a:srgbClr val="C00000"/>
                </a:solidFill>
              </a:rPr>
              <a:t>on</a:t>
            </a:r>
            <a:r>
              <a:rPr lang="es-419" sz="2400" dirty="0">
                <a:solidFill>
                  <a:srgbClr val="C00000"/>
                </a:solidFill>
              </a:rPr>
              <a:t>-a-</a:t>
            </a:r>
            <a:r>
              <a:rPr lang="es-419" sz="2400" dirty="0" err="1">
                <a:solidFill>
                  <a:srgbClr val="C00000"/>
                </a:solidFill>
              </a:rPr>
              <a:t>Stick</a:t>
            </a:r>
            <a:r>
              <a:rPr lang="es-419" sz="2400" dirty="0">
                <a:solidFill>
                  <a:srgbClr val="C00000"/>
                </a:solidFill>
              </a:rPr>
              <a:t> Inter-VLAN </a:t>
            </a:r>
            <a:r>
              <a:rPr lang="es-419" sz="2400" dirty="0" err="1">
                <a:solidFill>
                  <a:srgbClr val="C00000"/>
                </a:solidFill>
              </a:rPr>
              <a:t>Routing</a:t>
            </a:r>
            <a:endParaRPr lang="es-419" sz="2400" dirty="0">
              <a:solidFill>
                <a:srgbClr val="C00000"/>
              </a:solidFill>
            </a:endParaRPr>
          </a:p>
        </p:txBody>
      </p:sp>
      <p:sp>
        <p:nvSpPr>
          <p:cNvPr id="5" name="Content Placeholder 4">
            <a:extLst>
              <a:ext uri="{FF2B5EF4-FFF2-40B4-BE49-F238E27FC236}">
                <a16:creationId xmlns:a16="http://schemas.microsoft.com/office/drawing/2014/main" id="{70F2F6A6-80F2-8246-91BE-81A444BD4CE2}"/>
              </a:ext>
            </a:extLst>
          </p:cNvPr>
          <p:cNvSpPr>
            <a:spLocks noGrp="1"/>
          </p:cNvSpPr>
          <p:nvPr>
            <p:ph idx="1"/>
          </p:nvPr>
        </p:nvSpPr>
        <p:spPr>
          <a:xfrm>
            <a:off x="208858" y="611187"/>
            <a:ext cx="8891038" cy="1433513"/>
          </a:xfrm>
        </p:spPr>
        <p:txBody>
          <a:bodyPr/>
          <a:lstStyle/>
          <a:p>
            <a:pPr marL="0" indent="0" algn="just" rtl="0"/>
            <a:r>
              <a:rPr lang="es-419" sz="1800" dirty="0">
                <a:solidFill>
                  <a:srgbClr val="000000"/>
                </a:solidFill>
              </a:rPr>
              <a:t>El método de enrutamiento </a:t>
            </a:r>
            <a:r>
              <a:rPr lang="es-419" sz="1800" dirty="0" err="1">
                <a:solidFill>
                  <a:srgbClr val="000000"/>
                </a:solidFill>
              </a:rPr>
              <a:t>interVLAN</a:t>
            </a:r>
            <a:r>
              <a:rPr lang="es-419" sz="1800" dirty="0">
                <a:solidFill>
                  <a:srgbClr val="000000"/>
                </a:solidFill>
              </a:rPr>
              <a:t> '</a:t>
            </a:r>
            <a:r>
              <a:rPr lang="es-419" sz="1800" dirty="0" err="1">
                <a:solidFill>
                  <a:srgbClr val="000000"/>
                </a:solidFill>
              </a:rPr>
              <a:t>router</a:t>
            </a:r>
            <a:r>
              <a:rPr lang="es-419" sz="1800" dirty="0">
                <a:solidFill>
                  <a:srgbClr val="000000"/>
                </a:solidFill>
              </a:rPr>
              <a:t>-</a:t>
            </a:r>
            <a:r>
              <a:rPr lang="es-419" sz="1800" dirty="0" err="1">
                <a:solidFill>
                  <a:srgbClr val="000000"/>
                </a:solidFill>
              </a:rPr>
              <a:t>on</a:t>
            </a:r>
            <a:r>
              <a:rPr lang="es-419" sz="1800" dirty="0">
                <a:solidFill>
                  <a:srgbClr val="000000"/>
                </a:solidFill>
              </a:rPr>
              <a:t>-a-</a:t>
            </a:r>
            <a:r>
              <a:rPr lang="es-419" sz="1800" dirty="0" err="1">
                <a:solidFill>
                  <a:srgbClr val="000000"/>
                </a:solidFill>
              </a:rPr>
              <a:t>stick</a:t>
            </a:r>
            <a:r>
              <a:rPr lang="es-419" sz="1800" dirty="0">
                <a:solidFill>
                  <a:srgbClr val="000000"/>
                </a:solidFill>
              </a:rPr>
              <a:t>' supera la limitación del método de enrutamiento </a:t>
            </a:r>
            <a:r>
              <a:rPr lang="es-419" sz="1800" dirty="0" err="1">
                <a:solidFill>
                  <a:srgbClr val="000000"/>
                </a:solidFill>
              </a:rPr>
              <a:t>interVLAN</a:t>
            </a:r>
            <a:r>
              <a:rPr lang="es-419" sz="1800" dirty="0">
                <a:solidFill>
                  <a:srgbClr val="000000"/>
                </a:solidFill>
              </a:rPr>
              <a:t> heredado. Solo requiere una interfaz Ethernet física para enrutar el tráfico entre varias VLAN de una red.</a:t>
            </a:r>
          </a:p>
          <a:p>
            <a:pPr marL="0" indent="0" algn="just" rtl="0"/>
            <a:r>
              <a:rPr lang="es-419" sz="1800" b="1" dirty="0">
                <a:solidFill>
                  <a:srgbClr val="000000"/>
                </a:solidFill>
              </a:rPr>
              <a:t>Nota</a:t>
            </a:r>
            <a:r>
              <a:rPr lang="es-419" sz="1800" dirty="0">
                <a:solidFill>
                  <a:srgbClr val="000000"/>
                </a:solidFill>
              </a:rPr>
              <a:t>: el método de </a:t>
            </a:r>
            <a:r>
              <a:rPr lang="es-419" sz="1800" dirty="0" err="1">
                <a:solidFill>
                  <a:srgbClr val="000000"/>
                </a:solidFill>
              </a:rPr>
              <a:t>routing</a:t>
            </a:r>
            <a:r>
              <a:rPr lang="es-419" sz="1800" dirty="0">
                <a:solidFill>
                  <a:srgbClr val="000000"/>
                </a:solidFill>
              </a:rPr>
              <a:t> entre VLAN de </a:t>
            </a:r>
            <a:r>
              <a:rPr lang="es-419" sz="1800" dirty="0" err="1">
                <a:solidFill>
                  <a:srgbClr val="000000"/>
                </a:solidFill>
              </a:rPr>
              <a:t>router</a:t>
            </a:r>
            <a:r>
              <a:rPr lang="es-419" sz="1800" dirty="0">
                <a:solidFill>
                  <a:srgbClr val="000000"/>
                </a:solidFill>
              </a:rPr>
              <a:t>-</a:t>
            </a:r>
            <a:r>
              <a:rPr lang="es-419" sz="1800" dirty="0" err="1">
                <a:solidFill>
                  <a:srgbClr val="000000"/>
                </a:solidFill>
              </a:rPr>
              <a:t>on</a:t>
            </a:r>
            <a:r>
              <a:rPr lang="es-419" sz="1800" dirty="0">
                <a:solidFill>
                  <a:srgbClr val="000000"/>
                </a:solidFill>
              </a:rPr>
              <a:t>-a-</a:t>
            </a:r>
            <a:r>
              <a:rPr lang="es-419" sz="1800" dirty="0" err="1">
                <a:solidFill>
                  <a:srgbClr val="000000"/>
                </a:solidFill>
              </a:rPr>
              <a:t>stick</a:t>
            </a:r>
            <a:r>
              <a:rPr lang="es-419" sz="1800" dirty="0">
                <a:solidFill>
                  <a:srgbClr val="000000"/>
                </a:solidFill>
              </a:rPr>
              <a:t> no es escalable más allá de las 50.</a:t>
            </a:r>
          </a:p>
        </p:txBody>
      </p:sp>
      <p:sp>
        <p:nvSpPr>
          <p:cNvPr id="6" name="TextBox 5">
            <a:extLst>
              <a:ext uri="{FF2B5EF4-FFF2-40B4-BE49-F238E27FC236}">
                <a16:creationId xmlns:a16="http://schemas.microsoft.com/office/drawing/2014/main" id="{91DB4E3F-CE10-0C95-BA97-5C446BD3CEE9}"/>
              </a:ext>
            </a:extLst>
          </p:cNvPr>
          <p:cNvSpPr txBox="1"/>
          <p:nvPr/>
        </p:nvSpPr>
        <p:spPr>
          <a:xfrm>
            <a:off x="4854023" y="2096512"/>
            <a:ext cx="4081119" cy="2246769"/>
          </a:xfrm>
          <a:prstGeom prst="rect">
            <a:avLst/>
          </a:prstGeom>
          <a:noFill/>
        </p:spPr>
        <p:txBody>
          <a:bodyPr wrap="square">
            <a:spAutoFit/>
          </a:bodyPr>
          <a:lstStyle/>
          <a:p>
            <a:pPr marL="0" indent="0" algn="just" rtl="0"/>
            <a:r>
              <a:rPr lang="es-419" sz="1400" dirty="0">
                <a:solidFill>
                  <a:srgbClr val="000000"/>
                </a:solidFill>
              </a:rPr>
              <a:t>Los </a:t>
            </a:r>
            <a:r>
              <a:rPr lang="es-419" sz="1400" dirty="0" err="1">
                <a:solidFill>
                  <a:srgbClr val="000000"/>
                </a:solidFill>
              </a:rPr>
              <a:t>SVIs</a:t>
            </a:r>
            <a:r>
              <a:rPr lang="es-419" sz="1400" dirty="0">
                <a:solidFill>
                  <a:srgbClr val="000000"/>
                </a:solidFill>
              </a:rPr>
              <a:t> entre VLAN se crean de la misma manera que se configura la interfaz de VLAN de administración. El SVI se crea para una VLAN que existe en el switch. Aunque es virtual, el SVI realiza las mismas funciones para la VLAN que lo haría una interfaz de enrutador. Específicamente, proporciona el procesamiento de Capa 3 para los paquetes que se envían hacia o desde todos los puertos de switch asociados con esa VLAN.</a:t>
            </a:r>
          </a:p>
        </p:txBody>
      </p:sp>
      <p:pic>
        <p:nvPicPr>
          <p:cNvPr id="4" name="Picture 7">
            <a:extLst>
              <a:ext uri="{FF2B5EF4-FFF2-40B4-BE49-F238E27FC236}">
                <a16:creationId xmlns:a16="http://schemas.microsoft.com/office/drawing/2014/main" id="{D15AD72D-3AE6-5BB9-D36C-35B26C2A6CAD}"/>
              </a:ext>
            </a:extLst>
          </p:cNvPr>
          <p:cNvPicPr>
            <a:picLocks noChangeAspect="1"/>
          </p:cNvPicPr>
          <p:nvPr/>
        </p:nvPicPr>
        <p:blipFill>
          <a:blip r:embed="rId3"/>
          <a:stretch>
            <a:fillRect/>
          </a:stretch>
        </p:blipFill>
        <p:spPr>
          <a:xfrm>
            <a:off x="367710" y="2159010"/>
            <a:ext cx="3431084" cy="2934480"/>
          </a:xfrm>
          <a:prstGeom prst="rect">
            <a:avLst/>
          </a:prstGeom>
        </p:spPr>
      </p:pic>
    </p:spTree>
    <p:extLst>
      <p:ext uri="{BB962C8B-B14F-4D97-AF65-F5344CB8AC3E}">
        <p14:creationId xmlns:p14="http://schemas.microsoft.com/office/powerpoint/2010/main" val="1682891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0084" y="0"/>
            <a:ext cx="9002972" cy="731837"/>
          </a:xfrm>
        </p:spPr>
        <p:txBody>
          <a:bodyPr/>
          <a:lstStyle/>
          <a:p>
            <a:pPr rtl="0"/>
            <a:r>
              <a:rPr lang="es-419" sz="2400" dirty="0">
                <a:solidFill>
                  <a:srgbClr val="C00000"/>
                </a:solidFill>
              </a:rPr>
              <a:t>Escenario </a:t>
            </a:r>
            <a:r>
              <a:rPr lang="es-419" sz="2400" dirty="0" err="1">
                <a:solidFill>
                  <a:srgbClr val="C00000"/>
                </a:solidFill>
              </a:rPr>
              <a:t>Router</a:t>
            </a:r>
            <a:r>
              <a:rPr lang="es-419" sz="2400" dirty="0">
                <a:solidFill>
                  <a:srgbClr val="C00000"/>
                </a:solidFill>
              </a:rPr>
              <a:t>-</a:t>
            </a:r>
            <a:r>
              <a:rPr lang="es-419" sz="2400" dirty="0" err="1">
                <a:solidFill>
                  <a:srgbClr val="C00000"/>
                </a:solidFill>
              </a:rPr>
              <a:t>on</a:t>
            </a:r>
            <a:r>
              <a:rPr lang="es-419" sz="2400" dirty="0">
                <a:solidFill>
                  <a:srgbClr val="C00000"/>
                </a:solidFill>
              </a:rPr>
              <a:t>-a-</a:t>
            </a:r>
            <a:r>
              <a:rPr lang="es-419" sz="2400" dirty="0" err="1">
                <a:solidFill>
                  <a:srgbClr val="C00000"/>
                </a:solidFill>
              </a:rPr>
              <a:t>stick</a:t>
            </a:r>
            <a:endParaRPr lang="es-419" sz="2400" dirty="0">
              <a:solidFill>
                <a:srgbClr val="C00000"/>
              </a:solidFill>
            </a:endParaRPr>
          </a:p>
        </p:txBody>
      </p:sp>
      <p:sp>
        <p:nvSpPr>
          <p:cNvPr id="5" name="Content Placeholder 4">
            <a:extLst>
              <a:ext uri="{FF2B5EF4-FFF2-40B4-BE49-F238E27FC236}">
                <a16:creationId xmlns:a16="http://schemas.microsoft.com/office/drawing/2014/main" id="{AD030DC4-1A05-F245-A1D3-947A824F51CC}"/>
              </a:ext>
            </a:extLst>
          </p:cNvPr>
          <p:cNvSpPr>
            <a:spLocks noGrp="1"/>
          </p:cNvSpPr>
          <p:nvPr>
            <p:ph idx="1"/>
          </p:nvPr>
        </p:nvSpPr>
        <p:spPr>
          <a:xfrm>
            <a:off x="95250" y="731837"/>
            <a:ext cx="5288213" cy="4261397"/>
          </a:xfrm>
        </p:spPr>
        <p:txBody>
          <a:bodyPr/>
          <a:lstStyle/>
          <a:p>
            <a:pPr marL="342900" indent="-342900" algn="l" rtl="0">
              <a:buFont typeface="Arial" panose="020B0604020202020204" pitchFamily="34" charset="0"/>
              <a:buChar char="•"/>
            </a:pPr>
            <a:r>
              <a:rPr lang="es-419" sz="1400" dirty="0">
                <a:solidFill>
                  <a:srgbClr val="000000"/>
                </a:solidFill>
              </a:rPr>
              <a:t>En la figura, la interfaz R1 </a:t>
            </a:r>
            <a:r>
              <a:rPr lang="es-419" sz="1400" dirty="0" err="1">
                <a:solidFill>
                  <a:srgbClr val="000000"/>
                </a:solidFill>
              </a:rPr>
              <a:t>GigabitEthernet</a:t>
            </a:r>
            <a:r>
              <a:rPr lang="es-419" sz="1400" dirty="0">
                <a:solidFill>
                  <a:srgbClr val="000000"/>
                </a:solidFill>
              </a:rPr>
              <a:t> 0/0/1 está conectada al puerto S1 </a:t>
            </a:r>
            <a:r>
              <a:rPr lang="es-419" sz="1400" dirty="0" err="1">
                <a:solidFill>
                  <a:srgbClr val="000000"/>
                </a:solidFill>
              </a:rPr>
              <a:t>FastEthernet</a:t>
            </a:r>
            <a:r>
              <a:rPr lang="es-419" sz="1400" dirty="0">
                <a:solidFill>
                  <a:srgbClr val="000000"/>
                </a:solidFill>
              </a:rPr>
              <a:t> 0/5. El puerto S1 </a:t>
            </a:r>
            <a:r>
              <a:rPr lang="es-419" sz="1400" dirty="0" err="1">
                <a:solidFill>
                  <a:srgbClr val="000000"/>
                </a:solidFill>
              </a:rPr>
              <a:t>FastEthernet</a:t>
            </a:r>
            <a:r>
              <a:rPr lang="es-419" sz="1400" dirty="0">
                <a:solidFill>
                  <a:srgbClr val="000000"/>
                </a:solidFill>
              </a:rPr>
              <a:t> 0/1 está conectado al puerto S2 </a:t>
            </a:r>
            <a:r>
              <a:rPr lang="es-419" sz="1400" dirty="0" err="1">
                <a:solidFill>
                  <a:srgbClr val="000000"/>
                </a:solidFill>
              </a:rPr>
              <a:t>FastEthernet</a:t>
            </a:r>
            <a:r>
              <a:rPr lang="es-419" sz="1400" dirty="0">
                <a:solidFill>
                  <a:srgbClr val="000000"/>
                </a:solidFill>
              </a:rPr>
              <a:t> 0/1. Estos son enlaces troncales necesarios para reenviar tráfico dentro de las VLAN y entre ellas.</a:t>
            </a:r>
          </a:p>
          <a:p>
            <a:pPr marL="342900" indent="-342900" algn="l" rtl="0">
              <a:buFont typeface="Arial" panose="020B0604020202020204" pitchFamily="34" charset="0"/>
              <a:buChar char="•"/>
            </a:pPr>
            <a:r>
              <a:rPr lang="es-419" sz="1400" dirty="0">
                <a:solidFill>
                  <a:srgbClr val="000000"/>
                </a:solidFill>
              </a:rPr>
              <a:t>Para enrutar entre VLAN, la interfaz R1 </a:t>
            </a:r>
            <a:r>
              <a:rPr lang="es-419" sz="1400" dirty="0" err="1">
                <a:solidFill>
                  <a:srgbClr val="000000"/>
                </a:solidFill>
              </a:rPr>
              <a:t>GigabitEthernet</a:t>
            </a:r>
            <a:r>
              <a:rPr lang="es-419" sz="1400" dirty="0">
                <a:solidFill>
                  <a:srgbClr val="000000"/>
                </a:solidFill>
              </a:rPr>
              <a:t> 0/0/1 se divide lógicamente en tres subinterfaces, como se muestra en la tabla. La tabla también muestra las tres VLAN que se configurarán en los switches.</a:t>
            </a:r>
          </a:p>
          <a:p>
            <a:pPr marL="342900" indent="-342900" algn="l" rtl="0">
              <a:buFont typeface="Arial" panose="020B0604020202020204" pitchFamily="34" charset="0"/>
              <a:buChar char="•"/>
            </a:pPr>
            <a:r>
              <a:rPr lang="es-419" sz="1400" dirty="0">
                <a:solidFill>
                  <a:srgbClr val="000000"/>
                </a:solidFill>
              </a:rPr>
              <a:t>Suponga que R1, S1 y S2 tienen configuraciones básicas iniciales. Actualmente, PC1 y PC2 no pueden </a:t>
            </a:r>
            <a:r>
              <a:rPr lang="es-419" sz="1400" b="1" dirty="0">
                <a:solidFill>
                  <a:srgbClr val="000000"/>
                </a:solidFill>
              </a:rPr>
              <a:t>hacer ping</a:t>
            </a:r>
            <a:r>
              <a:rPr lang="es-419" sz="1400" dirty="0">
                <a:solidFill>
                  <a:srgbClr val="000000"/>
                </a:solidFill>
              </a:rPr>
              <a:t> entre sí porque están en redes separadas. Solo S1 y S2 pueden </a:t>
            </a:r>
            <a:r>
              <a:rPr lang="es-419" sz="1400" b="1" dirty="0">
                <a:solidFill>
                  <a:srgbClr val="000000"/>
                </a:solidFill>
              </a:rPr>
              <a:t>hacer ping</a:t>
            </a:r>
            <a:r>
              <a:rPr lang="es-419" sz="1400" dirty="0">
                <a:solidFill>
                  <a:srgbClr val="000000"/>
                </a:solidFill>
              </a:rPr>
              <a:t> entre sí, pero son inalcanzables por PC1 o PC2 porque también están en diferentes redes.</a:t>
            </a:r>
          </a:p>
          <a:p>
            <a:pPr marL="342900" indent="-342900" algn="l" rtl="0">
              <a:buFont typeface="Arial" panose="020B0604020202020204" pitchFamily="34" charset="0"/>
              <a:buChar char="•"/>
            </a:pPr>
            <a:r>
              <a:rPr lang="es-419" sz="1400" dirty="0">
                <a:solidFill>
                  <a:srgbClr val="000000"/>
                </a:solidFill>
              </a:rPr>
              <a:t>Para permitir que los dispositivos se hagan ping entre sí, los conmutadores deben configurarse con VLAN y </a:t>
            </a:r>
            <a:r>
              <a:rPr lang="es-419" sz="1400" dirty="0" err="1">
                <a:solidFill>
                  <a:srgbClr val="000000"/>
                </a:solidFill>
              </a:rPr>
              <a:t>trunking</a:t>
            </a:r>
            <a:r>
              <a:rPr lang="es-419" sz="1400" dirty="0">
                <a:solidFill>
                  <a:srgbClr val="000000"/>
                </a:solidFill>
              </a:rPr>
              <a:t>, y el enrutador debe configurarse para el enrutamiento entre VLAN.</a:t>
            </a:r>
          </a:p>
          <a:p>
            <a:pPr marL="342900" indent="-342900" algn="l">
              <a:buFont typeface="Arial" panose="020B0604020202020204" pitchFamily="34" charset="0"/>
              <a:buChar char="•"/>
            </a:pPr>
            <a:endParaRPr lang="en-US" sz="1400" dirty="0">
              <a:solidFill>
                <a:srgbClr val="000000"/>
              </a:solidFill>
            </a:endParaRPr>
          </a:p>
        </p:txBody>
      </p:sp>
      <p:graphicFrame>
        <p:nvGraphicFramePr>
          <p:cNvPr id="6" name="Table 5">
            <a:extLst>
              <a:ext uri="{FF2B5EF4-FFF2-40B4-BE49-F238E27FC236}">
                <a16:creationId xmlns:a16="http://schemas.microsoft.com/office/drawing/2014/main" id="{3C52B408-540D-0241-BBC9-5AFB70668F1F}"/>
              </a:ext>
            </a:extLst>
          </p:cNvPr>
          <p:cNvGraphicFramePr>
            <a:graphicFrameLocks noGrp="1"/>
          </p:cNvGraphicFramePr>
          <p:nvPr/>
        </p:nvGraphicFramePr>
        <p:xfrm>
          <a:off x="5612063" y="3423683"/>
          <a:ext cx="3101043" cy="1306892"/>
        </p:xfrm>
        <a:graphic>
          <a:graphicData uri="http://schemas.openxmlformats.org/drawingml/2006/table">
            <a:tbl>
              <a:tblPr firstRow="1" bandRow="1">
                <a:tableStyleId>{5C22544A-7EE6-4342-B048-85BDC9FD1C3A}</a:tableStyleId>
              </a:tblPr>
              <a:tblGrid>
                <a:gridCol w="974717">
                  <a:extLst>
                    <a:ext uri="{9D8B030D-6E8A-4147-A177-3AD203B41FA5}">
                      <a16:colId xmlns:a16="http://schemas.microsoft.com/office/drawing/2014/main" val="2537369461"/>
                    </a:ext>
                  </a:extLst>
                </a:gridCol>
                <a:gridCol w="769143">
                  <a:extLst>
                    <a:ext uri="{9D8B030D-6E8A-4147-A177-3AD203B41FA5}">
                      <a16:colId xmlns:a16="http://schemas.microsoft.com/office/drawing/2014/main" val="26083547"/>
                    </a:ext>
                  </a:extLst>
                </a:gridCol>
                <a:gridCol w="1357183">
                  <a:extLst>
                    <a:ext uri="{9D8B030D-6E8A-4147-A177-3AD203B41FA5}">
                      <a16:colId xmlns:a16="http://schemas.microsoft.com/office/drawing/2014/main" val="225096973"/>
                    </a:ext>
                  </a:extLst>
                </a:gridCol>
              </a:tblGrid>
              <a:tr h="326723">
                <a:tc>
                  <a:txBody>
                    <a:bodyPr/>
                    <a:lstStyle/>
                    <a:p>
                      <a:pPr algn="l" rtl="0" fontAlgn="ctr"/>
                      <a:r>
                        <a:rPr lang="es-419" sz="1200" b="1" dirty="0">
                          <a:effectLst/>
                        </a:rPr>
                        <a:t>Subinterfaz</a:t>
                      </a:r>
                    </a:p>
                  </a:txBody>
                  <a:tcPr marL="47625" marR="47625" marT="47625" marB="47625" anchor="ctr"/>
                </a:tc>
                <a:tc>
                  <a:txBody>
                    <a:bodyPr/>
                    <a:lstStyle/>
                    <a:p>
                      <a:pPr algn="l" rtl="0" fontAlgn="ctr"/>
                      <a:r>
                        <a:rPr lang="es-419" sz="1200" b="1" dirty="0">
                          <a:effectLst/>
                        </a:rPr>
                        <a:t>Invitado</a:t>
                      </a:r>
                    </a:p>
                  </a:txBody>
                  <a:tcPr marL="47625" marR="47625" marT="47625" marB="47625" anchor="ctr"/>
                </a:tc>
                <a:tc>
                  <a:txBody>
                    <a:bodyPr/>
                    <a:lstStyle/>
                    <a:p>
                      <a:pPr algn="l" rtl="0" fontAlgn="ctr"/>
                      <a:r>
                        <a:rPr lang="es-419" sz="1200" b="1">
                          <a:effectLst/>
                        </a:rPr>
                        <a:t>Dirección IP</a:t>
                      </a:r>
                    </a:p>
                  </a:txBody>
                  <a:tcPr marL="47625" marR="47625" marT="47625" marB="47625" anchor="ctr"/>
                </a:tc>
                <a:extLst>
                  <a:ext uri="{0D108BD9-81ED-4DB2-BD59-A6C34878D82A}">
                    <a16:rowId xmlns:a16="http://schemas.microsoft.com/office/drawing/2014/main" val="3852578632"/>
                  </a:ext>
                </a:extLst>
              </a:tr>
              <a:tr h="326723">
                <a:tc>
                  <a:txBody>
                    <a:bodyPr/>
                    <a:lstStyle/>
                    <a:p>
                      <a:pPr rtl="0" fontAlgn="ctr"/>
                      <a:r>
                        <a:rPr lang="es-419" sz="1200" b="0" dirty="0">
                          <a:effectLst/>
                        </a:rPr>
                        <a:t>G0/0/1.10</a:t>
                      </a:r>
                    </a:p>
                  </a:txBody>
                  <a:tcPr marL="47625" marR="47625" marT="47625" marB="47625" anchor="ctr"/>
                </a:tc>
                <a:tc>
                  <a:txBody>
                    <a:bodyPr/>
                    <a:lstStyle/>
                    <a:p>
                      <a:pPr rtl="0" fontAlgn="ctr"/>
                      <a:r>
                        <a:rPr lang="es-419" sz="1200" b="0">
                          <a:effectLst/>
                        </a:rPr>
                        <a:t>10</a:t>
                      </a:r>
                    </a:p>
                  </a:txBody>
                  <a:tcPr marL="47625" marR="47625" marT="47625" marB="47625" anchor="ctr"/>
                </a:tc>
                <a:tc>
                  <a:txBody>
                    <a:bodyPr/>
                    <a:lstStyle/>
                    <a:p>
                      <a:pPr rtl="0" fontAlgn="ctr"/>
                      <a:r>
                        <a:rPr lang="es-419" sz="1200" b="0">
                          <a:effectLst/>
                        </a:rPr>
                        <a:t>192.168.10.1/24</a:t>
                      </a:r>
                    </a:p>
                  </a:txBody>
                  <a:tcPr marL="47625" marR="47625" marT="47625" marB="47625" anchor="ctr"/>
                </a:tc>
                <a:extLst>
                  <a:ext uri="{0D108BD9-81ED-4DB2-BD59-A6C34878D82A}">
                    <a16:rowId xmlns:a16="http://schemas.microsoft.com/office/drawing/2014/main" val="2387607961"/>
                  </a:ext>
                </a:extLst>
              </a:tr>
              <a:tr h="326723">
                <a:tc>
                  <a:txBody>
                    <a:bodyPr/>
                    <a:lstStyle/>
                    <a:p>
                      <a:pPr rtl="0" fontAlgn="ctr"/>
                      <a:r>
                        <a:rPr lang="es-419" sz="1200" b="0">
                          <a:effectLst/>
                        </a:rPr>
                        <a:t>G0/0/1.20</a:t>
                      </a:r>
                    </a:p>
                  </a:txBody>
                  <a:tcPr marL="47625" marR="47625" marT="47625" marB="47625" anchor="ctr"/>
                </a:tc>
                <a:tc>
                  <a:txBody>
                    <a:bodyPr/>
                    <a:lstStyle/>
                    <a:p>
                      <a:pPr rtl="0" fontAlgn="ctr"/>
                      <a:r>
                        <a:rPr lang="es-419" sz="1200" b="0">
                          <a:effectLst/>
                        </a:rPr>
                        <a:t>20</a:t>
                      </a:r>
                    </a:p>
                  </a:txBody>
                  <a:tcPr marL="47625" marR="47625" marT="47625" marB="47625" anchor="ctr"/>
                </a:tc>
                <a:tc>
                  <a:txBody>
                    <a:bodyPr/>
                    <a:lstStyle/>
                    <a:p>
                      <a:pPr rtl="0" fontAlgn="ctr"/>
                      <a:r>
                        <a:rPr lang="es-419" sz="1200" b="0">
                          <a:effectLst/>
                        </a:rPr>
                        <a:t>192.168.20.1/24</a:t>
                      </a:r>
                    </a:p>
                  </a:txBody>
                  <a:tcPr marL="47625" marR="47625" marT="47625" marB="47625" anchor="ctr"/>
                </a:tc>
                <a:extLst>
                  <a:ext uri="{0D108BD9-81ED-4DB2-BD59-A6C34878D82A}">
                    <a16:rowId xmlns:a16="http://schemas.microsoft.com/office/drawing/2014/main" val="2807812519"/>
                  </a:ext>
                </a:extLst>
              </a:tr>
              <a:tr h="326723">
                <a:tc>
                  <a:txBody>
                    <a:bodyPr/>
                    <a:lstStyle/>
                    <a:p>
                      <a:pPr rtl="0" fontAlgn="ctr"/>
                      <a:r>
                        <a:rPr lang="es-419" sz="1200" b="0">
                          <a:effectLst/>
                        </a:rPr>
                        <a:t>G0/0/1.30</a:t>
                      </a:r>
                    </a:p>
                  </a:txBody>
                  <a:tcPr marL="47625" marR="47625" marT="47625" marB="47625" anchor="ctr"/>
                </a:tc>
                <a:tc>
                  <a:txBody>
                    <a:bodyPr/>
                    <a:lstStyle/>
                    <a:p>
                      <a:pPr rtl="0" fontAlgn="ctr"/>
                      <a:r>
                        <a:rPr lang="es-419" sz="1200" b="0">
                          <a:effectLst/>
                        </a:rPr>
                        <a:t>99</a:t>
                      </a:r>
                    </a:p>
                  </a:txBody>
                  <a:tcPr marL="47625" marR="47625" marT="47625" marB="47625" anchor="ctr"/>
                </a:tc>
                <a:tc>
                  <a:txBody>
                    <a:bodyPr/>
                    <a:lstStyle/>
                    <a:p>
                      <a:pPr rtl="0" fontAlgn="ctr"/>
                      <a:r>
                        <a:rPr lang="es-419" sz="1200" b="0" dirty="0">
                          <a:effectLst/>
                        </a:rPr>
                        <a:t>192.168.99.1/24</a:t>
                      </a:r>
                    </a:p>
                  </a:txBody>
                  <a:tcPr marL="47625" marR="47625" marT="47625" marB="47625" anchor="ctr"/>
                </a:tc>
                <a:extLst>
                  <a:ext uri="{0D108BD9-81ED-4DB2-BD59-A6C34878D82A}">
                    <a16:rowId xmlns:a16="http://schemas.microsoft.com/office/drawing/2014/main" val="761456729"/>
                  </a:ext>
                </a:extLst>
              </a:tr>
            </a:tbl>
          </a:graphicData>
        </a:graphic>
      </p:graphicFrame>
      <p:pic>
        <p:nvPicPr>
          <p:cNvPr id="8" name="Picture 7">
            <a:extLst>
              <a:ext uri="{FF2B5EF4-FFF2-40B4-BE49-F238E27FC236}">
                <a16:creationId xmlns:a16="http://schemas.microsoft.com/office/drawing/2014/main" id="{98836081-C83E-3545-81F8-FACEAC8AB6A8}"/>
              </a:ext>
            </a:extLst>
          </p:cNvPr>
          <p:cNvPicPr>
            <a:picLocks noChangeAspect="1"/>
          </p:cNvPicPr>
          <p:nvPr/>
        </p:nvPicPr>
        <p:blipFill>
          <a:blip r:embed="rId3"/>
          <a:stretch>
            <a:fillRect/>
          </a:stretch>
        </p:blipFill>
        <p:spPr>
          <a:xfrm>
            <a:off x="5612063" y="599151"/>
            <a:ext cx="3208087" cy="2743759"/>
          </a:xfrm>
          <a:prstGeom prst="rect">
            <a:avLst/>
          </a:prstGeom>
        </p:spPr>
      </p:pic>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8326BF97-45D6-638D-77BE-ABE68FF3FB4A}"/>
            </a:ext>
          </a:extLst>
        </p:cNvPr>
        <p:cNvGrpSpPr/>
        <p:nvPr/>
      </p:nvGrpSpPr>
      <p:grpSpPr>
        <a:xfrm>
          <a:off x="0" y="0"/>
          <a:ext cx="0" cy="0"/>
          <a:chOff x="0" y="0"/>
          <a:chExt cx="0" cy="0"/>
        </a:xfrm>
      </p:grpSpPr>
      <p:sp>
        <p:nvSpPr>
          <p:cNvPr id="72" name="Google Shape;72;p1">
            <a:extLst>
              <a:ext uri="{FF2B5EF4-FFF2-40B4-BE49-F238E27FC236}">
                <a16:creationId xmlns:a16="http://schemas.microsoft.com/office/drawing/2014/main" id="{44900434-30DA-68EC-6BE5-D01F4CC085B8}"/>
              </a:ext>
            </a:extLst>
          </p:cNvPr>
          <p:cNvSpPr txBox="1">
            <a:spLocks noGrp="1"/>
          </p:cNvSpPr>
          <p:nvPr>
            <p:ph type="ctrTitle" idx="4294967295"/>
          </p:nvPr>
        </p:nvSpPr>
        <p:spPr>
          <a:xfrm>
            <a:off x="478810" y="1765268"/>
            <a:ext cx="7787184"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5.10 </a:t>
            </a:r>
            <a:r>
              <a:rPr lang="es-ES" sz="4000" dirty="0">
                <a:solidFill>
                  <a:schemeClr val="bg1"/>
                </a:solidFill>
              </a:rPr>
              <a:t>Switch </a:t>
            </a:r>
            <a:r>
              <a:rPr lang="es-MX" sz="4000">
                <a:solidFill>
                  <a:schemeClr val="bg1"/>
                </a:solidFill>
              </a:rPr>
              <a:t>Multicapa</a:t>
            </a:r>
            <a:br>
              <a:rPr lang="es-MX" sz="4000">
                <a:solidFill>
                  <a:schemeClr val="bg1"/>
                </a:solidFill>
              </a:rPr>
            </a:br>
            <a:r>
              <a:rPr lang="es-PE" sz="1500" i="1">
                <a:solidFill>
                  <a:schemeClr val="lt1"/>
                </a:solidFill>
                <a:latin typeface="Arial"/>
                <a:ea typeface="Arial"/>
                <a:cs typeface="Arial"/>
                <a:sym typeface="Arial"/>
              </a:rPr>
              <a:t>Ingeniería </a:t>
            </a:r>
            <a:r>
              <a:rPr lang="es-PE" sz="1500" i="1" dirty="0">
                <a:solidFill>
                  <a:schemeClr val="lt1"/>
                </a:solidFill>
                <a:latin typeface="Arial"/>
                <a:ea typeface="Arial"/>
                <a:cs typeface="Arial"/>
                <a:sym typeface="Arial"/>
              </a:rPr>
              <a:t>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2025-2</a:t>
            </a:r>
            <a:endParaRPr dirty="0"/>
          </a:p>
        </p:txBody>
      </p:sp>
    </p:spTree>
    <p:extLst>
      <p:ext uri="{BB962C8B-B14F-4D97-AF65-F5344CB8AC3E}">
        <p14:creationId xmlns:p14="http://schemas.microsoft.com/office/powerpoint/2010/main" val="16601279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832C3-400A-78AE-A195-68EEE3B478E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3A17DC-F92D-C270-1060-D294A789D6C6}"/>
              </a:ext>
            </a:extLst>
          </p:cNvPr>
          <p:cNvSpPr>
            <a:spLocks noGrp="1"/>
          </p:cNvSpPr>
          <p:nvPr>
            <p:ph type="title"/>
          </p:nvPr>
        </p:nvSpPr>
        <p:spPr>
          <a:xfrm>
            <a:off x="0" y="0"/>
            <a:ext cx="8345488" cy="731837"/>
          </a:xfrm>
        </p:spPr>
        <p:txBody>
          <a:bodyPr/>
          <a:lstStyle/>
          <a:p>
            <a:r>
              <a:rPr lang="es-ES" sz="2400" dirty="0">
                <a:solidFill>
                  <a:srgbClr val="C00000"/>
                </a:solidFill>
              </a:rPr>
              <a:t>Conmutador de nivel 3</a:t>
            </a:r>
            <a:r>
              <a:rPr lang="es-419" sz="2400" dirty="0">
                <a:solidFill>
                  <a:srgbClr val="C00000"/>
                </a:solidFill>
              </a:rPr>
              <a:t> (Switch L3) Inter-VLAN </a:t>
            </a:r>
            <a:r>
              <a:rPr lang="es-419" sz="2400" dirty="0" err="1">
                <a:solidFill>
                  <a:srgbClr val="C00000"/>
                </a:solidFill>
              </a:rPr>
              <a:t>Routing</a:t>
            </a:r>
            <a:endParaRPr lang="es-419" sz="2400" dirty="0">
              <a:solidFill>
                <a:srgbClr val="C00000"/>
              </a:solidFill>
            </a:endParaRPr>
          </a:p>
        </p:txBody>
      </p:sp>
      <p:sp>
        <p:nvSpPr>
          <p:cNvPr id="5" name="Content Placeholder 4">
            <a:extLst>
              <a:ext uri="{FF2B5EF4-FFF2-40B4-BE49-F238E27FC236}">
                <a16:creationId xmlns:a16="http://schemas.microsoft.com/office/drawing/2014/main" id="{6A8ADF41-CDEB-678A-066D-C7DD0C85A009}"/>
              </a:ext>
            </a:extLst>
          </p:cNvPr>
          <p:cNvSpPr>
            <a:spLocks noGrp="1"/>
          </p:cNvSpPr>
          <p:nvPr>
            <p:ph idx="1"/>
          </p:nvPr>
        </p:nvSpPr>
        <p:spPr>
          <a:xfrm>
            <a:off x="208858" y="611187"/>
            <a:ext cx="8891038" cy="1433513"/>
          </a:xfrm>
        </p:spPr>
        <p:txBody>
          <a:bodyPr/>
          <a:lstStyle/>
          <a:p>
            <a:pPr marL="0" indent="0" algn="just" rtl="0"/>
            <a:r>
              <a:rPr lang="es-419" sz="1800" dirty="0">
                <a:solidFill>
                  <a:srgbClr val="000000"/>
                </a:solidFill>
              </a:rPr>
              <a:t>El método de enrutamiento </a:t>
            </a:r>
            <a:r>
              <a:rPr lang="es-419" sz="1800" dirty="0" err="1">
                <a:solidFill>
                  <a:srgbClr val="000000"/>
                </a:solidFill>
              </a:rPr>
              <a:t>interVLAN</a:t>
            </a:r>
            <a:r>
              <a:rPr lang="es-419" sz="1800" dirty="0">
                <a:solidFill>
                  <a:srgbClr val="000000"/>
                </a:solidFill>
              </a:rPr>
              <a:t> ‘Switch L3' supera la limitación del método de enrutamiento </a:t>
            </a:r>
            <a:r>
              <a:rPr lang="es-419" sz="1800" dirty="0" err="1">
                <a:solidFill>
                  <a:srgbClr val="000000"/>
                </a:solidFill>
              </a:rPr>
              <a:t>interVLAN</a:t>
            </a:r>
            <a:r>
              <a:rPr lang="es-419" sz="1800" dirty="0">
                <a:solidFill>
                  <a:srgbClr val="000000"/>
                </a:solidFill>
              </a:rPr>
              <a:t> “</a:t>
            </a:r>
            <a:r>
              <a:rPr lang="es-419" sz="1800" dirty="0" err="1">
                <a:solidFill>
                  <a:srgbClr val="000000"/>
                </a:solidFill>
              </a:rPr>
              <a:t>Router</a:t>
            </a:r>
            <a:r>
              <a:rPr lang="es-419" sz="1800" dirty="0">
                <a:solidFill>
                  <a:srgbClr val="000000"/>
                </a:solidFill>
              </a:rPr>
              <a:t> </a:t>
            </a:r>
            <a:r>
              <a:rPr lang="es-419" sz="1800" dirty="0" err="1">
                <a:solidFill>
                  <a:srgbClr val="000000"/>
                </a:solidFill>
              </a:rPr>
              <a:t>on</a:t>
            </a:r>
            <a:r>
              <a:rPr lang="es-419" sz="1800" dirty="0">
                <a:solidFill>
                  <a:srgbClr val="000000"/>
                </a:solidFill>
              </a:rPr>
              <a:t> </a:t>
            </a:r>
            <a:r>
              <a:rPr lang="es-419" sz="1800" dirty="0" err="1">
                <a:solidFill>
                  <a:srgbClr val="000000"/>
                </a:solidFill>
              </a:rPr>
              <a:t>stick</a:t>
            </a:r>
            <a:r>
              <a:rPr lang="es-419" sz="1800" dirty="0">
                <a:solidFill>
                  <a:srgbClr val="000000"/>
                </a:solidFill>
              </a:rPr>
              <a:t>”.</a:t>
            </a:r>
          </a:p>
          <a:p>
            <a:pPr marL="0" indent="0" algn="just"/>
            <a:r>
              <a:rPr lang="es-ES" sz="1800" dirty="0">
                <a:solidFill>
                  <a:srgbClr val="000000"/>
                </a:solidFill>
              </a:rPr>
              <a:t>Esta es la solución más escalable para organizaciones medianas y grandes.</a:t>
            </a:r>
            <a:endParaRPr lang="es-419" sz="1800" dirty="0">
              <a:solidFill>
                <a:srgbClr val="000000"/>
              </a:solidFill>
            </a:endParaRPr>
          </a:p>
        </p:txBody>
      </p:sp>
      <p:pic>
        <p:nvPicPr>
          <p:cNvPr id="2" name="Picture 1">
            <a:extLst>
              <a:ext uri="{FF2B5EF4-FFF2-40B4-BE49-F238E27FC236}">
                <a16:creationId xmlns:a16="http://schemas.microsoft.com/office/drawing/2014/main" id="{E8DFA425-7574-7A7A-6FA1-D7B28F7F7744}"/>
              </a:ext>
            </a:extLst>
          </p:cNvPr>
          <p:cNvPicPr>
            <a:picLocks noChangeAspect="1"/>
          </p:cNvPicPr>
          <p:nvPr/>
        </p:nvPicPr>
        <p:blipFill>
          <a:blip r:embed="rId3"/>
          <a:stretch>
            <a:fillRect/>
          </a:stretch>
        </p:blipFill>
        <p:spPr>
          <a:xfrm>
            <a:off x="436114" y="2405628"/>
            <a:ext cx="4203700" cy="2501900"/>
          </a:xfrm>
          <a:prstGeom prst="rect">
            <a:avLst/>
          </a:prstGeom>
        </p:spPr>
      </p:pic>
      <p:sp>
        <p:nvSpPr>
          <p:cNvPr id="6" name="TextBox 5">
            <a:extLst>
              <a:ext uri="{FF2B5EF4-FFF2-40B4-BE49-F238E27FC236}">
                <a16:creationId xmlns:a16="http://schemas.microsoft.com/office/drawing/2014/main" id="{DE225271-1683-D3C6-F6BD-EB3A271220E4}"/>
              </a:ext>
            </a:extLst>
          </p:cNvPr>
          <p:cNvSpPr txBox="1"/>
          <p:nvPr/>
        </p:nvSpPr>
        <p:spPr>
          <a:xfrm>
            <a:off x="4854023" y="2096512"/>
            <a:ext cx="4081119" cy="2246769"/>
          </a:xfrm>
          <a:prstGeom prst="rect">
            <a:avLst/>
          </a:prstGeom>
          <a:noFill/>
        </p:spPr>
        <p:txBody>
          <a:bodyPr wrap="square">
            <a:spAutoFit/>
          </a:bodyPr>
          <a:lstStyle/>
          <a:p>
            <a:pPr marL="0" indent="0" algn="just" rtl="0"/>
            <a:r>
              <a:rPr lang="es-419" sz="1400" dirty="0">
                <a:solidFill>
                  <a:srgbClr val="000000"/>
                </a:solidFill>
              </a:rPr>
              <a:t>Los </a:t>
            </a:r>
            <a:r>
              <a:rPr lang="es-419" sz="1400" dirty="0" err="1">
                <a:solidFill>
                  <a:srgbClr val="000000"/>
                </a:solidFill>
              </a:rPr>
              <a:t>SVIs</a:t>
            </a:r>
            <a:r>
              <a:rPr lang="es-419" sz="1400" dirty="0">
                <a:solidFill>
                  <a:srgbClr val="000000"/>
                </a:solidFill>
              </a:rPr>
              <a:t> entre VLAN se crean de la misma manera que se configura la interfaz de VLAN de administración. El SVI se crea para una VLAN que existe en el switch. Aunque es virtual, el SVI realiza las mismas funciones para la VLAN que lo haría una interfaz de enrutador. Específicamente, proporciona el procesamiento de Capa 3 para los paquetes que se envían hacia o desde todos los puertos de switch asociados con esa VLAN.</a:t>
            </a:r>
          </a:p>
        </p:txBody>
      </p:sp>
    </p:spTree>
    <p:extLst>
      <p:ext uri="{BB962C8B-B14F-4D97-AF65-F5344CB8AC3E}">
        <p14:creationId xmlns:p14="http://schemas.microsoft.com/office/powerpoint/2010/main" val="10945941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052560" cy="481263"/>
          </a:xfrm>
        </p:spPr>
        <p:txBody>
          <a:bodyPr/>
          <a:lstStyle/>
          <a:p>
            <a:pPr algn="just"/>
            <a:r>
              <a:rPr lang="es-419" sz="1800" dirty="0">
                <a:solidFill>
                  <a:srgbClr val="C00000"/>
                </a:solidFill>
              </a:rPr>
              <a:t>Configuración de </a:t>
            </a:r>
            <a:r>
              <a:rPr lang="es-ES" sz="1800" dirty="0">
                <a:solidFill>
                  <a:srgbClr val="C00000"/>
                </a:solidFill>
              </a:rPr>
              <a:t>Conmutador de nivel 3</a:t>
            </a:r>
            <a:r>
              <a:rPr lang="es-419" sz="1800" dirty="0">
                <a:solidFill>
                  <a:srgbClr val="C00000"/>
                </a:solidFill>
              </a:rPr>
              <a:t> (Switch L3) Inter-VLAN </a:t>
            </a:r>
            <a:r>
              <a:rPr lang="es-419" sz="1800" dirty="0" err="1">
                <a:solidFill>
                  <a:srgbClr val="C00000"/>
                </a:solidFill>
              </a:rPr>
              <a:t>Routing</a:t>
            </a:r>
            <a:endParaRPr lang="es-419" sz="1800" dirty="0">
              <a:solidFill>
                <a:srgbClr val="C00000"/>
              </a:solidFill>
            </a:endParaRPr>
          </a:p>
        </p:txBody>
      </p:sp>
      <p:pic>
        <p:nvPicPr>
          <p:cNvPr id="5" name="Imagen 4">
            <a:extLst>
              <a:ext uri="{FF2B5EF4-FFF2-40B4-BE49-F238E27FC236}">
                <a16:creationId xmlns:a16="http://schemas.microsoft.com/office/drawing/2014/main" id="{1B0C1BCC-92DE-A811-7167-3D3B92DB5F5C}"/>
              </a:ext>
            </a:extLst>
          </p:cNvPr>
          <p:cNvPicPr>
            <a:picLocks noChangeAspect="1"/>
          </p:cNvPicPr>
          <p:nvPr/>
        </p:nvPicPr>
        <p:blipFill>
          <a:blip r:embed="rId3"/>
          <a:stretch>
            <a:fillRect/>
          </a:stretch>
        </p:blipFill>
        <p:spPr>
          <a:xfrm>
            <a:off x="5286501" y="546991"/>
            <a:ext cx="3697183" cy="2879165"/>
          </a:xfrm>
          <a:prstGeom prst="rect">
            <a:avLst/>
          </a:prstGeom>
        </p:spPr>
      </p:pic>
      <p:sp>
        <p:nvSpPr>
          <p:cNvPr id="2" name="CuadroTexto 1">
            <a:extLst>
              <a:ext uri="{FF2B5EF4-FFF2-40B4-BE49-F238E27FC236}">
                <a16:creationId xmlns:a16="http://schemas.microsoft.com/office/drawing/2014/main" id="{7D46CFD4-880F-FF6B-5026-A9DC3CC328CC}"/>
              </a:ext>
            </a:extLst>
          </p:cNvPr>
          <p:cNvSpPr txBox="1"/>
          <p:nvPr/>
        </p:nvSpPr>
        <p:spPr>
          <a:xfrm>
            <a:off x="0" y="1338803"/>
            <a:ext cx="5947782" cy="2554545"/>
          </a:xfrm>
          <a:prstGeom prst="rect">
            <a:avLst/>
          </a:prstGeom>
          <a:noFill/>
        </p:spPr>
        <p:txBody>
          <a:bodyPr wrap="square">
            <a:spAutoFit/>
          </a:bodyPr>
          <a:lstStyle/>
          <a:p>
            <a:pPr marL="171450" marR="0" lvl="0" indent="-17145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s-419" sz="1200" b="1" i="0" u="sng" strike="noStrike" kern="1200" cap="none" spc="0" normalizeH="0" baseline="0" noProof="0" dirty="0">
                <a:ln>
                  <a:noFill/>
                </a:ln>
                <a:solidFill>
                  <a:srgbClr val="9933FF"/>
                </a:solidFill>
                <a:effectLst>
                  <a:outerShdw blurRad="38100" dist="38100" dir="2700000" algn="tl">
                    <a:srgbClr val="000000">
                      <a:alpha val="43137"/>
                    </a:srgbClr>
                  </a:outerShdw>
                </a:effectLst>
                <a:uLnTx/>
                <a:uFillTx/>
                <a:latin typeface="Arial"/>
                <a:ea typeface="ＭＳ Ｐゴシック" charset="0"/>
                <a:cs typeface="+mn-cs"/>
              </a:rPr>
              <a:t>Paso 3. </a:t>
            </a:r>
            <a:r>
              <a:rPr kumimoji="0" lang="es-419" sz="1200" b="1" i="0" u="none" strike="noStrike" kern="1200" cap="none" spc="0" normalizeH="0" baseline="0" noProof="0" dirty="0">
                <a:ln>
                  <a:noFill/>
                </a:ln>
                <a:solidFill>
                  <a:srgbClr val="9933FF"/>
                </a:solidFill>
                <a:effectLst>
                  <a:outerShdw blurRad="38100" dist="38100" dir="2700000" algn="tl">
                    <a:srgbClr val="000000">
                      <a:alpha val="43137"/>
                    </a:srgbClr>
                  </a:outerShdw>
                </a:effectLst>
                <a:uLnTx/>
                <a:uFillTx/>
                <a:latin typeface="Arial"/>
                <a:ea typeface="ＭＳ Ｐゴシック" charset="0"/>
                <a:cs typeface="+mn-cs"/>
              </a:rPr>
              <a:t>Cree las interfaces virtuales VLAN SVI. La dirección IP configurada en la interface VLAN, será la puerta de enlace predeterminada, para los hosts de la VLAN respectiva. </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s-419" sz="12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a:p>
            <a:pPr marL="0" marR="0" lvl="0" indent="0" algn="l" defTabSz="457200" rtl="0" eaLnBrk="1" fontAlgn="base" latinLnBrk="0" hangingPunct="1">
              <a:lnSpc>
                <a:spcPct val="100000"/>
              </a:lnSpc>
              <a:spcBef>
                <a:spcPct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200" b="0" i="0" u="none" strike="noStrike" kern="1200" cap="none" spc="0" normalizeH="0" baseline="0" noProof="0" dirty="0">
                <a:ln>
                  <a:noFill/>
                </a:ln>
                <a:solidFill>
                  <a:srgbClr val="58585B"/>
                </a:solidFill>
                <a:effectLst/>
                <a:uLnTx/>
                <a:uFillTx/>
                <a:latin typeface="Courier New" panose="02070309020205020404" pitchFamily="49" charset="0"/>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Switch_D1(config)#interface </a:t>
            </a:r>
            <a:r>
              <a:rPr kumimoji="0" lang="en-US" sz="1000" b="1" i="0" u="none" strike="noStrike" kern="1200" cap="none" spc="0" normalizeH="0" baseline="0" noProof="0" dirty="0" err="1">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Vlan</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 </a:t>
            </a:r>
            <a:r>
              <a:rPr kumimoji="0" lang="en-US" sz="1000" b="1" i="0" u="none" strike="noStrike" kern="1200" cap="none" spc="0" normalizeH="0" baseline="0" noProof="0" dirty="0">
                <a:ln>
                  <a:noFill/>
                </a:ln>
                <a:solidFill>
                  <a:srgbClr val="00B0F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10</a:t>
            </a:r>
            <a:endParaRPr kumimoji="0" lang="es-PE" sz="1000" b="1" i="0" u="none" strike="noStrike" kern="1200" cap="none" spc="0" normalizeH="0" baseline="0" noProof="0" dirty="0">
              <a:ln>
                <a:noFill/>
              </a:ln>
              <a:solidFill>
                <a:srgbClr val="00B0F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457200" rtl="0" eaLnBrk="1" fontAlgn="base" latinLnBrk="0" hangingPunct="1">
              <a:lnSpc>
                <a:spcPct val="100000"/>
              </a:lnSpc>
              <a:spcBef>
                <a:spcPct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	Switch_D1(config-if)#ip address </a:t>
            </a:r>
            <a:r>
              <a:rPr kumimoji="0" lang="en-US" sz="1000" b="1" i="0" u="none" strike="noStrike" kern="1200" cap="none" spc="0" normalizeH="0" baseline="0" noProof="0" dirty="0">
                <a:ln>
                  <a:noFill/>
                </a:ln>
                <a:solidFill>
                  <a:srgbClr val="00B0F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192.168.10.1 255.255.255.0</a:t>
            </a:r>
            <a:endParaRPr kumimoji="0" lang="es-PE" sz="1000" b="1" i="0" u="none" strike="noStrike" kern="1200" cap="none" spc="0" normalizeH="0" baseline="0" noProof="0" dirty="0">
              <a:ln>
                <a:noFill/>
              </a:ln>
              <a:solidFill>
                <a:srgbClr val="00B0F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457200" rtl="0" eaLnBrk="1" fontAlgn="base" latinLnBrk="0" hangingPunct="1">
              <a:lnSpc>
                <a:spcPct val="100000"/>
              </a:lnSpc>
              <a:spcBef>
                <a:spcPct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s-PE" sz="1000" b="0" i="0" u="none" strike="noStrike" kern="1200" cap="none" spc="0" normalizeH="0" baseline="0" noProof="0" dirty="0">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	Switch_D1(</a:t>
            </a:r>
            <a:r>
              <a:rPr kumimoji="0" lang="es-PE" sz="1000" b="0" i="0" u="none" strike="noStrike" kern="1200" cap="none" spc="0" normalizeH="0" baseline="0" noProof="0" dirty="0" err="1">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config-if</a:t>
            </a:r>
            <a:r>
              <a:rPr kumimoji="0" lang="es-PE" sz="1000" b="0" i="0" u="none" strike="noStrike" kern="1200" cap="none" spc="0" normalizeH="0" baseline="0" noProof="0" dirty="0">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)#no shutdown</a:t>
            </a:r>
          </a:p>
          <a:p>
            <a:pPr marL="0" marR="0" lvl="0" indent="0" algn="l" defTabSz="457200" rtl="0" eaLnBrk="1" fontAlgn="base" latinLnBrk="0" hangingPunct="1">
              <a:lnSpc>
                <a:spcPct val="100000"/>
              </a:lnSpc>
              <a:spcBef>
                <a:spcPct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s-PE" sz="1000" b="0" i="0" u="none" strike="noStrike" kern="1200" cap="none" spc="0" normalizeH="0" baseline="0" noProof="0" dirty="0">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	Switch_D1(</a:t>
            </a:r>
            <a:r>
              <a:rPr kumimoji="0" lang="es-PE" sz="1000" b="0" i="0" u="none" strike="noStrike" kern="1200" cap="none" spc="0" normalizeH="0" baseline="0" noProof="0" dirty="0" err="1">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config-if</a:t>
            </a:r>
            <a:r>
              <a:rPr kumimoji="0" lang="es-PE" sz="1000" b="0" i="0" u="none" strike="noStrike" kern="1200" cap="none" spc="0" normalizeH="0" baseline="0" noProof="0" dirty="0">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)#exit</a:t>
            </a:r>
          </a:p>
          <a:p>
            <a:pPr marL="0" marR="0" lvl="0" indent="0" algn="l" defTabSz="457200" rtl="0" eaLnBrk="1" fontAlgn="base" latinLnBrk="0" hangingPunct="1">
              <a:lnSpc>
                <a:spcPct val="100000"/>
              </a:lnSpc>
              <a:spcBef>
                <a:spcPct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	Switch_D1(config)#interface </a:t>
            </a:r>
            <a:r>
              <a:rPr kumimoji="0" lang="en-US" sz="1000" b="1" i="0" u="none" strike="noStrike" kern="1200" cap="none" spc="0" normalizeH="0" baseline="0" noProof="0" dirty="0" err="1">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Vlan</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 </a:t>
            </a:r>
            <a:r>
              <a:rPr kumimoji="0" lang="en-US" sz="1000" b="1" i="0" u="none" strike="noStrike" kern="1200" cap="none" spc="0" normalizeH="0" baseline="0" noProof="0" dirty="0">
                <a:ln>
                  <a:noFill/>
                </a:ln>
                <a:solidFill>
                  <a:srgbClr val="00B0F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20</a:t>
            </a:r>
            <a:endParaRPr kumimoji="0" lang="es-PE" sz="1000" b="1" i="0" u="none" strike="noStrike" kern="1200" cap="none" spc="0" normalizeH="0" baseline="0" noProof="0" dirty="0">
              <a:ln>
                <a:noFill/>
              </a:ln>
              <a:solidFill>
                <a:srgbClr val="00B0F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457200" rtl="0" eaLnBrk="1" fontAlgn="base" latinLnBrk="0" hangingPunct="1">
              <a:lnSpc>
                <a:spcPct val="100000"/>
              </a:lnSpc>
              <a:spcBef>
                <a:spcPct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	Switch_D1(config-if)#ip address </a:t>
            </a:r>
            <a:r>
              <a:rPr kumimoji="0" lang="en-US" sz="1000" b="1" i="0" u="none" strike="noStrike" kern="1200" cap="none" spc="0" normalizeH="0" baseline="0" noProof="0" dirty="0">
                <a:ln>
                  <a:noFill/>
                </a:ln>
                <a:solidFill>
                  <a:srgbClr val="00B0F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192.168.20.1 255.255.255.0</a:t>
            </a:r>
            <a:endParaRPr kumimoji="0" lang="es-PE" sz="1000" b="1" i="0" u="none" strike="noStrike" kern="1200" cap="none" spc="0" normalizeH="0" baseline="0" noProof="0" dirty="0">
              <a:ln>
                <a:noFill/>
              </a:ln>
              <a:solidFill>
                <a:srgbClr val="00B0F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457200" rtl="0" eaLnBrk="1" fontAlgn="base" latinLnBrk="0" hangingPunct="1">
              <a:lnSpc>
                <a:spcPct val="100000"/>
              </a:lnSpc>
              <a:spcBef>
                <a:spcPct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s-PE" sz="1000" b="0" i="0" u="none" strike="noStrike" kern="1200" cap="none" spc="0" normalizeH="0" baseline="0" noProof="0" dirty="0">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	Switch_D1(</a:t>
            </a:r>
            <a:r>
              <a:rPr kumimoji="0" lang="es-PE" sz="1000" b="0" i="0" u="none" strike="noStrike" kern="1200" cap="none" spc="0" normalizeH="0" baseline="0" noProof="0" dirty="0" err="1">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config-if</a:t>
            </a:r>
            <a:r>
              <a:rPr kumimoji="0" lang="es-PE" sz="1000" b="0" i="0" u="none" strike="noStrike" kern="1200" cap="none" spc="0" normalizeH="0" baseline="0" noProof="0" dirty="0">
                <a:ln>
                  <a:noFill/>
                </a:ln>
                <a:solidFill>
                  <a:srgbClr val="000000"/>
                </a:solidFill>
                <a:effectLst/>
                <a:uLnTx/>
                <a:uFillTx/>
                <a:latin typeface="Courier New" panose="02070309020205020404" pitchFamily="49" charset="0"/>
                <a:ea typeface="Times New Roman" panose="02020603050405020304" pitchFamily="18" charset="0"/>
                <a:cs typeface="Times New Roman" panose="02020603050405020304" pitchFamily="18" charset="0"/>
              </a:rPr>
              <a:t>)#no shutdown</a:t>
            </a:r>
          </a:p>
        </p:txBody>
      </p:sp>
      <p:sp>
        <p:nvSpPr>
          <p:cNvPr id="9" name="CuadroTexto 8">
            <a:extLst>
              <a:ext uri="{FF2B5EF4-FFF2-40B4-BE49-F238E27FC236}">
                <a16:creationId xmlns:a16="http://schemas.microsoft.com/office/drawing/2014/main" id="{5120864B-F3D3-4CD8-8D32-C92DAD1AF33D}"/>
              </a:ext>
            </a:extLst>
          </p:cNvPr>
          <p:cNvSpPr txBox="1"/>
          <p:nvPr/>
        </p:nvSpPr>
        <p:spPr>
          <a:xfrm>
            <a:off x="305639" y="3799784"/>
            <a:ext cx="8746921" cy="1292662"/>
          </a:xfrm>
          <a:prstGeom prst="rect">
            <a:avLst/>
          </a:prstGeom>
          <a:noFill/>
        </p:spPr>
        <p:txBody>
          <a:bodyPr wrap="square">
            <a:spAutoFit/>
          </a:bodyPr>
          <a:lstStyle/>
          <a:p>
            <a:pPr marL="171450" lvl="0" indent="-171450" algn="just">
              <a:buFont typeface="Arial" panose="020B0604020202020204" pitchFamily="34" charset="0"/>
              <a:buChar char="•"/>
            </a:pPr>
            <a:r>
              <a:rPr kumimoji="0" lang="es-419" sz="1200" b="1" i="0" u="sng" strike="noStrike" kern="1200" cap="none" spc="0" normalizeH="0" baseline="0" noProof="0" dirty="0">
                <a:ln>
                  <a:noFill/>
                </a:ln>
                <a:solidFill>
                  <a:srgbClr val="9933FF"/>
                </a:solidFill>
                <a:effectLst>
                  <a:outerShdw blurRad="38100" dist="38100" dir="2700000" algn="tl">
                    <a:srgbClr val="000000">
                      <a:alpha val="43137"/>
                    </a:srgbClr>
                  </a:outerShdw>
                </a:effectLst>
                <a:uLnTx/>
                <a:uFillTx/>
                <a:latin typeface="Arial"/>
                <a:ea typeface="ＭＳ Ｐゴシック" charset="0"/>
                <a:cs typeface="+mn-cs"/>
              </a:rPr>
              <a:t>Paso 4. </a:t>
            </a:r>
            <a:r>
              <a:rPr kumimoji="0" lang="es-419" sz="1200" b="1" i="0" u="none" strike="noStrike" kern="1200" cap="none" spc="0" normalizeH="0" baseline="0" noProof="0" dirty="0">
                <a:ln>
                  <a:noFill/>
                </a:ln>
                <a:solidFill>
                  <a:srgbClr val="9933FF"/>
                </a:solidFill>
                <a:effectLst>
                  <a:outerShdw blurRad="38100" dist="38100" dir="2700000" algn="tl">
                    <a:srgbClr val="000000">
                      <a:alpha val="43137"/>
                    </a:srgbClr>
                  </a:outerShdw>
                </a:effectLst>
                <a:uLnTx/>
                <a:uFillTx/>
                <a:latin typeface="Arial"/>
                <a:ea typeface="ＭＳ Ｐゴシック" charset="0"/>
                <a:cs typeface="+mn-cs"/>
              </a:rPr>
              <a:t>Habilitar </a:t>
            </a:r>
            <a:r>
              <a:rPr kumimoji="0" lang="es-419" sz="1200" b="1" i="0" u="none" strike="noStrike" kern="1200" cap="none" spc="0" normalizeH="0" baseline="0" noProof="0" dirty="0" err="1">
                <a:ln>
                  <a:noFill/>
                </a:ln>
                <a:solidFill>
                  <a:srgbClr val="9933FF"/>
                </a:solidFill>
                <a:effectLst>
                  <a:outerShdw blurRad="38100" dist="38100" dir="2700000" algn="tl">
                    <a:srgbClr val="000000">
                      <a:alpha val="43137"/>
                    </a:srgbClr>
                  </a:outerShdw>
                </a:effectLst>
                <a:uLnTx/>
                <a:uFillTx/>
                <a:latin typeface="Arial"/>
                <a:ea typeface="ＭＳ Ｐゴシック" charset="0"/>
                <a:cs typeface="+mn-cs"/>
              </a:rPr>
              <a:t>routing</a:t>
            </a:r>
            <a:r>
              <a:rPr kumimoji="0" lang="es-419" sz="1200" b="1" i="0" u="none" strike="noStrike" kern="1200" cap="none" spc="0" normalizeH="0" baseline="0" noProof="0" dirty="0">
                <a:ln>
                  <a:noFill/>
                </a:ln>
                <a:solidFill>
                  <a:srgbClr val="9933FF"/>
                </a:solidFill>
                <a:effectLst>
                  <a:outerShdw blurRad="38100" dist="38100" dir="2700000" algn="tl">
                    <a:srgbClr val="000000">
                      <a:alpha val="43137"/>
                    </a:srgbClr>
                  </a:outerShdw>
                </a:effectLst>
                <a:uLnTx/>
                <a:uFillTx/>
                <a:latin typeface="Arial"/>
                <a:ea typeface="ＭＳ Ｐゴシック" charset="0"/>
                <a:cs typeface="+mn-cs"/>
              </a:rPr>
              <a:t> IP. Ejecute el comando </a:t>
            </a:r>
            <a:r>
              <a:rPr kumimoji="0" lang="es-419" sz="1200" b="1" i="1" u="none" strike="noStrike" kern="1200" cap="none" spc="0" normalizeH="0" baseline="0" noProof="0" dirty="0" err="1">
                <a:ln>
                  <a:noFill/>
                </a:ln>
                <a:solidFill>
                  <a:schemeClr val="bg2">
                    <a:lumMod val="75000"/>
                  </a:schemeClr>
                </a:solidFill>
                <a:effectLst>
                  <a:outerShdw blurRad="38100" dist="38100" dir="2700000" algn="tl">
                    <a:srgbClr val="000000">
                      <a:alpha val="43137"/>
                    </a:srgbClr>
                  </a:outerShdw>
                </a:effectLst>
                <a:uLnTx/>
                <a:uFillTx/>
                <a:latin typeface="Arial"/>
                <a:ea typeface="ＭＳ Ｐゴシック" charset="0"/>
                <a:cs typeface="+mn-cs"/>
              </a:rPr>
              <a:t>ip</a:t>
            </a:r>
            <a:r>
              <a:rPr kumimoji="0" lang="es-419" sz="1200" b="1" i="1" u="none" strike="noStrike" kern="1200" cap="none" spc="0" normalizeH="0" baseline="0" noProof="0" dirty="0">
                <a:ln>
                  <a:noFill/>
                </a:ln>
                <a:solidFill>
                  <a:schemeClr val="bg2">
                    <a:lumMod val="75000"/>
                  </a:schemeClr>
                </a:solidFill>
                <a:effectLst>
                  <a:outerShdw blurRad="38100" dist="38100" dir="2700000" algn="tl">
                    <a:srgbClr val="000000">
                      <a:alpha val="43137"/>
                    </a:srgbClr>
                  </a:outerShdw>
                </a:effectLst>
                <a:uLnTx/>
                <a:uFillTx/>
                <a:latin typeface="Arial"/>
                <a:ea typeface="ＭＳ Ｐゴシック" charset="0"/>
                <a:cs typeface="+mn-cs"/>
              </a:rPr>
              <a:t> </a:t>
            </a:r>
            <a:r>
              <a:rPr kumimoji="0" lang="es-419" sz="1200" b="1" i="1" u="none" strike="noStrike" kern="1200" cap="none" spc="0" normalizeH="0" baseline="0" noProof="0" dirty="0" err="1">
                <a:ln>
                  <a:noFill/>
                </a:ln>
                <a:solidFill>
                  <a:schemeClr val="bg2">
                    <a:lumMod val="75000"/>
                  </a:schemeClr>
                </a:solidFill>
                <a:effectLst>
                  <a:outerShdw blurRad="38100" dist="38100" dir="2700000" algn="tl">
                    <a:srgbClr val="000000">
                      <a:alpha val="43137"/>
                    </a:srgbClr>
                  </a:outerShdw>
                </a:effectLst>
                <a:uLnTx/>
                <a:uFillTx/>
                <a:latin typeface="Arial"/>
                <a:ea typeface="ＭＳ Ｐゴシック" charset="0"/>
                <a:cs typeface="+mn-cs"/>
              </a:rPr>
              <a:t>routing</a:t>
            </a:r>
            <a:r>
              <a:rPr kumimoji="0" lang="es-419" sz="1200" b="1" i="1" u="none" strike="noStrike" kern="1200" cap="none" spc="0" normalizeH="0" baseline="0" noProof="0" dirty="0">
                <a:ln>
                  <a:noFill/>
                </a:ln>
                <a:solidFill>
                  <a:schemeClr val="bg2">
                    <a:lumMod val="75000"/>
                  </a:schemeClr>
                </a:solidFill>
                <a:effectLst>
                  <a:outerShdw blurRad="38100" dist="38100" dir="2700000" algn="tl">
                    <a:srgbClr val="000000">
                      <a:alpha val="43137"/>
                    </a:srgbClr>
                  </a:outerShdw>
                </a:effectLst>
                <a:uLnTx/>
                <a:uFillTx/>
                <a:latin typeface="Arial"/>
                <a:ea typeface="ＭＳ Ｐゴシック" charset="0"/>
                <a:cs typeface="+mn-cs"/>
              </a:rPr>
              <a:t> </a:t>
            </a:r>
            <a:r>
              <a:rPr kumimoji="0" lang="es-419" sz="1200" b="1" i="0" u="none" strike="noStrike" kern="1200" cap="none" spc="0" normalizeH="0" baseline="0" noProof="0" dirty="0">
                <a:ln>
                  <a:noFill/>
                </a:ln>
                <a:solidFill>
                  <a:srgbClr val="9933FF"/>
                </a:solidFill>
                <a:effectLst>
                  <a:outerShdw blurRad="38100" dist="38100" dir="2700000" algn="tl">
                    <a:srgbClr val="000000">
                      <a:alpha val="43137"/>
                    </a:srgbClr>
                  </a:outerShdw>
                </a:effectLst>
                <a:uLnTx/>
                <a:uFillTx/>
                <a:latin typeface="Arial"/>
                <a:ea typeface="ＭＳ Ｐゴシック" charset="0"/>
                <a:cs typeface="+mn-cs"/>
              </a:rPr>
              <a:t>global </a:t>
            </a:r>
            <a:r>
              <a:rPr kumimoji="0" lang="es-419" sz="1200" b="1" i="0" u="none" strike="noStrike" kern="1200" cap="none" spc="0" normalizeH="0" baseline="0" noProof="0" dirty="0" err="1">
                <a:ln>
                  <a:noFill/>
                </a:ln>
                <a:solidFill>
                  <a:srgbClr val="9933FF"/>
                </a:solidFill>
                <a:effectLst>
                  <a:outerShdw blurRad="38100" dist="38100" dir="2700000" algn="tl">
                    <a:srgbClr val="000000">
                      <a:alpha val="43137"/>
                    </a:srgbClr>
                  </a:outerShdw>
                </a:effectLst>
                <a:uLnTx/>
                <a:uFillTx/>
                <a:latin typeface="Arial"/>
                <a:ea typeface="ＭＳ Ｐゴシック" charset="0"/>
                <a:cs typeface="+mn-cs"/>
              </a:rPr>
              <a:t>configuration</a:t>
            </a:r>
            <a:r>
              <a:rPr kumimoji="0" lang="es-419" sz="1200" b="1" i="0" u="none" strike="noStrike" kern="1200" cap="none" spc="0" normalizeH="0" baseline="0" noProof="0" dirty="0">
                <a:ln>
                  <a:noFill/>
                </a:ln>
                <a:solidFill>
                  <a:srgbClr val="9933FF"/>
                </a:solidFill>
                <a:effectLst>
                  <a:outerShdw blurRad="38100" dist="38100" dir="2700000" algn="tl">
                    <a:srgbClr val="000000">
                      <a:alpha val="43137"/>
                    </a:srgbClr>
                  </a:outerShdw>
                </a:effectLst>
                <a:uLnTx/>
                <a:uFillTx/>
                <a:latin typeface="Arial"/>
                <a:ea typeface="ＭＳ Ｐゴシック" charset="0"/>
                <a:cs typeface="+mn-cs"/>
              </a:rPr>
              <a:t>, para activar la </a:t>
            </a:r>
            <a:r>
              <a:rPr lang="es-419" sz="1200" b="1" dirty="0">
                <a:solidFill>
                  <a:srgbClr val="9933FF"/>
                </a:solidFill>
                <a:effectLst>
                  <a:outerShdw blurRad="38100" dist="38100" dir="2700000" algn="tl">
                    <a:srgbClr val="000000">
                      <a:alpha val="43137"/>
                    </a:srgbClr>
                  </a:outerShdw>
                </a:effectLst>
                <a:latin typeface="Arial"/>
                <a:ea typeface="ＭＳ Ｐゴシック" charset="0"/>
              </a:rPr>
              <a:t>Inter-VLAN </a:t>
            </a:r>
            <a:r>
              <a:rPr lang="es-419" sz="1200" b="1" dirty="0" err="1">
                <a:solidFill>
                  <a:srgbClr val="9933FF"/>
                </a:solidFill>
                <a:effectLst>
                  <a:outerShdw blurRad="38100" dist="38100" dir="2700000" algn="tl">
                    <a:srgbClr val="000000">
                      <a:alpha val="43137"/>
                    </a:srgbClr>
                  </a:outerShdw>
                </a:effectLst>
                <a:latin typeface="Arial"/>
                <a:ea typeface="ＭＳ Ｐゴシック" charset="0"/>
              </a:rPr>
              <a:t>Routing</a:t>
            </a:r>
            <a:r>
              <a:rPr lang="es-419" sz="1200" b="1" dirty="0">
                <a:solidFill>
                  <a:srgbClr val="9933FF"/>
                </a:solidFill>
                <a:effectLst>
                  <a:outerShdw blurRad="38100" dist="38100" dir="2700000" algn="tl">
                    <a:srgbClr val="000000">
                      <a:alpha val="43137"/>
                    </a:srgbClr>
                  </a:outerShdw>
                </a:effectLst>
                <a:latin typeface="Arial"/>
                <a:ea typeface="ＭＳ Ｐゴシック" charset="0"/>
              </a:rPr>
              <a:t> y </a:t>
            </a:r>
            <a:r>
              <a:rPr kumimoji="0" lang="es-419" sz="1200" b="1" i="0" u="none" strike="noStrike" kern="1200" cap="none" spc="0" normalizeH="0" baseline="0" noProof="0" dirty="0">
                <a:ln>
                  <a:noFill/>
                </a:ln>
                <a:solidFill>
                  <a:srgbClr val="9933FF"/>
                </a:solidFill>
                <a:effectLst>
                  <a:outerShdw blurRad="38100" dist="38100" dir="2700000" algn="tl">
                    <a:srgbClr val="000000">
                      <a:alpha val="43137"/>
                    </a:srgbClr>
                  </a:outerShdw>
                </a:effectLst>
                <a:uLnTx/>
                <a:uFillTx/>
                <a:latin typeface="Arial"/>
                <a:ea typeface="ＭＳ Ｐゴシック" charset="0"/>
                <a:cs typeface="+mn-cs"/>
              </a:rPr>
              <a:t>permitir el intercambio de tráfico entre las distintas </a:t>
            </a:r>
            <a:r>
              <a:rPr kumimoji="0" lang="es-419" sz="1200" b="1" i="0" u="none" strike="noStrike" kern="1200" cap="none" spc="0" normalizeH="0" baseline="0" noProof="0" dirty="0" err="1">
                <a:ln>
                  <a:noFill/>
                </a:ln>
                <a:solidFill>
                  <a:srgbClr val="9933FF"/>
                </a:solidFill>
                <a:effectLst>
                  <a:outerShdw blurRad="38100" dist="38100" dir="2700000" algn="tl">
                    <a:srgbClr val="000000">
                      <a:alpha val="43137"/>
                    </a:srgbClr>
                  </a:outerShdw>
                </a:effectLst>
                <a:uLnTx/>
                <a:uFillTx/>
                <a:latin typeface="Arial"/>
                <a:ea typeface="ＭＳ Ｐゴシック" charset="0"/>
                <a:cs typeface="+mn-cs"/>
              </a:rPr>
              <a:t>VLANs</a:t>
            </a:r>
            <a:r>
              <a:rPr kumimoji="0" lang="es-419" sz="1200" b="1" i="0" u="none" strike="noStrike" kern="1200" cap="none" spc="0" normalizeH="0" baseline="0" noProof="0" dirty="0">
                <a:ln>
                  <a:noFill/>
                </a:ln>
                <a:solidFill>
                  <a:srgbClr val="9933FF"/>
                </a:solidFill>
                <a:effectLst>
                  <a:outerShdw blurRad="38100" dist="38100" dir="2700000" algn="tl">
                    <a:srgbClr val="000000">
                      <a:alpha val="43137"/>
                    </a:srgbClr>
                  </a:outerShdw>
                </a:effectLst>
                <a:uLnTx/>
                <a:uFillTx/>
                <a:latin typeface="Arial"/>
                <a:ea typeface="ＭＳ Ｐゴシック" charset="0"/>
                <a:cs typeface="+mn-cs"/>
              </a:rPr>
              <a:t> (VLAN 10 y 20). </a:t>
            </a:r>
          </a:p>
          <a:p>
            <a:pPr marL="171450" lvl="0" indent="-171450" algn="just">
              <a:buFont typeface="Arial" panose="020B0604020202020204" pitchFamily="34" charset="0"/>
              <a:buChar char="•"/>
            </a:pPr>
            <a:r>
              <a:rPr kumimoji="0" lang="es-419" sz="1200" b="1" i="0" u="none" strike="noStrike" kern="1200" cap="none" spc="0" normalizeH="0" baseline="0" noProof="0" dirty="0">
                <a:ln>
                  <a:noFill/>
                </a:ln>
                <a:solidFill>
                  <a:srgbClr val="9933FF"/>
                </a:solidFill>
                <a:effectLst>
                  <a:outerShdw blurRad="38100" dist="38100" dir="2700000" algn="tl">
                    <a:srgbClr val="000000">
                      <a:alpha val="43137"/>
                    </a:srgbClr>
                  </a:outerShdw>
                </a:effectLst>
                <a:uLnTx/>
                <a:uFillTx/>
                <a:latin typeface="Arial"/>
                <a:ea typeface="ＭＳ Ｐゴシック" charset="0"/>
                <a:cs typeface="+mn-cs"/>
              </a:rPr>
              <a:t>Este comando debe configurarse para habilitar el enrutamiento inter-VLAN en un conmutador de capa 3 para IPv4.</a:t>
            </a:r>
          </a:p>
          <a:p>
            <a:pPr marR="0" lvl="0" algn="just" defTabSz="457200" rtl="0" eaLnBrk="1" fontAlgn="base" latinLnBrk="0" hangingPunct="1">
              <a:lnSpc>
                <a:spcPct val="100000"/>
              </a:lnSpc>
              <a:spcBef>
                <a:spcPct val="0"/>
              </a:spcBef>
              <a:spcAft>
                <a:spcPct val="0"/>
              </a:spcAft>
              <a:buClrTx/>
              <a:buSzTx/>
              <a:tabLst/>
              <a:defRPr/>
            </a:pPr>
            <a:endParaRPr kumimoji="0" lang="es-419" sz="12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a:p>
            <a:pPr marL="0" marR="0" lvl="0" indent="0" algn="just" defTabSz="457200" rtl="0" eaLnBrk="1" fontAlgn="base" latinLnBrk="0" hangingPunct="1">
              <a:lnSpc>
                <a:spcPct val="100000"/>
              </a:lnSpc>
              <a:spcBef>
                <a:spcPct val="0"/>
              </a:spcBef>
              <a:spcAft>
                <a:spcPct val="0"/>
              </a:spcAft>
              <a:buClrTx/>
              <a:buSzTx/>
              <a:buFontTx/>
              <a:buNone/>
              <a:tabLst/>
              <a:defRPr/>
            </a:pPr>
            <a:r>
              <a:rPr kumimoji="0" lang="es-419" altLang="es-PE" sz="1000" b="1" i="0" u="none" strike="noStrike" kern="1200" cap="none" spc="0" normalizeH="0" baseline="0" noProof="0" dirty="0">
                <a:ln>
                  <a:noFill/>
                </a:ln>
                <a:solidFill>
                  <a:srgbClr val="00B0F0"/>
                </a:solidFill>
                <a:effectLst/>
                <a:uLnTx/>
                <a:uFillTx/>
                <a:latin typeface="Courier New" panose="02070309020205020404" pitchFamily="49" charset="0"/>
                <a:ea typeface="ＭＳ Ｐゴシック" pitchFamily="34" charset="-128"/>
                <a:cs typeface="Times New Roman" panose="02020603050405020304" pitchFamily="18" charset="0"/>
              </a:rPr>
              <a:t>	</a:t>
            </a:r>
            <a:r>
              <a:rPr kumimoji="0" lang="es-419" altLang="es-PE" sz="1000" b="0" i="0" u="none" strike="noStrike" kern="1200" cap="none" spc="0" normalizeH="0" baseline="0" noProof="0" dirty="0">
                <a:ln>
                  <a:noFill/>
                </a:ln>
                <a:solidFill>
                  <a:srgbClr val="000000"/>
                </a:solidFill>
                <a:effectLst/>
                <a:uLnTx/>
                <a:uFillTx/>
                <a:latin typeface="Courier New" panose="02070309020205020404" pitchFamily="49" charset="0"/>
                <a:ea typeface="ＭＳ Ｐゴシック" pitchFamily="34" charset="-128"/>
                <a:cs typeface="Times New Roman" panose="02020603050405020304" pitchFamily="18" charset="0"/>
              </a:rPr>
              <a:t>Switch_D1(</a:t>
            </a:r>
            <a:r>
              <a:rPr kumimoji="0" lang="es-419" altLang="es-PE" sz="1000" b="0" i="0" u="none" strike="noStrike" kern="1200" cap="none" spc="0" normalizeH="0" baseline="0" noProof="0" dirty="0" err="1">
                <a:ln>
                  <a:noFill/>
                </a:ln>
                <a:solidFill>
                  <a:srgbClr val="000000"/>
                </a:solidFill>
                <a:effectLst/>
                <a:uLnTx/>
                <a:uFillTx/>
                <a:latin typeface="Courier New" panose="02070309020205020404" pitchFamily="49" charset="0"/>
                <a:ea typeface="ＭＳ Ｐゴシック" pitchFamily="34" charset="-128"/>
                <a:cs typeface="Times New Roman" panose="02020603050405020304" pitchFamily="18" charset="0"/>
              </a:rPr>
              <a:t>config</a:t>
            </a:r>
            <a:r>
              <a:rPr kumimoji="0" lang="es-419" altLang="es-PE" sz="1000" b="0" i="0" u="none" strike="noStrike" kern="1200" cap="none" spc="0" normalizeH="0" baseline="0" noProof="0" dirty="0">
                <a:ln>
                  <a:noFill/>
                </a:ln>
                <a:solidFill>
                  <a:srgbClr val="000000"/>
                </a:solidFill>
                <a:effectLst/>
                <a:uLnTx/>
                <a:uFillTx/>
                <a:latin typeface="Courier New" panose="02070309020205020404" pitchFamily="49" charset="0"/>
                <a:ea typeface="ＭＳ Ｐゴシック" pitchFamily="34" charset="-128"/>
                <a:cs typeface="Times New Roman" panose="02020603050405020304" pitchFamily="18" charset="0"/>
              </a:rPr>
              <a:t>)#</a:t>
            </a:r>
            <a:r>
              <a:rPr kumimoji="0" lang="es-419" altLang="es-PE" sz="1000" b="1" i="0" u="none" strike="noStrike" kern="1200" cap="none" spc="0" normalizeH="0" baseline="0" noProof="0" dirty="0">
                <a:ln>
                  <a:noFill/>
                </a:ln>
                <a:solidFill>
                  <a:srgbClr val="00B0F0"/>
                </a:solidFill>
                <a:effectLst/>
                <a:uLnTx/>
                <a:uFillTx/>
                <a:latin typeface="Courier New" panose="02070309020205020404" pitchFamily="49" charset="0"/>
                <a:ea typeface="ＭＳ Ｐゴシック" pitchFamily="34" charset="-128"/>
                <a:cs typeface="Times New Roman" panose="02020603050405020304" pitchFamily="18" charset="0"/>
              </a:rPr>
              <a:t>ip </a:t>
            </a:r>
            <a:r>
              <a:rPr kumimoji="0" lang="es-419" altLang="es-PE" sz="1000" b="1" i="0" u="none" strike="noStrike" kern="1200" cap="none" spc="0" normalizeH="0" baseline="0" noProof="0" dirty="0" err="1">
                <a:ln>
                  <a:noFill/>
                </a:ln>
                <a:solidFill>
                  <a:srgbClr val="00B0F0"/>
                </a:solidFill>
                <a:effectLst/>
                <a:uLnTx/>
                <a:uFillTx/>
                <a:latin typeface="Courier New" panose="02070309020205020404" pitchFamily="49" charset="0"/>
                <a:ea typeface="ＭＳ Ｐゴシック" pitchFamily="34" charset="-128"/>
                <a:cs typeface="Times New Roman" panose="02020603050405020304" pitchFamily="18" charset="0"/>
              </a:rPr>
              <a:t>routing</a:t>
            </a:r>
            <a:r>
              <a:rPr kumimoji="0" lang="es-419" altLang="es-PE" sz="1000" b="1" i="0" u="none" strike="noStrike" kern="1200" cap="none" spc="0" normalizeH="0" baseline="0" noProof="0" dirty="0">
                <a:ln>
                  <a:noFill/>
                </a:ln>
                <a:solidFill>
                  <a:srgbClr val="00B0F0"/>
                </a:solidFill>
                <a:effectLst/>
                <a:uLnTx/>
                <a:uFillTx/>
                <a:latin typeface="Courier New" panose="02070309020205020404" pitchFamily="49" charset="0"/>
                <a:ea typeface="ＭＳ Ｐゴシック" pitchFamily="34" charset="-128"/>
                <a:cs typeface="Times New Roman" panose="02020603050405020304" pitchFamily="18" charset="0"/>
              </a:rPr>
              <a:t> </a:t>
            </a:r>
          </a:p>
          <a:p>
            <a:pPr marL="0" marR="0" lvl="0" indent="0" algn="just" defTabSz="457200" rtl="0" eaLnBrk="1" fontAlgn="base" latinLnBrk="0" hangingPunct="1">
              <a:lnSpc>
                <a:spcPct val="100000"/>
              </a:lnSpc>
              <a:spcBef>
                <a:spcPct val="0"/>
              </a:spcBef>
              <a:spcAft>
                <a:spcPct val="0"/>
              </a:spcAft>
              <a:buClrTx/>
              <a:buSzTx/>
              <a:buFontTx/>
              <a:buNone/>
              <a:tabLst/>
              <a:defRPr/>
            </a:pPr>
            <a:endParaRPr kumimoji="0" lang="es-419" altLang="es-PE" sz="1000" b="1" i="0" u="none" strike="noStrike" kern="1200" cap="none" spc="0" normalizeH="0" baseline="0" noProof="0" dirty="0">
              <a:ln>
                <a:noFill/>
              </a:ln>
              <a:solidFill>
                <a:srgbClr val="00B0F0"/>
              </a:solidFill>
              <a:effectLst/>
              <a:uLnTx/>
              <a:uFillTx/>
              <a:latin typeface="Courier New" panose="02070309020205020404" pitchFamily="49" charset="0"/>
              <a:ea typeface="ＭＳ Ｐゴシック" pitchFamily="34" charset="-128"/>
              <a:cs typeface="Times New Roman" panose="02020603050405020304" pitchFamily="18" charset="0"/>
            </a:endParaRPr>
          </a:p>
          <a:p>
            <a:pPr marL="0" marR="0" lvl="0" indent="0" algn="just" defTabSz="457200" rtl="0" eaLnBrk="1" fontAlgn="base" latinLnBrk="0" hangingPunct="1">
              <a:lnSpc>
                <a:spcPct val="100000"/>
              </a:lnSpc>
              <a:spcBef>
                <a:spcPct val="0"/>
              </a:spcBef>
              <a:spcAft>
                <a:spcPct val="0"/>
              </a:spcAft>
              <a:buClrTx/>
              <a:buSzTx/>
              <a:buFontTx/>
              <a:buNone/>
              <a:tabLst/>
              <a:defRPr/>
            </a:pPr>
            <a:r>
              <a:rPr kumimoji="0" lang="es-419" sz="1000" b="1" i="0" u="none" strike="noStrike" kern="1200" cap="none" spc="0" normalizeH="0" baseline="0" noProof="0" dirty="0">
                <a:ln>
                  <a:noFill/>
                </a:ln>
                <a:solidFill>
                  <a:srgbClr val="81C569">
                    <a:lumMod val="75000"/>
                  </a:srgbClr>
                </a:solidFill>
                <a:effectLst/>
                <a:uLnTx/>
                <a:uFillTx/>
                <a:latin typeface="Arial" charset="0"/>
                <a:ea typeface="ＭＳ Ｐゴシック" pitchFamily="34" charset="-128"/>
                <a:cs typeface="+mn-cs"/>
              </a:rPr>
              <a:t>Una vez completada la configuración, la configuración se puede verificar probando la conectividad entre los hosts.</a:t>
            </a:r>
          </a:p>
        </p:txBody>
      </p:sp>
      <p:sp>
        <p:nvSpPr>
          <p:cNvPr id="6" name="CuadroTexto 5">
            <a:extLst>
              <a:ext uri="{FF2B5EF4-FFF2-40B4-BE49-F238E27FC236}">
                <a16:creationId xmlns:a16="http://schemas.microsoft.com/office/drawing/2014/main" id="{8CE77810-3F21-0F77-BA12-DE667BEE302A}"/>
              </a:ext>
            </a:extLst>
          </p:cNvPr>
          <p:cNvSpPr txBox="1"/>
          <p:nvPr/>
        </p:nvSpPr>
        <p:spPr>
          <a:xfrm>
            <a:off x="0" y="433965"/>
            <a:ext cx="6463364" cy="461665"/>
          </a:xfrm>
          <a:prstGeom prst="rect">
            <a:avLst/>
          </a:prstGeom>
          <a:noFill/>
        </p:spPr>
        <p:txBody>
          <a:bodyPr wrap="square">
            <a:spAutoFit/>
          </a:bodyPr>
          <a:lstStyle/>
          <a:p>
            <a:pPr marL="171450" indent="-171450">
              <a:buFont typeface="Arial" panose="020B0604020202020204" pitchFamily="34" charset="0"/>
              <a:buChar char="•"/>
            </a:pPr>
            <a:r>
              <a:rPr lang="es-419" sz="1200" b="1" u="sng" dirty="0">
                <a:solidFill>
                  <a:srgbClr val="9933FF"/>
                </a:solidFill>
                <a:effectLst>
                  <a:outerShdw blurRad="38100" dist="38100" dir="2700000" algn="tl">
                    <a:srgbClr val="000000">
                      <a:alpha val="43137"/>
                    </a:srgbClr>
                  </a:outerShdw>
                </a:effectLst>
                <a:latin typeface="Arial"/>
                <a:ea typeface="ＭＳ Ｐゴシック" charset="0"/>
              </a:rPr>
              <a:t>Paso 1. </a:t>
            </a:r>
            <a:r>
              <a:rPr lang="es-419" sz="1200" b="1" dirty="0">
                <a:solidFill>
                  <a:srgbClr val="9933FF"/>
                </a:solidFill>
                <a:effectLst>
                  <a:outerShdw blurRad="38100" dist="38100" dir="2700000" algn="tl">
                    <a:srgbClr val="000000">
                      <a:alpha val="43137"/>
                    </a:srgbClr>
                  </a:outerShdw>
                </a:effectLst>
                <a:latin typeface="Arial"/>
                <a:ea typeface="ＭＳ Ｐゴシック" charset="0"/>
              </a:rPr>
              <a:t>Se deben crear las </a:t>
            </a:r>
            <a:r>
              <a:rPr lang="es-419" sz="1200" b="1" dirty="0" err="1">
                <a:solidFill>
                  <a:srgbClr val="9933FF"/>
                </a:solidFill>
                <a:effectLst>
                  <a:outerShdw blurRad="38100" dist="38100" dir="2700000" algn="tl">
                    <a:srgbClr val="000000">
                      <a:alpha val="43137"/>
                    </a:srgbClr>
                  </a:outerShdw>
                </a:effectLst>
                <a:latin typeface="Arial"/>
                <a:ea typeface="ＭＳ Ｐゴシック" charset="0"/>
              </a:rPr>
              <a:t>VLANs</a:t>
            </a:r>
            <a:r>
              <a:rPr lang="es-419" sz="1200" b="1" dirty="0">
                <a:solidFill>
                  <a:srgbClr val="9933FF"/>
                </a:solidFill>
                <a:effectLst>
                  <a:outerShdw blurRad="38100" dist="38100" dir="2700000" algn="tl">
                    <a:srgbClr val="000000">
                      <a:alpha val="43137"/>
                    </a:srgbClr>
                  </a:outerShdw>
                </a:effectLst>
                <a:latin typeface="Arial"/>
                <a:ea typeface="ＭＳ Ｐゴシック" charset="0"/>
              </a:rPr>
              <a:t> en el SWITCH L3, en este caso crear las </a:t>
            </a:r>
            <a:r>
              <a:rPr lang="es-419" sz="1200" b="1" dirty="0" err="1">
                <a:solidFill>
                  <a:srgbClr val="9933FF"/>
                </a:solidFill>
                <a:effectLst>
                  <a:outerShdw blurRad="38100" dist="38100" dir="2700000" algn="tl">
                    <a:srgbClr val="000000">
                      <a:alpha val="43137"/>
                    </a:srgbClr>
                  </a:outerShdw>
                </a:effectLst>
                <a:latin typeface="Arial"/>
                <a:ea typeface="ＭＳ Ｐゴシック" charset="0"/>
              </a:rPr>
              <a:t>VLANs</a:t>
            </a:r>
            <a:r>
              <a:rPr lang="es-419" sz="1200" b="1" dirty="0">
                <a:solidFill>
                  <a:srgbClr val="9933FF"/>
                </a:solidFill>
                <a:effectLst>
                  <a:outerShdw blurRad="38100" dist="38100" dir="2700000" algn="tl">
                    <a:srgbClr val="000000">
                      <a:alpha val="43137"/>
                    </a:srgbClr>
                  </a:outerShdw>
                </a:effectLst>
                <a:latin typeface="Arial"/>
                <a:ea typeface="ＭＳ Ｐゴシック" charset="0"/>
              </a:rPr>
              <a:t> 10 y 20, del mismo modo que para los Switches de capa 2.</a:t>
            </a:r>
            <a:endParaRPr lang="es-PE" sz="1200" b="1" dirty="0">
              <a:solidFill>
                <a:srgbClr val="9933FF"/>
              </a:solidFill>
              <a:effectLst>
                <a:outerShdw blurRad="38100" dist="38100" dir="2700000" algn="tl">
                  <a:srgbClr val="000000">
                    <a:alpha val="43137"/>
                  </a:srgbClr>
                </a:outerShdw>
              </a:effectLst>
              <a:latin typeface="Arial"/>
              <a:ea typeface="ＭＳ Ｐゴシック" charset="0"/>
            </a:endParaRPr>
          </a:p>
        </p:txBody>
      </p:sp>
      <p:sp>
        <p:nvSpPr>
          <p:cNvPr id="8" name="CuadroTexto 7">
            <a:extLst>
              <a:ext uri="{FF2B5EF4-FFF2-40B4-BE49-F238E27FC236}">
                <a16:creationId xmlns:a16="http://schemas.microsoft.com/office/drawing/2014/main" id="{93DE4D95-639F-028A-00A4-0C12EF981B36}"/>
              </a:ext>
            </a:extLst>
          </p:cNvPr>
          <p:cNvSpPr txBox="1"/>
          <p:nvPr/>
        </p:nvSpPr>
        <p:spPr>
          <a:xfrm>
            <a:off x="0" y="882052"/>
            <a:ext cx="6220290" cy="461665"/>
          </a:xfrm>
          <a:prstGeom prst="rect">
            <a:avLst/>
          </a:prstGeom>
          <a:noFill/>
        </p:spPr>
        <p:txBody>
          <a:bodyPr wrap="square">
            <a:spAutoFit/>
          </a:bodyPr>
          <a:lstStyle/>
          <a:p>
            <a:pPr marL="171450" indent="-171450">
              <a:buFont typeface="Arial" panose="020B0604020202020204" pitchFamily="34" charset="0"/>
              <a:buChar char="•"/>
            </a:pPr>
            <a:r>
              <a:rPr lang="es-419" sz="1200" b="1" u="sng" dirty="0">
                <a:solidFill>
                  <a:srgbClr val="9933FF"/>
                </a:solidFill>
                <a:effectLst>
                  <a:outerShdw blurRad="38100" dist="38100" dir="2700000" algn="tl">
                    <a:srgbClr val="000000">
                      <a:alpha val="43137"/>
                    </a:srgbClr>
                  </a:outerShdw>
                </a:effectLst>
                <a:latin typeface="Arial"/>
                <a:ea typeface="ＭＳ Ｐゴシック" charset="0"/>
              </a:rPr>
              <a:t>Paso 2. </a:t>
            </a:r>
            <a:r>
              <a:rPr lang="es-419" sz="1200" b="1" dirty="0">
                <a:solidFill>
                  <a:srgbClr val="9933FF"/>
                </a:solidFill>
                <a:effectLst>
                  <a:outerShdw blurRad="38100" dist="38100" dir="2700000" algn="tl">
                    <a:srgbClr val="000000">
                      <a:alpha val="43137"/>
                    </a:srgbClr>
                  </a:outerShdw>
                </a:effectLst>
                <a:latin typeface="Arial"/>
                <a:ea typeface="ＭＳ Ｐゴシック" charset="0"/>
              </a:rPr>
              <a:t>Se debe Asignar las interfaces a las </a:t>
            </a:r>
            <a:r>
              <a:rPr lang="es-419" sz="1200" b="1" dirty="0" err="1">
                <a:solidFill>
                  <a:srgbClr val="9933FF"/>
                </a:solidFill>
                <a:effectLst>
                  <a:outerShdw blurRad="38100" dist="38100" dir="2700000" algn="tl">
                    <a:srgbClr val="000000">
                      <a:alpha val="43137"/>
                    </a:srgbClr>
                  </a:outerShdw>
                </a:effectLst>
                <a:latin typeface="Arial"/>
                <a:ea typeface="ＭＳ Ｐゴシック" charset="0"/>
              </a:rPr>
              <a:t>VLANs</a:t>
            </a:r>
            <a:r>
              <a:rPr lang="es-419" sz="1200" b="1" dirty="0">
                <a:solidFill>
                  <a:srgbClr val="9933FF"/>
                </a:solidFill>
                <a:effectLst>
                  <a:outerShdw blurRad="38100" dist="38100" dir="2700000" algn="tl">
                    <a:srgbClr val="000000">
                      <a:alpha val="43137"/>
                    </a:srgbClr>
                  </a:outerShdw>
                </a:effectLst>
                <a:latin typeface="Arial"/>
                <a:ea typeface="ＭＳ Ｐゴシック" charset="0"/>
              </a:rPr>
              <a:t>, VLAN 10 a la interfaz fa0/1 y VLAN 20 a la interfaz fa0/2.</a:t>
            </a:r>
            <a:endParaRPr lang="es-PE" sz="1200" b="1" dirty="0">
              <a:solidFill>
                <a:srgbClr val="9933FF"/>
              </a:solidFill>
              <a:effectLst>
                <a:outerShdw blurRad="38100" dist="38100" dir="2700000" algn="tl">
                  <a:srgbClr val="000000">
                    <a:alpha val="43137"/>
                  </a:srgbClr>
                </a:outerShdw>
              </a:effectLst>
              <a:latin typeface="Arial"/>
              <a:ea typeface="ＭＳ Ｐゴシック" charset="0"/>
            </a:endParaRPr>
          </a:p>
        </p:txBody>
      </p:sp>
    </p:spTree>
    <p:extLst>
      <p:ext uri="{BB962C8B-B14F-4D97-AF65-F5344CB8AC3E}">
        <p14:creationId xmlns:p14="http://schemas.microsoft.com/office/powerpoint/2010/main" val="52284479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Inter-VLAN </a:t>
            </a:r>
            <a:r>
              <a:rPr lang="es-419" sz="2400" dirty="0" err="1">
                <a:solidFill>
                  <a:srgbClr val="C00000"/>
                </a:solidFill>
              </a:rPr>
              <a:t>Routing</a:t>
            </a:r>
            <a:r>
              <a:rPr lang="es-419" sz="2400" dirty="0">
                <a:solidFill>
                  <a:srgbClr val="C00000"/>
                </a:solidFill>
              </a:rPr>
              <a:t> en el Switch capa 3 (Cont.)</a:t>
            </a:r>
          </a:p>
        </p:txBody>
      </p:sp>
      <p:sp>
        <p:nvSpPr>
          <p:cNvPr id="5" name="Content Placeholder 4">
            <a:extLst>
              <a:ext uri="{FF2B5EF4-FFF2-40B4-BE49-F238E27FC236}">
                <a16:creationId xmlns:a16="http://schemas.microsoft.com/office/drawing/2014/main" id="{3AA16A1B-27DD-E847-9D2D-EC7E3FD04156}"/>
              </a:ext>
            </a:extLst>
          </p:cNvPr>
          <p:cNvSpPr>
            <a:spLocks noGrp="1"/>
          </p:cNvSpPr>
          <p:nvPr>
            <p:ph idx="1"/>
          </p:nvPr>
        </p:nvSpPr>
        <p:spPr>
          <a:xfrm>
            <a:off x="474662" y="731837"/>
            <a:ext cx="8280057" cy="3689897"/>
          </a:xfrm>
        </p:spPr>
        <p:txBody>
          <a:bodyPr/>
          <a:lstStyle/>
          <a:p>
            <a:pPr marL="0" indent="0" algn="l" rtl="0"/>
            <a:r>
              <a:rPr lang="es-419" sz="1400">
                <a:solidFill>
                  <a:srgbClr val="000000"/>
                </a:solidFill>
              </a:rPr>
              <a:t>Los SVIs entre VLAN se crean de la misma manera que se configura la interfaz de VLAN de administración. El SVI se crea para una VLAN que existe en el switch. Aunque es virtual, el SVI realiza las mismas funciones para la VLAN que lo haría una interfaz de enrutador. Específicamente, proporciona el procesamiento de Capa 3 para los paquetes que se envían hacia o desde todos los puertos de switch asociados con esa VLAN.</a:t>
            </a:r>
          </a:p>
          <a:p>
            <a:pPr marL="0" indent="0" algn="l"/>
            <a:endParaRPr lang="en-US" sz="1400" dirty="0">
              <a:solidFill>
                <a:srgbClr val="000000"/>
              </a:solidFill>
            </a:endParaRPr>
          </a:p>
          <a:p>
            <a:pPr marL="0" indent="0" algn="l" rtl="0"/>
            <a:r>
              <a:rPr lang="es-419" sz="1400">
                <a:solidFill>
                  <a:srgbClr val="000000"/>
                </a:solidFill>
              </a:rPr>
              <a:t>A continuación se presentan las ventajas del uso de conmutadores de capa 3 para el enrutamiento entre VLAN:</a:t>
            </a:r>
          </a:p>
          <a:p>
            <a:pPr marL="415985" lvl="1" indent="-342900" rtl="0">
              <a:buFont typeface="Arial" panose="020B0604020202020204" pitchFamily="34" charset="0"/>
              <a:buChar char="•"/>
            </a:pPr>
            <a:r>
              <a:rPr lang="es-419">
                <a:solidFill>
                  <a:srgbClr val="000000"/>
                </a:solidFill>
              </a:rPr>
              <a:t>Es mucho más veloz que router-on-a-stick, porque todo el switching y el routing se realizan por hardware.</a:t>
            </a:r>
          </a:p>
          <a:p>
            <a:pPr marL="415985" lvl="1" indent="-342900" rtl="0">
              <a:buFont typeface="Arial" panose="020B0604020202020204" pitchFamily="34" charset="0"/>
              <a:buChar char="•"/>
            </a:pPr>
            <a:r>
              <a:rPr lang="es-419">
                <a:solidFill>
                  <a:srgbClr val="000000"/>
                </a:solidFill>
              </a:rPr>
              <a:t>El routing no requiere enlaces externos del switch al router.</a:t>
            </a:r>
          </a:p>
          <a:p>
            <a:pPr marL="415985" lvl="1" indent="-342900" rtl="0">
              <a:buFont typeface="Arial" panose="020B0604020202020204" pitchFamily="34" charset="0"/>
              <a:buChar char="•"/>
            </a:pPr>
            <a:r>
              <a:rPr lang="es-419">
                <a:solidFill>
                  <a:srgbClr val="000000"/>
                </a:solidFill>
              </a:rPr>
              <a:t>No se limitan a un enlace porque los EtherChannels de Capa 2 se pueden utilizar como enlaces troncal entre los switches para aumentar el ancho de banda.</a:t>
            </a:r>
          </a:p>
          <a:p>
            <a:pPr marL="415985" lvl="1" indent="-342900" rtl="0">
              <a:buFont typeface="Arial" panose="020B0604020202020204" pitchFamily="34" charset="0"/>
              <a:buChar char="•"/>
            </a:pPr>
            <a:r>
              <a:rPr lang="es-419">
                <a:solidFill>
                  <a:srgbClr val="000000"/>
                </a:solidFill>
              </a:rPr>
              <a:t>La latencia es mucho más baja, dado que los datos no necesitan salir del switch para ser enrutados a una red diferente.</a:t>
            </a:r>
          </a:p>
          <a:p>
            <a:pPr marL="415985" lvl="1" indent="-342900" rtl="0">
              <a:buFont typeface="Arial" panose="020B0604020202020204" pitchFamily="34" charset="0"/>
              <a:buChar char="•"/>
            </a:pPr>
            <a:r>
              <a:rPr lang="es-419">
                <a:solidFill>
                  <a:srgbClr val="000000"/>
                </a:solidFill>
              </a:rPr>
              <a:t>Se implementan con mayor frecuencia en una LAN de campus que en enrutadores.</a:t>
            </a:r>
          </a:p>
          <a:p>
            <a:pPr marL="342900" indent="-342900" algn="l" rtl="0">
              <a:buFont typeface="Arial" panose="020B0604020202020204" pitchFamily="34" charset="0"/>
              <a:buChar char="•"/>
            </a:pPr>
            <a:r>
              <a:rPr lang="es-419" sz="1400">
                <a:solidFill>
                  <a:srgbClr val="000000"/>
                </a:solidFill>
              </a:rPr>
              <a:t>La única desventaja es que los switches de capa 3 son más caros.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735183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 y="-120822"/>
            <a:ext cx="9144000" cy="757551"/>
          </a:xfrm>
        </p:spPr>
        <p:txBody>
          <a:bodyPr/>
          <a:lstStyle/>
          <a:p>
            <a:pPr rtl="0"/>
            <a:r>
              <a:rPr lang="es-ES" sz="2800" b="1" dirty="0">
                <a:solidFill>
                  <a:srgbClr val="C00000"/>
                </a:solidFill>
                <a:latin typeface="+mn-lt"/>
              </a:rPr>
              <a:t>CONCLUSIONES</a:t>
            </a:r>
            <a:endParaRPr lang="es-419" sz="2800" b="1" dirty="0">
              <a:solidFill>
                <a:srgbClr val="C00000"/>
              </a:solidFill>
              <a:latin typeface="Arial" charset="0"/>
            </a:endParaRPr>
          </a:p>
        </p:txBody>
      </p:sp>
      <p:sp>
        <p:nvSpPr>
          <p:cNvPr id="5" name="Content Placeholder 2">
            <a:extLst>
              <a:ext uri="{FF2B5EF4-FFF2-40B4-BE49-F238E27FC236}">
                <a16:creationId xmlns:a16="http://schemas.microsoft.com/office/drawing/2014/main" id="{AFB25B5E-0157-4C4C-A630-BD6B04EC5318}"/>
              </a:ext>
            </a:extLst>
          </p:cNvPr>
          <p:cNvSpPr>
            <a:spLocks noGrp="1"/>
          </p:cNvSpPr>
          <p:nvPr>
            <p:ph idx="1"/>
          </p:nvPr>
        </p:nvSpPr>
        <p:spPr>
          <a:xfrm>
            <a:off x="0" y="447142"/>
            <a:ext cx="9143999" cy="4155319"/>
          </a:xfrm>
        </p:spPr>
        <p:txBody>
          <a:bodyPr/>
          <a:lstStyle/>
          <a:p>
            <a:pPr>
              <a:spcBef>
                <a:spcPts val="0"/>
              </a:spcBef>
              <a:spcAft>
                <a:spcPts val="0"/>
              </a:spcAft>
            </a:pPr>
            <a:r>
              <a:rPr lang="es-419" sz="1400" dirty="0"/>
              <a:t>Ethernet funciona en la capa de enlace de datos y en la capa física. Los estándares de Ethernet definen los protocolos de capa 2 y las tecnologías de capa 1. </a:t>
            </a:r>
          </a:p>
          <a:p>
            <a:pPr>
              <a:spcBef>
                <a:spcPts val="0"/>
              </a:spcBef>
              <a:spcAft>
                <a:spcPts val="0"/>
              </a:spcAft>
            </a:pPr>
            <a:r>
              <a:rPr lang="es-419" sz="1400" dirty="0"/>
              <a:t>Ethernet utiliza las subcapas LLC y MAC de la capa de enlace de datos para operar. </a:t>
            </a:r>
          </a:p>
          <a:p>
            <a:pPr>
              <a:spcBef>
                <a:spcPts val="0"/>
              </a:spcBef>
              <a:spcAft>
                <a:spcPts val="0"/>
              </a:spcAft>
            </a:pPr>
            <a:r>
              <a:rPr lang="es-419" sz="1400" dirty="0"/>
              <a:t>Cuando la dirección IP de destino (IPv4 o IPv6) está en una red remota, la dirección MAC de destino será la dirección de la puerta de enlace predeterminada del host (es decir, la interfaz del </a:t>
            </a:r>
            <a:r>
              <a:rPr lang="es-419" sz="1400" dirty="0" err="1"/>
              <a:t>router</a:t>
            </a:r>
            <a:r>
              <a:rPr lang="es-419" sz="1400" dirty="0"/>
              <a:t>). Un dispositivo IPv4 utiliza ARP para determinar la dirección MAC de destino de un dispositivo local cuando conoce su dirección IPv4.</a:t>
            </a:r>
          </a:p>
          <a:p>
            <a:pPr>
              <a:spcBef>
                <a:spcPts val="0"/>
              </a:spcBef>
              <a:spcAft>
                <a:spcPts val="0"/>
              </a:spcAft>
            </a:pPr>
            <a:r>
              <a:rPr lang="es-419" sz="1400" dirty="0"/>
              <a:t>Los puertos Ethernet en semidúplex formarán parte de un dominio de colisión.</a:t>
            </a:r>
          </a:p>
          <a:p>
            <a:pPr>
              <a:spcBef>
                <a:spcPts val="0"/>
              </a:spcBef>
              <a:spcAft>
                <a:spcPts val="0"/>
              </a:spcAft>
            </a:pPr>
            <a:r>
              <a:rPr lang="es-419" sz="1400" dirty="0"/>
              <a:t>El dúplex completo eliminará los dominios de colisión.</a:t>
            </a:r>
          </a:p>
          <a:p>
            <a:pPr>
              <a:spcBef>
                <a:spcPts val="0"/>
              </a:spcBef>
              <a:spcAft>
                <a:spcPts val="0"/>
              </a:spcAft>
            </a:pPr>
            <a:r>
              <a:rPr lang="es-419" sz="1400" dirty="0"/>
              <a:t>Un switch inundará todas las interfaces excepto el puerto de entrada si la trama es una difusión o si el MAC de destino de unidifusión es desconocido. </a:t>
            </a:r>
          </a:p>
          <a:p>
            <a:pPr>
              <a:spcBef>
                <a:spcPts val="0"/>
              </a:spcBef>
              <a:spcAft>
                <a:spcPts val="0"/>
              </a:spcAft>
            </a:pPr>
            <a:r>
              <a:rPr lang="es-419" sz="1400" dirty="0"/>
              <a:t>Los dominios de difusión pueden ser divididos por un dispositivo de capa 3, como un </a:t>
            </a:r>
            <a:r>
              <a:rPr lang="es-419" sz="1400" dirty="0" err="1"/>
              <a:t>router</a:t>
            </a:r>
            <a:r>
              <a:rPr lang="es-419" sz="1400" dirty="0"/>
              <a:t>.</a:t>
            </a:r>
          </a:p>
          <a:p>
            <a:pPr>
              <a:spcBef>
                <a:spcPts val="0"/>
              </a:spcBef>
              <a:spcAft>
                <a:spcPts val="0"/>
              </a:spcAft>
            </a:pPr>
            <a:r>
              <a:rPr lang="es-419" sz="1400" dirty="0"/>
              <a:t>Para el método de </a:t>
            </a:r>
            <a:r>
              <a:rPr lang="es-419" sz="1400" dirty="0" err="1"/>
              <a:t>router</a:t>
            </a:r>
            <a:r>
              <a:rPr lang="es-419" sz="1400" dirty="0"/>
              <a:t>-</a:t>
            </a:r>
            <a:r>
              <a:rPr lang="es-419" sz="1400" dirty="0" err="1"/>
              <a:t>on</a:t>
            </a:r>
            <a:r>
              <a:rPr lang="es-419" sz="1400" dirty="0"/>
              <a:t>-a-</a:t>
            </a:r>
            <a:r>
              <a:rPr lang="es-419" sz="1400" dirty="0" err="1"/>
              <a:t>stick</a:t>
            </a:r>
            <a:r>
              <a:rPr lang="es-419" sz="1400" dirty="0"/>
              <a:t>, se requieren subinterfaces configuradas para cada VLAN que se pueda enrutar. Se crea una subinterfaz mediante el comando de modo de configuración global </a:t>
            </a:r>
            <a:r>
              <a:rPr lang="es-419" sz="1400" b="1" dirty="0"/>
              <a:t>interface </a:t>
            </a:r>
            <a:r>
              <a:rPr lang="es-419" sz="1400" b="1" dirty="0" err="1"/>
              <a:t>interface_id</a:t>
            </a:r>
            <a:r>
              <a:rPr lang="es-419" sz="1400" b="1" dirty="0"/>
              <a:t> </a:t>
            </a:r>
            <a:r>
              <a:rPr lang="es-419" sz="1400" b="1" dirty="0" err="1"/>
              <a:t>subinterface_id</a:t>
            </a:r>
            <a:r>
              <a:rPr lang="es-419" sz="1400" b="1" dirty="0"/>
              <a:t> </a:t>
            </a:r>
            <a:r>
              <a:rPr lang="es-419" sz="1400" dirty="0"/>
              <a:t>. Necesitarán etiquetado </a:t>
            </a:r>
            <a:r>
              <a:rPr lang="es-419" sz="1400" dirty="0" err="1"/>
              <a:t>tado</a:t>
            </a:r>
            <a:r>
              <a:rPr lang="es-419" sz="1400" dirty="0"/>
              <a:t> IEEE 802.1q proporciona una VLAN nativa que permanecerá sin etiquetar.</a:t>
            </a:r>
          </a:p>
          <a:p>
            <a:pPr>
              <a:spcBef>
                <a:spcPts val="0"/>
              </a:spcBef>
              <a:spcAft>
                <a:spcPts val="0"/>
              </a:spcAft>
            </a:pPr>
            <a:r>
              <a:rPr lang="es-419" sz="1400" dirty="0"/>
              <a:t>Es necesario asignar una dirección IP a cada subinterfaz del </a:t>
            </a:r>
            <a:r>
              <a:rPr lang="es-419" sz="1400" dirty="0" err="1"/>
              <a:t>router</a:t>
            </a:r>
            <a:r>
              <a:rPr lang="es-419" sz="1400" dirty="0"/>
              <a:t> en una subred única para que se produzca el </a:t>
            </a:r>
            <a:r>
              <a:rPr lang="es-419" sz="1400" dirty="0" err="1"/>
              <a:t>routing</a:t>
            </a:r>
            <a:r>
              <a:rPr lang="es-419" sz="1400" dirty="0"/>
              <a:t>. Cuando se han creado todas las subinterfaces, la interfaz física debe habilitarse mediante el comando no shutdown interface </a:t>
            </a:r>
            <a:r>
              <a:rPr lang="es-419" sz="1400" dirty="0" err="1"/>
              <a:t>configuration</a:t>
            </a:r>
            <a:r>
              <a:rPr lang="es-419" sz="1400" dirty="0"/>
              <a:t>. </a:t>
            </a:r>
          </a:p>
          <a:p>
            <a:pPr>
              <a:spcBef>
                <a:spcPts val="0"/>
              </a:spcBef>
              <a:spcAft>
                <a:spcPts val="0"/>
              </a:spcAft>
            </a:pPr>
            <a:endParaRPr lang="es-419" sz="1400" dirty="0"/>
          </a:p>
          <a:p>
            <a:pPr>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endParaRPr lang="es-419" sz="1400" dirty="0"/>
          </a:p>
        </p:txBody>
      </p:sp>
      <p:sp>
        <p:nvSpPr>
          <p:cNvPr id="2" name="Slide Number Placeholder 1">
            <a:extLst>
              <a:ext uri="{FF2B5EF4-FFF2-40B4-BE49-F238E27FC236}">
                <a16:creationId xmlns:a16="http://schemas.microsoft.com/office/drawing/2014/main" id="{2AC70A26-F512-C9D9-616D-C89F2E37C3EA}"/>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45</a:t>
            </a:fld>
            <a:endParaRPr lang="en-US"/>
          </a:p>
        </p:txBody>
      </p:sp>
    </p:spTree>
    <p:custDataLst>
      <p:tags r:id="rId1"/>
    </p:custDataLst>
    <p:extLst>
      <p:ext uri="{BB962C8B-B14F-4D97-AF65-F5344CB8AC3E}">
        <p14:creationId xmlns:p14="http://schemas.microsoft.com/office/powerpoint/2010/main" val="18539763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f6690ef5-1e9d-4eaa-9471-52f946c9b067" xsi:nil="true"/>
    <lcf76f155ced4ddcb4097134ff3c332f xmlns="f6690ef5-1e9d-4eaa-9471-52f946c9b067">
      <Terms xmlns="http://schemas.microsoft.com/office/infopath/2007/PartnerControls"/>
    </lcf76f155ced4ddcb4097134ff3c332f>
    <TaxCatchAll xmlns="a547fae8-5910-4bfb-a63f-b9ae6d4fbb0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A16F1C12179C3458ECA76E6A65C7B39" ma:contentTypeVersion="12" ma:contentTypeDescription="Create a new document." ma:contentTypeScope="" ma:versionID="4f564b422190e7403350e15bf079b8b9">
  <xsd:schema xmlns:xsd="http://www.w3.org/2001/XMLSchema" xmlns:xs="http://www.w3.org/2001/XMLSchema" xmlns:p="http://schemas.microsoft.com/office/2006/metadata/properties" xmlns:ns2="f6690ef5-1e9d-4eaa-9471-52f946c9b067" xmlns:ns3="a547fae8-5910-4bfb-a63f-b9ae6d4fbb02" targetNamespace="http://schemas.microsoft.com/office/2006/metadata/properties" ma:root="true" ma:fieldsID="2b7e350cda97c5f42b6f6f71d12222b2" ns2:_="" ns3:_="">
    <xsd:import namespace="f6690ef5-1e9d-4eaa-9471-52f946c9b067"/>
    <xsd:import namespace="a547fae8-5910-4bfb-a63f-b9ae6d4fbb0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LengthInSeconds" minOccurs="0"/>
                <xsd:element ref="ns2:MediaServiceSearchProperties"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690ef5-1e9d-4eaa-9471-52f946c9b0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5d0804c-76fa-410a-9782-953cf5ffadf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547fae8-5910-4bfb-a63f-b9ae6d4fbb02"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a35a4fa-484e-4056-9ebc-f196208a8c7d}" ma:internalName="TaxCatchAll" ma:showField="CatchAllData" ma:web="a547fae8-5910-4bfb-a63f-b9ae6d4fbb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9D513F-6341-4A8E-80F5-9794A89DC8D0}">
  <ds:schemaRefs>
    <ds:schemaRef ds:uri="http://schemas.microsoft.com/sharepoint/v3/contenttype/forms"/>
  </ds:schemaRefs>
</ds:datastoreItem>
</file>

<file path=customXml/itemProps2.xml><?xml version="1.0" encoding="utf-8"?>
<ds:datastoreItem xmlns:ds="http://schemas.openxmlformats.org/officeDocument/2006/customXml" ds:itemID="{3E6990DC-E98C-4D0F-858A-4FB7A9CA5DBF}">
  <ds:schemaRefs>
    <ds:schemaRef ds:uri="http://schemas.microsoft.com/office/2006/metadata/properties"/>
    <ds:schemaRef ds:uri="http://schemas.microsoft.com/office/infopath/2007/PartnerControls"/>
    <ds:schemaRef ds:uri="f6690ef5-1e9d-4eaa-9471-52f946c9b067"/>
    <ds:schemaRef ds:uri="a547fae8-5910-4bfb-a63f-b9ae6d4fbb02"/>
  </ds:schemaRefs>
</ds:datastoreItem>
</file>

<file path=customXml/itemProps3.xml><?xml version="1.0" encoding="utf-8"?>
<ds:datastoreItem xmlns:ds="http://schemas.openxmlformats.org/officeDocument/2006/customXml" ds:itemID="{D73D7A26-900A-47A3-85F0-CD05EBC29F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690ef5-1e9d-4eaa-9471-52f946c9b067"/>
    <ds:schemaRef ds:uri="a547fae8-5910-4bfb-a63f-b9ae6d4fbb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Default Theme</Template>
  <TotalTime>145</TotalTime>
  <Words>4333</Words>
  <Application>Microsoft Office PowerPoint</Application>
  <PresentationFormat>Presentación en pantalla (16:9)</PresentationFormat>
  <Paragraphs>422</Paragraphs>
  <Slides>45</Slides>
  <Notes>45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45</vt:i4>
      </vt:variant>
    </vt:vector>
  </HeadingPairs>
  <TitlesOfParts>
    <vt:vector size="52" baseType="lpstr">
      <vt:lpstr>ＭＳ Ｐゴシック</vt:lpstr>
      <vt:lpstr>Arial</vt:lpstr>
      <vt:lpstr>Calibri</vt:lpstr>
      <vt:lpstr>CiscoSans ExtraLight</vt:lpstr>
      <vt:lpstr>Courier New</vt:lpstr>
      <vt:lpstr>Wingdings</vt:lpstr>
      <vt:lpstr>Default Theme</vt:lpstr>
      <vt:lpstr>REDES Y COMUNICACIONES DE DATOS Ingeniería de Sistemas de Información 2026-1   Docentes del curso</vt:lpstr>
      <vt:lpstr>Objetivos de la Semana 05</vt:lpstr>
      <vt:lpstr>5.1Ethernet y MAC Ingeniería de Sistemas de Información EISI, 2025-2</vt:lpstr>
      <vt:lpstr>Ethernet y Subcapas L2</vt:lpstr>
      <vt:lpstr>Tabla de direcciones MAC</vt:lpstr>
      <vt:lpstr>5.2 ARP  Ingeniería de Sistemas de Información EISI, 2025-2</vt:lpstr>
      <vt:lpstr>Destino en la misma red</vt:lpstr>
      <vt:lpstr>Descripción y Función del ARP </vt:lpstr>
      <vt:lpstr>Eliminación de entradas de una tabla de ARP</vt:lpstr>
      <vt:lpstr>5.3 Conceptos de Switching Ingeniería de Sistemas de Información EISI, 2025-2</vt:lpstr>
      <vt:lpstr>Dominios de colisiones</vt:lpstr>
      <vt:lpstr>Métodos de reenvío de tramas en Swiches</vt:lpstr>
      <vt:lpstr>5.4 Switches  Ingeniería de Sistemas de Información EISI, 2025-2</vt:lpstr>
      <vt:lpstr>Complejidad creciente de las redes</vt:lpstr>
      <vt:lpstr>CISCO vs HUAWEI</vt:lpstr>
      <vt:lpstr>Switches en las redes LAN</vt:lpstr>
      <vt:lpstr>Función de las redes conmutadas</vt:lpstr>
      <vt:lpstr>Factores de forma</vt:lpstr>
      <vt:lpstr>Factores de forma</vt:lpstr>
      <vt:lpstr>Modos de Consola y El acceso a la administración de un switch</vt:lpstr>
      <vt:lpstr>5.5 VLAN Ingeniería de Sistemas de Información EISI, 2025-2</vt:lpstr>
      <vt:lpstr>Definiciones de VLAN</vt:lpstr>
      <vt:lpstr>Redes con VLAN</vt:lpstr>
      <vt:lpstr>Definiciones de VLAN</vt:lpstr>
      <vt:lpstr>Beneficios de un diseño de VLAN</vt:lpstr>
      <vt:lpstr>Tipos de VLAN</vt:lpstr>
      <vt:lpstr>Tipos de VLAN (Cont.)</vt:lpstr>
      <vt:lpstr>Múltiple Redes sin VLAN</vt:lpstr>
      <vt:lpstr>Redes con VLAN</vt:lpstr>
      <vt:lpstr>VLAN nativas y etiquetado 802.1Q</vt:lpstr>
      <vt:lpstr>5.6 Trunking VLAN Ingeniería de Sistemas de Información EISI, 2025-2</vt:lpstr>
      <vt:lpstr>Definición de troncales de VLAN</vt:lpstr>
      <vt:lpstr>Identificación de VLAN con una etiqueta</vt:lpstr>
      <vt:lpstr>5.7 Inter-VLAN Routing Ingeniería de Sistemas de Información EISI, 2025-2</vt:lpstr>
      <vt:lpstr>Inter-VLAN Routing</vt:lpstr>
      <vt:lpstr>5.8 Funcionamiento Inter-VLAN Routing Ingeniería de Sistemas de Información EISI, 2025-2</vt:lpstr>
      <vt:lpstr>Inter-VLAN Routing antiguo</vt:lpstr>
      <vt:lpstr>5.9 Router-on-a-Stick Ingeniería de Sistemas de Información EISI, 2025-2</vt:lpstr>
      <vt:lpstr>Router-on-a-Stick Inter-VLAN Routing</vt:lpstr>
      <vt:lpstr>Escenario Router-on-a-stick</vt:lpstr>
      <vt:lpstr>5.10 Switch Multicapa Ingeniería de Sistemas de Información EISI, 2025-2</vt:lpstr>
      <vt:lpstr>Conmutador de nivel 3 (Switch L3) Inter-VLAN Routing</vt:lpstr>
      <vt:lpstr>Configuración de Conmutador de nivel 3 (Switch L3) Inter-VLAN Routing</vt:lpstr>
      <vt:lpstr>Inter-VLAN Routing en el Switch capa 3 (Cont.)</vt:lpstr>
      <vt:lpstr>CONCLUSIONES</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 Y COMUNICACIONES DE DATOS Ingeniería de Sistemas de Información 2024-1   Docentes del curso</dc:title>
  <dc:creator>bvachon@cisco.com</dc:creator>
  <cp:lastModifiedBy>PCSIJOSA (SALCEDO POLO, JORGE LUIS)</cp:lastModifiedBy>
  <cp:revision>635</cp:revision>
  <dcterms:created xsi:type="dcterms:W3CDTF">2016-08-22T22:27:36Z</dcterms:created>
  <dcterms:modified xsi:type="dcterms:W3CDTF">2026-03-27T23:40:07Z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ContentTypeId">
    <vt:lpwstr>0x0101002A16F1C12179C3458ECA76E6A65C7B39</vt:lpwstr>
  </property>
  <property fmtid="{D5CDD505-2E9C-101B-9397-08002B2CF9AE}" pid="9" name="Order">
    <vt:r8>634100</vt:r8>
  </property>
  <property fmtid="{D5CDD505-2E9C-101B-9397-08002B2CF9AE}" pid="10" name="ComplianceAssetId">
    <vt:lpwstr/>
  </property>
  <property fmtid="{D5CDD505-2E9C-101B-9397-08002B2CF9AE}" pid="11" name="_ExtendedDescription">
    <vt:lpwstr/>
  </property>
  <property fmtid="{D5CDD505-2E9C-101B-9397-08002B2CF9AE}" pid="12" name="TriggerFlowInfo">
    <vt:lpwstr/>
  </property>
</Properties>
</file>