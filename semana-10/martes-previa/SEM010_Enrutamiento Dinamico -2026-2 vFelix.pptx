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1.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tags/tag2.xml" ContentType="application/vnd.openxmlformats-officedocument.presentationml.tags+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tags/tag3.xml" ContentType="application/vnd.openxmlformats-officedocument.presentationml.tags+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tags/tag4.xml" ContentType="application/vnd.openxmlformats-officedocument.presentationml.tags+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033" r:id="rId4"/>
  </p:sldMasterIdLst>
  <p:notesMasterIdLst>
    <p:notesMasterId r:id="rId37"/>
  </p:notesMasterIdLst>
  <p:sldIdLst>
    <p:sldId id="256" r:id="rId5"/>
    <p:sldId id="922" r:id="rId6"/>
    <p:sldId id="1134" r:id="rId7"/>
    <p:sldId id="913" r:id="rId8"/>
    <p:sldId id="1488" r:id="rId9"/>
    <p:sldId id="1458" r:id="rId10"/>
    <p:sldId id="1021" r:id="rId11"/>
    <p:sldId id="1489" r:id="rId12"/>
    <p:sldId id="1293" r:id="rId13"/>
    <p:sldId id="1294" r:id="rId14"/>
    <p:sldId id="1035" r:id="rId15"/>
    <p:sldId id="1036" r:id="rId16"/>
    <p:sldId id="1303" r:id="rId17"/>
    <p:sldId id="1037" r:id="rId18"/>
    <p:sldId id="1269" r:id="rId19"/>
    <p:sldId id="1270" r:id="rId20"/>
    <p:sldId id="1301" r:id="rId21"/>
    <p:sldId id="1302" r:id="rId22"/>
    <p:sldId id="1305" r:id="rId23"/>
    <p:sldId id="1306" r:id="rId24"/>
    <p:sldId id="1348" r:id="rId25"/>
    <p:sldId id="1000" r:id="rId26"/>
    <p:sldId id="1460" r:id="rId27"/>
    <p:sldId id="1001" r:id="rId28"/>
    <p:sldId id="1007" r:id="rId29"/>
    <p:sldId id="1008" r:id="rId30"/>
    <p:sldId id="1461" r:id="rId31"/>
    <p:sldId id="1486" r:id="rId32"/>
    <p:sldId id="1487" r:id="rId33"/>
    <p:sldId id="1011" r:id="rId34"/>
    <p:sldId id="1131" r:id="rId35"/>
    <p:sldId id="1024" r:id="rId36"/>
  </p:sldIdLst>
  <p:sldSz cx="9144000" cy="5143500" type="screen16x9"/>
  <p:notesSz cx="7315200" cy="9601200"/>
  <p:defaultTextStyle>
    <a:defPPr>
      <a:defRPr lang="en-US"/>
    </a:defPPr>
    <a:lvl1pPr algn="l" defTabSz="457200" rtl="0" fontAlgn="base">
      <a:spcBef>
        <a:spcPct val="0"/>
      </a:spcBef>
      <a:spcAft>
        <a:spcPct val="0"/>
      </a:spcAft>
      <a:defRPr kern="1200">
        <a:solidFill>
          <a:schemeClr val="tx1"/>
        </a:solidFill>
        <a:latin typeface="Arial" charset="0"/>
        <a:ea typeface="ＭＳ Ｐゴシック" pitchFamily="34" charset="-128"/>
        <a:cs typeface="+mn-cs"/>
      </a:defRPr>
    </a:lvl1pPr>
    <a:lvl2pPr marL="457200" algn="l" defTabSz="457200" rtl="0" fontAlgn="base">
      <a:spcBef>
        <a:spcPct val="0"/>
      </a:spcBef>
      <a:spcAft>
        <a:spcPct val="0"/>
      </a:spcAft>
      <a:defRPr kern="1200">
        <a:solidFill>
          <a:schemeClr val="tx1"/>
        </a:solidFill>
        <a:latin typeface="Arial" charset="0"/>
        <a:ea typeface="ＭＳ Ｐゴシック" pitchFamily="34" charset="-128"/>
        <a:cs typeface="+mn-cs"/>
      </a:defRPr>
    </a:lvl2pPr>
    <a:lvl3pPr marL="914400" algn="l" defTabSz="457200" rtl="0" fontAlgn="base">
      <a:spcBef>
        <a:spcPct val="0"/>
      </a:spcBef>
      <a:spcAft>
        <a:spcPct val="0"/>
      </a:spcAft>
      <a:defRPr kern="1200">
        <a:solidFill>
          <a:schemeClr val="tx1"/>
        </a:solidFill>
        <a:latin typeface="Arial" charset="0"/>
        <a:ea typeface="ＭＳ Ｐゴシック" pitchFamily="34" charset="-128"/>
        <a:cs typeface="+mn-cs"/>
      </a:defRPr>
    </a:lvl3pPr>
    <a:lvl4pPr marL="1371600" algn="l" defTabSz="457200" rtl="0" fontAlgn="base">
      <a:spcBef>
        <a:spcPct val="0"/>
      </a:spcBef>
      <a:spcAft>
        <a:spcPct val="0"/>
      </a:spcAft>
      <a:defRPr kern="1200">
        <a:solidFill>
          <a:schemeClr val="tx1"/>
        </a:solidFill>
        <a:latin typeface="Arial" charset="0"/>
        <a:ea typeface="ＭＳ Ｐゴシック" pitchFamily="34" charset="-128"/>
        <a:cs typeface="+mn-cs"/>
      </a:defRPr>
    </a:lvl4pPr>
    <a:lvl5pPr marL="1828800" algn="l" defTabSz="457200" rtl="0" fontAlgn="base">
      <a:spcBef>
        <a:spcPct val="0"/>
      </a:spcBef>
      <a:spcAft>
        <a:spcPct val="0"/>
      </a:spcAft>
      <a:defRPr kern="1200">
        <a:solidFill>
          <a:schemeClr val="tx1"/>
        </a:solidFill>
        <a:latin typeface="Arial" charset="0"/>
        <a:ea typeface="ＭＳ Ｐゴシック" pitchFamily="34" charset="-128"/>
        <a:cs typeface="+mn-cs"/>
      </a:defRPr>
    </a:lvl5pPr>
    <a:lvl6pPr marL="2286000" algn="l" defTabSz="914400" rtl="0" eaLnBrk="1" latinLnBrk="0" hangingPunct="1">
      <a:defRPr kern="1200">
        <a:solidFill>
          <a:schemeClr val="tx1"/>
        </a:solidFill>
        <a:latin typeface="Arial" charset="0"/>
        <a:ea typeface="ＭＳ Ｐゴシック" pitchFamily="34" charset="-128"/>
        <a:cs typeface="+mn-cs"/>
      </a:defRPr>
    </a:lvl6pPr>
    <a:lvl7pPr marL="2743200" algn="l" defTabSz="914400" rtl="0" eaLnBrk="1" latinLnBrk="0" hangingPunct="1">
      <a:defRPr kern="1200">
        <a:solidFill>
          <a:schemeClr val="tx1"/>
        </a:solidFill>
        <a:latin typeface="Arial" charset="0"/>
        <a:ea typeface="ＭＳ Ｐゴシック" pitchFamily="34" charset="-128"/>
        <a:cs typeface="+mn-cs"/>
      </a:defRPr>
    </a:lvl7pPr>
    <a:lvl8pPr marL="3200400" algn="l" defTabSz="914400" rtl="0" eaLnBrk="1" latinLnBrk="0" hangingPunct="1">
      <a:defRPr kern="1200">
        <a:solidFill>
          <a:schemeClr val="tx1"/>
        </a:solidFill>
        <a:latin typeface="Arial" charset="0"/>
        <a:ea typeface="ＭＳ Ｐゴシック" pitchFamily="34" charset="-128"/>
        <a:cs typeface="+mn-cs"/>
      </a:defRPr>
    </a:lvl8pPr>
    <a:lvl9pPr marL="3657600" algn="l" defTabSz="914400" rtl="0" eaLnBrk="1" latinLnBrk="0" hangingPunct="1">
      <a:defRPr kern="1200">
        <a:solidFill>
          <a:schemeClr val="tx1"/>
        </a:solidFill>
        <a:latin typeface="Arial" charset="0"/>
        <a:ea typeface="ＭＳ Ｐゴシック" pitchFamily="34" charset="-128"/>
        <a:cs typeface="+mn-cs"/>
      </a:defRPr>
    </a:lvl9pPr>
  </p:defaultTextStyle>
  <p:extLst>
    <p:ext uri="{EFAFB233-063F-42B5-8137-9DF3F51BA10A}">
      <p15:sldGuideLst xmlns:p15="http://schemas.microsoft.com/office/powerpoint/2012/main">
        <p15:guide id="1" orient="horz" pos="1620">
          <p15:clr>
            <a:srgbClr val="A4A3A4"/>
          </p15:clr>
        </p15:guide>
        <p15:guide id="2" pos="336">
          <p15:clr>
            <a:srgbClr val="A4A3A4"/>
          </p15:clr>
        </p15:guide>
      </p15:sldGuideLst>
    </p:ext>
    <p:ext uri="{2D200454-40CA-4A62-9FC3-DE9A4176ACB9}">
      <p15:notesGuideLst xmlns:p15="http://schemas.microsoft.com/office/powerpoint/2012/main">
        <p15:guide id="1" orient="horz" pos="3024" userDrawn="1">
          <p15:clr>
            <a:srgbClr val="A4A3A4"/>
          </p15:clr>
        </p15:guide>
        <p15:guide id="2" pos="2304"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Barbara Reif" initials="BR" lastIdx="3" clrIdx="0"/>
  <p:cmAuthor id="1" name="Jane Gibbons -X (jagibbon - DEL ORO CONSULTING INC at Cisco)" initials="JG-(-DOCIaC" lastIdx="28" clrIdx="1"/>
  <p:cmAuthor id="2" name="Bob Vachon" initials="BV" lastIdx="24"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0000CC"/>
    <a:srgbClr val="000000"/>
    <a:srgbClr val="000099"/>
    <a:srgbClr val="CC99FF"/>
    <a:srgbClr val="CC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240" autoAdjust="0"/>
    <p:restoredTop sz="95260" autoAdjust="0"/>
  </p:normalViewPr>
  <p:slideViewPr>
    <p:cSldViewPr snapToGrid="0" showGuides="1">
      <p:cViewPr varScale="1">
        <p:scale>
          <a:sx n="147" d="100"/>
          <a:sy n="147" d="100"/>
        </p:scale>
        <p:origin x="156" y="324"/>
      </p:cViewPr>
      <p:guideLst>
        <p:guide orient="horz" pos="1620"/>
        <p:guide pos="336"/>
      </p:guideLst>
    </p:cSldViewPr>
  </p:slideViewPr>
  <p:outlineViewPr>
    <p:cViewPr>
      <p:scale>
        <a:sx n="33" d="100"/>
        <a:sy n="33" d="100"/>
      </p:scale>
      <p:origin x="0" y="-86952"/>
    </p:cViewPr>
    <p:sldLst>
      <p:sld r:id="rId1" collapse="1"/>
      <p:sld r:id="rId2" collapse="1"/>
      <p:sld r:id="rId3" collapse="1"/>
      <p:sld r:id="rId4" collapse="1"/>
      <p:sld r:id="rId5" collapse="1"/>
      <p:sld r:id="rId6" collapse="1"/>
      <p:sld r:id="rId7" collapse="1"/>
      <p:sld r:id="rId8" collapse="1"/>
      <p:sld r:id="rId9" collapse="1"/>
      <p:sld r:id="rId10" collapse="1"/>
      <p:sld r:id="rId11" collapse="1"/>
      <p:sld r:id="rId12" collapse="1"/>
      <p:sld r:id="rId13" collapse="1"/>
    </p:sldLst>
  </p:outlineViewPr>
  <p:notesTextViewPr>
    <p:cViewPr>
      <p:scale>
        <a:sx n="1" d="1"/>
        <a:sy n="1" d="1"/>
      </p:scale>
      <p:origin x="0" y="0"/>
    </p:cViewPr>
  </p:notesTextViewPr>
  <p:sorterViewPr>
    <p:cViewPr>
      <p:scale>
        <a:sx n="125" d="100"/>
        <a:sy n="125" d="100"/>
      </p:scale>
      <p:origin x="0" y="-1242"/>
    </p:cViewPr>
  </p:sorterViewPr>
  <p:notesViewPr>
    <p:cSldViewPr snapToGrid="0">
      <p:cViewPr varScale="1">
        <p:scale>
          <a:sx n="83" d="100"/>
          <a:sy n="83" d="100"/>
        </p:scale>
        <p:origin x="-3828" y="-90"/>
      </p:cViewPr>
      <p:guideLst>
        <p:guide orient="horz" pos="3024"/>
        <p:guide pos="2304"/>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presProps" Target="presProps.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notesMaster" Target="notesMasters/notesMaster1.xml"/><Relationship Id="rId40"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commentAuthors" Target="commentAuthors.xml"/></Relationships>
</file>

<file path=ppt/_rels/viewProps.xml.rels><?xml version="1.0" encoding="UTF-8" standalone="yes"?>
<Relationships xmlns="http://schemas.openxmlformats.org/package/2006/relationships"><Relationship Id="rId8" Type="http://schemas.openxmlformats.org/officeDocument/2006/relationships/slide" Target="slides/slide25.xml"/><Relationship Id="rId13" Type="http://schemas.openxmlformats.org/officeDocument/2006/relationships/slide" Target="slides/slide30.xml"/><Relationship Id="rId3" Type="http://schemas.openxmlformats.org/officeDocument/2006/relationships/slide" Target="slides/slide12.xml"/><Relationship Id="rId7" Type="http://schemas.openxmlformats.org/officeDocument/2006/relationships/slide" Target="slides/slide24.xml"/><Relationship Id="rId12" Type="http://schemas.openxmlformats.org/officeDocument/2006/relationships/slide" Target="slides/slide29.xml"/><Relationship Id="rId2" Type="http://schemas.openxmlformats.org/officeDocument/2006/relationships/slide" Target="slides/slide11.xml"/><Relationship Id="rId1" Type="http://schemas.openxmlformats.org/officeDocument/2006/relationships/slide" Target="slides/slide7.xml"/><Relationship Id="rId6" Type="http://schemas.openxmlformats.org/officeDocument/2006/relationships/slide" Target="slides/slide23.xml"/><Relationship Id="rId11" Type="http://schemas.openxmlformats.org/officeDocument/2006/relationships/slide" Target="slides/slide28.xml"/><Relationship Id="rId5" Type="http://schemas.openxmlformats.org/officeDocument/2006/relationships/slide" Target="slides/slide22.xml"/><Relationship Id="rId10" Type="http://schemas.openxmlformats.org/officeDocument/2006/relationships/slide" Target="slides/slide27.xml"/><Relationship Id="rId4" Type="http://schemas.openxmlformats.org/officeDocument/2006/relationships/slide" Target="slides/slide14.xml"/><Relationship Id="rId9" Type="http://schemas.openxmlformats.org/officeDocument/2006/relationships/slide" Target="slides/slide2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61" tIns="48331" rIns="96661" bIns="48331" rtlCol="0"/>
          <a:lstStyle>
            <a:lvl1pPr algn="l">
              <a:defRPr sz="1300"/>
            </a:lvl1pPr>
          </a:lstStyle>
          <a:p>
            <a:endParaRPr lang="en-US" dirty="0"/>
          </a:p>
        </p:txBody>
      </p:sp>
      <p:sp>
        <p:nvSpPr>
          <p:cNvPr id="3" name="Date Placeholder 2"/>
          <p:cNvSpPr>
            <a:spLocks noGrp="1"/>
          </p:cNvSpPr>
          <p:nvPr>
            <p:ph type="dt" idx="1"/>
          </p:nvPr>
        </p:nvSpPr>
        <p:spPr>
          <a:xfrm>
            <a:off x="4143587" y="0"/>
            <a:ext cx="3169920" cy="480060"/>
          </a:xfrm>
          <a:prstGeom prst="rect">
            <a:avLst/>
          </a:prstGeom>
        </p:spPr>
        <p:txBody>
          <a:bodyPr vert="horz" lIns="96661" tIns="48331" rIns="96661" bIns="48331" rtlCol="0"/>
          <a:lstStyle>
            <a:lvl1pPr algn="r">
              <a:defRPr sz="1300"/>
            </a:lvl1pPr>
          </a:lstStyle>
          <a:p>
            <a:fld id="{136337D9-3022-3D41-8D8A-BDF2F3B0DD8E}" type="datetimeFigureOut">
              <a:rPr lang="en-US" smtClean="0"/>
              <a:pPr/>
              <a:t>10/29/2026</a:t>
            </a:fld>
            <a:endParaRPr lang="es-ES" dirty="0"/>
          </a:p>
        </p:txBody>
      </p:sp>
      <p:sp>
        <p:nvSpPr>
          <p:cNvPr id="4" name="Slide Image Placeholder 3"/>
          <p:cNvSpPr>
            <a:spLocks noGrp="1" noRot="1" noChangeAspect="1"/>
          </p:cNvSpPr>
          <p:nvPr>
            <p:ph type="sldImg" idx="2"/>
          </p:nvPr>
        </p:nvSpPr>
        <p:spPr>
          <a:xfrm>
            <a:off x="457200" y="720725"/>
            <a:ext cx="6400800" cy="3600450"/>
          </a:xfrm>
          <a:prstGeom prst="rect">
            <a:avLst/>
          </a:prstGeom>
          <a:noFill/>
          <a:ln w="12700">
            <a:solidFill>
              <a:prstClr val="black"/>
            </a:solidFill>
          </a:ln>
        </p:spPr>
        <p:txBody>
          <a:bodyPr vert="horz" lIns="96661" tIns="48331" rIns="96661" bIns="48331" rtlCol="0" anchor="ctr"/>
          <a:lstStyle/>
          <a:p>
            <a:endParaRPr lang="en-US" dirty="0"/>
          </a:p>
        </p:txBody>
      </p:sp>
      <p:sp>
        <p:nvSpPr>
          <p:cNvPr id="5" name="Notes Placeholder 4"/>
          <p:cNvSpPr>
            <a:spLocks noGrp="1"/>
          </p:cNvSpPr>
          <p:nvPr>
            <p:ph type="body" sz="quarter" idx="3"/>
          </p:nvPr>
        </p:nvSpPr>
        <p:spPr>
          <a:xfrm>
            <a:off x="731520" y="4560570"/>
            <a:ext cx="5852160" cy="4320540"/>
          </a:xfrm>
          <a:prstGeom prst="rect">
            <a:avLst/>
          </a:prstGeom>
        </p:spPr>
        <p:txBody>
          <a:bodyPr vert="horz" lIns="96661" tIns="48331" rIns="96661" bIns="48331"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4"/>
            <a:ext cx="3169920" cy="480060"/>
          </a:xfrm>
          <a:prstGeom prst="rect">
            <a:avLst/>
          </a:prstGeom>
        </p:spPr>
        <p:txBody>
          <a:bodyPr vert="horz" lIns="96661" tIns="48331" rIns="96661" bIns="48331" rtlCol="0" anchor="b"/>
          <a:lstStyle>
            <a:lvl1pPr algn="l">
              <a:defRPr sz="1300"/>
            </a:lvl1pPr>
          </a:lstStyle>
          <a:p>
            <a:endParaRPr lang="en-US" dirty="0"/>
          </a:p>
        </p:txBody>
      </p:sp>
      <p:sp>
        <p:nvSpPr>
          <p:cNvPr id="7" name="Slide Number Placeholder 6"/>
          <p:cNvSpPr>
            <a:spLocks noGrp="1"/>
          </p:cNvSpPr>
          <p:nvPr>
            <p:ph type="sldNum" sz="quarter" idx="5"/>
          </p:nvPr>
        </p:nvSpPr>
        <p:spPr>
          <a:xfrm>
            <a:off x="4143587" y="9119474"/>
            <a:ext cx="3169920" cy="480060"/>
          </a:xfrm>
          <a:prstGeom prst="rect">
            <a:avLst/>
          </a:prstGeom>
        </p:spPr>
        <p:txBody>
          <a:bodyPr vert="horz" lIns="96661" tIns="48331" rIns="96661" bIns="48331" rtlCol="0" anchor="b"/>
          <a:lstStyle>
            <a:lvl1pPr algn="r">
              <a:defRPr sz="1300"/>
            </a:lvl1pPr>
          </a:lstStyle>
          <a:p>
            <a:fld id="{5641018C-6CAF-B84E-B92C-ECB119457FBA}" type="slidenum">
              <a:rPr lang="en-US" smtClean="0"/>
              <a:pPr/>
              <a:t>‹Nº›</a:t>
            </a:fld>
            <a:endParaRPr lang="es-ES" dirty="0"/>
          </a:p>
        </p:txBody>
      </p:sp>
    </p:spTree>
    <p:extLst>
      <p:ext uri="{BB962C8B-B14F-4D97-AF65-F5344CB8AC3E}">
        <p14:creationId xmlns:p14="http://schemas.microsoft.com/office/powerpoint/2010/main" val="1937564879"/>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p1:notes"/>
          <p:cNvSpPr txBox="1">
            <a:spLocks noGrp="1"/>
          </p:cNvSpPr>
          <p:nvPr>
            <p:ph type="body" idx="1"/>
          </p:nvPr>
        </p:nvSpPr>
        <p:spPr>
          <a:xfrm>
            <a:off x="731520" y="4560570"/>
            <a:ext cx="5852160" cy="4320540"/>
          </a:xfrm>
          <a:prstGeom prst="rect">
            <a:avLst/>
          </a:prstGeom>
        </p:spPr>
        <p:txBody>
          <a:bodyPr spcFirstLastPara="1" wrap="square" lIns="96645" tIns="48309" rIns="96645" bIns="48309" anchor="t" anchorCtr="0">
            <a:noAutofit/>
          </a:bodyPr>
          <a:lstStyle/>
          <a:p>
            <a:endParaRPr/>
          </a:p>
        </p:txBody>
      </p:sp>
      <p:sp>
        <p:nvSpPr>
          <p:cNvPr id="70" name="Google Shape;70;p1:notes"/>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5305097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11"/>
          <p:cNvSpPr txBox="1">
            <a:spLocks noGrp="1" noChangeArrowheads="1"/>
          </p:cNvSpPr>
          <p:nvPr/>
        </p:nvSpPr>
        <p:spPr bwMode="auto">
          <a:xfrm>
            <a:off x="6324600" y="9114472"/>
            <a:ext cx="866987" cy="301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9894" tIns="0" rIns="19894"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a:fld id="{7C839C26-801B-42B6-A101-60F37FE2B0A8}" type="slidenum">
              <a:rPr lang="en-US" sz="800" b="0"/>
              <a:pPr algn="r"/>
              <a:t>2</a:t>
            </a:fld>
            <a:endParaRPr lang="es-ES" sz="800" b="0" dirty="0"/>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s-ES" dirty="0"/>
          </a:p>
        </p:txBody>
      </p:sp>
    </p:spTree>
    <p:extLst>
      <p:ext uri="{BB962C8B-B14F-4D97-AF65-F5344CB8AC3E}">
        <p14:creationId xmlns:p14="http://schemas.microsoft.com/office/powerpoint/2010/main" val="98896777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11"/>
          <p:cNvSpPr txBox="1">
            <a:spLocks noGrp="1" noChangeArrowheads="1"/>
          </p:cNvSpPr>
          <p:nvPr/>
        </p:nvSpPr>
        <p:spPr bwMode="auto">
          <a:xfrm>
            <a:off x="6324600" y="9114472"/>
            <a:ext cx="866987" cy="301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9894" tIns="0" rIns="19894"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rtl="0"/>
            <a:fld id="{0A313ED8-785B-4D16-9B17-4143385249B9}" type="slidenum">
              <a:rPr sz="800" b="0"/>
              <a:pPr algn="r" rtl="0"/>
              <a:t>3</a:t>
            </a:fld>
            <a:endParaRPr sz="800" b="0" dirty="0"/>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buFontTx/>
              <a:buNone/>
            </a:pPr>
            <a:r>
              <a:rPr lang="es-419" sz="1300" dirty="0"/>
              <a:t>3 – </a:t>
            </a:r>
            <a:r>
              <a:rPr lang="es-419" sz="1300" dirty="0">
                <a:solidFill>
                  <a:schemeClr val="accent5">
                    <a:lumMod val="40000"/>
                    <a:lumOff val="60000"/>
                  </a:schemeClr>
                </a:solidFill>
              </a:rPr>
              <a:t>Protocolos y modelos</a:t>
            </a:r>
          </a:p>
          <a:p>
            <a:pPr rtl="0">
              <a:buFontTx/>
              <a:buNone/>
            </a:pPr>
            <a:r>
              <a:rPr lang="es-419" sz="1300" dirty="0"/>
              <a:t>3.0 – Introducción</a:t>
            </a:r>
          </a:p>
          <a:p>
            <a:pPr rtl="0">
              <a:lnSpc>
                <a:spcPct val="80000"/>
              </a:lnSpc>
              <a:buFontTx/>
              <a:buNone/>
            </a:pPr>
            <a:r>
              <a:rPr lang="es-419" sz="1300" dirty="0">
                <a:latin typeface="Arial" charset="0"/>
                <a:ea typeface="ＭＳ Ｐゴシック" charset="0"/>
                <a:cs typeface="ＭＳ Ｐゴシック" charset="0"/>
              </a:rPr>
              <a:t>3.0.2 – </a:t>
            </a:r>
            <a:r>
              <a:rPr lang="es-419" sz="1300" dirty="0"/>
              <a:t>¿Qué aprenderé a hacer en este módulo?</a:t>
            </a:r>
          </a:p>
          <a:p>
            <a:endParaRPr lang="en-GB" dirty="0"/>
          </a:p>
        </p:txBody>
      </p:sp>
    </p:spTree>
    <p:extLst>
      <p:ext uri="{BB962C8B-B14F-4D97-AF65-F5344CB8AC3E}">
        <p14:creationId xmlns:p14="http://schemas.microsoft.com/office/powerpoint/2010/main" val="290952800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p1:notes"/>
          <p:cNvSpPr txBox="1">
            <a:spLocks noGrp="1"/>
          </p:cNvSpPr>
          <p:nvPr>
            <p:ph type="body" idx="1"/>
          </p:nvPr>
        </p:nvSpPr>
        <p:spPr>
          <a:xfrm>
            <a:off x="731520" y="4560570"/>
            <a:ext cx="5852160" cy="4320540"/>
          </a:xfrm>
          <a:prstGeom prst="rect">
            <a:avLst/>
          </a:prstGeom>
        </p:spPr>
        <p:txBody>
          <a:bodyPr spcFirstLastPara="1" wrap="square" lIns="96645" tIns="48309" rIns="96645" bIns="48309" anchor="t" anchorCtr="0">
            <a:noAutofit/>
          </a:bodyPr>
          <a:lstStyle/>
          <a:p>
            <a:endParaRPr/>
          </a:p>
        </p:txBody>
      </p:sp>
      <p:sp>
        <p:nvSpPr>
          <p:cNvPr id="70" name="Google Shape;70;p1:notes"/>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6995155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64E67E-4BAB-0B5B-488E-C7BD2259D49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8AA3EEB-352C-93C9-799E-B6395E02354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052EF0B-99FA-E193-BD78-8132BBA85477}"/>
              </a:ext>
            </a:extLst>
          </p:cNvPr>
          <p:cNvSpPr>
            <a:spLocks noGrp="1"/>
          </p:cNvSpPr>
          <p:nvPr>
            <p:ph type="body" idx="1"/>
          </p:nvPr>
        </p:nvSpPr>
        <p:spPr/>
        <p:txBody>
          <a:bodyPr/>
          <a:lstStyle/>
          <a:p>
            <a:pPr rtl="0"/>
            <a:r>
              <a:rPr lang="es-419"/>
              <a:t>14 - Conceptos de Enrutamiento</a:t>
            </a:r>
          </a:p>
          <a:p>
            <a:pPr rtl="0"/>
            <a:r>
              <a:rPr lang="es-419"/>
              <a:t>14.5 - Enrutamiento estático y dinámico</a:t>
            </a:r>
          </a:p>
        </p:txBody>
      </p:sp>
      <p:sp>
        <p:nvSpPr>
          <p:cNvPr id="4" name="Slide Number Placeholder 3">
            <a:extLst>
              <a:ext uri="{FF2B5EF4-FFF2-40B4-BE49-F238E27FC236}">
                <a16:creationId xmlns:a16="http://schemas.microsoft.com/office/drawing/2014/main" id="{BC789732-8C5B-EEAA-D6C3-76B9E9508B32}"/>
              </a:ext>
            </a:extLst>
          </p:cNvPr>
          <p:cNvSpPr>
            <a:spLocks noGrp="1"/>
          </p:cNvSpPr>
          <p:nvPr>
            <p:ph type="sldNum" sz="quarter" idx="10"/>
          </p:nvPr>
        </p:nvSpPr>
        <p:spPr/>
        <p:txBody>
          <a:bodyPr/>
          <a:lstStyle/>
          <a:p>
            <a:pPr rtl="0"/>
            <a:fld id="{5641018C-6CAF-B84E-B92C-ECB119457FBA}" type="slidenum">
              <a:rPr/>
              <a:t>5</a:t>
            </a:fld>
            <a:endParaRPr/>
          </a:p>
        </p:txBody>
      </p:sp>
    </p:spTree>
    <p:extLst>
      <p:ext uri="{BB962C8B-B14F-4D97-AF65-F5344CB8AC3E}">
        <p14:creationId xmlns:p14="http://schemas.microsoft.com/office/powerpoint/2010/main" val="243983429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14 - Conceptos de Enrutamiento</a:t>
            </a:r>
          </a:p>
          <a:p>
            <a:pPr rtl="0"/>
            <a:r>
              <a:rPr lang="es-419"/>
              <a:t>14.4 - Tabla de Enrutamiento IP</a:t>
            </a:r>
          </a:p>
          <a:p>
            <a:pPr rtl="0"/>
            <a:r>
              <a:rPr lang="es-419"/>
              <a:t>14.4.12 - Distancia administrativa</a:t>
            </a:r>
          </a:p>
        </p:txBody>
      </p:sp>
      <p:sp>
        <p:nvSpPr>
          <p:cNvPr id="4" name="Slide Number Placeholder 3"/>
          <p:cNvSpPr>
            <a:spLocks noGrp="1"/>
          </p:cNvSpPr>
          <p:nvPr>
            <p:ph type="sldNum" sz="quarter" idx="5"/>
          </p:nvPr>
        </p:nvSpPr>
        <p:spPr/>
        <p:txBody>
          <a:bodyPr/>
          <a:lstStyle/>
          <a:p>
            <a:pPr rtl="0"/>
            <a:fld id="{5641018C-6CAF-B84E-B92C-ECB119457FBA}" type="slidenum">
              <a:rPr/>
              <a:t>6</a:t>
            </a:fld>
            <a:endParaRPr/>
          </a:p>
        </p:txBody>
      </p:sp>
    </p:spTree>
    <p:extLst>
      <p:ext uri="{BB962C8B-B14F-4D97-AF65-F5344CB8AC3E}">
        <p14:creationId xmlns:p14="http://schemas.microsoft.com/office/powerpoint/2010/main" val="7958666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pPr/>
              <a:t>7</a:t>
            </a:fld>
            <a:endParaRPr lang="es-ES" sz="800"/>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s-ES" b="0" dirty="0"/>
              <a:t>1.2 – Decisiones de routing</a:t>
            </a:r>
          </a:p>
          <a:p>
            <a:pPr>
              <a:buFontTx/>
              <a:buNone/>
            </a:pPr>
            <a:r>
              <a:rPr lang="es-ES" b="0" baseline="0" dirty="0"/>
              <a:t>1.2.2 – Determinación de rutas</a:t>
            </a:r>
            <a:endParaRPr lang="es-ES" dirty="0"/>
          </a:p>
          <a:p>
            <a:pPr>
              <a:lnSpc>
                <a:spcPct val="80000"/>
              </a:lnSpc>
              <a:buFontTx/>
              <a:buNone/>
            </a:pPr>
            <a:r>
              <a:rPr lang="es-ES" dirty="0"/>
              <a:t>1.2.2.4 – Distancia administrativa</a:t>
            </a:r>
          </a:p>
        </p:txBody>
      </p:sp>
    </p:spTree>
    <p:extLst>
      <p:ext uri="{BB962C8B-B14F-4D97-AF65-F5344CB8AC3E}">
        <p14:creationId xmlns:p14="http://schemas.microsoft.com/office/powerpoint/2010/main" val="418503657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3B574D-187A-8CC7-2062-F7379D5D2E2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1357B33-74F2-1E9F-2A89-370E62F9236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5E58A98-161D-2380-CE72-7E825D9491FD}"/>
              </a:ext>
            </a:extLst>
          </p:cNvPr>
          <p:cNvSpPr>
            <a:spLocks noGrp="1"/>
          </p:cNvSpPr>
          <p:nvPr>
            <p:ph type="body" idx="1"/>
          </p:nvPr>
        </p:nvSpPr>
        <p:spPr/>
        <p:txBody>
          <a:bodyPr/>
          <a:lstStyle/>
          <a:p>
            <a:pPr rtl="0"/>
            <a:r>
              <a:rPr lang="es-419"/>
              <a:t>14 - Conceptos de Enrutamiento</a:t>
            </a:r>
          </a:p>
          <a:p>
            <a:pPr rtl="0"/>
            <a:r>
              <a:rPr lang="es-419"/>
              <a:t>14.5 - Enrutamiento estático y dinámico</a:t>
            </a:r>
          </a:p>
        </p:txBody>
      </p:sp>
      <p:sp>
        <p:nvSpPr>
          <p:cNvPr id="4" name="Slide Number Placeholder 3">
            <a:extLst>
              <a:ext uri="{FF2B5EF4-FFF2-40B4-BE49-F238E27FC236}">
                <a16:creationId xmlns:a16="http://schemas.microsoft.com/office/drawing/2014/main" id="{54A9A232-4C15-E4D2-FF24-AE697AD40E22}"/>
              </a:ext>
            </a:extLst>
          </p:cNvPr>
          <p:cNvSpPr>
            <a:spLocks noGrp="1"/>
          </p:cNvSpPr>
          <p:nvPr>
            <p:ph type="sldNum" sz="quarter" idx="10"/>
          </p:nvPr>
        </p:nvSpPr>
        <p:spPr/>
        <p:txBody>
          <a:bodyPr/>
          <a:lstStyle/>
          <a:p>
            <a:pPr rtl="0"/>
            <a:fld id="{5641018C-6CAF-B84E-B92C-ECB119457FBA}" type="slidenum">
              <a:rPr/>
              <a:t>8</a:t>
            </a:fld>
            <a:endParaRPr/>
          </a:p>
        </p:txBody>
      </p:sp>
    </p:spTree>
    <p:extLst>
      <p:ext uri="{BB962C8B-B14F-4D97-AF65-F5344CB8AC3E}">
        <p14:creationId xmlns:p14="http://schemas.microsoft.com/office/powerpoint/2010/main" val="66203264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14 - Conceptos de Enrutamiento</a:t>
            </a:r>
          </a:p>
          <a:p>
            <a:pPr rtl="0"/>
            <a:r>
              <a:rPr lang="es-419"/>
              <a:t>14.4 - Tabla de Enrutamiento IP</a:t>
            </a:r>
          </a:p>
          <a:p>
            <a:pPr rtl="0"/>
            <a:r>
              <a:rPr lang="es-419"/>
              <a:t>14.4.7 - Protocolos de Enrutamiento Dinámico</a:t>
            </a:r>
          </a:p>
        </p:txBody>
      </p:sp>
      <p:sp>
        <p:nvSpPr>
          <p:cNvPr id="4" name="Slide Number Placeholder 3"/>
          <p:cNvSpPr>
            <a:spLocks noGrp="1"/>
          </p:cNvSpPr>
          <p:nvPr>
            <p:ph type="sldNum" sz="quarter" idx="5"/>
          </p:nvPr>
        </p:nvSpPr>
        <p:spPr/>
        <p:txBody>
          <a:bodyPr/>
          <a:lstStyle/>
          <a:p>
            <a:pPr rtl="0"/>
            <a:fld id="{5641018C-6CAF-B84E-B92C-ECB119457FBA}" type="slidenum">
              <a:rPr/>
              <a:t>9</a:t>
            </a:fld>
            <a:endParaRPr/>
          </a:p>
        </p:txBody>
      </p:sp>
    </p:spTree>
    <p:extLst>
      <p:ext uri="{BB962C8B-B14F-4D97-AF65-F5344CB8AC3E}">
        <p14:creationId xmlns:p14="http://schemas.microsoft.com/office/powerpoint/2010/main" val="272703974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14 - Conceptos de Enrutamiento</a:t>
            </a:r>
          </a:p>
          <a:p>
            <a:pPr rtl="0"/>
            <a:r>
              <a:rPr lang="es-419"/>
              <a:t>14.4 - Tabla de Enrutamiento IP</a:t>
            </a:r>
          </a:p>
          <a:p>
            <a:pPr rtl="0"/>
            <a:r>
              <a:rPr lang="es-419"/>
              <a:t>14.4.8 - Rutas dinámicas en la tabla de enrutamiento</a:t>
            </a:r>
          </a:p>
        </p:txBody>
      </p:sp>
      <p:sp>
        <p:nvSpPr>
          <p:cNvPr id="4" name="Slide Number Placeholder 3"/>
          <p:cNvSpPr>
            <a:spLocks noGrp="1"/>
          </p:cNvSpPr>
          <p:nvPr>
            <p:ph type="sldNum" sz="quarter" idx="5"/>
          </p:nvPr>
        </p:nvSpPr>
        <p:spPr/>
        <p:txBody>
          <a:bodyPr/>
          <a:lstStyle/>
          <a:p>
            <a:pPr rtl="0"/>
            <a:fld id="{5641018C-6CAF-B84E-B92C-ECB119457FBA}" type="slidenum">
              <a:rPr/>
              <a:t>10</a:t>
            </a:fld>
            <a:endParaRPr/>
          </a:p>
        </p:txBody>
      </p:sp>
    </p:spTree>
    <p:extLst>
      <p:ext uri="{BB962C8B-B14F-4D97-AF65-F5344CB8AC3E}">
        <p14:creationId xmlns:p14="http://schemas.microsoft.com/office/powerpoint/2010/main" val="176802071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pPr/>
              <a:t>11</a:t>
            </a:fld>
            <a:endParaRPr lang="es-ES" sz="800"/>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buFontTx/>
              <a:buNone/>
            </a:pPr>
            <a:r>
              <a:rPr lang="es-ES" dirty="0"/>
              <a:t>1.3 – Funcionamiento del </a:t>
            </a:r>
            <a:r>
              <a:rPr lang="es-ES" dirty="0" err="1"/>
              <a:t>router</a:t>
            </a:r>
            <a:endParaRPr lang="es-ES" dirty="0"/>
          </a:p>
          <a:p>
            <a:pPr>
              <a:lnSpc>
                <a:spcPct val="80000"/>
              </a:lnSpc>
              <a:buFontTx/>
              <a:buNone/>
            </a:pPr>
            <a:r>
              <a:rPr lang="es-ES" dirty="0"/>
              <a:t>1.3.4 – Protocolos de </a:t>
            </a:r>
            <a:r>
              <a:rPr lang="es-ES" dirty="0" err="1"/>
              <a:t>routing</a:t>
            </a:r>
            <a:r>
              <a:rPr lang="es-ES" dirty="0"/>
              <a:t> dinámico</a:t>
            </a:r>
          </a:p>
          <a:p>
            <a:pPr>
              <a:lnSpc>
                <a:spcPct val="80000"/>
              </a:lnSpc>
              <a:buFontTx/>
              <a:buNone/>
            </a:pPr>
            <a:r>
              <a:rPr lang="es-ES" dirty="0"/>
              <a:t>1.3.4.1 – </a:t>
            </a:r>
            <a:r>
              <a:rPr lang="es-ES" dirty="0" err="1"/>
              <a:t>Routing</a:t>
            </a:r>
            <a:r>
              <a:rPr lang="es-ES" dirty="0"/>
              <a:t> dinámico</a:t>
            </a:r>
          </a:p>
        </p:txBody>
      </p:sp>
    </p:spTree>
    <p:extLst>
      <p:ext uri="{BB962C8B-B14F-4D97-AF65-F5344CB8AC3E}">
        <p14:creationId xmlns:p14="http://schemas.microsoft.com/office/powerpoint/2010/main" val="186216209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pPr/>
              <a:t>12</a:t>
            </a:fld>
            <a:endParaRPr lang="es-ES" sz="800"/>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buFontTx/>
              <a:buNone/>
            </a:pPr>
            <a:r>
              <a:rPr lang="es-ES" dirty="0"/>
              <a:t>1.3 – Funcionamiento del </a:t>
            </a:r>
            <a:r>
              <a:rPr lang="es-ES" dirty="0" err="1"/>
              <a:t>router</a:t>
            </a:r>
            <a:endParaRPr lang="es-ES" dirty="0"/>
          </a:p>
          <a:p>
            <a:pPr>
              <a:lnSpc>
                <a:spcPct val="80000"/>
              </a:lnSpc>
              <a:buFontTx/>
              <a:buNone/>
            </a:pPr>
            <a:r>
              <a:rPr lang="es-ES" dirty="0"/>
              <a:t>1.3.4 – Protocolos de </a:t>
            </a:r>
            <a:r>
              <a:rPr lang="es-ES" dirty="0" err="1"/>
              <a:t>routing</a:t>
            </a:r>
            <a:r>
              <a:rPr lang="es-ES" dirty="0"/>
              <a:t> dinámico</a:t>
            </a:r>
          </a:p>
          <a:p>
            <a:pPr>
              <a:lnSpc>
                <a:spcPct val="80000"/>
              </a:lnSpc>
              <a:buFontTx/>
              <a:buNone/>
            </a:pPr>
            <a:r>
              <a:rPr lang="es-ES" dirty="0"/>
              <a:t>1.3.4.2 – Protocolos de </a:t>
            </a:r>
            <a:r>
              <a:rPr lang="es-ES" dirty="0" err="1"/>
              <a:t>routing</a:t>
            </a:r>
            <a:r>
              <a:rPr lang="es-ES" dirty="0"/>
              <a:t> IPv4 </a:t>
            </a:r>
          </a:p>
        </p:txBody>
      </p:sp>
    </p:spTree>
    <p:extLst>
      <p:ext uri="{BB962C8B-B14F-4D97-AF65-F5344CB8AC3E}">
        <p14:creationId xmlns:p14="http://schemas.microsoft.com/office/powerpoint/2010/main" val="333206723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E74F1A-E126-7768-A3C0-F1885150482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BA31E9-D6D5-A816-9833-AE9D96BAC96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8F632D-AAA8-059C-670B-8071DCC78B0D}"/>
              </a:ext>
            </a:extLst>
          </p:cNvPr>
          <p:cNvSpPr>
            <a:spLocks noGrp="1"/>
          </p:cNvSpPr>
          <p:nvPr>
            <p:ph type="body" idx="1"/>
          </p:nvPr>
        </p:nvSpPr>
        <p:spPr/>
        <p:txBody>
          <a:bodyPr/>
          <a:lstStyle/>
          <a:p>
            <a:pPr rtl="0"/>
            <a:r>
              <a:rPr lang="es-419"/>
              <a:t>14 - Conceptos de Enrutamiento</a:t>
            </a:r>
          </a:p>
          <a:p>
            <a:pPr rtl="0"/>
            <a:r>
              <a:rPr lang="es-419"/>
              <a:t>14.5 - Enrutamiento estático y dinámico</a:t>
            </a:r>
          </a:p>
          <a:p>
            <a:pPr rtl="0"/>
            <a:r>
              <a:rPr lang="es-419"/>
              <a:t>14.5.2 - Evolución del enrutamiento dinámico</a:t>
            </a:r>
          </a:p>
        </p:txBody>
      </p:sp>
      <p:sp>
        <p:nvSpPr>
          <p:cNvPr id="4" name="Slide Number Placeholder 3">
            <a:extLst>
              <a:ext uri="{FF2B5EF4-FFF2-40B4-BE49-F238E27FC236}">
                <a16:creationId xmlns:a16="http://schemas.microsoft.com/office/drawing/2014/main" id="{33EF7FB4-6DB1-82BC-55E1-C77197B73D12}"/>
              </a:ext>
            </a:extLst>
          </p:cNvPr>
          <p:cNvSpPr>
            <a:spLocks noGrp="1"/>
          </p:cNvSpPr>
          <p:nvPr>
            <p:ph type="sldNum" sz="quarter" idx="5"/>
          </p:nvPr>
        </p:nvSpPr>
        <p:spPr/>
        <p:txBody>
          <a:bodyPr/>
          <a:lstStyle/>
          <a:p>
            <a:pPr rtl="0"/>
            <a:fld id="{5641018C-6CAF-B84E-B92C-ECB119457FBA}" type="slidenum">
              <a:rPr/>
              <a:t>13</a:t>
            </a:fld>
            <a:endParaRPr/>
          </a:p>
        </p:txBody>
      </p:sp>
    </p:spTree>
    <p:extLst>
      <p:ext uri="{BB962C8B-B14F-4D97-AF65-F5344CB8AC3E}">
        <p14:creationId xmlns:p14="http://schemas.microsoft.com/office/powerpoint/2010/main" val="261164154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pPr/>
              <a:t>14</a:t>
            </a:fld>
            <a:endParaRPr lang="es-ES" sz="800"/>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buFontTx/>
              <a:buNone/>
            </a:pPr>
            <a:r>
              <a:rPr lang="es-ES" dirty="0"/>
              <a:t>1.3 – Funcionamiento del </a:t>
            </a:r>
            <a:r>
              <a:rPr lang="es-ES" dirty="0" err="1"/>
              <a:t>router</a:t>
            </a:r>
            <a:endParaRPr lang="es-ES" dirty="0"/>
          </a:p>
          <a:p>
            <a:pPr>
              <a:lnSpc>
                <a:spcPct val="80000"/>
              </a:lnSpc>
              <a:buFontTx/>
              <a:buNone/>
            </a:pPr>
            <a:r>
              <a:rPr lang="es-ES" dirty="0"/>
              <a:t>1.3.4 – Protocolos de </a:t>
            </a:r>
            <a:r>
              <a:rPr lang="es-ES" dirty="0" err="1"/>
              <a:t>routing</a:t>
            </a:r>
            <a:r>
              <a:rPr lang="es-ES" dirty="0"/>
              <a:t> dinámico</a:t>
            </a:r>
          </a:p>
          <a:p>
            <a:pPr marL="112713" marR="0" indent="-112713" algn="l" defTabSz="1020763" rtl="0" eaLnBrk="0" fontAlgn="base" latinLnBrk="0" hangingPunct="0">
              <a:lnSpc>
                <a:spcPct val="80000"/>
              </a:lnSpc>
              <a:spcBef>
                <a:spcPct val="50000"/>
              </a:spcBef>
              <a:spcAft>
                <a:spcPct val="0"/>
              </a:spcAft>
              <a:buClrTx/>
              <a:buSzPct val="100000"/>
              <a:buFontTx/>
              <a:buNone/>
              <a:tabLst/>
              <a:defRPr/>
            </a:pPr>
            <a:r>
              <a:rPr lang="es-ES" dirty="0"/>
              <a:t>1.3.4.3 – Ejemplos de </a:t>
            </a:r>
            <a:r>
              <a:rPr lang="es-ES" dirty="0" err="1"/>
              <a:t>routing</a:t>
            </a:r>
            <a:r>
              <a:rPr lang="es-ES" dirty="0"/>
              <a:t> dinámico IPv4</a:t>
            </a:r>
          </a:p>
          <a:p>
            <a:pPr>
              <a:lnSpc>
                <a:spcPct val="80000"/>
              </a:lnSpc>
              <a:buFontTx/>
              <a:buNone/>
            </a:pPr>
            <a:endParaRPr lang="es-ES" dirty="0"/>
          </a:p>
        </p:txBody>
      </p:sp>
    </p:spTree>
    <p:extLst>
      <p:ext uri="{BB962C8B-B14F-4D97-AF65-F5344CB8AC3E}">
        <p14:creationId xmlns:p14="http://schemas.microsoft.com/office/powerpoint/2010/main" val="356049022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14 - Conceptos de Enrutamiento</a:t>
            </a:r>
          </a:p>
          <a:p>
            <a:pPr rtl="0"/>
            <a:r>
              <a:rPr lang="es-419"/>
              <a:t>14.5 - Enrutamiento estático y dinámico</a:t>
            </a:r>
          </a:p>
        </p:txBody>
      </p:sp>
      <p:sp>
        <p:nvSpPr>
          <p:cNvPr id="4" name="Slide Number Placeholder 3"/>
          <p:cNvSpPr>
            <a:spLocks noGrp="1"/>
          </p:cNvSpPr>
          <p:nvPr>
            <p:ph type="sldNum" sz="quarter" idx="10"/>
          </p:nvPr>
        </p:nvSpPr>
        <p:spPr/>
        <p:txBody>
          <a:bodyPr/>
          <a:lstStyle/>
          <a:p>
            <a:pPr rtl="0"/>
            <a:fld id="{5641018C-6CAF-B84E-B92C-ECB119457FBA}" type="slidenum">
              <a:rPr/>
              <a:t>15</a:t>
            </a:fld>
            <a:endParaRPr/>
          </a:p>
        </p:txBody>
      </p:sp>
    </p:spTree>
    <p:extLst>
      <p:ext uri="{BB962C8B-B14F-4D97-AF65-F5344CB8AC3E}">
        <p14:creationId xmlns:p14="http://schemas.microsoft.com/office/powerpoint/2010/main" val="293373768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14 - Conceptos de Enrutamiento</a:t>
            </a:r>
          </a:p>
          <a:p>
            <a:pPr rtl="0"/>
            <a:r>
              <a:rPr lang="es-419"/>
              <a:t>14.5 - Enrutamiento estático y dinámico</a:t>
            </a:r>
          </a:p>
          <a:p>
            <a:pPr rtl="0"/>
            <a:r>
              <a:rPr lang="es-419"/>
              <a:t>14.5.1 - Estático o dinámico?</a:t>
            </a:r>
          </a:p>
        </p:txBody>
      </p:sp>
      <p:sp>
        <p:nvSpPr>
          <p:cNvPr id="4" name="Slide Number Placeholder 3"/>
          <p:cNvSpPr>
            <a:spLocks noGrp="1"/>
          </p:cNvSpPr>
          <p:nvPr>
            <p:ph type="sldNum" sz="quarter" idx="5"/>
          </p:nvPr>
        </p:nvSpPr>
        <p:spPr/>
        <p:txBody>
          <a:bodyPr/>
          <a:lstStyle/>
          <a:p>
            <a:pPr rtl="0"/>
            <a:fld id="{5641018C-6CAF-B84E-B92C-ECB119457FBA}" type="slidenum">
              <a:rPr/>
              <a:t>16</a:t>
            </a:fld>
            <a:endParaRPr/>
          </a:p>
        </p:txBody>
      </p:sp>
    </p:spTree>
    <p:extLst>
      <p:ext uri="{BB962C8B-B14F-4D97-AF65-F5344CB8AC3E}">
        <p14:creationId xmlns:p14="http://schemas.microsoft.com/office/powerpoint/2010/main" val="46596036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14 - Conceptos de Enrutamiento</a:t>
            </a:r>
          </a:p>
          <a:p>
            <a:pPr rtl="0"/>
            <a:r>
              <a:rPr lang="es-419"/>
              <a:t>14.5 - Enrutamiento estático y dinámico</a:t>
            </a:r>
          </a:p>
          <a:p>
            <a:pPr rtl="0"/>
            <a:r>
              <a:rPr lang="es-419"/>
              <a:t>14.5.1 - Estático o dinámico? (Cont.)</a:t>
            </a:r>
          </a:p>
        </p:txBody>
      </p:sp>
      <p:sp>
        <p:nvSpPr>
          <p:cNvPr id="4" name="Slide Number Placeholder 3"/>
          <p:cNvSpPr>
            <a:spLocks noGrp="1"/>
          </p:cNvSpPr>
          <p:nvPr>
            <p:ph type="sldNum" sz="quarter" idx="5"/>
          </p:nvPr>
        </p:nvSpPr>
        <p:spPr/>
        <p:txBody>
          <a:bodyPr/>
          <a:lstStyle/>
          <a:p>
            <a:pPr rtl="0"/>
            <a:fld id="{5641018C-6CAF-B84E-B92C-ECB119457FBA}" type="slidenum">
              <a:rPr/>
              <a:t>17</a:t>
            </a:fld>
            <a:endParaRPr/>
          </a:p>
        </p:txBody>
      </p:sp>
    </p:spTree>
    <p:extLst>
      <p:ext uri="{BB962C8B-B14F-4D97-AF65-F5344CB8AC3E}">
        <p14:creationId xmlns:p14="http://schemas.microsoft.com/office/powerpoint/2010/main" val="191977499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14 - Conceptos de Enrutamiento</a:t>
            </a:r>
          </a:p>
          <a:p>
            <a:pPr rtl="0"/>
            <a:r>
              <a:rPr lang="es-419"/>
              <a:t>14.5 - Enrutamiento estático y dinámico</a:t>
            </a:r>
          </a:p>
          <a:p>
            <a:pPr rtl="0"/>
            <a:r>
              <a:rPr lang="es-419"/>
              <a:t>14.5.1 - Estático o dinámico? (Cont.)</a:t>
            </a:r>
          </a:p>
        </p:txBody>
      </p:sp>
      <p:sp>
        <p:nvSpPr>
          <p:cNvPr id="4" name="Slide Number Placeholder 3"/>
          <p:cNvSpPr>
            <a:spLocks noGrp="1"/>
          </p:cNvSpPr>
          <p:nvPr>
            <p:ph type="sldNum" sz="quarter" idx="5"/>
          </p:nvPr>
        </p:nvSpPr>
        <p:spPr/>
        <p:txBody>
          <a:bodyPr/>
          <a:lstStyle/>
          <a:p>
            <a:pPr rtl="0"/>
            <a:fld id="{5641018C-6CAF-B84E-B92C-ECB119457FBA}" type="slidenum">
              <a:rPr/>
              <a:t>18</a:t>
            </a:fld>
            <a:endParaRPr/>
          </a:p>
        </p:txBody>
      </p:sp>
    </p:spTree>
    <p:extLst>
      <p:ext uri="{BB962C8B-B14F-4D97-AF65-F5344CB8AC3E}">
        <p14:creationId xmlns:p14="http://schemas.microsoft.com/office/powerpoint/2010/main" val="179198524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14 - Conceptos de Enrutamiento</a:t>
            </a:r>
          </a:p>
          <a:p>
            <a:pPr rtl="0"/>
            <a:r>
              <a:rPr lang="es-419"/>
              <a:t>14.5 - Enrutamiento estático y dinámico</a:t>
            </a:r>
          </a:p>
          <a:p>
            <a:pPr rtl="0"/>
            <a:r>
              <a:rPr lang="es-419"/>
              <a:t>14.5.3 - Conceptos de protocolos de enrutamiento dinámico</a:t>
            </a:r>
          </a:p>
        </p:txBody>
      </p:sp>
      <p:sp>
        <p:nvSpPr>
          <p:cNvPr id="4" name="Slide Number Placeholder 3"/>
          <p:cNvSpPr>
            <a:spLocks noGrp="1"/>
          </p:cNvSpPr>
          <p:nvPr>
            <p:ph type="sldNum" sz="quarter" idx="5"/>
          </p:nvPr>
        </p:nvSpPr>
        <p:spPr/>
        <p:txBody>
          <a:bodyPr/>
          <a:lstStyle/>
          <a:p>
            <a:pPr rtl="0"/>
            <a:fld id="{5641018C-6CAF-B84E-B92C-ECB119457FBA}" type="slidenum">
              <a:rPr/>
              <a:t>19</a:t>
            </a:fld>
            <a:endParaRPr/>
          </a:p>
        </p:txBody>
      </p:sp>
    </p:spTree>
    <p:extLst>
      <p:ext uri="{BB962C8B-B14F-4D97-AF65-F5344CB8AC3E}">
        <p14:creationId xmlns:p14="http://schemas.microsoft.com/office/powerpoint/2010/main" val="420529676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14 - Conceptos de Enrutamiento</a:t>
            </a:r>
          </a:p>
          <a:p>
            <a:pPr rtl="0"/>
            <a:r>
              <a:rPr lang="es-419"/>
              <a:t>14.5 - Enrutamiento estático y dinámico</a:t>
            </a:r>
          </a:p>
          <a:p>
            <a:pPr rtl="0"/>
            <a:r>
              <a:rPr lang="es-419"/>
              <a:t>14.5.3 - Conceptos de protocolos de enrutamiento dinámico</a:t>
            </a:r>
          </a:p>
        </p:txBody>
      </p:sp>
      <p:sp>
        <p:nvSpPr>
          <p:cNvPr id="4" name="Slide Number Placeholder 3"/>
          <p:cNvSpPr>
            <a:spLocks noGrp="1"/>
          </p:cNvSpPr>
          <p:nvPr>
            <p:ph type="sldNum" sz="quarter" idx="5"/>
          </p:nvPr>
        </p:nvSpPr>
        <p:spPr/>
        <p:txBody>
          <a:bodyPr/>
          <a:lstStyle/>
          <a:p>
            <a:pPr rtl="0"/>
            <a:fld id="{5641018C-6CAF-B84E-B92C-ECB119457FBA}" type="slidenum">
              <a:rPr/>
              <a:t>20</a:t>
            </a:fld>
            <a:endParaRPr/>
          </a:p>
        </p:txBody>
      </p:sp>
    </p:spTree>
    <p:extLst>
      <p:ext uri="{BB962C8B-B14F-4D97-AF65-F5344CB8AC3E}">
        <p14:creationId xmlns:p14="http://schemas.microsoft.com/office/powerpoint/2010/main" val="300924468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1"/>
          <p:cNvSpPr>
            <a:spLocks noGrp="1" noChangeArrowheads="1"/>
          </p:cNvSpPr>
          <p:nvPr>
            <p:ph type="sldNum" sz="quarter" idx="5"/>
          </p:nvPr>
        </p:nvSpPr>
        <p:spPr>
          <a:noFill/>
        </p:spPr>
        <p:txBody>
          <a:bodyPr/>
          <a:lstStyle/>
          <a:p>
            <a:fld id="{F602A389-8690-465F-BB28-DC61C90E42E7}" type="slidenum">
              <a:rPr lang="en-US" smtClean="0"/>
              <a:pPr/>
              <a:t>21</a:t>
            </a:fld>
            <a:endParaRPr lang="es-ES" dirty="0"/>
          </a:p>
        </p:txBody>
      </p:sp>
      <p:sp>
        <p:nvSpPr>
          <p:cNvPr id="31747" name="Rectangle 2"/>
          <p:cNvSpPr>
            <a:spLocks noGrp="1" noRot="1" noChangeAspect="1" noChangeArrowheads="1" noTextEdit="1"/>
          </p:cNvSpPr>
          <p:nvPr>
            <p:ph type="sldImg"/>
          </p:nvPr>
        </p:nvSpPr>
        <p:spPr>
          <a:ln/>
        </p:spPr>
      </p:sp>
      <p:sp>
        <p:nvSpPr>
          <p:cNvPr id="31748" name="Rectangle 3"/>
          <p:cNvSpPr>
            <a:spLocks noGrp="1" noChangeArrowheads="1"/>
          </p:cNvSpPr>
          <p:nvPr>
            <p:ph type="body" idx="1"/>
          </p:nvPr>
        </p:nvSpPr>
        <p:spPr>
          <a:xfrm>
            <a:off x="431801" y="4597242"/>
            <a:ext cx="6529493" cy="4465559"/>
          </a:xfrm>
          <a:noFill/>
          <a:ln/>
        </p:spPr>
        <p:txBody>
          <a:bodyPr/>
          <a:lstStyle/>
          <a:p>
            <a:pPr>
              <a:buFontTx/>
              <a:buNone/>
            </a:pPr>
            <a:r>
              <a:rPr lang="es-ES" b="0" dirty="0"/>
              <a:t>Cisco Networking Academy Program</a:t>
            </a:r>
          </a:p>
          <a:p>
            <a:pPr>
              <a:buFontTx/>
              <a:buNone/>
            </a:pPr>
            <a:r>
              <a:rPr lang="es-ES" b="0" dirty="0"/>
              <a:t>Routing and Switching Essentials v6.0</a:t>
            </a:r>
          </a:p>
          <a:p>
            <a:pPr>
              <a:buFontTx/>
              <a:buNone/>
            </a:pPr>
            <a:r>
              <a:rPr lang="es-ES" sz="1300" dirty="0">
                <a:latin typeface="Arial" charset="0"/>
              </a:rPr>
              <a:t>Capítulo 3: Routing dinámico</a:t>
            </a:r>
            <a:endParaRPr lang="es-ES" b="0" dirty="0"/>
          </a:p>
        </p:txBody>
      </p:sp>
    </p:spTree>
    <p:extLst>
      <p:ext uri="{BB962C8B-B14F-4D97-AF65-F5344CB8AC3E}">
        <p14:creationId xmlns:p14="http://schemas.microsoft.com/office/powerpoint/2010/main" val="219627054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11"/>
          <p:cNvSpPr>
            <a:spLocks noGrp="1" noChangeArrowheads="1"/>
          </p:cNvSpPr>
          <p:nvPr>
            <p:ph type="sldNum" sz="quarter" idx="5"/>
          </p:nvPr>
        </p:nvSpPr>
        <p:spPr>
          <a:noFill/>
        </p:spPr>
        <p:txBody>
          <a:bodyPr/>
          <a:lstStyle/>
          <a:p>
            <a:fld id="{570978E6-FB79-4E74-A4A4-2BA13DA27C44}" type="slidenum">
              <a:rPr lang="en-US" smtClean="0"/>
              <a:pPr/>
              <a:t>22</a:t>
            </a:fld>
            <a:endParaRPr lang="es-ES"/>
          </a:p>
        </p:txBody>
      </p:sp>
      <p:sp>
        <p:nvSpPr>
          <p:cNvPr id="87043" name="Rectangle 2"/>
          <p:cNvSpPr>
            <a:spLocks noGrp="1" noRot="1" noChangeAspect="1" noChangeArrowheads="1" noTextEdit="1"/>
          </p:cNvSpPr>
          <p:nvPr>
            <p:ph type="sldImg"/>
          </p:nvPr>
        </p:nvSpPr>
        <p:spPr>
          <a:ln/>
        </p:spPr>
      </p:sp>
      <p:sp>
        <p:nvSpPr>
          <p:cNvPr id="87044" name="Rectangle 3"/>
          <p:cNvSpPr>
            <a:spLocks noGrp="1" noChangeArrowheads="1"/>
          </p:cNvSpPr>
          <p:nvPr>
            <p:ph type="body" idx="1"/>
          </p:nvPr>
        </p:nvSpPr>
        <p:spPr>
          <a:noFill/>
          <a:ln/>
        </p:spPr>
        <p:txBody>
          <a:bodyPr/>
          <a:lstStyle/>
          <a:p>
            <a:pPr>
              <a:lnSpc>
                <a:spcPct val="80000"/>
              </a:lnSpc>
              <a:buFontTx/>
              <a:buNone/>
            </a:pPr>
            <a:r>
              <a:rPr lang="es-ES" sz="1300" dirty="0">
                <a:latin typeface="Arial" charset="0"/>
              </a:rPr>
              <a:t>3.2</a:t>
            </a:r>
            <a:r>
              <a:rPr lang="es-ES"/>
              <a:t> </a:t>
            </a:r>
            <a:r>
              <a:rPr lang="es-ES" sz="1300" dirty="0">
                <a:latin typeface="Arial" charset="0"/>
              </a:rPr>
              <a:t>– RIPv2</a:t>
            </a:r>
          </a:p>
          <a:p>
            <a:pPr>
              <a:lnSpc>
                <a:spcPct val="80000"/>
              </a:lnSpc>
              <a:buFontTx/>
              <a:buNone/>
            </a:pPr>
            <a:r>
              <a:rPr lang="es-ES" dirty="0">
                <a:latin typeface="Arial" charset="0"/>
              </a:rPr>
              <a:t>3.2.1 – Configurar el protocolo RIP</a:t>
            </a:r>
          </a:p>
          <a:p>
            <a:pPr marL="119149" indent="-119149" defTabSz="1079049" eaLnBrk="0" fontAlgn="base" hangingPunct="0">
              <a:lnSpc>
                <a:spcPct val="80000"/>
              </a:lnSpc>
              <a:spcBef>
                <a:spcPct val="50000"/>
              </a:spcBef>
              <a:spcAft>
                <a:spcPct val="0"/>
              </a:spcAft>
              <a:buSzPct val="100000"/>
              <a:defRPr/>
            </a:pPr>
            <a:r>
              <a:rPr lang="es-ES" sz="1300" dirty="0">
                <a:latin typeface="Arial" charset="0"/>
              </a:rPr>
              <a:t>3.2.1.1</a:t>
            </a:r>
            <a:r>
              <a:rPr lang="es-ES"/>
              <a:t> </a:t>
            </a:r>
            <a:r>
              <a:rPr lang="es-ES" sz="1300" dirty="0">
                <a:latin typeface="Arial" charset="0"/>
              </a:rPr>
              <a:t>– Modos de configuración RIP de un router</a:t>
            </a:r>
          </a:p>
        </p:txBody>
      </p:sp>
    </p:spTree>
    <p:extLst>
      <p:ext uri="{BB962C8B-B14F-4D97-AF65-F5344CB8AC3E}">
        <p14:creationId xmlns:p14="http://schemas.microsoft.com/office/powerpoint/2010/main" val="135249210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11"/>
          <p:cNvSpPr>
            <a:spLocks noGrp="1" noChangeArrowheads="1"/>
          </p:cNvSpPr>
          <p:nvPr>
            <p:ph type="sldNum" sz="quarter" idx="5"/>
          </p:nvPr>
        </p:nvSpPr>
        <p:spPr>
          <a:noFill/>
        </p:spPr>
        <p:txBody>
          <a:bodyPr/>
          <a:lstStyle/>
          <a:p>
            <a:fld id="{570978E6-FB79-4E74-A4A4-2BA13DA27C44}" type="slidenum">
              <a:rPr lang="en-US" smtClean="0"/>
              <a:pPr/>
              <a:t>23</a:t>
            </a:fld>
            <a:endParaRPr lang="es-ES"/>
          </a:p>
        </p:txBody>
      </p:sp>
      <p:sp>
        <p:nvSpPr>
          <p:cNvPr id="87043" name="Rectangle 2"/>
          <p:cNvSpPr>
            <a:spLocks noGrp="1" noRot="1" noChangeAspect="1" noChangeArrowheads="1" noTextEdit="1"/>
          </p:cNvSpPr>
          <p:nvPr>
            <p:ph type="sldImg"/>
          </p:nvPr>
        </p:nvSpPr>
        <p:spPr>
          <a:ln/>
        </p:spPr>
      </p:sp>
      <p:sp>
        <p:nvSpPr>
          <p:cNvPr id="87044" name="Rectangle 3"/>
          <p:cNvSpPr>
            <a:spLocks noGrp="1" noChangeArrowheads="1"/>
          </p:cNvSpPr>
          <p:nvPr>
            <p:ph type="body" idx="1"/>
          </p:nvPr>
        </p:nvSpPr>
        <p:spPr>
          <a:noFill/>
          <a:ln/>
        </p:spPr>
        <p:txBody>
          <a:bodyPr/>
          <a:lstStyle/>
          <a:p>
            <a:pPr>
              <a:lnSpc>
                <a:spcPct val="80000"/>
              </a:lnSpc>
              <a:buFontTx/>
              <a:buNone/>
            </a:pPr>
            <a:r>
              <a:rPr lang="es-ES" sz="1300" dirty="0">
                <a:latin typeface="Arial" charset="0"/>
              </a:rPr>
              <a:t>3.2</a:t>
            </a:r>
            <a:r>
              <a:rPr lang="es-ES"/>
              <a:t> </a:t>
            </a:r>
            <a:r>
              <a:rPr lang="es-ES" sz="1300" dirty="0">
                <a:latin typeface="Arial" charset="0"/>
              </a:rPr>
              <a:t>– RIPv2</a:t>
            </a:r>
          </a:p>
          <a:p>
            <a:pPr>
              <a:lnSpc>
                <a:spcPct val="80000"/>
              </a:lnSpc>
              <a:buFontTx/>
              <a:buNone/>
            </a:pPr>
            <a:r>
              <a:rPr lang="es-ES" dirty="0">
                <a:latin typeface="Arial" charset="0"/>
              </a:rPr>
              <a:t>3.2.1 – Configurar el protocolo RIP</a:t>
            </a:r>
          </a:p>
          <a:p>
            <a:pPr marL="119149" indent="-119149" defTabSz="1079049" eaLnBrk="0" fontAlgn="base" hangingPunct="0">
              <a:lnSpc>
                <a:spcPct val="80000"/>
              </a:lnSpc>
              <a:spcBef>
                <a:spcPct val="50000"/>
              </a:spcBef>
              <a:spcAft>
                <a:spcPct val="0"/>
              </a:spcAft>
              <a:buSzPct val="100000"/>
              <a:defRPr/>
            </a:pPr>
            <a:r>
              <a:rPr lang="es-ES" sz="1300" dirty="0">
                <a:latin typeface="Arial" charset="0"/>
              </a:rPr>
              <a:t>3.2.1.1</a:t>
            </a:r>
            <a:r>
              <a:rPr lang="es-ES"/>
              <a:t> </a:t>
            </a:r>
            <a:r>
              <a:rPr lang="es-ES" sz="1300" dirty="0">
                <a:latin typeface="Arial" charset="0"/>
              </a:rPr>
              <a:t>– Modos de configuración RIP de un router</a:t>
            </a:r>
          </a:p>
        </p:txBody>
      </p:sp>
    </p:spTree>
    <p:extLst>
      <p:ext uri="{BB962C8B-B14F-4D97-AF65-F5344CB8AC3E}">
        <p14:creationId xmlns:p14="http://schemas.microsoft.com/office/powerpoint/2010/main" val="347844804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11"/>
          <p:cNvSpPr>
            <a:spLocks noGrp="1" noChangeArrowheads="1"/>
          </p:cNvSpPr>
          <p:nvPr>
            <p:ph type="sldNum" sz="quarter" idx="5"/>
          </p:nvPr>
        </p:nvSpPr>
        <p:spPr>
          <a:noFill/>
        </p:spPr>
        <p:txBody>
          <a:bodyPr/>
          <a:lstStyle/>
          <a:p>
            <a:fld id="{570978E6-FB79-4E74-A4A4-2BA13DA27C44}" type="slidenum">
              <a:rPr lang="en-US" smtClean="0"/>
              <a:pPr/>
              <a:t>24</a:t>
            </a:fld>
            <a:endParaRPr lang="es-ES"/>
          </a:p>
        </p:txBody>
      </p:sp>
      <p:sp>
        <p:nvSpPr>
          <p:cNvPr id="87043" name="Rectangle 2"/>
          <p:cNvSpPr>
            <a:spLocks noGrp="1" noRot="1" noChangeAspect="1" noChangeArrowheads="1" noTextEdit="1"/>
          </p:cNvSpPr>
          <p:nvPr>
            <p:ph type="sldImg"/>
          </p:nvPr>
        </p:nvSpPr>
        <p:spPr>
          <a:ln/>
        </p:spPr>
      </p:sp>
      <p:sp>
        <p:nvSpPr>
          <p:cNvPr id="87044" name="Rectangle 3"/>
          <p:cNvSpPr>
            <a:spLocks noGrp="1" noChangeArrowheads="1"/>
          </p:cNvSpPr>
          <p:nvPr>
            <p:ph type="body" idx="1"/>
          </p:nvPr>
        </p:nvSpPr>
        <p:spPr>
          <a:noFill/>
          <a:ln/>
        </p:spPr>
        <p:txBody>
          <a:bodyPr/>
          <a:lstStyle/>
          <a:p>
            <a:pPr>
              <a:lnSpc>
                <a:spcPct val="80000"/>
              </a:lnSpc>
              <a:buFontTx/>
              <a:buNone/>
            </a:pPr>
            <a:r>
              <a:rPr lang="es-ES" sz="1300" dirty="0">
                <a:latin typeface="Arial" charset="0"/>
              </a:rPr>
              <a:t>3.2</a:t>
            </a:r>
            <a:r>
              <a:rPr lang="es-ES"/>
              <a:t> </a:t>
            </a:r>
            <a:r>
              <a:rPr lang="es-ES" sz="1300" dirty="0">
                <a:latin typeface="Arial" charset="0"/>
              </a:rPr>
              <a:t>– RIPv2</a:t>
            </a:r>
          </a:p>
          <a:p>
            <a:pPr>
              <a:lnSpc>
                <a:spcPct val="80000"/>
              </a:lnSpc>
              <a:buFontTx/>
              <a:buNone/>
            </a:pPr>
            <a:r>
              <a:rPr lang="es-ES" dirty="0">
                <a:latin typeface="Arial" charset="0"/>
              </a:rPr>
              <a:t>3.2.1 – Configurar el protocolo RIP</a:t>
            </a:r>
          </a:p>
          <a:p>
            <a:pPr marL="119149" indent="-119149" defTabSz="1079049" eaLnBrk="0" fontAlgn="base" hangingPunct="0">
              <a:lnSpc>
                <a:spcPct val="80000"/>
              </a:lnSpc>
              <a:spcBef>
                <a:spcPct val="50000"/>
              </a:spcBef>
              <a:spcAft>
                <a:spcPct val="0"/>
              </a:spcAft>
              <a:buSzPct val="100000"/>
              <a:defRPr/>
            </a:pPr>
            <a:r>
              <a:rPr lang="es-ES" sz="1300" dirty="0">
                <a:latin typeface="Arial" charset="0"/>
              </a:rPr>
              <a:t>3.2.1.3</a:t>
            </a:r>
            <a:r>
              <a:rPr lang="es-ES"/>
              <a:t> </a:t>
            </a:r>
            <a:r>
              <a:rPr lang="es-ES" sz="1300" dirty="0">
                <a:latin typeface="Arial" charset="0"/>
              </a:rPr>
              <a:t>– Verificar el routing RIP</a:t>
            </a:r>
            <a:endParaRPr lang="es-ES" sz="1300" dirty="0">
              <a:latin typeface="Arial" charset="0"/>
              <a:ea typeface="ＭＳ Ｐゴシック" charset="0"/>
              <a:cs typeface="ＭＳ Ｐゴシック" charset="0"/>
            </a:endParaRPr>
          </a:p>
        </p:txBody>
      </p:sp>
    </p:spTree>
    <p:extLst>
      <p:ext uri="{BB962C8B-B14F-4D97-AF65-F5344CB8AC3E}">
        <p14:creationId xmlns:p14="http://schemas.microsoft.com/office/powerpoint/2010/main" val="22038843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11"/>
          <p:cNvSpPr>
            <a:spLocks noGrp="1" noChangeArrowheads="1"/>
          </p:cNvSpPr>
          <p:nvPr>
            <p:ph type="sldNum" sz="quarter" idx="5"/>
          </p:nvPr>
        </p:nvSpPr>
        <p:spPr>
          <a:noFill/>
        </p:spPr>
        <p:txBody>
          <a:bodyPr/>
          <a:lstStyle/>
          <a:p>
            <a:fld id="{570978E6-FB79-4E74-A4A4-2BA13DA27C44}" type="slidenum">
              <a:rPr lang="en-US" smtClean="0"/>
              <a:pPr/>
              <a:t>25</a:t>
            </a:fld>
            <a:endParaRPr lang="es-ES"/>
          </a:p>
        </p:txBody>
      </p:sp>
      <p:sp>
        <p:nvSpPr>
          <p:cNvPr id="87043" name="Rectangle 2"/>
          <p:cNvSpPr>
            <a:spLocks noGrp="1" noRot="1" noChangeAspect="1" noChangeArrowheads="1" noTextEdit="1"/>
          </p:cNvSpPr>
          <p:nvPr>
            <p:ph type="sldImg"/>
          </p:nvPr>
        </p:nvSpPr>
        <p:spPr>
          <a:ln/>
        </p:spPr>
      </p:sp>
      <p:sp>
        <p:nvSpPr>
          <p:cNvPr id="87044" name="Rectangle 3"/>
          <p:cNvSpPr>
            <a:spLocks noGrp="1" noChangeArrowheads="1"/>
          </p:cNvSpPr>
          <p:nvPr>
            <p:ph type="body" idx="1"/>
          </p:nvPr>
        </p:nvSpPr>
        <p:spPr>
          <a:noFill/>
          <a:ln/>
        </p:spPr>
        <p:txBody>
          <a:bodyPr/>
          <a:lstStyle/>
          <a:p>
            <a:pPr>
              <a:lnSpc>
                <a:spcPct val="80000"/>
              </a:lnSpc>
              <a:buFontTx/>
              <a:buNone/>
            </a:pPr>
            <a:r>
              <a:rPr lang="es-ES" sz="1300" dirty="0">
                <a:latin typeface="Arial" charset="0"/>
              </a:rPr>
              <a:t>3.2</a:t>
            </a:r>
            <a:r>
              <a:rPr lang="es-ES"/>
              <a:t> </a:t>
            </a:r>
            <a:r>
              <a:rPr lang="es-ES" sz="1300" dirty="0">
                <a:latin typeface="Arial" charset="0"/>
              </a:rPr>
              <a:t>– RIPv2</a:t>
            </a:r>
          </a:p>
          <a:p>
            <a:pPr>
              <a:lnSpc>
                <a:spcPct val="80000"/>
              </a:lnSpc>
              <a:buFontTx/>
              <a:buNone/>
            </a:pPr>
            <a:r>
              <a:rPr lang="es-ES" dirty="0">
                <a:latin typeface="Arial" charset="0"/>
              </a:rPr>
              <a:t>3.2.1 – Configurar el protocolo RIP</a:t>
            </a:r>
          </a:p>
          <a:p>
            <a:pPr marL="119149" indent="-119149" defTabSz="1079049" eaLnBrk="0" fontAlgn="base" hangingPunct="0">
              <a:lnSpc>
                <a:spcPct val="80000"/>
              </a:lnSpc>
              <a:spcBef>
                <a:spcPct val="50000"/>
              </a:spcBef>
              <a:spcAft>
                <a:spcPct val="0"/>
              </a:spcAft>
              <a:buSzPct val="100000"/>
              <a:defRPr/>
            </a:pPr>
            <a:r>
              <a:rPr lang="es-ES" sz="1300" dirty="0">
                <a:latin typeface="Arial" charset="0"/>
              </a:rPr>
              <a:t>3.2.1.4</a:t>
            </a:r>
            <a:r>
              <a:rPr lang="es-ES"/>
              <a:t> </a:t>
            </a:r>
            <a:r>
              <a:rPr lang="es-ES" sz="1300" dirty="0">
                <a:latin typeface="Arial" charset="0"/>
              </a:rPr>
              <a:t>– Habilitar y verificar RIPv2</a:t>
            </a:r>
            <a:endParaRPr lang="es-ES" sz="1300" dirty="0">
              <a:latin typeface="Arial" charset="0"/>
              <a:ea typeface="ＭＳ Ｐゴシック" charset="0"/>
              <a:cs typeface="ＭＳ Ｐゴシック" charset="0"/>
            </a:endParaRPr>
          </a:p>
        </p:txBody>
      </p:sp>
    </p:spTree>
    <p:extLst>
      <p:ext uri="{BB962C8B-B14F-4D97-AF65-F5344CB8AC3E}">
        <p14:creationId xmlns:p14="http://schemas.microsoft.com/office/powerpoint/2010/main" val="180658600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11"/>
          <p:cNvSpPr>
            <a:spLocks noGrp="1" noChangeArrowheads="1"/>
          </p:cNvSpPr>
          <p:nvPr>
            <p:ph type="sldNum" sz="quarter" idx="5"/>
          </p:nvPr>
        </p:nvSpPr>
        <p:spPr>
          <a:noFill/>
        </p:spPr>
        <p:txBody>
          <a:bodyPr/>
          <a:lstStyle/>
          <a:p>
            <a:fld id="{570978E6-FB79-4E74-A4A4-2BA13DA27C44}" type="slidenum">
              <a:rPr lang="en-US" smtClean="0"/>
              <a:pPr/>
              <a:t>26</a:t>
            </a:fld>
            <a:endParaRPr lang="es-ES"/>
          </a:p>
        </p:txBody>
      </p:sp>
      <p:sp>
        <p:nvSpPr>
          <p:cNvPr id="87043" name="Rectangle 2"/>
          <p:cNvSpPr>
            <a:spLocks noGrp="1" noRot="1" noChangeAspect="1" noChangeArrowheads="1" noTextEdit="1"/>
          </p:cNvSpPr>
          <p:nvPr>
            <p:ph type="sldImg"/>
          </p:nvPr>
        </p:nvSpPr>
        <p:spPr>
          <a:ln/>
        </p:spPr>
      </p:sp>
      <p:sp>
        <p:nvSpPr>
          <p:cNvPr id="87044" name="Rectangle 3"/>
          <p:cNvSpPr>
            <a:spLocks noGrp="1" noChangeArrowheads="1"/>
          </p:cNvSpPr>
          <p:nvPr>
            <p:ph type="body" idx="1"/>
          </p:nvPr>
        </p:nvSpPr>
        <p:spPr>
          <a:noFill/>
          <a:ln/>
        </p:spPr>
        <p:txBody>
          <a:bodyPr/>
          <a:lstStyle/>
          <a:p>
            <a:pPr>
              <a:lnSpc>
                <a:spcPct val="80000"/>
              </a:lnSpc>
              <a:buFontTx/>
              <a:buNone/>
            </a:pPr>
            <a:r>
              <a:rPr lang="es-ES" sz="1300" dirty="0">
                <a:latin typeface="Arial" charset="0"/>
              </a:rPr>
              <a:t>3.2</a:t>
            </a:r>
            <a:r>
              <a:rPr lang="es-ES"/>
              <a:t> </a:t>
            </a:r>
            <a:r>
              <a:rPr lang="es-ES" sz="1300" dirty="0">
                <a:latin typeface="Arial" charset="0"/>
              </a:rPr>
              <a:t>– RIPv2</a:t>
            </a:r>
          </a:p>
          <a:p>
            <a:pPr>
              <a:lnSpc>
                <a:spcPct val="80000"/>
              </a:lnSpc>
              <a:buFontTx/>
              <a:buNone/>
            </a:pPr>
            <a:r>
              <a:rPr lang="es-ES" dirty="0">
                <a:latin typeface="Arial" charset="0"/>
              </a:rPr>
              <a:t>3.2.1 – Configurar el protocolo RIP</a:t>
            </a:r>
          </a:p>
          <a:p>
            <a:pPr marL="119149" indent="-119149" defTabSz="1079049" eaLnBrk="0" fontAlgn="base" hangingPunct="0">
              <a:lnSpc>
                <a:spcPct val="80000"/>
              </a:lnSpc>
              <a:spcBef>
                <a:spcPct val="50000"/>
              </a:spcBef>
              <a:spcAft>
                <a:spcPct val="0"/>
              </a:spcAft>
              <a:buSzPct val="100000"/>
              <a:defRPr/>
            </a:pPr>
            <a:r>
              <a:rPr lang="es-ES" sz="1300" dirty="0">
                <a:latin typeface="Arial" charset="0"/>
              </a:rPr>
              <a:t>3.2.1.5 – Deshabilitar la sumarización automática</a:t>
            </a:r>
          </a:p>
        </p:txBody>
      </p:sp>
    </p:spTree>
    <p:extLst>
      <p:ext uri="{BB962C8B-B14F-4D97-AF65-F5344CB8AC3E}">
        <p14:creationId xmlns:p14="http://schemas.microsoft.com/office/powerpoint/2010/main" val="1966748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11"/>
          <p:cNvSpPr>
            <a:spLocks noGrp="1" noChangeArrowheads="1"/>
          </p:cNvSpPr>
          <p:nvPr>
            <p:ph type="sldNum" sz="quarter" idx="5"/>
          </p:nvPr>
        </p:nvSpPr>
        <p:spPr>
          <a:noFill/>
        </p:spPr>
        <p:txBody>
          <a:bodyPr/>
          <a:lstStyle/>
          <a:p>
            <a:fld id="{570978E6-FB79-4E74-A4A4-2BA13DA27C44}" type="slidenum">
              <a:rPr lang="en-US" smtClean="0"/>
              <a:pPr/>
              <a:t>27</a:t>
            </a:fld>
            <a:endParaRPr lang="es-ES"/>
          </a:p>
        </p:txBody>
      </p:sp>
      <p:sp>
        <p:nvSpPr>
          <p:cNvPr id="87043" name="Rectangle 2"/>
          <p:cNvSpPr>
            <a:spLocks noGrp="1" noRot="1" noChangeAspect="1" noChangeArrowheads="1" noTextEdit="1"/>
          </p:cNvSpPr>
          <p:nvPr>
            <p:ph type="sldImg"/>
          </p:nvPr>
        </p:nvSpPr>
        <p:spPr>
          <a:ln/>
        </p:spPr>
      </p:sp>
      <p:sp>
        <p:nvSpPr>
          <p:cNvPr id="87044" name="Rectangle 3"/>
          <p:cNvSpPr>
            <a:spLocks noGrp="1" noChangeArrowheads="1"/>
          </p:cNvSpPr>
          <p:nvPr>
            <p:ph type="body" idx="1"/>
          </p:nvPr>
        </p:nvSpPr>
        <p:spPr>
          <a:noFill/>
          <a:ln/>
        </p:spPr>
        <p:txBody>
          <a:bodyPr/>
          <a:lstStyle/>
          <a:p>
            <a:pPr>
              <a:lnSpc>
                <a:spcPct val="80000"/>
              </a:lnSpc>
              <a:buFontTx/>
              <a:buNone/>
            </a:pPr>
            <a:r>
              <a:rPr lang="es-ES" sz="1300" dirty="0">
                <a:latin typeface="Arial" charset="0"/>
              </a:rPr>
              <a:t>3.2</a:t>
            </a:r>
            <a:r>
              <a:rPr lang="es-ES"/>
              <a:t> </a:t>
            </a:r>
            <a:r>
              <a:rPr lang="es-ES" sz="1300" dirty="0">
                <a:latin typeface="Arial" charset="0"/>
              </a:rPr>
              <a:t>– RIPv2</a:t>
            </a:r>
          </a:p>
          <a:p>
            <a:pPr>
              <a:lnSpc>
                <a:spcPct val="80000"/>
              </a:lnSpc>
              <a:buFontTx/>
              <a:buNone/>
            </a:pPr>
            <a:r>
              <a:rPr lang="es-ES" dirty="0">
                <a:latin typeface="Arial" charset="0"/>
              </a:rPr>
              <a:t>3.2.1 – Configurar el protocolo RIP</a:t>
            </a:r>
          </a:p>
          <a:p>
            <a:pPr marL="119149" indent="-119149" defTabSz="1079049" eaLnBrk="0" fontAlgn="base" hangingPunct="0">
              <a:lnSpc>
                <a:spcPct val="80000"/>
              </a:lnSpc>
              <a:spcBef>
                <a:spcPct val="50000"/>
              </a:spcBef>
              <a:spcAft>
                <a:spcPct val="0"/>
              </a:spcAft>
              <a:buSzPct val="100000"/>
              <a:defRPr/>
            </a:pPr>
            <a:r>
              <a:rPr lang="es-ES" sz="1300" dirty="0">
                <a:latin typeface="Arial" charset="0"/>
              </a:rPr>
              <a:t>3.2.1.5 – Deshabilitar la sumarización automática</a:t>
            </a:r>
          </a:p>
        </p:txBody>
      </p:sp>
    </p:spTree>
    <p:extLst>
      <p:ext uri="{BB962C8B-B14F-4D97-AF65-F5344CB8AC3E}">
        <p14:creationId xmlns:p14="http://schemas.microsoft.com/office/powerpoint/2010/main" val="175727079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11"/>
          <p:cNvSpPr>
            <a:spLocks noGrp="1" noChangeArrowheads="1"/>
          </p:cNvSpPr>
          <p:nvPr>
            <p:ph type="sldNum" sz="quarter" idx="5"/>
          </p:nvPr>
        </p:nvSpPr>
        <p:spPr>
          <a:noFill/>
        </p:spPr>
        <p:txBody>
          <a:bodyPr/>
          <a:lstStyle/>
          <a:p>
            <a:fld id="{570978E6-FB79-4E74-A4A4-2BA13DA27C44}" type="slidenum">
              <a:rPr lang="en-US" smtClean="0"/>
              <a:pPr/>
              <a:t>28</a:t>
            </a:fld>
            <a:endParaRPr lang="es-ES"/>
          </a:p>
        </p:txBody>
      </p:sp>
      <p:sp>
        <p:nvSpPr>
          <p:cNvPr id="87043" name="Rectangle 2"/>
          <p:cNvSpPr>
            <a:spLocks noGrp="1" noRot="1" noChangeAspect="1" noChangeArrowheads="1" noTextEdit="1"/>
          </p:cNvSpPr>
          <p:nvPr>
            <p:ph type="sldImg"/>
          </p:nvPr>
        </p:nvSpPr>
        <p:spPr>
          <a:ln/>
        </p:spPr>
      </p:sp>
      <p:sp>
        <p:nvSpPr>
          <p:cNvPr id="87044" name="Rectangle 3"/>
          <p:cNvSpPr>
            <a:spLocks noGrp="1" noChangeArrowheads="1"/>
          </p:cNvSpPr>
          <p:nvPr>
            <p:ph type="body" idx="1"/>
          </p:nvPr>
        </p:nvSpPr>
        <p:spPr>
          <a:noFill/>
          <a:ln/>
        </p:spPr>
        <p:txBody>
          <a:bodyPr/>
          <a:lstStyle/>
          <a:p>
            <a:pPr>
              <a:lnSpc>
                <a:spcPct val="80000"/>
              </a:lnSpc>
              <a:buFontTx/>
              <a:buNone/>
            </a:pPr>
            <a:r>
              <a:rPr lang="es-ES" sz="1300" dirty="0">
                <a:latin typeface="Arial" charset="0"/>
              </a:rPr>
              <a:t>3.2</a:t>
            </a:r>
            <a:r>
              <a:rPr lang="es-ES"/>
              <a:t> </a:t>
            </a:r>
            <a:r>
              <a:rPr lang="es-ES" sz="1300" dirty="0">
                <a:latin typeface="Arial" charset="0"/>
              </a:rPr>
              <a:t>– RIPv2</a:t>
            </a:r>
          </a:p>
          <a:p>
            <a:pPr>
              <a:lnSpc>
                <a:spcPct val="80000"/>
              </a:lnSpc>
              <a:buFontTx/>
              <a:buNone/>
            </a:pPr>
            <a:r>
              <a:rPr lang="es-ES" dirty="0">
                <a:latin typeface="Arial" charset="0"/>
              </a:rPr>
              <a:t>3.2.1 – Configurar el protocolo RIP</a:t>
            </a:r>
          </a:p>
          <a:p>
            <a:pPr marL="119149" indent="-119149" defTabSz="1079049" eaLnBrk="0" fontAlgn="base" hangingPunct="0">
              <a:lnSpc>
                <a:spcPct val="80000"/>
              </a:lnSpc>
              <a:spcBef>
                <a:spcPct val="50000"/>
              </a:spcBef>
              <a:spcAft>
                <a:spcPct val="0"/>
              </a:spcAft>
              <a:buSzPct val="100000"/>
              <a:defRPr/>
            </a:pPr>
            <a:r>
              <a:rPr lang="es-ES" sz="1300" dirty="0">
                <a:latin typeface="Arial" charset="0"/>
              </a:rPr>
              <a:t>3.2.1.6</a:t>
            </a:r>
            <a:r>
              <a:rPr lang="es-ES"/>
              <a:t> </a:t>
            </a:r>
            <a:r>
              <a:rPr lang="es-ES" sz="1300" dirty="0">
                <a:latin typeface="Arial" charset="0"/>
              </a:rPr>
              <a:t>– Configurar interfaces pasivas</a:t>
            </a:r>
            <a:endParaRPr lang="es-ES" sz="1300" dirty="0">
              <a:latin typeface="Arial" charset="0"/>
              <a:ea typeface="ＭＳ Ｐゴシック" charset="0"/>
              <a:cs typeface="ＭＳ Ｐゴシック" charset="0"/>
            </a:endParaRPr>
          </a:p>
        </p:txBody>
      </p:sp>
    </p:spTree>
    <p:extLst>
      <p:ext uri="{BB962C8B-B14F-4D97-AF65-F5344CB8AC3E}">
        <p14:creationId xmlns:p14="http://schemas.microsoft.com/office/powerpoint/2010/main" val="198647282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11"/>
          <p:cNvSpPr>
            <a:spLocks noGrp="1" noChangeArrowheads="1"/>
          </p:cNvSpPr>
          <p:nvPr>
            <p:ph type="sldNum" sz="quarter" idx="5"/>
          </p:nvPr>
        </p:nvSpPr>
        <p:spPr>
          <a:noFill/>
        </p:spPr>
        <p:txBody>
          <a:bodyPr/>
          <a:lstStyle/>
          <a:p>
            <a:fld id="{570978E6-FB79-4E74-A4A4-2BA13DA27C44}" type="slidenum">
              <a:rPr lang="en-US" smtClean="0"/>
              <a:pPr/>
              <a:t>29</a:t>
            </a:fld>
            <a:endParaRPr lang="es-ES"/>
          </a:p>
        </p:txBody>
      </p:sp>
      <p:sp>
        <p:nvSpPr>
          <p:cNvPr id="87043" name="Rectangle 2"/>
          <p:cNvSpPr>
            <a:spLocks noGrp="1" noRot="1" noChangeAspect="1" noChangeArrowheads="1" noTextEdit="1"/>
          </p:cNvSpPr>
          <p:nvPr>
            <p:ph type="sldImg"/>
          </p:nvPr>
        </p:nvSpPr>
        <p:spPr>
          <a:ln/>
        </p:spPr>
      </p:sp>
      <p:sp>
        <p:nvSpPr>
          <p:cNvPr id="87044" name="Rectangle 3"/>
          <p:cNvSpPr>
            <a:spLocks noGrp="1" noChangeArrowheads="1"/>
          </p:cNvSpPr>
          <p:nvPr>
            <p:ph type="body" idx="1"/>
          </p:nvPr>
        </p:nvSpPr>
        <p:spPr>
          <a:noFill/>
          <a:ln/>
        </p:spPr>
        <p:txBody>
          <a:bodyPr/>
          <a:lstStyle/>
          <a:p>
            <a:pPr>
              <a:lnSpc>
                <a:spcPct val="80000"/>
              </a:lnSpc>
              <a:buFontTx/>
              <a:buNone/>
            </a:pPr>
            <a:r>
              <a:rPr lang="es-ES" sz="1300" dirty="0">
                <a:latin typeface="Arial" charset="0"/>
              </a:rPr>
              <a:t>3.2</a:t>
            </a:r>
            <a:r>
              <a:rPr lang="es-ES"/>
              <a:t> </a:t>
            </a:r>
            <a:r>
              <a:rPr lang="es-ES" sz="1300" dirty="0">
                <a:latin typeface="Arial" charset="0"/>
              </a:rPr>
              <a:t>– RIPv2</a:t>
            </a:r>
          </a:p>
          <a:p>
            <a:pPr>
              <a:lnSpc>
                <a:spcPct val="80000"/>
              </a:lnSpc>
              <a:buFontTx/>
              <a:buNone/>
            </a:pPr>
            <a:r>
              <a:rPr lang="es-ES" dirty="0">
                <a:latin typeface="Arial" charset="0"/>
              </a:rPr>
              <a:t>3.2.1 – Configurar el protocolo RIP</a:t>
            </a:r>
          </a:p>
          <a:p>
            <a:pPr marL="119149" indent="-119149" defTabSz="1079049" eaLnBrk="0" fontAlgn="base" hangingPunct="0">
              <a:lnSpc>
                <a:spcPct val="80000"/>
              </a:lnSpc>
              <a:spcBef>
                <a:spcPct val="50000"/>
              </a:spcBef>
              <a:spcAft>
                <a:spcPct val="0"/>
              </a:spcAft>
              <a:buSzPct val="100000"/>
              <a:defRPr/>
            </a:pPr>
            <a:r>
              <a:rPr lang="es-ES" sz="1300" dirty="0">
                <a:latin typeface="Arial" charset="0"/>
              </a:rPr>
              <a:t>3.2.1.7 – Propagar una ruta predeterminada</a:t>
            </a:r>
            <a:endParaRPr lang="es-ES" sz="1300" dirty="0">
              <a:latin typeface="Arial" charset="0"/>
              <a:ea typeface="ＭＳ Ｐゴシック" charset="0"/>
              <a:cs typeface="ＭＳ Ｐゴシック" charset="0"/>
            </a:endParaRPr>
          </a:p>
        </p:txBody>
      </p:sp>
    </p:spTree>
    <p:extLst>
      <p:ext uri="{BB962C8B-B14F-4D97-AF65-F5344CB8AC3E}">
        <p14:creationId xmlns:p14="http://schemas.microsoft.com/office/powerpoint/2010/main" val="186799351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11"/>
          <p:cNvSpPr>
            <a:spLocks noGrp="1" noChangeArrowheads="1"/>
          </p:cNvSpPr>
          <p:nvPr>
            <p:ph type="sldNum" sz="quarter" idx="5"/>
          </p:nvPr>
        </p:nvSpPr>
        <p:spPr>
          <a:noFill/>
        </p:spPr>
        <p:txBody>
          <a:bodyPr/>
          <a:lstStyle/>
          <a:p>
            <a:fld id="{570978E6-FB79-4E74-A4A4-2BA13DA27C44}" type="slidenum">
              <a:rPr lang="en-US" smtClean="0"/>
              <a:pPr/>
              <a:t>30</a:t>
            </a:fld>
            <a:endParaRPr lang="es-ES"/>
          </a:p>
        </p:txBody>
      </p:sp>
      <p:sp>
        <p:nvSpPr>
          <p:cNvPr id="87043" name="Rectangle 2"/>
          <p:cNvSpPr>
            <a:spLocks noGrp="1" noRot="1" noChangeAspect="1" noChangeArrowheads="1" noTextEdit="1"/>
          </p:cNvSpPr>
          <p:nvPr>
            <p:ph type="sldImg"/>
          </p:nvPr>
        </p:nvSpPr>
        <p:spPr>
          <a:ln/>
        </p:spPr>
      </p:sp>
      <p:sp>
        <p:nvSpPr>
          <p:cNvPr id="87044" name="Rectangle 3"/>
          <p:cNvSpPr>
            <a:spLocks noGrp="1" noChangeArrowheads="1"/>
          </p:cNvSpPr>
          <p:nvPr>
            <p:ph type="body" idx="1"/>
          </p:nvPr>
        </p:nvSpPr>
        <p:spPr>
          <a:noFill/>
          <a:ln/>
        </p:spPr>
        <p:txBody>
          <a:bodyPr/>
          <a:lstStyle/>
          <a:p>
            <a:pPr>
              <a:lnSpc>
                <a:spcPct val="80000"/>
              </a:lnSpc>
              <a:buFontTx/>
              <a:buNone/>
            </a:pPr>
            <a:r>
              <a:rPr lang="es-ES" sz="1300" dirty="0">
                <a:latin typeface="Arial" charset="0"/>
              </a:rPr>
              <a:t>3.3</a:t>
            </a:r>
            <a:r>
              <a:rPr lang="es-ES"/>
              <a:t> </a:t>
            </a:r>
            <a:r>
              <a:rPr lang="es-ES" sz="1300" dirty="0">
                <a:latin typeface="Arial" charset="0"/>
              </a:rPr>
              <a:t>– La tabla de routing</a:t>
            </a:r>
            <a:endParaRPr lang="es-ES" sz="1300" dirty="0">
              <a:latin typeface="Arial" charset="0"/>
              <a:ea typeface="ＭＳ Ｐゴシック" charset="0"/>
              <a:cs typeface="ＭＳ Ｐゴシック" charset="0"/>
            </a:endParaRPr>
          </a:p>
          <a:p>
            <a:pPr>
              <a:lnSpc>
                <a:spcPct val="80000"/>
              </a:lnSpc>
              <a:buFontTx/>
              <a:buNone/>
            </a:pPr>
            <a:r>
              <a:rPr lang="es-ES" dirty="0">
                <a:latin typeface="Arial" charset="0"/>
              </a:rPr>
              <a:t>3.3.1</a:t>
            </a:r>
            <a:r>
              <a:rPr lang="es-ES"/>
              <a:t> </a:t>
            </a:r>
            <a:r>
              <a:rPr lang="es-ES" dirty="0">
                <a:latin typeface="Arial" charset="0"/>
              </a:rPr>
              <a:t>– Partes de una entrada de ruta IPv4</a:t>
            </a:r>
          </a:p>
          <a:p>
            <a:pPr marL="119149" indent="-119149" defTabSz="1079049" eaLnBrk="0" fontAlgn="base" hangingPunct="0">
              <a:lnSpc>
                <a:spcPct val="80000"/>
              </a:lnSpc>
              <a:spcBef>
                <a:spcPct val="50000"/>
              </a:spcBef>
              <a:spcAft>
                <a:spcPct val="0"/>
              </a:spcAft>
              <a:buSzPct val="100000"/>
              <a:defRPr/>
            </a:pPr>
            <a:r>
              <a:rPr lang="es-ES" sz="1300" dirty="0">
                <a:latin typeface="Arial" charset="0"/>
              </a:rPr>
              <a:t>3.3.1.3 – Entradas de redes remotas</a:t>
            </a:r>
          </a:p>
        </p:txBody>
      </p:sp>
    </p:spTree>
    <p:extLst>
      <p:ext uri="{BB962C8B-B14F-4D97-AF65-F5344CB8AC3E}">
        <p14:creationId xmlns:p14="http://schemas.microsoft.com/office/powerpoint/2010/main" val="91238636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p1:notes"/>
          <p:cNvSpPr txBox="1">
            <a:spLocks noGrp="1"/>
          </p:cNvSpPr>
          <p:nvPr>
            <p:ph type="body" idx="1"/>
          </p:nvPr>
        </p:nvSpPr>
        <p:spPr>
          <a:xfrm>
            <a:off x="731520" y="4560570"/>
            <a:ext cx="5852160" cy="4320540"/>
          </a:xfrm>
          <a:prstGeom prst="rect">
            <a:avLst/>
          </a:prstGeom>
        </p:spPr>
        <p:txBody>
          <a:bodyPr spcFirstLastPara="1" wrap="square" lIns="96645" tIns="48309" rIns="96645" bIns="48309" anchor="t" anchorCtr="0">
            <a:noAutofit/>
          </a:bodyPr>
          <a:lstStyle/>
          <a:p>
            <a:endParaRPr/>
          </a:p>
        </p:txBody>
      </p:sp>
      <p:sp>
        <p:nvSpPr>
          <p:cNvPr id="70" name="Google Shape;70;p1:notes"/>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3686579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Slide Image Placeholder 1"/>
          <p:cNvSpPr>
            <a:spLocks noGrp="1" noRot="1" noChangeAspect="1" noTextEdit="1"/>
          </p:cNvSpPr>
          <p:nvPr>
            <p:ph type="sldImg"/>
          </p:nvPr>
        </p:nvSpPr>
        <p:spPr>
          <a:ln/>
        </p:spPr>
      </p:sp>
      <p:sp>
        <p:nvSpPr>
          <p:cNvPr id="100355" name="Notes Placeholder 2"/>
          <p:cNvSpPr>
            <a:spLocks noGrp="1"/>
          </p:cNvSpPr>
          <p:nvPr>
            <p:ph type="body" idx="1"/>
          </p:nvPr>
        </p:nvSpPr>
        <p:spPr>
          <a:noFill/>
          <a:ln/>
        </p:spPr>
        <p:txBody>
          <a:bodyPr/>
          <a:lstStyle/>
          <a:p>
            <a:r>
              <a:rPr lang="es-ES"/>
              <a:t>Capítulo 3: Resumen</a:t>
            </a:r>
          </a:p>
        </p:txBody>
      </p:sp>
      <p:sp>
        <p:nvSpPr>
          <p:cNvPr id="100356" name="Slide Number Placeholder 3"/>
          <p:cNvSpPr>
            <a:spLocks noGrp="1"/>
          </p:cNvSpPr>
          <p:nvPr>
            <p:ph type="sldNum" sz="quarter" idx="5"/>
          </p:nvPr>
        </p:nvSpPr>
        <p:spPr>
          <a:noFill/>
        </p:spPr>
        <p:txBody>
          <a:bodyPr/>
          <a:lstStyle/>
          <a:p>
            <a:fld id="{B07FA372-31D3-4433-A73B-79DE0EBFB8F4}" type="slidenum">
              <a:rPr lang="en-US" smtClean="0"/>
              <a:pPr/>
              <a:t>32</a:t>
            </a:fld>
            <a:endParaRPr lang="es-ES"/>
          </a:p>
        </p:txBody>
      </p:sp>
    </p:spTree>
    <p:extLst>
      <p:ext uri="{BB962C8B-B14F-4D97-AF65-F5344CB8AC3E}">
        <p14:creationId xmlns:p14="http://schemas.microsoft.com/office/powerpoint/2010/main" val="16981765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D4487A3-3E48-462C-B6AC-A61B991CD067}"/>
              </a:ext>
            </a:extLst>
          </p:cNvPr>
          <p:cNvSpPr>
            <a:spLocks noGrp="1"/>
          </p:cNvSpPr>
          <p:nvPr>
            <p:ph type="ctrTitle"/>
          </p:nvPr>
        </p:nvSpPr>
        <p:spPr>
          <a:xfrm>
            <a:off x="1143000" y="841375"/>
            <a:ext cx="6858000" cy="1790700"/>
          </a:xfrm>
        </p:spPr>
        <p:txBody>
          <a:bodyPr anchor="b">
            <a:noAutofit/>
          </a:bodyPr>
          <a:lstStyle>
            <a:lvl1pPr algn="ctr">
              <a:defRPr sz="4000">
                <a:solidFill>
                  <a:schemeClr val="bg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defRPr>
            </a:lvl1pPr>
          </a:lstStyle>
          <a:p>
            <a:r>
              <a:rPr lang="es-ES" dirty="0"/>
              <a:t>Haga clic para modificar el estilo de título del patrón</a:t>
            </a:r>
            <a:endParaRPr lang="es-PE" dirty="0"/>
          </a:p>
        </p:txBody>
      </p:sp>
      <p:sp>
        <p:nvSpPr>
          <p:cNvPr id="3" name="Subtítulo 2">
            <a:extLst>
              <a:ext uri="{FF2B5EF4-FFF2-40B4-BE49-F238E27FC236}">
                <a16:creationId xmlns:a16="http://schemas.microsoft.com/office/drawing/2014/main" id="{0B6AEF0B-3DCB-40CD-AA55-8186707A3291}"/>
              </a:ext>
            </a:extLst>
          </p:cNvPr>
          <p:cNvSpPr>
            <a:spLocks noGrp="1"/>
          </p:cNvSpPr>
          <p:nvPr>
            <p:ph type="subTitle" idx="1"/>
          </p:nvPr>
        </p:nvSpPr>
        <p:spPr>
          <a:xfrm>
            <a:off x="1143000" y="2701925"/>
            <a:ext cx="6858000" cy="1241425"/>
          </a:xfrm>
        </p:spPr>
        <p:txBody>
          <a:bodyPr/>
          <a:lstStyle>
            <a:lvl1pPr marL="0" indent="0" algn="ctr">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dirty="0"/>
              <a:t>Haga clic para modificar el estilo de subtítulo del patrón</a:t>
            </a:r>
            <a:endParaRPr lang="es-PE" dirty="0"/>
          </a:p>
        </p:txBody>
      </p:sp>
      <p:sp>
        <p:nvSpPr>
          <p:cNvPr id="4" name="Marcador de fecha 3">
            <a:extLst>
              <a:ext uri="{FF2B5EF4-FFF2-40B4-BE49-F238E27FC236}">
                <a16:creationId xmlns:a16="http://schemas.microsoft.com/office/drawing/2014/main" id="{9067D390-992A-4D04-9031-E722B5C5C22B}"/>
              </a:ext>
            </a:extLst>
          </p:cNvPr>
          <p:cNvSpPr>
            <a:spLocks noGrp="1"/>
          </p:cNvSpPr>
          <p:nvPr>
            <p:ph type="dt" sz="half" idx="10"/>
          </p:nvPr>
        </p:nvSpPr>
        <p:spPr/>
        <p:txBody>
          <a:bodyPr/>
          <a:lstStyle/>
          <a:p>
            <a:fld id="{3AFF51CF-64F0-4CA4-8AD3-DEC3E409CD36}" type="datetimeFigureOut">
              <a:rPr lang="es-PE" smtClean="0"/>
              <a:t>29/10/2026</a:t>
            </a:fld>
            <a:endParaRPr lang="es-PE" dirty="0"/>
          </a:p>
        </p:txBody>
      </p:sp>
      <p:sp>
        <p:nvSpPr>
          <p:cNvPr id="5" name="Marcador de pie de página 4">
            <a:extLst>
              <a:ext uri="{FF2B5EF4-FFF2-40B4-BE49-F238E27FC236}">
                <a16:creationId xmlns:a16="http://schemas.microsoft.com/office/drawing/2014/main" id="{4E1D01D2-36AD-4DC7-A680-5B46BC60CAFE}"/>
              </a:ext>
            </a:extLst>
          </p:cNvPr>
          <p:cNvSpPr>
            <a:spLocks noGrp="1"/>
          </p:cNvSpPr>
          <p:nvPr>
            <p:ph type="ftr" sz="quarter" idx="11"/>
          </p:nvPr>
        </p:nvSpPr>
        <p:spPr/>
        <p:txBody>
          <a:bodyPr/>
          <a:lstStyle/>
          <a:p>
            <a:endParaRPr lang="es-PE"/>
          </a:p>
        </p:txBody>
      </p:sp>
      <p:sp>
        <p:nvSpPr>
          <p:cNvPr id="6" name="Marcador de número de diapositiva 5">
            <a:extLst>
              <a:ext uri="{FF2B5EF4-FFF2-40B4-BE49-F238E27FC236}">
                <a16:creationId xmlns:a16="http://schemas.microsoft.com/office/drawing/2014/main" id="{DBFA1450-A185-47AE-B9F0-57C607051702}"/>
              </a:ext>
            </a:extLst>
          </p:cNvPr>
          <p:cNvSpPr>
            <a:spLocks noGrp="1"/>
          </p:cNvSpPr>
          <p:nvPr>
            <p:ph type="sldNum" sz="quarter" idx="12"/>
          </p:nvPr>
        </p:nvSpPr>
        <p:spPr/>
        <p:txBody>
          <a:bodyPr/>
          <a:lstStyle/>
          <a:p>
            <a:fld id="{70048427-95DE-4E03-A966-DFB42735BE85}" type="slidenum">
              <a:rPr lang="es-PE" smtClean="0"/>
              <a:t>‹Nº›</a:t>
            </a:fld>
            <a:endParaRPr lang="es-PE"/>
          </a:p>
        </p:txBody>
      </p:sp>
    </p:spTree>
    <p:extLst>
      <p:ext uri="{BB962C8B-B14F-4D97-AF65-F5344CB8AC3E}">
        <p14:creationId xmlns:p14="http://schemas.microsoft.com/office/powerpoint/2010/main" val="7432695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35F6FA6-1F47-4A45-8840-ED50BE0422A0}"/>
              </a:ext>
            </a:extLst>
          </p:cNvPr>
          <p:cNvSpPr>
            <a:spLocks noGrp="1"/>
          </p:cNvSpPr>
          <p:nvPr>
            <p:ph type="title"/>
          </p:nvPr>
        </p:nvSpPr>
        <p:spPr/>
        <p:txBody>
          <a:bodyPr/>
          <a:lstStyle>
            <a:lvl1pPr>
              <a:defRPr>
                <a:solidFill>
                  <a:schemeClr val="bg1"/>
                </a:solidFill>
              </a:defRPr>
            </a:lvl1pPr>
          </a:lstStyle>
          <a:p>
            <a:r>
              <a:rPr lang="es-ES" dirty="0"/>
              <a:t>Haga clic para modificar el estilo de título del patrón</a:t>
            </a:r>
            <a:endParaRPr lang="es-PE" dirty="0"/>
          </a:p>
        </p:txBody>
      </p:sp>
      <p:sp>
        <p:nvSpPr>
          <p:cNvPr id="3" name="Marcador de contenido 2">
            <a:extLst>
              <a:ext uri="{FF2B5EF4-FFF2-40B4-BE49-F238E27FC236}">
                <a16:creationId xmlns:a16="http://schemas.microsoft.com/office/drawing/2014/main" id="{8C5EFC53-F01D-4700-B34E-2812EADA6120}"/>
              </a:ext>
            </a:extLst>
          </p:cNvPr>
          <p:cNvSpPr>
            <a:spLocks noGrp="1"/>
          </p:cNvSpPr>
          <p:nvPr>
            <p:ph idx="1"/>
          </p:nvPr>
        </p:nvSpPr>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s-ES" dirty="0"/>
              <a:t>Haga clic para modificar los estilos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s-PE" dirty="0"/>
          </a:p>
        </p:txBody>
      </p:sp>
      <p:sp>
        <p:nvSpPr>
          <p:cNvPr id="4" name="Marcador de fecha 3">
            <a:extLst>
              <a:ext uri="{FF2B5EF4-FFF2-40B4-BE49-F238E27FC236}">
                <a16:creationId xmlns:a16="http://schemas.microsoft.com/office/drawing/2014/main" id="{4C4AEB1E-3134-4B3C-A4F1-234C9662B6E5}"/>
              </a:ext>
            </a:extLst>
          </p:cNvPr>
          <p:cNvSpPr>
            <a:spLocks noGrp="1"/>
          </p:cNvSpPr>
          <p:nvPr>
            <p:ph type="dt" sz="half" idx="10"/>
          </p:nvPr>
        </p:nvSpPr>
        <p:spPr/>
        <p:txBody>
          <a:bodyPr/>
          <a:lstStyle/>
          <a:p>
            <a:fld id="{3AFF51CF-64F0-4CA4-8AD3-DEC3E409CD36}" type="datetimeFigureOut">
              <a:rPr lang="es-PE" smtClean="0"/>
              <a:t>29/10/2026</a:t>
            </a:fld>
            <a:endParaRPr lang="es-PE"/>
          </a:p>
        </p:txBody>
      </p:sp>
      <p:sp>
        <p:nvSpPr>
          <p:cNvPr id="5" name="Marcador de pie de página 4">
            <a:extLst>
              <a:ext uri="{FF2B5EF4-FFF2-40B4-BE49-F238E27FC236}">
                <a16:creationId xmlns:a16="http://schemas.microsoft.com/office/drawing/2014/main" id="{91FDD3F1-CB18-4691-991A-AC53FEAFE3DC}"/>
              </a:ext>
            </a:extLst>
          </p:cNvPr>
          <p:cNvSpPr>
            <a:spLocks noGrp="1"/>
          </p:cNvSpPr>
          <p:nvPr>
            <p:ph type="ftr" sz="quarter" idx="11"/>
          </p:nvPr>
        </p:nvSpPr>
        <p:spPr/>
        <p:txBody>
          <a:bodyPr/>
          <a:lstStyle/>
          <a:p>
            <a:endParaRPr lang="es-PE"/>
          </a:p>
        </p:txBody>
      </p:sp>
      <p:sp>
        <p:nvSpPr>
          <p:cNvPr id="6" name="Marcador de número de diapositiva 5">
            <a:extLst>
              <a:ext uri="{FF2B5EF4-FFF2-40B4-BE49-F238E27FC236}">
                <a16:creationId xmlns:a16="http://schemas.microsoft.com/office/drawing/2014/main" id="{AC27BA3A-527E-4010-A40C-D791D347DB19}"/>
              </a:ext>
            </a:extLst>
          </p:cNvPr>
          <p:cNvSpPr>
            <a:spLocks noGrp="1"/>
          </p:cNvSpPr>
          <p:nvPr>
            <p:ph type="sldNum" sz="quarter" idx="12"/>
          </p:nvPr>
        </p:nvSpPr>
        <p:spPr/>
        <p:txBody>
          <a:bodyPr/>
          <a:lstStyle/>
          <a:p>
            <a:fld id="{70048427-95DE-4E03-A966-DFB42735BE85}" type="slidenum">
              <a:rPr lang="es-PE" smtClean="0"/>
              <a:t>‹Nº›</a:t>
            </a:fld>
            <a:endParaRPr lang="es-PE"/>
          </a:p>
        </p:txBody>
      </p:sp>
    </p:spTree>
    <p:extLst>
      <p:ext uri="{BB962C8B-B14F-4D97-AF65-F5344CB8AC3E}">
        <p14:creationId xmlns:p14="http://schemas.microsoft.com/office/powerpoint/2010/main" val="25371406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281598B-598C-4B27-9CFC-47CBA69C4E14}"/>
              </a:ext>
            </a:extLst>
          </p:cNvPr>
          <p:cNvSpPr>
            <a:spLocks noGrp="1"/>
          </p:cNvSpPr>
          <p:nvPr>
            <p:ph type="title"/>
          </p:nvPr>
        </p:nvSpPr>
        <p:spPr>
          <a:xfrm>
            <a:off x="623888" y="1282700"/>
            <a:ext cx="7886700" cy="2139950"/>
          </a:xfrm>
        </p:spPr>
        <p:txBody>
          <a:bodyPr anchor="b">
            <a:normAutofit/>
          </a:bodyPr>
          <a:lstStyle>
            <a:lvl1pPr>
              <a:defRPr sz="5400">
                <a:solidFill>
                  <a:schemeClr val="bg1"/>
                </a:solidFill>
              </a:defRPr>
            </a:lvl1pPr>
          </a:lstStyle>
          <a:p>
            <a:r>
              <a:rPr lang="es-ES" dirty="0"/>
              <a:t>Haga clic para modificar el estilo de título del patrón</a:t>
            </a:r>
            <a:endParaRPr lang="es-PE" dirty="0"/>
          </a:p>
        </p:txBody>
      </p:sp>
      <p:sp>
        <p:nvSpPr>
          <p:cNvPr id="3" name="Marcador de texto 2">
            <a:extLst>
              <a:ext uri="{FF2B5EF4-FFF2-40B4-BE49-F238E27FC236}">
                <a16:creationId xmlns:a16="http://schemas.microsoft.com/office/drawing/2014/main" id="{973F220E-3DCA-47D7-ADB8-C3C0994D48FD}"/>
              </a:ext>
            </a:extLst>
          </p:cNvPr>
          <p:cNvSpPr>
            <a:spLocks noGrp="1"/>
          </p:cNvSpPr>
          <p:nvPr>
            <p:ph type="body" idx="1"/>
          </p:nvPr>
        </p:nvSpPr>
        <p:spPr>
          <a:xfrm>
            <a:off x="623888" y="3441700"/>
            <a:ext cx="7886700" cy="1125538"/>
          </a:xfrm>
        </p:spPr>
        <p:txBody>
          <a:bodyPr/>
          <a:lstStyle>
            <a:lvl1pPr marL="0" indent="0">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dirty="0"/>
              <a:t>Haga clic para modificar los estilos de texto del patrón</a:t>
            </a:r>
          </a:p>
        </p:txBody>
      </p:sp>
      <p:sp>
        <p:nvSpPr>
          <p:cNvPr id="4" name="Marcador de fecha 3">
            <a:extLst>
              <a:ext uri="{FF2B5EF4-FFF2-40B4-BE49-F238E27FC236}">
                <a16:creationId xmlns:a16="http://schemas.microsoft.com/office/drawing/2014/main" id="{7CDCCB02-5EC3-4C74-9995-B75831DD5CE3}"/>
              </a:ext>
            </a:extLst>
          </p:cNvPr>
          <p:cNvSpPr>
            <a:spLocks noGrp="1"/>
          </p:cNvSpPr>
          <p:nvPr>
            <p:ph type="dt" sz="half" idx="10"/>
          </p:nvPr>
        </p:nvSpPr>
        <p:spPr/>
        <p:txBody>
          <a:bodyPr/>
          <a:lstStyle/>
          <a:p>
            <a:fld id="{3AFF51CF-64F0-4CA4-8AD3-DEC3E409CD36}" type="datetimeFigureOut">
              <a:rPr lang="es-PE" smtClean="0"/>
              <a:t>29/10/2026</a:t>
            </a:fld>
            <a:endParaRPr lang="es-PE"/>
          </a:p>
        </p:txBody>
      </p:sp>
      <p:sp>
        <p:nvSpPr>
          <p:cNvPr id="5" name="Marcador de pie de página 4">
            <a:extLst>
              <a:ext uri="{FF2B5EF4-FFF2-40B4-BE49-F238E27FC236}">
                <a16:creationId xmlns:a16="http://schemas.microsoft.com/office/drawing/2014/main" id="{F6BAF403-75D7-44B3-9A92-50C914C0706B}"/>
              </a:ext>
            </a:extLst>
          </p:cNvPr>
          <p:cNvSpPr>
            <a:spLocks noGrp="1"/>
          </p:cNvSpPr>
          <p:nvPr>
            <p:ph type="ftr" sz="quarter" idx="11"/>
          </p:nvPr>
        </p:nvSpPr>
        <p:spPr/>
        <p:txBody>
          <a:bodyPr/>
          <a:lstStyle/>
          <a:p>
            <a:endParaRPr lang="es-PE"/>
          </a:p>
        </p:txBody>
      </p:sp>
      <p:sp>
        <p:nvSpPr>
          <p:cNvPr id="6" name="Marcador de número de diapositiva 5">
            <a:extLst>
              <a:ext uri="{FF2B5EF4-FFF2-40B4-BE49-F238E27FC236}">
                <a16:creationId xmlns:a16="http://schemas.microsoft.com/office/drawing/2014/main" id="{2361AA8C-EA90-4FD2-97EF-5DEA59C9937D}"/>
              </a:ext>
            </a:extLst>
          </p:cNvPr>
          <p:cNvSpPr>
            <a:spLocks noGrp="1"/>
          </p:cNvSpPr>
          <p:nvPr>
            <p:ph type="sldNum" sz="quarter" idx="12"/>
          </p:nvPr>
        </p:nvSpPr>
        <p:spPr/>
        <p:txBody>
          <a:bodyPr/>
          <a:lstStyle/>
          <a:p>
            <a:fld id="{70048427-95DE-4E03-A966-DFB42735BE85}" type="slidenum">
              <a:rPr lang="es-PE" smtClean="0"/>
              <a:t>‹Nº›</a:t>
            </a:fld>
            <a:endParaRPr lang="es-PE"/>
          </a:p>
        </p:txBody>
      </p:sp>
    </p:spTree>
    <p:extLst>
      <p:ext uri="{BB962C8B-B14F-4D97-AF65-F5344CB8AC3E}">
        <p14:creationId xmlns:p14="http://schemas.microsoft.com/office/powerpoint/2010/main" val="24041821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A578738-7B1A-439E-962A-3EEF15748A5B}"/>
              </a:ext>
            </a:extLst>
          </p:cNvPr>
          <p:cNvSpPr>
            <a:spLocks noGrp="1"/>
          </p:cNvSpPr>
          <p:nvPr>
            <p:ph type="title"/>
          </p:nvPr>
        </p:nvSpPr>
        <p:spPr/>
        <p:txBody>
          <a:bodyPr/>
          <a:lstStyle>
            <a:lvl1pPr>
              <a:defRPr>
                <a:solidFill>
                  <a:schemeClr val="bg1"/>
                </a:solidFill>
              </a:defRPr>
            </a:lvl1pPr>
          </a:lstStyle>
          <a:p>
            <a:r>
              <a:rPr lang="es-ES" dirty="0"/>
              <a:t>Haga clic para modificar el estilo de título del patrón</a:t>
            </a:r>
            <a:endParaRPr lang="es-PE" dirty="0"/>
          </a:p>
        </p:txBody>
      </p:sp>
      <p:sp>
        <p:nvSpPr>
          <p:cNvPr id="3" name="Marcador de contenido 2">
            <a:extLst>
              <a:ext uri="{FF2B5EF4-FFF2-40B4-BE49-F238E27FC236}">
                <a16:creationId xmlns:a16="http://schemas.microsoft.com/office/drawing/2014/main" id="{0E7CE221-07D8-4A03-8857-64CBF2FF8AD6}"/>
              </a:ext>
            </a:extLst>
          </p:cNvPr>
          <p:cNvSpPr>
            <a:spLocks noGrp="1"/>
          </p:cNvSpPr>
          <p:nvPr>
            <p:ph sz="half" idx="1"/>
          </p:nvPr>
        </p:nvSpPr>
        <p:spPr>
          <a:xfrm>
            <a:off x="628650" y="1370013"/>
            <a:ext cx="3867150" cy="3262312"/>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s-ES" dirty="0"/>
              <a:t>Haga clic para modificar los estilos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s-PE" dirty="0"/>
          </a:p>
        </p:txBody>
      </p:sp>
      <p:sp>
        <p:nvSpPr>
          <p:cNvPr id="4" name="Marcador de contenido 3">
            <a:extLst>
              <a:ext uri="{FF2B5EF4-FFF2-40B4-BE49-F238E27FC236}">
                <a16:creationId xmlns:a16="http://schemas.microsoft.com/office/drawing/2014/main" id="{308BC72F-3054-490F-B042-BDD7A0B58113}"/>
              </a:ext>
            </a:extLst>
          </p:cNvPr>
          <p:cNvSpPr>
            <a:spLocks noGrp="1"/>
          </p:cNvSpPr>
          <p:nvPr>
            <p:ph sz="half" idx="2"/>
          </p:nvPr>
        </p:nvSpPr>
        <p:spPr>
          <a:xfrm>
            <a:off x="4648200" y="1370013"/>
            <a:ext cx="3867150" cy="3262312"/>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s-ES" dirty="0"/>
              <a:t>Haga clic para modificar los estilos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s-PE" dirty="0"/>
          </a:p>
        </p:txBody>
      </p:sp>
      <p:sp>
        <p:nvSpPr>
          <p:cNvPr id="5" name="Marcador de fecha 4">
            <a:extLst>
              <a:ext uri="{FF2B5EF4-FFF2-40B4-BE49-F238E27FC236}">
                <a16:creationId xmlns:a16="http://schemas.microsoft.com/office/drawing/2014/main" id="{25235A91-02B6-4244-B9D7-677B338AB106}"/>
              </a:ext>
            </a:extLst>
          </p:cNvPr>
          <p:cNvSpPr>
            <a:spLocks noGrp="1"/>
          </p:cNvSpPr>
          <p:nvPr>
            <p:ph type="dt" sz="half" idx="10"/>
          </p:nvPr>
        </p:nvSpPr>
        <p:spPr/>
        <p:txBody>
          <a:bodyPr/>
          <a:lstStyle/>
          <a:p>
            <a:fld id="{3AFF51CF-64F0-4CA4-8AD3-DEC3E409CD36}" type="datetimeFigureOut">
              <a:rPr lang="es-PE" smtClean="0"/>
              <a:t>29/10/2026</a:t>
            </a:fld>
            <a:endParaRPr lang="es-PE"/>
          </a:p>
        </p:txBody>
      </p:sp>
      <p:sp>
        <p:nvSpPr>
          <p:cNvPr id="6" name="Marcador de pie de página 5">
            <a:extLst>
              <a:ext uri="{FF2B5EF4-FFF2-40B4-BE49-F238E27FC236}">
                <a16:creationId xmlns:a16="http://schemas.microsoft.com/office/drawing/2014/main" id="{687499B8-8C62-4BFF-AB9A-A0671824441F}"/>
              </a:ext>
            </a:extLst>
          </p:cNvPr>
          <p:cNvSpPr>
            <a:spLocks noGrp="1"/>
          </p:cNvSpPr>
          <p:nvPr>
            <p:ph type="ftr" sz="quarter" idx="11"/>
          </p:nvPr>
        </p:nvSpPr>
        <p:spPr/>
        <p:txBody>
          <a:bodyPr/>
          <a:lstStyle/>
          <a:p>
            <a:endParaRPr lang="es-PE"/>
          </a:p>
        </p:txBody>
      </p:sp>
      <p:sp>
        <p:nvSpPr>
          <p:cNvPr id="7" name="Marcador de número de diapositiva 6">
            <a:extLst>
              <a:ext uri="{FF2B5EF4-FFF2-40B4-BE49-F238E27FC236}">
                <a16:creationId xmlns:a16="http://schemas.microsoft.com/office/drawing/2014/main" id="{F738E820-E888-4A5F-9341-4A545BE60590}"/>
              </a:ext>
            </a:extLst>
          </p:cNvPr>
          <p:cNvSpPr>
            <a:spLocks noGrp="1"/>
          </p:cNvSpPr>
          <p:nvPr>
            <p:ph type="sldNum" sz="quarter" idx="12"/>
          </p:nvPr>
        </p:nvSpPr>
        <p:spPr/>
        <p:txBody>
          <a:bodyPr/>
          <a:lstStyle/>
          <a:p>
            <a:fld id="{70048427-95DE-4E03-A966-DFB42735BE85}" type="slidenum">
              <a:rPr lang="es-PE" smtClean="0"/>
              <a:t>‹Nº›</a:t>
            </a:fld>
            <a:endParaRPr lang="es-PE"/>
          </a:p>
        </p:txBody>
      </p:sp>
    </p:spTree>
    <p:extLst>
      <p:ext uri="{BB962C8B-B14F-4D97-AF65-F5344CB8AC3E}">
        <p14:creationId xmlns:p14="http://schemas.microsoft.com/office/powerpoint/2010/main" val="17558052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33440DA-24A5-4B9A-A3AF-A0C7493A4220}"/>
              </a:ext>
            </a:extLst>
          </p:cNvPr>
          <p:cNvSpPr>
            <a:spLocks noGrp="1"/>
          </p:cNvSpPr>
          <p:nvPr>
            <p:ph type="title"/>
          </p:nvPr>
        </p:nvSpPr>
        <p:spPr>
          <a:xfrm>
            <a:off x="630238" y="274638"/>
            <a:ext cx="7886700" cy="993775"/>
          </a:xfrm>
        </p:spPr>
        <p:txBody>
          <a:bodyPr/>
          <a:lstStyle>
            <a:lvl1pPr>
              <a:defRPr>
                <a:solidFill>
                  <a:schemeClr val="bg1"/>
                </a:solidFill>
              </a:defRPr>
            </a:lvl1pPr>
          </a:lstStyle>
          <a:p>
            <a:r>
              <a:rPr lang="es-ES" dirty="0"/>
              <a:t>Haga clic para modificar el estilo de título del patrón</a:t>
            </a:r>
            <a:endParaRPr lang="es-PE" dirty="0"/>
          </a:p>
        </p:txBody>
      </p:sp>
      <p:sp>
        <p:nvSpPr>
          <p:cNvPr id="3" name="Marcador de texto 2">
            <a:extLst>
              <a:ext uri="{FF2B5EF4-FFF2-40B4-BE49-F238E27FC236}">
                <a16:creationId xmlns:a16="http://schemas.microsoft.com/office/drawing/2014/main" id="{F6CA68E8-ABB8-4606-B63A-D9DCF0BC17EE}"/>
              </a:ext>
            </a:extLst>
          </p:cNvPr>
          <p:cNvSpPr>
            <a:spLocks noGrp="1"/>
          </p:cNvSpPr>
          <p:nvPr>
            <p:ph type="body" idx="1"/>
          </p:nvPr>
        </p:nvSpPr>
        <p:spPr>
          <a:xfrm>
            <a:off x="630238" y="1260475"/>
            <a:ext cx="3868737" cy="619125"/>
          </a:xfrm>
        </p:spPr>
        <p:txBody>
          <a:bodyPr anchor="b"/>
          <a:lstStyle>
            <a:lvl1pPr marL="0" indent="0">
              <a:buNone/>
              <a:defRPr sz="24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dirty="0"/>
              <a:t>Haga clic para modificar los estilos de texto del patrón</a:t>
            </a:r>
          </a:p>
        </p:txBody>
      </p:sp>
      <p:sp>
        <p:nvSpPr>
          <p:cNvPr id="4" name="Marcador de contenido 3">
            <a:extLst>
              <a:ext uri="{FF2B5EF4-FFF2-40B4-BE49-F238E27FC236}">
                <a16:creationId xmlns:a16="http://schemas.microsoft.com/office/drawing/2014/main" id="{4E9C1326-A725-48E7-9066-7A0EAAC7DD1F}"/>
              </a:ext>
            </a:extLst>
          </p:cNvPr>
          <p:cNvSpPr>
            <a:spLocks noGrp="1"/>
          </p:cNvSpPr>
          <p:nvPr>
            <p:ph sz="half" idx="2"/>
          </p:nvPr>
        </p:nvSpPr>
        <p:spPr>
          <a:xfrm>
            <a:off x="630238" y="1879600"/>
            <a:ext cx="3868737" cy="276225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s-ES" dirty="0"/>
              <a:t>Haga clic para modificar los estilos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s-PE" dirty="0"/>
          </a:p>
        </p:txBody>
      </p:sp>
      <p:sp>
        <p:nvSpPr>
          <p:cNvPr id="5" name="Marcador de texto 4">
            <a:extLst>
              <a:ext uri="{FF2B5EF4-FFF2-40B4-BE49-F238E27FC236}">
                <a16:creationId xmlns:a16="http://schemas.microsoft.com/office/drawing/2014/main" id="{D6B692FA-3B56-4D5E-900C-08D8BA8DEDFB}"/>
              </a:ext>
            </a:extLst>
          </p:cNvPr>
          <p:cNvSpPr>
            <a:spLocks noGrp="1"/>
          </p:cNvSpPr>
          <p:nvPr>
            <p:ph type="body" sz="quarter" idx="3"/>
          </p:nvPr>
        </p:nvSpPr>
        <p:spPr>
          <a:xfrm>
            <a:off x="4629150" y="1260475"/>
            <a:ext cx="3887788" cy="619125"/>
          </a:xfrm>
        </p:spPr>
        <p:txBody>
          <a:bodyPr anchor="b"/>
          <a:lstStyle>
            <a:lvl1pPr marL="0" indent="0">
              <a:buNone/>
              <a:defRPr sz="24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dirty="0"/>
              <a:t>Haga clic para modificar los estilos de texto del patrón</a:t>
            </a:r>
          </a:p>
        </p:txBody>
      </p:sp>
      <p:sp>
        <p:nvSpPr>
          <p:cNvPr id="6" name="Marcador de contenido 5">
            <a:extLst>
              <a:ext uri="{FF2B5EF4-FFF2-40B4-BE49-F238E27FC236}">
                <a16:creationId xmlns:a16="http://schemas.microsoft.com/office/drawing/2014/main" id="{2FC72652-2864-4B8C-BA9B-850E1048EA7D}"/>
              </a:ext>
            </a:extLst>
          </p:cNvPr>
          <p:cNvSpPr>
            <a:spLocks noGrp="1"/>
          </p:cNvSpPr>
          <p:nvPr>
            <p:ph sz="quarter" idx="4"/>
          </p:nvPr>
        </p:nvSpPr>
        <p:spPr>
          <a:xfrm>
            <a:off x="4629150" y="1879600"/>
            <a:ext cx="3887788" cy="276225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s-ES" dirty="0"/>
              <a:t>Haga clic para modificar los estilos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s-PE" dirty="0"/>
          </a:p>
        </p:txBody>
      </p:sp>
      <p:sp>
        <p:nvSpPr>
          <p:cNvPr id="7" name="Marcador de fecha 6">
            <a:extLst>
              <a:ext uri="{FF2B5EF4-FFF2-40B4-BE49-F238E27FC236}">
                <a16:creationId xmlns:a16="http://schemas.microsoft.com/office/drawing/2014/main" id="{51559EA8-1A34-4AB9-8B63-D671A6DE91EE}"/>
              </a:ext>
            </a:extLst>
          </p:cNvPr>
          <p:cNvSpPr>
            <a:spLocks noGrp="1"/>
          </p:cNvSpPr>
          <p:nvPr>
            <p:ph type="dt" sz="half" idx="10"/>
          </p:nvPr>
        </p:nvSpPr>
        <p:spPr/>
        <p:txBody>
          <a:bodyPr/>
          <a:lstStyle/>
          <a:p>
            <a:fld id="{3AFF51CF-64F0-4CA4-8AD3-DEC3E409CD36}" type="datetimeFigureOut">
              <a:rPr lang="es-PE" smtClean="0"/>
              <a:t>29/10/2026</a:t>
            </a:fld>
            <a:endParaRPr lang="es-PE"/>
          </a:p>
        </p:txBody>
      </p:sp>
      <p:sp>
        <p:nvSpPr>
          <p:cNvPr id="8" name="Marcador de pie de página 7">
            <a:extLst>
              <a:ext uri="{FF2B5EF4-FFF2-40B4-BE49-F238E27FC236}">
                <a16:creationId xmlns:a16="http://schemas.microsoft.com/office/drawing/2014/main" id="{9CC7D912-2322-4D86-9414-F2C6096ED110}"/>
              </a:ext>
            </a:extLst>
          </p:cNvPr>
          <p:cNvSpPr>
            <a:spLocks noGrp="1"/>
          </p:cNvSpPr>
          <p:nvPr>
            <p:ph type="ftr" sz="quarter" idx="11"/>
          </p:nvPr>
        </p:nvSpPr>
        <p:spPr/>
        <p:txBody>
          <a:bodyPr/>
          <a:lstStyle/>
          <a:p>
            <a:endParaRPr lang="es-PE"/>
          </a:p>
        </p:txBody>
      </p:sp>
      <p:sp>
        <p:nvSpPr>
          <p:cNvPr id="9" name="Marcador de número de diapositiva 8">
            <a:extLst>
              <a:ext uri="{FF2B5EF4-FFF2-40B4-BE49-F238E27FC236}">
                <a16:creationId xmlns:a16="http://schemas.microsoft.com/office/drawing/2014/main" id="{432D264B-A6C1-45D6-86EB-B31F76644771}"/>
              </a:ext>
            </a:extLst>
          </p:cNvPr>
          <p:cNvSpPr>
            <a:spLocks noGrp="1"/>
          </p:cNvSpPr>
          <p:nvPr>
            <p:ph type="sldNum" sz="quarter" idx="12"/>
          </p:nvPr>
        </p:nvSpPr>
        <p:spPr/>
        <p:txBody>
          <a:bodyPr/>
          <a:lstStyle/>
          <a:p>
            <a:fld id="{70048427-95DE-4E03-A966-DFB42735BE85}" type="slidenum">
              <a:rPr lang="es-PE" smtClean="0"/>
              <a:t>‹Nº›</a:t>
            </a:fld>
            <a:endParaRPr lang="es-PE"/>
          </a:p>
        </p:txBody>
      </p:sp>
    </p:spTree>
    <p:extLst>
      <p:ext uri="{BB962C8B-B14F-4D97-AF65-F5344CB8AC3E}">
        <p14:creationId xmlns:p14="http://schemas.microsoft.com/office/powerpoint/2010/main" val="36870228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C96B34F-31A4-4616-99A5-84DFC7BC6FA8}"/>
              </a:ext>
            </a:extLst>
          </p:cNvPr>
          <p:cNvSpPr>
            <a:spLocks noGrp="1"/>
          </p:cNvSpPr>
          <p:nvPr>
            <p:ph type="title"/>
          </p:nvPr>
        </p:nvSpPr>
        <p:spPr/>
        <p:txBody>
          <a:bodyPr/>
          <a:lstStyle>
            <a:lvl1pPr>
              <a:defRPr>
                <a:solidFill>
                  <a:schemeClr val="bg1"/>
                </a:solidFill>
              </a:defRPr>
            </a:lvl1pPr>
          </a:lstStyle>
          <a:p>
            <a:r>
              <a:rPr lang="es-ES" dirty="0"/>
              <a:t>Haga clic para modificar el estilo de título del patrón</a:t>
            </a:r>
            <a:endParaRPr lang="es-PE" dirty="0"/>
          </a:p>
        </p:txBody>
      </p:sp>
      <p:sp>
        <p:nvSpPr>
          <p:cNvPr id="3" name="Marcador de fecha 2">
            <a:extLst>
              <a:ext uri="{FF2B5EF4-FFF2-40B4-BE49-F238E27FC236}">
                <a16:creationId xmlns:a16="http://schemas.microsoft.com/office/drawing/2014/main" id="{E8D25D8B-338E-4244-870A-F778032B5051}"/>
              </a:ext>
            </a:extLst>
          </p:cNvPr>
          <p:cNvSpPr>
            <a:spLocks noGrp="1"/>
          </p:cNvSpPr>
          <p:nvPr>
            <p:ph type="dt" sz="half" idx="10"/>
          </p:nvPr>
        </p:nvSpPr>
        <p:spPr/>
        <p:txBody>
          <a:bodyPr/>
          <a:lstStyle/>
          <a:p>
            <a:fld id="{3AFF51CF-64F0-4CA4-8AD3-DEC3E409CD36}" type="datetimeFigureOut">
              <a:rPr lang="es-PE" smtClean="0"/>
              <a:t>29/10/2026</a:t>
            </a:fld>
            <a:endParaRPr lang="es-PE"/>
          </a:p>
        </p:txBody>
      </p:sp>
      <p:sp>
        <p:nvSpPr>
          <p:cNvPr id="4" name="Marcador de pie de página 3">
            <a:extLst>
              <a:ext uri="{FF2B5EF4-FFF2-40B4-BE49-F238E27FC236}">
                <a16:creationId xmlns:a16="http://schemas.microsoft.com/office/drawing/2014/main" id="{F1FAAE59-8742-444A-9BDC-61A4436EB3CC}"/>
              </a:ext>
            </a:extLst>
          </p:cNvPr>
          <p:cNvSpPr>
            <a:spLocks noGrp="1"/>
          </p:cNvSpPr>
          <p:nvPr>
            <p:ph type="ftr" sz="quarter" idx="11"/>
          </p:nvPr>
        </p:nvSpPr>
        <p:spPr/>
        <p:txBody>
          <a:bodyPr/>
          <a:lstStyle/>
          <a:p>
            <a:endParaRPr lang="es-PE"/>
          </a:p>
        </p:txBody>
      </p:sp>
      <p:sp>
        <p:nvSpPr>
          <p:cNvPr id="5" name="Marcador de número de diapositiva 4">
            <a:extLst>
              <a:ext uri="{FF2B5EF4-FFF2-40B4-BE49-F238E27FC236}">
                <a16:creationId xmlns:a16="http://schemas.microsoft.com/office/drawing/2014/main" id="{A4C4960E-9456-4B56-B5BE-4871612521B7}"/>
              </a:ext>
            </a:extLst>
          </p:cNvPr>
          <p:cNvSpPr>
            <a:spLocks noGrp="1"/>
          </p:cNvSpPr>
          <p:nvPr>
            <p:ph type="sldNum" sz="quarter" idx="12"/>
          </p:nvPr>
        </p:nvSpPr>
        <p:spPr/>
        <p:txBody>
          <a:bodyPr/>
          <a:lstStyle/>
          <a:p>
            <a:fld id="{70048427-95DE-4E03-A966-DFB42735BE85}" type="slidenum">
              <a:rPr lang="es-PE" smtClean="0"/>
              <a:t>‹Nº›</a:t>
            </a:fld>
            <a:endParaRPr lang="es-PE"/>
          </a:p>
        </p:txBody>
      </p:sp>
    </p:spTree>
    <p:extLst>
      <p:ext uri="{BB962C8B-B14F-4D97-AF65-F5344CB8AC3E}">
        <p14:creationId xmlns:p14="http://schemas.microsoft.com/office/powerpoint/2010/main" val="10944350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D6842E18-5482-49BD-9B14-267B334218FB}"/>
              </a:ext>
            </a:extLst>
          </p:cNvPr>
          <p:cNvSpPr>
            <a:spLocks noGrp="1"/>
          </p:cNvSpPr>
          <p:nvPr>
            <p:ph type="dt" sz="half" idx="10"/>
          </p:nvPr>
        </p:nvSpPr>
        <p:spPr/>
        <p:txBody>
          <a:bodyPr/>
          <a:lstStyle/>
          <a:p>
            <a:fld id="{3AFF51CF-64F0-4CA4-8AD3-DEC3E409CD36}" type="datetimeFigureOut">
              <a:rPr lang="es-PE" smtClean="0"/>
              <a:t>29/10/2026</a:t>
            </a:fld>
            <a:endParaRPr lang="es-PE"/>
          </a:p>
        </p:txBody>
      </p:sp>
      <p:sp>
        <p:nvSpPr>
          <p:cNvPr id="3" name="Marcador de pie de página 2">
            <a:extLst>
              <a:ext uri="{FF2B5EF4-FFF2-40B4-BE49-F238E27FC236}">
                <a16:creationId xmlns:a16="http://schemas.microsoft.com/office/drawing/2014/main" id="{5D89FF54-9602-4547-A4FD-47F768CA5BF9}"/>
              </a:ext>
            </a:extLst>
          </p:cNvPr>
          <p:cNvSpPr>
            <a:spLocks noGrp="1"/>
          </p:cNvSpPr>
          <p:nvPr>
            <p:ph type="ftr" sz="quarter" idx="11"/>
          </p:nvPr>
        </p:nvSpPr>
        <p:spPr/>
        <p:txBody>
          <a:bodyPr/>
          <a:lstStyle/>
          <a:p>
            <a:endParaRPr lang="es-PE"/>
          </a:p>
        </p:txBody>
      </p:sp>
      <p:sp>
        <p:nvSpPr>
          <p:cNvPr id="4" name="Marcador de número de diapositiva 3">
            <a:extLst>
              <a:ext uri="{FF2B5EF4-FFF2-40B4-BE49-F238E27FC236}">
                <a16:creationId xmlns:a16="http://schemas.microsoft.com/office/drawing/2014/main" id="{71F9ECF5-0D77-4F67-9045-845705EE819D}"/>
              </a:ext>
            </a:extLst>
          </p:cNvPr>
          <p:cNvSpPr>
            <a:spLocks noGrp="1"/>
          </p:cNvSpPr>
          <p:nvPr>
            <p:ph type="sldNum" sz="quarter" idx="12"/>
          </p:nvPr>
        </p:nvSpPr>
        <p:spPr/>
        <p:txBody>
          <a:bodyPr/>
          <a:lstStyle/>
          <a:p>
            <a:fld id="{70048427-95DE-4E03-A966-DFB42735BE85}" type="slidenum">
              <a:rPr lang="es-PE" smtClean="0"/>
              <a:t>‹Nº›</a:t>
            </a:fld>
            <a:endParaRPr lang="es-PE"/>
          </a:p>
        </p:txBody>
      </p:sp>
    </p:spTree>
    <p:extLst>
      <p:ext uri="{BB962C8B-B14F-4D97-AF65-F5344CB8AC3E}">
        <p14:creationId xmlns:p14="http://schemas.microsoft.com/office/powerpoint/2010/main" val="500529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24B549B-22CB-4E4C-B2AB-56744E8CD59B}"/>
              </a:ext>
            </a:extLst>
          </p:cNvPr>
          <p:cNvSpPr>
            <a:spLocks noGrp="1"/>
          </p:cNvSpPr>
          <p:nvPr>
            <p:ph type="title"/>
          </p:nvPr>
        </p:nvSpPr>
        <p:spPr>
          <a:xfrm>
            <a:off x="630238" y="342900"/>
            <a:ext cx="2949575" cy="1200150"/>
          </a:xfrm>
        </p:spPr>
        <p:txBody>
          <a:bodyPr anchor="b"/>
          <a:lstStyle>
            <a:lvl1pPr>
              <a:defRPr sz="3200">
                <a:solidFill>
                  <a:schemeClr val="bg1"/>
                </a:solidFill>
              </a:defRPr>
            </a:lvl1pPr>
          </a:lstStyle>
          <a:p>
            <a:r>
              <a:rPr lang="es-ES" dirty="0"/>
              <a:t>Haga clic para modificar el estilo de título del patrón</a:t>
            </a:r>
            <a:endParaRPr lang="es-PE" dirty="0"/>
          </a:p>
        </p:txBody>
      </p:sp>
      <p:sp>
        <p:nvSpPr>
          <p:cNvPr id="3" name="Marcador de contenido 2">
            <a:extLst>
              <a:ext uri="{FF2B5EF4-FFF2-40B4-BE49-F238E27FC236}">
                <a16:creationId xmlns:a16="http://schemas.microsoft.com/office/drawing/2014/main" id="{7B6A8056-CF3E-4AED-A759-6C6945AAC2E7}"/>
              </a:ext>
            </a:extLst>
          </p:cNvPr>
          <p:cNvSpPr>
            <a:spLocks noGrp="1"/>
          </p:cNvSpPr>
          <p:nvPr>
            <p:ph idx="1"/>
          </p:nvPr>
        </p:nvSpPr>
        <p:spPr>
          <a:xfrm>
            <a:off x="3887788" y="741363"/>
            <a:ext cx="4629150" cy="3654425"/>
          </a:xfrm>
        </p:spPr>
        <p:txBody>
          <a:bodyPr/>
          <a:lstStyle>
            <a:lvl1pPr>
              <a:defRPr sz="3200">
                <a:solidFill>
                  <a:schemeClr val="bg1"/>
                </a:solidFill>
              </a:defRPr>
            </a:lvl1pPr>
            <a:lvl2pPr>
              <a:defRPr sz="2800">
                <a:solidFill>
                  <a:schemeClr val="bg1"/>
                </a:solidFill>
              </a:defRPr>
            </a:lvl2pPr>
            <a:lvl3pPr>
              <a:defRPr sz="2400">
                <a:solidFill>
                  <a:schemeClr val="bg1"/>
                </a:solidFill>
              </a:defRPr>
            </a:lvl3pPr>
            <a:lvl4pPr>
              <a:defRPr sz="2000">
                <a:solidFill>
                  <a:schemeClr val="bg1"/>
                </a:solidFill>
              </a:defRPr>
            </a:lvl4pPr>
            <a:lvl5pPr>
              <a:defRPr sz="2000">
                <a:solidFill>
                  <a:schemeClr val="bg1"/>
                </a:solidFill>
              </a:defRPr>
            </a:lvl5pPr>
            <a:lvl6pPr>
              <a:defRPr sz="2000"/>
            </a:lvl6pPr>
            <a:lvl7pPr>
              <a:defRPr sz="2000"/>
            </a:lvl7pPr>
            <a:lvl8pPr>
              <a:defRPr sz="2000"/>
            </a:lvl8pPr>
            <a:lvl9pPr>
              <a:defRPr sz="2000"/>
            </a:lvl9pPr>
          </a:lstStyle>
          <a:p>
            <a:pPr lvl="0"/>
            <a:r>
              <a:rPr lang="es-ES" dirty="0"/>
              <a:t>Haga clic para modificar los estilos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s-PE" dirty="0"/>
          </a:p>
        </p:txBody>
      </p:sp>
      <p:sp>
        <p:nvSpPr>
          <p:cNvPr id="4" name="Marcador de texto 3">
            <a:extLst>
              <a:ext uri="{FF2B5EF4-FFF2-40B4-BE49-F238E27FC236}">
                <a16:creationId xmlns:a16="http://schemas.microsoft.com/office/drawing/2014/main" id="{11041A36-820F-4D2A-9F2E-A8007800D69E}"/>
              </a:ext>
            </a:extLst>
          </p:cNvPr>
          <p:cNvSpPr>
            <a:spLocks noGrp="1"/>
          </p:cNvSpPr>
          <p:nvPr>
            <p:ph type="body" sz="half" idx="2"/>
          </p:nvPr>
        </p:nvSpPr>
        <p:spPr>
          <a:xfrm>
            <a:off x="630238" y="1543050"/>
            <a:ext cx="2949575" cy="2859088"/>
          </a:xfrm>
        </p:spPr>
        <p:txBody>
          <a:bodyPr/>
          <a:lstStyle>
            <a:lvl1pPr marL="0" indent="0">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dirty="0"/>
              <a:t>Haga clic para modificar los estilos de texto del patrón</a:t>
            </a:r>
          </a:p>
        </p:txBody>
      </p:sp>
      <p:sp>
        <p:nvSpPr>
          <p:cNvPr id="5" name="Marcador de fecha 4">
            <a:extLst>
              <a:ext uri="{FF2B5EF4-FFF2-40B4-BE49-F238E27FC236}">
                <a16:creationId xmlns:a16="http://schemas.microsoft.com/office/drawing/2014/main" id="{D952B4D4-3679-41B7-9802-8D71C68BF64C}"/>
              </a:ext>
            </a:extLst>
          </p:cNvPr>
          <p:cNvSpPr>
            <a:spLocks noGrp="1"/>
          </p:cNvSpPr>
          <p:nvPr>
            <p:ph type="dt" sz="half" idx="10"/>
          </p:nvPr>
        </p:nvSpPr>
        <p:spPr/>
        <p:txBody>
          <a:bodyPr/>
          <a:lstStyle/>
          <a:p>
            <a:fld id="{3AFF51CF-64F0-4CA4-8AD3-DEC3E409CD36}" type="datetimeFigureOut">
              <a:rPr lang="es-PE" smtClean="0"/>
              <a:t>29/10/2026</a:t>
            </a:fld>
            <a:endParaRPr lang="es-PE"/>
          </a:p>
        </p:txBody>
      </p:sp>
      <p:sp>
        <p:nvSpPr>
          <p:cNvPr id="6" name="Marcador de pie de página 5">
            <a:extLst>
              <a:ext uri="{FF2B5EF4-FFF2-40B4-BE49-F238E27FC236}">
                <a16:creationId xmlns:a16="http://schemas.microsoft.com/office/drawing/2014/main" id="{1CFBC9D7-DCE1-4380-8778-C889256BC295}"/>
              </a:ext>
            </a:extLst>
          </p:cNvPr>
          <p:cNvSpPr>
            <a:spLocks noGrp="1"/>
          </p:cNvSpPr>
          <p:nvPr>
            <p:ph type="ftr" sz="quarter" idx="11"/>
          </p:nvPr>
        </p:nvSpPr>
        <p:spPr/>
        <p:txBody>
          <a:bodyPr/>
          <a:lstStyle/>
          <a:p>
            <a:endParaRPr lang="es-PE"/>
          </a:p>
        </p:txBody>
      </p:sp>
      <p:sp>
        <p:nvSpPr>
          <p:cNvPr id="7" name="Marcador de número de diapositiva 6">
            <a:extLst>
              <a:ext uri="{FF2B5EF4-FFF2-40B4-BE49-F238E27FC236}">
                <a16:creationId xmlns:a16="http://schemas.microsoft.com/office/drawing/2014/main" id="{F15D7E04-F29E-49B9-B448-FD91A1827436}"/>
              </a:ext>
            </a:extLst>
          </p:cNvPr>
          <p:cNvSpPr>
            <a:spLocks noGrp="1"/>
          </p:cNvSpPr>
          <p:nvPr>
            <p:ph type="sldNum" sz="quarter" idx="12"/>
          </p:nvPr>
        </p:nvSpPr>
        <p:spPr/>
        <p:txBody>
          <a:bodyPr/>
          <a:lstStyle/>
          <a:p>
            <a:fld id="{70048427-95DE-4E03-A966-DFB42735BE85}" type="slidenum">
              <a:rPr lang="es-PE" smtClean="0"/>
              <a:t>‹Nº›</a:t>
            </a:fld>
            <a:endParaRPr lang="es-PE"/>
          </a:p>
        </p:txBody>
      </p:sp>
    </p:spTree>
    <p:extLst>
      <p:ext uri="{BB962C8B-B14F-4D97-AF65-F5344CB8AC3E}">
        <p14:creationId xmlns:p14="http://schemas.microsoft.com/office/powerpoint/2010/main" val="32295664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F6CA127-5E86-44FE-A2D4-7EC501CDDFE3}"/>
              </a:ext>
            </a:extLst>
          </p:cNvPr>
          <p:cNvSpPr>
            <a:spLocks noGrp="1"/>
          </p:cNvSpPr>
          <p:nvPr>
            <p:ph type="title"/>
          </p:nvPr>
        </p:nvSpPr>
        <p:spPr>
          <a:xfrm>
            <a:off x="630238" y="342900"/>
            <a:ext cx="2949575" cy="1200150"/>
          </a:xfrm>
        </p:spPr>
        <p:txBody>
          <a:bodyPr anchor="b"/>
          <a:lstStyle>
            <a:lvl1pPr>
              <a:defRPr sz="3200">
                <a:solidFill>
                  <a:schemeClr val="bg1"/>
                </a:solidFill>
              </a:defRPr>
            </a:lvl1pPr>
          </a:lstStyle>
          <a:p>
            <a:r>
              <a:rPr lang="es-ES" dirty="0"/>
              <a:t>Haga clic para modificar el estilo de título del patrón</a:t>
            </a:r>
            <a:endParaRPr lang="es-PE" dirty="0"/>
          </a:p>
        </p:txBody>
      </p:sp>
      <p:sp>
        <p:nvSpPr>
          <p:cNvPr id="3" name="Marcador de posición de imagen 2">
            <a:extLst>
              <a:ext uri="{FF2B5EF4-FFF2-40B4-BE49-F238E27FC236}">
                <a16:creationId xmlns:a16="http://schemas.microsoft.com/office/drawing/2014/main" id="{15B1C1CC-C4D6-48EB-BE88-8F0130C0C532}"/>
              </a:ext>
            </a:extLst>
          </p:cNvPr>
          <p:cNvSpPr>
            <a:spLocks noGrp="1"/>
          </p:cNvSpPr>
          <p:nvPr>
            <p:ph type="pic" idx="1"/>
          </p:nvPr>
        </p:nvSpPr>
        <p:spPr>
          <a:xfrm>
            <a:off x="3887788" y="741363"/>
            <a:ext cx="4629150" cy="36544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PE"/>
          </a:p>
        </p:txBody>
      </p:sp>
      <p:sp>
        <p:nvSpPr>
          <p:cNvPr id="4" name="Marcador de texto 3">
            <a:extLst>
              <a:ext uri="{FF2B5EF4-FFF2-40B4-BE49-F238E27FC236}">
                <a16:creationId xmlns:a16="http://schemas.microsoft.com/office/drawing/2014/main" id="{C4F6DD9B-AC10-4CF1-9E37-B015C9DAEDF0}"/>
              </a:ext>
            </a:extLst>
          </p:cNvPr>
          <p:cNvSpPr>
            <a:spLocks noGrp="1"/>
          </p:cNvSpPr>
          <p:nvPr>
            <p:ph type="body" sz="half" idx="2"/>
          </p:nvPr>
        </p:nvSpPr>
        <p:spPr>
          <a:xfrm>
            <a:off x="630238" y="1543050"/>
            <a:ext cx="2949575" cy="2859088"/>
          </a:xfrm>
        </p:spPr>
        <p:txBody>
          <a:bodyPr/>
          <a:lstStyle>
            <a:lvl1pPr marL="0" indent="0">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dirty="0"/>
              <a:t>Haga clic para modificar los estilos de texto del patrón</a:t>
            </a:r>
          </a:p>
        </p:txBody>
      </p:sp>
      <p:sp>
        <p:nvSpPr>
          <p:cNvPr id="5" name="Marcador de fecha 4">
            <a:extLst>
              <a:ext uri="{FF2B5EF4-FFF2-40B4-BE49-F238E27FC236}">
                <a16:creationId xmlns:a16="http://schemas.microsoft.com/office/drawing/2014/main" id="{86BC4422-9AFC-4867-B67F-8F68018DF952}"/>
              </a:ext>
            </a:extLst>
          </p:cNvPr>
          <p:cNvSpPr>
            <a:spLocks noGrp="1"/>
          </p:cNvSpPr>
          <p:nvPr>
            <p:ph type="dt" sz="half" idx="10"/>
          </p:nvPr>
        </p:nvSpPr>
        <p:spPr/>
        <p:txBody>
          <a:bodyPr/>
          <a:lstStyle/>
          <a:p>
            <a:fld id="{3AFF51CF-64F0-4CA4-8AD3-DEC3E409CD36}" type="datetimeFigureOut">
              <a:rPr lang="es-PE" smtClean="0"/>
              <a:t>29/10/2026</a:t>
            </a:fld>
            <a:endParaRPr lang="es-PE"/>
          </a:p>
        </p:txBody>
      </p:sp>
      <p:sp>
        <p:nvSpPr>
          <p:cNvPr id="6" name="Marcador de pie de página 5">
            <a:extLst>
              <a:ext uri="{FF2B5EF4-FFF2-40B4-BE49-F238E27FC236}">
                <a16:creationId xmlns:a16="http://schemas.microsoft.com/office/drawing/2014/main" id="{0B6347F7-991B-4D1B-AD72-5A321ED28348}"/>
              </a:ext>
            </a:extLst>
          </p:cNvPr>
          <p:cNvSpPr>
            <a:spLocks noGrp="1"/>
          </p:cNvSpPr>
          <p:nvPr>
            <p:ph type="ftr" sz="quarter" idx="11"/>
          </p:nvPr>
        </p:nvSpPr>
        <p:spPr/>
        <p:txBody>
          <a:bodyPr/>
          <a:lstStyle/>
          <a:p>
            <a:endParaRPr lang="es-PE"/>
          </a:p>
        </p:txBody>
      </p:sp>
      <p:sp>
        <p:nvSpPr>
          <p:cNvPr id="7" name="Marcador de número de diapositiva 6">
            <a:extLst>
              <a:ext uri="{FF2B5EF4-FFF2-40B4-BE49-F238E27FC236}">
                <a16:creationId xmlns:a16="http://schemas.microsoft.com/office/drawing/2014/main" id="{99780057-51E4-45DA-BAE6-BFB4F38C0A49}"/>
              </a:ext>
            </a:extLst>
          </p:cNvPr>
          <p:cNvSpPr>
            <a:spLocks noGrp="1"/>
          </p:cNvSpPr>
          <p:nvPr>
            <p:ph type="sldNum" sz="quarter" idx="12"/>
          </p:nvPr>
        </p:nvSpPr>
        <p:spPr/>
        <p:txBody>
          <a:bodyPr/>
          <a:lstStyle/>
          <a:p>
            <a:fld id="{70048427-95DE-4E03-A966-DFB42735BE85}" type="slidenum">
              <a:rPr lang="es-PE" smtClean="0"/>
              <a:t>‹Nº›</a:t>
            </a:fld>
            <a:endParaRPr lang="es-PE"/>
          </a:p>
        </p:txBody>
      </p:sp>
    </p:spTree>
    <p:extLst>
      <p:ext uri="{BB962C8B-B14F-4D97-AF65-F5344CB8AC3E}">
        <p14:creationId xmlns:p14="http://schemas.microsoft.com/office/powerpoint/2010/main" val="25781536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A41C08-FC8C-46A2-8F3F-0A19A303D767}"/>
              </a:ext>
            </a:extLst>
          </p:cNvPr>
          <p:cNvSpPr>
            <a:spLocks noGrp="1"/>
          </p:cNvSpPr>
          <p:nvPr>
            <p:ph type="title"/>
          </p:nvPr>
        </p:nvSpPr>
        <p:spPr/>
        <p:txBody>
          <a:bodyPr/>
          <a:lstStyle>
            <a:lvl1pPr>
              <a:defRPr>
                <a:solidFill>
                  <a:schemeClr val="bg1"/>
                </a:solidFill>
              </a:defRPr>
            </a:lvl1pPr>
          </a:lstStyle>
          <a:p>
            <a:r>
              <a:rPr lang="es-ES" dirty="0"/>
              <a:t>Haga clic para modificar el estilo de título del patrón</a:t>
            </a:r>
            <a:endParaRPr lang="es-PE" dirty="0"/>
          </a:p>
        </p:txBody>
      </p:sp>
      <p:sp>
        <p:nvSpPr>
          <p:cNvPr id="3" name="Marcador de texto vertical 2">
            <a:extLst>
              <a:ext uri="{FF2B5EF4-FFF2-40B4-BE49-F238E27FC236}">
                <a16:creationId xmlns:a16="http://schemas.microsoft.com/office/drawing/2014/main" id="{6F7D3FBD-5ED1-4472-9ECB-CF1B6A4BD3C0}"/>
              </a:ext>
            </a:extLst>
          </p:cNvPr>
          <p:cNvSpPr>
            <a:spLocks noGrp="1"/>
          </p:cNvSpPr>
          <p:nvPr>
            <p:ph type="body" orient="vert" idx="1"/>
          </p:nvPr>
        </p:nvSpPr>
        <p:spPr/>
        <p:txBody>
          <a:bodyPr vert="eaVert"/>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s-ES" dirty="0"/>
              <a:t>Haga clic para modificar los estilos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s-PE" dirty="0"/>
          </a:p>
        </p:txBody>
      </p:sp>
      <p:sp>
        <p:nvSpPr>
          <p:cNvPr id="4" name="Marcador de fecha 3">
            <a:extLst>
              <a:ext uri="{FF2B5EF4-FFF2-40B4-BE49-F238E27FC236}">
                <a16:creationId xmlns:a16="http://schemas.microsoft.com/office/drawing/2014/main" id="{9F4B94CA-9828-4210-9F7A-5601DF2380A0}"/>
              </a:ext>
            </a:extLst>
          </p:cNvPr>
          <p:cNvSpPr>
            <a:spLocks noGrp="1"/>
          </p:cNvSpPr>
          <p:nvPr>
            <p:ph type="dt" sz="half" idx="10"/>
          </p:nvPr>
        </p:nvSpPr>
        <p:spPr/>
        <p:txBody>
          <a:bodyPr/>
          <a:lstStyle/>
          <a:p>
            <a:fld id="{3AFF51CF-64F0-4CA4-8AD3-DEC3E409CD36}" type="datetimeFigureOut">
              <a:rPr lang="es-PE" smtClean="0"/>
              <a:t>29/10/2026</a:t>
            </a:fld>
            <a:endParaRPr lang="es-PE"/>
          </a:p>
        </p:txBody>
      </p:sp>
      <p:sp>
        <p:nvSpPr>
          <p:cNvPr id="5" name="Marcador de pie de página 4">
            <a:extLst>
              <a:ext uri="{FF2B5EF4-FFF2-40B4-BE49-F238E27FC236}">
                <a16:creationId xmlns:a16="http://schemas.microsoft.com/office/drawing/2014/main" id="{F9581484-1074-4FB0-BE24-40318CB22EFF}"/>
              </a:ext>
            </a:extLst>
          </p:cNvPr>
          <p:cNvSpPr>
            <a:spLocks noGrp="1"/>
          </p:cNvSpPr>
          <p:nvPr>
            <p:ph type="ftr" sz="quarter" idx="11"/>
          </p:nvPr>
        </p:nvSpPr>
        <p:spPr/>
        <p:txBody>
          <a:bodyPr/>
          <a:lstStyle/>
          <a:p>
            <a:endParaRPr lang="es-PE"/>
          </a:p>
        </p:txBody>
      </p:sp>
      <p:sp>
        <p:nvSpPr>
          <p:cNvPr id="6" name="Marcador de número de diapositiva 5">
            <a:extLst>
              <a:ext uri="{FF2B5EF4-FFF2-40B4-BE49-F238E27FC236}">
                <a16:creationId xmlns:a16="http://schemas.microsoft.com/office/drawing/2014/main" id="{ED335402-1326-4089-831F-643CD429EDCC}"/>
              </a:ext>
            </a:extLst>
          </p:cNvPr>
          <p:cNvSpPr>
            <a:spLocks noGrp="1"/>
          </p:cNvSpPr>
          <p:nvPr>
            <p:ph type="sldNum" sz="quarter" idx="12"/>
          </p:nvPr>
        </p:nvSpPr>
        <p:spPr/>
        <p:txBody>
          <a:bodyPr/>
          <a:lstStyle/>
          <a:p>
            <a:fld id="{70048427-95DE-4E03-A966-DFB42735BE85}" type="slidenum">
              <a:rPr lang="es-PE" smtClean="0"/>
              <a:t>‹Nº›</a:t>
            </a:fld>
            <a:endParaRPr lang="es-PE"/>
          </a:p>
        </p:txBody>
      </p:sp>
    </p:spTree>
    <p:extLst>
      <p:ext uri="{BB962C8B-B14F-4D97-AF65-F5344CB8AC3E}">
        <p14:creationId xmlns:p14="http://schemas.microsoft.com/office/powerpoint/2010/main" val="14597436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46B482EF-21D8-47A3-89B6-75BE1CE1495B}"/>
              </a:ext>
            </a:extLst>
          </p:cNvPr>
          <p:cNvSpPr>
            <a:spLocks noGrp="1"/>
          </p:cNvSpPr>
          <p:nvPr>
            <p:ph type="title" orient="vert"/>
          </p:nvPr>
        </p:nvSpPr>
        <p:spPr>
          <a:xfrm>
            <a:off x="6543675" y="274638"/>
            <a:ext cx="1971675" cy="4357687"/>
          </a:xfrm>
        </p:spPr>
        <p:txBody>
          <a:bodyPr vert="eaVert"/>
          <a:lstStyle>
            <a:lvl1pPr>
              <a:defRPr>
                <a:solidFill>
                  <a:schemeClr val="bg1"/>
                </a:solidFill>
              </a:defRPr>
            </a:lvl1pPr>
          </a:lstStyle>
          <a:p>
            <a:r>
              <a:rPr lang="es-ES" dirty="0"/>
              <a:t>Haga clic para modificar el estilo de título del patrón</a:t>
            </a:r>
            <a:endParaRPr lang="es-PE" dirty="0"/>
          </a:p>
        </p:txBody>
      </p:sp>
      <p:sp>
        <p:nvSpPr>
          <p:cNvPr id="3" name="Marcador de texto vertical 2">
            <a:extLst>
              <a:ext uri="{FF2B5EF4-FFF2-40B4-BE49-F238E27FC236}">
                <a16:creationId xmlns:a16="http://schemas.microsoft.com/office/drawing/2014/main" id="{97ED21FC-2E1B-41EE-B9CA-396EE05C1744}"/>
              </a:ext>
            </a:extLst>
          </p:cNvPr>
          <p:cNvSpPr>
            <a:spLocks noGrp="1"/>
          </p:cNvSpPr>
          <p:nvPr>
            <p:ph type="body" orient="vert" idx="1"/>
          </p:nvPr>
        </p:nvSpPr>
        <p:spPr>
          <a:xfrm>
            <a:off x="628650" y="274638"/>
            <a:ext cx="5762625" cy="4357687"/>
          </a:xfrm>
        </p:spPr>
        <p:txBody>
          <a:bodyPr vert="eaVert"/>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s-ES" dirty="0"/>
              <a:t>Haga clic para modificar los estilos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s-PE" dirty="0"/>
          </a:p>
        </p:txBody>
      </p:sp>
      <p:sp>
        <p:nvSpPr>
          <p:cNvPr id="4" name="Marcador de fecha 3">
            <a:extLst>
              <a:ext uri="{FF2B5EF4-FFF2-40B4-BE49-F238E27FC236}">
                <a16:creationId xmlns:a16="http://schemas.microsoft.com/office/drawing/2014/main" id="{0D90A934-D236-40F6-9C0C-7C20EC93A18B}"/>
              </a:ext>
            </a:extLst>
          </p:cNvPr>
          <p:cNvSpPr>
            <a:spLocks noGrp="1"/>
          </p:cNvSpPr>
          <p:nvPr>
            <p:ph type="dt" sz="half" idx="10"/>
          </p:nvPr>
        </p:nvSpPr>
        <p:spPr/>
        <p:txBody>
          <a:bodyPr/>
          <a:lstStyle/>
          <a:p>
            <a:fld id="{3AFF51CF-64F0-4CA4-8AD3-DEC3E409CD36}" type="datetimeFigureOut">
              <a:rPr lang="es-PE" smtClean="0"/>
              <a:t>29/10/2026</a:t>
            </a:fld>
            <a:endParaRPr lang="es-PE"/>
          </a:p>
        </p:txBody>
      </p:sp>
      <p:sp>
        <p:nvSpPr>
          <p:cNvPr id="5" name="Marcador de pie de página 4">
            <a:extLst>
              <a:ext uri="{FF2B5EF4-FFF2-40B4-BE49-F238E27FC236}">
                <a16:creationId xmlns:a16="http://schemas.microsoft.com/office/drawing/2014/main" id="{E54AE539-9AF5-48FE-898A-76588C6CD466}"/>
              </a:ext>
            </a:extLst>
          </p:cNvPr>
          <p:cNvSpPr>
            <a:spLocks noGrp="1"/>
          </p:cNvSpPr>
          <p:nvPr>
            <p:ph type="ftr" sz="quarter" idx="11"/>
          </p:nvPr>
        </p:nvSpPr>
        <p:spPr/>
        <p:txBody>
          <a:bodyPr/>
          <a:lstStyle/>
          <a:p>
            <a:endParaRPr lang="es-PE"/>
          </a:p>
        </p:txBody>
      </p:sp>
      <p:sp>
        <p:nvSpPr>
          <p:cNvPr id="6" name="Marcador de número de diapositiva 5">
            <a:extLst>
              <a:ext uri="{FF2B5EF4-FFF2-40B4-BE49-F238E27FC236}">
                <a16:creationId xmlns:a16="http://schemas.microsoft.com/office/drawing/2014/main" id="{9B6D1479-051F-4B6E-8FC1-877A7E8182A7}"/>
              </a:ext>
            </a:extLst>
          </p:cNvPr>
          <p:cNvSpPr>
            <a:spLocks noGrp="1"/>
          </p:cNvSpPr>
          <p:nvPr>
            <p:ph type="sldNum" sz="quarter" idx="12"/>
          </p:nvPr>
        </p:nvSpPr>
        <p:spPr/>
        <p:txBody>
          <a:bodyPr/>
          <a:lstStyle/>
          <a:p>
            <a:fld id="{70048427-95DE-4E03-A966-DFB42735BE85}" type="slidenum">
              <a:rPr lang="es-PE" smtClean="0"/>
              <a:t>‹Nº›</a:t>
            </a:fld>
            <a:endParaRPr lang="es-PE"/>
          </a:p>
        </p:txBody>
      </p:sp>
    </p:spTree>
    <p:extLst>
      <p:ext uri="{BB962C8B-B14F-4D97-AF65-F5344CB8AC3E}">
        <p14:creationId xmlns:p14="http://schemas.microsoft.com/office/powerpoint/2010/main" val="403002729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Diapositiva de título">
  <p:cSld name="1_Diapositiva de título">
    <p:spTree>
      <p:nvGrpSpPr>
        <p:cNvPr id="1" name="Shape 15"/>
        <p:cNvGrpSpPr/>
        <p:nvPr/>
      </p:nvGrpSpPr>
      <p:grpSpPr>
        <a:xfrm>
          <a:off x="0" y="0"/>
          <a:ext cx="0" cy="0"/>
          <a:chOff x="0" y="0"/>
          <a:chExt cx="0" cy="0"/>
        </a:xfrm>
      </p:grpSpPr>
      <p:sp>
        <p:nvSpPr>
          <p:cNvPr id="17" name="Google Shape;17;p48"/>
          <p:cNvSpPr txBox="1">
            <a:spLocks noGrp="1"/>
          </p:cNvSpPr>
          <p:nvPr>
            <p:ph type="ctrTitle"/>
          </p:nvPr>
        </p:nvSpPr>
        <p:spPr>
          <a:xfrm>
            <a:off x="457200" y="1937148"/>
            <a:ext cx="7772400" cy="1102519"/>
          </a:xfrm>
          <a:prstGeom prst="rect">
            <a:avLst/>
          </a:prstGeom>
          <a:noFill/>
          <a:ln w="9525" cap="flat" cmpd="sng">
            <a:solidFill>
              <a:srgbClr val="4F81BD"/>
            </a:solidFill>
            <a:prstDash val="solid"/>
            <a:miter lim="800000"/>
            <a:headEnd type="none" w="sm" len="sm"/>
            <a:tailEnd type="none" w="sm" len="sm"/>
          </a:ln>
        </p:spPr>
        <p:txBody>
          <a:bodyPr spcFirstLastPara="1" wrap="square" lIns="91425" tIns="45700" rIns="91425" bIns="45700" anchor="ctr" anchorCtr="0">
            <a:noAutofit/>
          </a:bodyPr>
          <a:lstStyle>
            <a:lvl1pPr lvl="0" algn="ctr">
              <a:spcBef>
                <a:spcPts val="0"/>
              </a:spcBef>
              <a:spcAft>
                <a:spcPts val="0"/>
              </a:spcAft>
              <a:buSzPts val="1400"/>
              <a:buNone/>
              <a:defRPr>
                <a:solidFill>
                  <a:schemeClr val="bg1"/>
                </a:solidFill>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dirty="0"/>
          </a:p>
        </p:txBody>
      </p:sp>
    </p:spTree>
    <p:extLst>
      <p:ext uri="{BB962C8B-B14F-4D97-AF65-F5344CB8AC3E}">
        <p14:creationId xmlns:p14="http://schemas.microsoft.com/office/powerpoint/2010/main" val="280812883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userDrawn="1">
  <p:cSld name="Title and Content_blanco">
    <p:spTree>
      <p:nvGrpSpPr>
        <p:cNvPr id="1" name=""/>
        <p:cNvGrpSpPr/>
        <p:nvPr/>
      </p:nvGrpSpPr>
      <p:grpSpPr>
        <a:xfrm>
          <a:off x="0" y="0"/>
          <a:ext cx="0" cy="0"/>
          <a:chOff x="0" y="0"/>
          <a:chExt cx="0" cy="0"/>
        </a:xfrm>
      </p:grpSpPr>
      <p:sp>
        <p:nvSpPr>
          <p:cNvPr id="4" name="Slide Number Placeholder 6"/>
          <p:cNvSpPr>
            <a:spLocks noGrp="1"/>
          </p:cNvSpPr>
          <p:nvPr>
            <p:ph type="sldNum" sz="quarter" idx="4"/>
          </p:nvPr>
        </p:nvSpPr>
        <p:spPr>
          <a:xfrm>
            <a:off x="8473441" y="4954263"/>
            <a:ext cx="676910" cy="189238"/>
          </a:xfrm>
          <a:prstGeom prst="rect">
            <a:avLst/>
          </a:prstGeom>
        </p:spPr>
        <p:txBody>
          <a:bodyPr vert="horz" lIns="91440" tIns="45720" rIns="91440" bIns="45720" rtlCol="0" anchor="ctr"/>
          <a:lstStyle>
            <a:lvl1pPr algn="r">
              <a:defRPr sz="525">
                <a:solidFill>
                  <a:schemeClr val="tx2"/>
                </a:solidFill>
              </a:defRPr>
            </a:lvl1pPr>
          </a:lstStyle>
          <a:p>
            <a:pPr defTabSz="385763">
              <a:defRPr/>
            </a:pPr>
            <a:fld id="{2F5CCB13-0A32-4557-88E9-079F0C330695}" type="slidenum">
              <a:rPr lang="en-US" kern="0" smtClean="0">
                <a:solidFill>
                  <a:srgbClr val="595959"/>
                </a:solidFill>
              </a:rPr>
              <a:pPr defTabSz="385763">
                <a:defRPr/>
              </a:pPr>
              <a:t>‹Nº›</a:t>
            </a:fld>
            <a:endParaRPr lang="en-US" kern="0" dirty="0">
              <a:solidFill>
                <a:srgbClr val="595959"/>
              </a:solidFill>
            </a:endParaRPr>
          </a:p>
        </p:txBody>
      </p:sp>
      <p:sp>
        <p:nvSpPr>
          <p:cNvPr id="5" name="Rectangle 3"/>
          <p:cNvSpPr>
            <a:spLocks noGrp="1" noChangeArrowheads="1"/>
          </p:cNvSpPr>
          <p:nvPr>
            <p:ph idx="1"/>
          </p:nvPr>
        </p:nvSpPr>
        <p:spPr bwMode="auto">
          <a:xfrm>
            <a:off x="144065" y="798944"/>
            <a:ext cx="8853286" cy="4155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gn="just">
              <a:lnSpc>
                <a:spcPct val="100000"/>
              </a:lnSpc>
              <a:spcBef>
                <a:spcPts val="600"/>
              </a:spcBef>
              <a:spcAft>
                <a:spcPts val="600"/>
              </a:spcAft>
              <a:buFont typeface="Wingdings" panose="05000000000000000000" pitchFamily="2" charset="2"/>
              <a:buChar char="§"/>
              <a:defRPr>
                <a:solidFill>
                  <a:srgbClr val="000000"/>
                </a:solidFill>
              </a:defRPr>
            </a:lvl1pPr>
            <a:lvl2pPr algn="just">
              <a:lnSpc>
                <a:spcPct val="100000"/>
              </a:lnSpc>
              <a:spcBef>
                <a:spcPts val="300"/>
              </a:spcBef>
              <a:spcAft>
                <a:spcPts val="300"/>
              </a:spcAft>
              <a:defRPr>
                <a:solidFill>
                  <a:srgbClr val="000000"/>
                </a:solidFill>
              </a:defRPr>
            </a:lvl2pPr>
            <a:lvl3pPr algn="just">
              <a:lnSpc>
                <a:spcPct val="100000"/>
              </a:lnSpc>
              <a:spcBef>
                <a:spcPts val="300"/>
              </a:spcBef>
              <a:spcAft>
                <a:spcPts val="300"/>
              </a:spcAft>
              <a:defRPr>
                <a:solidFill>
                  <a:srgbClr val="000000"/>
                </a:solidFill>
              </a:defRPr>
            </a:lvl3pPr>
            <a:lvl4pPr algn="just">
              <a:lnSpc>
                <a:spcPct val="100000"/>
              </a:lnSpc>
              <a:spcBef>
                <a:spcPts val="300"/>
              </a:spcBef>
              <a:spcAft>
                <a:spcPts val="300"/>
              </a:spcAft>
              <a:defRPr>
                <a:solidFill>
                  <a:srgbClr val="000000"/>
                </a:solidFill>
              </a:defRPr>
            </a:lvl4pPr>
          </a:lstStyle>
          <a:p>
            <a:pPr lvl="0"/>
            <a:r>
              <a:rPr lang="en-US" dirty="0">
                <a:sym typeface="Arial" pitchFamily="34" charset="0"/>
              </a:rPr>
              <a:t>Click to edit Master text styles</a:t>
            </a:r>
          </a:p>
          <a:p>
            <a:pPr lvl="1"/>
            <a:r>
              <a:rPr lang="en-US" dirty="0">
                <a:sym typeface="Arial" pitchFamily="34" charset="0"/>
              </a:rPr>
              <a:t>Second level</a:t>
            </a:r>
          </a:p>
          <a:p>
            <a:pPr lvl="2"/>
            <a:r>
              <a:rPr lang="en-US" dirty="0">
                <a:sym typeface="Arial" pitchFamily="34" charset="0"/>
              </a:rPr>
              <a:t>Third level</a:t>
            </a:r>
          </a:p>
          <a:p>
            <a:pPr lvl="3"/>
            <a:r>
              <a:rPr lang="en-US" dirty="0">
                <a:sym typeface="Arial" pitchFamily="34" charset="0"/>
              </a:rPr>
              <a:t>Fourth level</a:t>
            </a:r>
          </a:p>
        </p:txBody>
      </p:sp>
      <p:sp>
        <p:nvSpPr>
          <p:cNvPr id="6" name="Rectangle 2"/>
          <p:cNvSpPr>
            <a:spLocks noGrp="1" noChangeArrowheads="1"/>
          </p:cNvSpPr>
          <p:nvPr>
            <p:ph type="title"/>
          </p:nvPr>
        </p:nvSpPr>
        <p:spPr bwMode="auto">
          <a:xfrm>
            <a:off x="1" y="41393"/>
            <a:ext cx="9144000"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a:bodyPr>
          <a:lstStyle>
            <a:lvl1pPr>
              <a:lnSpc>
                <a:spcPct val="100000"/>
              </a:lnSpc>
              <a:defRPr sz="3200" b="1">
                <a:solidFill>
                  <a:srgbClr val="FF0000"/>
                </a:solidFill>
              </a:defRPr>
            </a:lvl1pPr>
          </a:lstStyle>
          <a:p>
            <a:pPr lvl="0"/>
            <a:r>
              <a:rPr lang="en-US" dirty="0">
                <a:sym typeface="Arial" pitchFamily="34" charset="0"/>
              </a:rPr>
              <a:t>Click to edit Master title style</a:t>
            </a:r>
          </a:p>
        </p:txBody>
      </p:sp>
    </p:spTree>
    <p:extLst>
      <p:ext uri="{BB962C8B-B14F-4D97-AF65-F5344CB8AC3E}">
        <p14:creationId xmlns:p14="http://schemas.microsoft.com/office/powerpoint/2010/main" val="239159185"/>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4" name="Slide Number Placeholder 6"/>
          <p:cNvSpPr>
            <a:spLocks noGrp="1"/>
          </p:cNvSpPr>
          <p:nvPr>
            <p:ph type="sldNum" sz="quarter" idx="4"/>
          </p:nvPr>
        </p:nvSpPr>
        <p:spPr>
          <a:xfrm>
            <a:off x="8473441" y="4954263"/>
            <a:ext cx="676910" cy="189238"/>
          </a:xfrm>
          <a:prstGeom prst="rect">
            <a:avLst/>
          </a:prstGeom>
        </p:spPr>
        <p:txBody>
          <a:bodyPr vert="horz" lIns="91440" tIns="45720" rIns="91440" bIns="45720" rtlCol="0" anchor="ctr"/>
          <a:lstStyle>
            <a:lvl1pPr algn="r">
              <a:defRPr sz="525">
                <a:solidFill>
                  <a:schemeClr val="tx2"/>
                </a:solidFill>
              </a:defRPr>
            </a:lvl1pPr>
          </a:lstStyle>
          <a:p>
            <a:pPr defTabSz="385763">
              <a:defRPr/>
            </a:pPr>
            <a:fld id="{2F5CCB13-0A32-4557-88E9-079F0C330695}" type="slidenum">
              <a:rPr lang="en-US" kern="0" smtClean="0">
                <a:solidFill>
                  <a:srgbClr val="595959"/>
                </a:solidFill>
              </a:rPr>
              <a:pPr defTabSz="385763">
                <a:defRPr/>
              </a:pPr>
              <a:t>‹Nº›</a:t>
            </a:fld>
            <a:endParaRPr lang="en-US" kern="0" dirty="0">
              <a:solidFill>
                <a:srgbClr val="595959"/>
              </a:solidFill>
            </a:endParaRPr>
          </a:p>
        </p:txBody>
      </p:sp>
      <p:sp>
        <p:nvSpPr>
          <p:cNvPr id="5" name="Rectangle 3"/>
          <p:cNvSpPr>
            <a:spLocks noGrp="1" noChangeArrowheads="1"/>
          </p:cNvSpPr>
          <p:nvPr>
            <p:ph idx="1"/>
          </p:nvPr>
        </p:nvSpPr>
        <p:spPr bwMode="auto">
          <a:xfrm>
            <a:off x="144065" y="798944"/>
            <a:ext cx="8853286" cy="4155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nSpc>
                <a:spcPct val="100000"/>
              </a:lnSpc>
              <a:spcBef>
                <a:spcPts val="600"/>
              </a:spcBef>
              <a:spcAft>
                <a:spcPts val="600"/>
              </a:spcAft>
              <a:buFont typeface="Wingdings" panose="05000000000000000000" pitchFamily="2" charset="2"/>
              <a:buChar char="§"/>
              <a:defRPr>
                <a:solidFill>
                  <a:srgbClr val="000000"/>
                </a:solidFill>
              </a:defRPr>
            </a:lvl1pPr>
            <a:lvl2pPr>
              <a:lnSpc>
                <a:spcPct val="100000"/>
              </a:lnSpc>
              <a:spcBef>
                <a:spcPts val="300"/>
              </a:spcBef>
              <a:spcAft>
                <a:spcPts val="300"/>
              </a:spcAft>
              <a:defRPr>
                <a:solidFill>
                  <a:srgbClr val="000000"/>
                </a:solidFill>
              </a:defRPr>
            </a:lvl2pPr>
            <a:lvl3pPr>
              <a:lnSpc>
                <a:spcPct val="100000"/>
              </a:lnSpc>
              <a:spcBef>
                <a:spcPts val="300"/>
              </a:spcBef>
              <a:spcAft>
                <a:spcPts val="300"/>
              </a:spcAft>
              <a:defRPr>
                <a:solidFill>
                  <a:srgbClr val="000000"/>
                </a:solidFill>
              </a:defRPr>
            </a:lvl3pPr>
            <a:lvl4pPr>
              <a:lnSpc>
                <a:spcPct val="100000"/>
              </a:lnSpc>
              <a:spcBef>
                <a:spcPts val="300"/>
              </a:spcBef>
              <a:spcAft>
                <a:spcPts val="300"/>
              </a:spcAft>
              <a:defRPr>
                <a:solidFill>
                  <a:srgbClr val="000000"/>
                </a:solidFill>
              </a:defRPr>
            </a:lvl4pPr>
          </a:lstStyle>
          <a:p>
            <a:pPr lvl="0"/>
            <a:r>
              <a:rPr lang="en-US">
                <a:sym typeface="Arial" pitchFamily="34" charset="0"/>
              </a:rPr>
              <a:t>Click to edit Master text styles</a:t>
            </a:r>
          </a:p>
          <a:p>
            <a:pPr lvl="1"/>
            <a:r>
              <a:rPr lang="en-US">
                <a:sym typeface="Arial" pitchFamily="34" charset="0"/>
              </a:rPr>
              <a:t>Second level</a:t>
            </a:r>
          </a:p>
          <a:p>
            <a:pPr lvl="2"/>
            <a:r>
              <a:rPr lang="en-US">
                <a:sym typeface="Arial" pitchFamily="34" charset="0"/>
              </a:rPr>
              <a:t>Third level</a:t>
            </a:r>
          </a:p>
          <a:p>
            <a:pPr lvl="3"/>
            <a:r>
              <a:rPr lang="en-US">
                <a:sym typeface="Arial" pitchFamily="34" charset="0"/>
              </a:rPr>
              <a:t>Fourth level</a:t>
            </a:r>
          </a:p>
        </p:txBody>
      </p:sp>
      <p:sp>
        <p:nvSpPr>
          <p:cNvPr id="6" name="Rectangle 2"/>
          <p:cNvSpPr>
            <a:spLocks noGrp="1" noChangeArrowheads="1"/>
          </p:cNvSpPr>
          <p:nvPr>
            <p:ph type="title"/>
          </p:nvPr>
        </p:nvSpPr>
        <p:spPr bwMode="auto">
          <a:xfrm>
            <a:off x="1" y="41393"/>
            <a:ext cx="9144000"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nSpc>
                <a:spcPct val="100000"/>
              </a:lnSpc>
              <a:defRPr sz="2400"/>
            </a:lvl1pPr>
          </a:lstStyle>
          <a:p>
            <a:pPr lvl="0"/>
            <a:r>
              <a:rPr lang="en-US">
                <a:sym typeface="Arial" pitchFamily="34" charset="0"/>
              </a:rPr>
              <a:t>Click to edit Master title style</a:t>
            </a:r>
            <a:endParaRPr lang="en-US" dirty="0">
              <a:sym typeface="Arial" pitchFamily="34" charset="0"/>
            </a:endParaRPr>
          </a:p>
        </p:txBody>
      </p:sp>
    </p:spTree>
    <p:extLst>
      <p:ext uri="{BB962C8B-B14F-4D97-AF65-F5344CB8AC3E}">
        <p14:creationId xmlns:p14="http://schemas.microsoft.com/office/powerpoint/2010/main" val="2150448375"/>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2004E88C-DC1E-42CE-80B0-2A888CE46D8C}"/>
              </a:ext>
            </a:extLst>
          </p:cNvPr>
          <p:cNvSpPr>
            <a:spLocks noGrp="1"/>
          </p:cNvSpPr>
          <p:nvPr>
            <p:ph type="title"/>
          </p:nvPr>
        </p:nvSpPr>
        <p:spPr>
          <a:xfrm>
            <a:off x="628650" y="274638"/>
            <a:ext cx="7886700" cy="993775"/>
          </a:xfrm>
          <a:prstGeom prst="rect">
            <a:avLst/>
          </a:prstGeom>
        </p:spPr>
        <p:txBody>
          <a:bodyPr vert="horz" lIns="91440" tIns="45720" rIns="91440" bIns="45720" rtlCol="0" anchor="ctr">
            <a:normAutofit/>
          </a:bodyPr>
          <a:lstStyle/>
          <a:p>
            <a:r>
              <a:rPr lang="es-ES"/>
              <a:t>Haga clic para modificar el estilo de título del patrón</a:t>
            </a:r>
            <a:endParaRPr lang="es-PE"/>
          </a:p>
        </p:txBody>
      </p:sp>
      <p:sp>
        <p:nvSpPr>
          <p:cNvPr id="3" name="Marcador de texto 2">
            <a:extLst>
              <a:ext uri="{FF2B5EF4-FFF2-40B4-BE49-F238E27FC236}">
                <a16:creationId xmlns:a16="http://schemas.microsoft.com/office/drawing/2014/main" id="{5D45F2D1-94DA-47F7-8407-50A640FDCD87}"/>
              </a:ext>
            </a:extLst>
          </p:cNvPr>
          <p:cNvSpPr>
            <a:spLocks noGrp="1"/>
          </p:cNvSpPr>
          <p:nvPr>
            <p:ph type="body" idx="1"/>
          </p:nvPr>
        </p:nvSpPr>
        <p:spPr>
          <a:xfrm>
            <a:off x="628650" y="1370013"/>
            <a:ext cx="7886700" cy="3262312"/>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fecha 3">
            <a:extLst>
              <a:ext uri="{FF2B5EF4-FFF2-40B4-BE49-F238E27FC236}">
                <a16:creationId xmlns:a16="http://schemas.microsoft.com/office/drawing/2014/main" id="{2E1030F8-37E7-4152-8A95-E48FB822418C}"/>
              </a:ext>
            </a:extLst>
          </p:cNvPr>
          <p:cNvSpPr>
            <a:spLocks noGrp="1"/>
          </p:cNvSpPr>
          <p:nvPr>
            <p:ph type="dt" sz="half" idx="2"/>
          </p:nvPr>
        </p:nvSpPr>
        <p:spPr>
          <a:xfrm>
            <a:off x="628650" y="4767263"/>
            <a:ext cx="2057400" cy="274637"/>
          </a:xfrm>
          <a:prstGeom prst="rect">
            <a:avLst/>
          </a:prstGeom>
        </p:spPr>
        <p:txBody>
          <a:bodyPr vert="horz" lIns="91440" tIns="45720" rIns="91440" bIns="45720" rtlCol="0" anchor="ctr"/>
          <a:lstStyle>
            <a:lvl1pPr algn="l">
              <a:defRPr sz="1200">
                <a:solidFill>
                  <a:schemeClr val="tx1">
                    <a:tint val="75000"/>
                  </a:schemeClr>
                </a:solidFill>
              </a:defRPr>
            </a:lvl1pPr>
          </a:lstStyle>
          <a:p>
            <a:fld id="{3AFF51CF-64F0-4CA4-8AD3-DEC3E409CD36}" type="datetimeFigureOut">
              <a:rPr lang="es-PE" smtClean="0"/>
              <a:t>29/10/2026</a:t>
            </a:fld>
            <a:endParaRPr lang="es-PE"/>
          </a:p>
        </p:txBody>
      </p:sp>
      <p:sp>
        <p:nvSpPr>
          <p:cNvPr id="5" name="Marcador de pie de página 4">
            <a:extLst>
              <a:ext uri="{FF2B5EF4-FFF2-40B4-BE49-F238E27FC236}">
                <a16:creationId xmlns:a16="http://schemas.microsoft.com/office/drawing/2014/main" id="{16C773D1-EC72-4342-B518-6A024DF8DBC7}"/>
              </a:ext>
            </a:extLst>
          </p:cNvPr>
          <p:cNvSpPr>
            <a:spLocks noGrp="1"/>
          </p:cNvSpPr>
          <p:nvPr>
            <p:ph type="ftr" sz="quarter" idx="3"/>
          </p:nvPr>
        </p:nvSpPr>
        <p:spPr>
          <a:xfrm>
            <a:off x="3028950" y="4767263"/>
            <a:ext cx="3086100" cy="274637"/>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PE"/>
          </a:p>
        </p:txBody>
      </p:sp>
      <p:sp>
        <p:nvSpPr>
          <p:cNvPr id="6" name="Marcador de número de diapositiva 5">
            <a:extLst>
              <a:ext uri="{FF2B5EF4-FFF2-40B4-BE49-F238E27FC236}">
                <a16:creationId xmlns:a16="http://schemas.microsoft.com/office/drawing/2014/main" id="{0955D7B3-E7AC-438C-B32E-EC01ED6DD571}"/>
              </a:ext>
            </a:extLst>
          </p:cNvPr>
          <p:cNvSpPr>
            <a:spLocks noGrp="1"/>
          </p:cNvSpPr>
          <p:nvPr>
            <p:ph type="sldNum" sz="quarter" idx="4"/>
          </p:nvPr>
        </p:nvSpPr>
        <p:spPr>
          <a:xfrm>
            <a:off x="6457950" y="4767263"/>
            <a:ext cx="2057400" cy="274637"/>
          </a:xfrm>
          <a:prstGeom prst="rect">
            <a:avLst/>
          </a:prstGeom>
        </p:spPr>
        <p:txBody>
          <a:bodyPr vert="horz" lIns="91440" tIns="45720" rIns="91440" bIns="45720" rtlCol="0" anchor="ctr"/>
          <a:lstStyle>
            <a:lvl1pPr algn="r">
              <a:defRPr sz="1200">
                <a:solidFill>
                  <a:schemeClr val="tx1">
                    <a:tint val="75000"/>
                  </a:schemeClr>
                </a:solidFill>
              </a:defRPr>
            </a:lvl1pPr>
          </a:lstStyle>
          <a:p>
            <a:fld id="{70048427-95DE-4E03-A966-DFB42735BE85}" type="slidenum">
              <a:rPr lang="es-PE" smtClean="0"/>
              <a:t>‹Nº›</a:t>
            </a:fld>
            <a:endParaRPr lang="es-PE"/>
          </a:p>
        </p:txBody>
      </p:sp>
      <p:pic>
        <p:nvPicPr>
          <p:cNvPr id="7" name="Google Shape;16;p48">
            <a:extLst>
              <a:ext uri="{FF2B5EF4-FFF2-40B4-BE49-F238E27FC236}">
                <a16:creationId xmlns:a16="http://schemas.microsoft.com/office/drawing/2014/main" id="{AF1CA722-51CF-4B51-B984-265195C2BBCA}"/>
              </a:ext>
            </a:extLst>
          </p:cNvPr>
          <p:cNvPicPr preferRelativeResize="0"/>
          <p:nvPr userDrawn="1"/>
        </p:nvPicPr>
        <p:blipFill rotWithShape="1">
          <a:blip r:embed="rId16">
            <a:alphaModFix/>
          </a:blip>
          <a:srcRect l="25516" t="21265" r="10732" b="19208"/>
          <a:stretch/>
        </p:blipFill>
        <p:spPr>
          <a:xfrm>
            <a:off x="0" y="-44054"/>
            <a:ext cx="9251950" cy="5183982"/>
          </a:xfrm>
          <a:prstGeom prst="rect">
            <a:avLst/>
          </a:prstGeom>
          <a:noFill/>
          <a:ln>
            <a:noFill/>
          </a:ln>
        </p:spPr>
      </p:pic>
    </p:spTree>
    <p:extLst>
      <p:ext uri="{BB962C8B-B14F-4D97-AF65-F5344CB8AC3E}">
        <p14:creationId xmlns:p14="http://schemas.microsoft.com/office/powerpoint/2010/main" val="2573066203"/>
      </p:ext>
    </p:extLst>
  </p:cSld>
  <p:clrMap bg1="lt1" tx1="dk1" bg2="lt2" tx2="dk2" accent1="accent1" accent2="accent2" accent3="accent3" accent4="accent4" accent5="accent5" accent6="accent6" hlink="hlink" folHlink="folHlink"/>
  <p:sldLayoutIdLst>
    <p:sldLayoutId id="2147484034" r:id="rId1"/>
    <p:sldLayoutId id="2147484035" r:id="rId2"/>
    <p:sldLayoutId id="2147484036" r:id="rId3"/>
    <p:sldLayoutId id="2147484037" r:id="rId4"/>
    <p:sldLayoutId id="2147484038" r:id="rId5"/>
    <p:sldLayoutId id="2147484039" r:id="rId6"/>
    <p:sldLayoutId id="2147484040" r:id="rId7"/>
    <p:sldLayoutId id="2147484041" r:id="rId8"/>
    <p:sldLayoutId id="2147484042" r:id="rId9"/>
    <p:sldLayoutId id="2147484043" r:id="rId10"/>
    <p:sldLayoutId id="2147484044" r:id="rId11"/>
    <p:sldLayoutId id="2147484045" r:id="rId12"/>
    <p:sldLayoutId id="2147484046" r:id="rId13"/>
    <p:sldLayoutId id="2147484048"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P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3.xml"/><Relationship Id="rId1" Type="http://schemas.openxmlformats.org/officeDocument/2006/relationships/tags" Target="../tags/tag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xml"/><Relationship Id="rId1" Type="http://schemas.openxmlformats.org/officeDocument/2006/relationships/tags" Target="../tags/tag3.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xml"/><Relationship Id="rId1" Type="http://schemas.openxmlformats.org/officeDocument/2006/relationships/tags" Target="../tags/tag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2.xml"/><Relationship Id="rId1" Type="http://schemas.openxmlformats.org/officeDocument/2006/relationships/slideLayout" Target="../slideLayouts/slideLayout13.xml"/><Relationship Id="rId4" Type="http://schemas.openxmlformats.org/officeDocument/2006/relationships/image" Target="../media/image9.png"/></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4.xml"/><Relationship Id="rId1" Type="http://schemas.openxmlformats.org/officeDocument/2006/relationships/slideLayout" Target="../slideLayouts/slideLayout13.xml"/><Relationship Id="rId4" Type="http://schemas.openxmlformats.org/officeDocument/2006/relationships/image" Target="../media/image12.png"/></Relationships>
</file>

<file path=ppt/slides/_rels/slide2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5.xml"/><Relationship Id="rId1" Type="http://schemas.openxmlformats.org/officeDocument/2006/relationships/slideLayout" Target="../slideLayouts/slideLayout13.xml"/><Relationship Id="rId4" Type="http://schemas.openxmlformats.org/officeDocument/2006/relationships/image" Target="../media/image14.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8.xml"/><Relationship Id="rId1" Type="http://schemas.openxmlformats.org/officeDocument/2006/relationships/slideLayout" Target="../slideLayouts/slideLayout13.xml"/><Relationship Id="rId4" Type="http://schemas.openxmlformats.org/officeDocument/2006/relationships/image" Target="../media/image16.png"/></Relationships>
</file>

<file path=ppt/slides/_rels/slide2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9.xml"/><Relationship Id="rId1" Type="http://schemas.openxmlformats.org/officeDocument/2006/relationships/slideLayout" Target="../slideLayouts/slideLayout13.xml"/><Relationship Id="rId4" Type="http://schemas.openxmlformats.org/officeDocument/2006/relationships/image" Target="../media/image18.png"/></Relationships>
</file>

<file path=ppt/slides/_rels/slide3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0.xml"/><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sp>
        <p:nvSpPr>
          <p:cNvPr id="72" name="Google Shape;72;p1"/>
          <p:cNvSpPr txBox="1">
            <a:spLocks noGrp="1"/>
          </p:cNvSpPr>
          <p:nvPr>
            <p:ph type="ctrTitle"/>
          </p:nvPr>
        </p:nvSpPr>
        <p:spPr>
          <a:xfrm>
            <a:off x="1044889" y="1844733"/>
            <a:ext cx="6941225" cy="1687576"/>
          </a:xfrm>
          <a:prstGeom prst="rect">
            <a:avLst/>
          </a:prstGeom>
          <a:noFill/>
          <a:ln>
            <a:noFill/>
          </a:ln>
        </p:spPr>
        <p:txBody>
          <a:bodyPr spcFirstLastPara="1" vert="horz" wrap="square" lIns="68569" tIns="34275" rIns="68569" bIns="34275" numCol="1" anchor="ctr" anchorCtr="0" compatLnSpc="1">
            <a:prstTxWarp prst="textNoShape">
              <a:avLst/>
            </a:prstTxWarp>
            <a:noAutofit/>
          </a:bodyPr>
          <a:lstStyle/>
          <a:p>
            <a:pPr algn="ctr">
              <a:spcBef>
                <a:spcPts val="0"/>
              </a:spcBef>
              <a:spcAft>
                <a:spcPts val="0"/>
              </a:spcAft>
            </a:pPr>
            <a:r>
              <a:rPr lang="es-PE" sz="3000" i="1" dirty="0">
                <a:solidFill>
                  <a:schemeClr val="lt1"/>
                </a:solidFill>
                <a:latin typeface="Arial"/>
                <a:ea typeface="Arial"/>
                <a:cs typeface="Arial"/>
                <a:sym typeface="Arial"/>
              </a:rPr>
              <a:t>REDES Y COMUNICACIONES</a:t>
            </a:r>
            <a:br>
              <a:rPr lang="es-PE" sz="3000" i="1" dirty="0">
                <a:solidFill>
                  <a:schemeClr val="lt1"/>
                </a:solidFill>
                <a:latin typeface="Arial"/>
                <a:ea typeface="Arial"/>
                <a:cs typeface="Arial"/>
                <a:sym typeface="Arial"/>
              </a:rPr>
            </a:br>
            <a:r>
              <a:rPr lang="es-PE" sz="1500" i="1" dirty="0">
                <a:solidFill>
                  <a:schemeClr val="lt1"/>
                </a:solidFill>
                <a:latin typeface="Arial"/>
                <a:ea typeface="Arial"/>
                <a:cs typeface="Arial"/>
                <a:sym typeface="Arial"/>
              </a:rPr>
              <a:t>Ingeniería de Sistemas de Información</a:t>
            </a:r>
            <a:br>
              <a:rPr lang="es-PE" sz="1500" i="1" dirty="0">
                <a:solidFill>
                  <a:schemeClr val="lt1"/>
                </a:solidFill>
                <a:latin typeface="Arial"/>
                <a:ea typeface="Arial"/>
                <a:cs typeface="Arial"/>
                <a:sym typeface="Arial"/>
              </a:rPr>
            </a:br>
            <a:r>
              <a:rPr lang="es-PE" sz="1500" i="1" dirty="0">
                <a:solidFill>
                  <a:schemeClr val="lt1"/>
                </a:solidFill>
                <a:latin typeface="Arial"/>
                <a:ea typeface="Arial"/>
                <a:cs typeface="Arial"/>
                <a:sym typeface="Arial"/>
              </a:rPr>
              <a:t>2026-2</a:t>
            </a:r>
            <a:br>
              <a:rPr lang="es-PE" sz="1500" i="1" dirty="0">
                <a:solidFill>
                  <a:schemeClr val="lt1"/>
                </a:solidFill>
                <a:latin typeface="Arial"/>
                <a:ea typeface="Arial"/>
                <a:cs typeface="Arial"/>
                <a:sym typeface="Arial"/>
              </a:rPr>
            </a:br>
            <a:br>
              <a:rPr lang="es-PE" sz="1500" i="1" dirty="0">
                <a:solidFill>
                  <a:schemeClr val="lt1"/>
                </a:solidFill>
                <a:latin typeface="Arial"/>
                <a:ea typeface="Arial"/>
                <a:cs typeface="Arial"/>
                <a:sym typeface="Arial"/>
              </a:rPr>
            </a:br>
            <a:br>
              <a:rPr lang="es-PE" sz="1500" i="1" dirty="0">
                <a:solidFill>
                  <a:schemeClr val="lt1"/>
                </a:solidFill>
                <a:latin typeface="Arial"/>
                <a:ea typeface="Arial"/>
                <a:cs typeface="Arial"/>
                <a:sym typeface="Arial"/>
              </a:rPr>
            </a:br>
            <a:r>
              <a:rPr lang="es-PE" sz="1500" i="1" dirty="0">
                <a:solidFill>
                  <a:schemeClr val="lt1"/>
                </a:solidFill>
                <a:latin typeface="Arial"/>
                <a:ea typeface="Arial"/>
                <a:cs typeface="Arial"/>
                <a:sym typeface="Arial"/>
              </a:rPr>
              <a:t>Docentes del curso</a:t>
            </a:r>
            <a:endParaRPr dirty="0"/>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34"/>
          <p:cNvSpPr>
            <a:spLocks noGrp="1" noChangeArrowheads="1"/>
          </p:cNvSpPr>
          <p:nvPr>
            <p:ph idx="1"/>
          </p:nvPr>
        </p:nvSpPr>
        <p:spPr/>
        <p:txBody>
          <a:bodyPr>
            <a:normAutofit/>
          </a:bodyPr>
          <a:lstStyle/>
          <a:p>
            <a:pPr marL="114300" indent="0">
              <a:buNone/>
            </a:pPr>
            <a:r>
              <a:rPr lang="es-PE" sz="1200" dirty="0">
                <a:latin typeface="Arial" panose="020B0604020202020204" pitchFamily="34" charset="0"/>
                <a:cs typeface="Arial" panose="020B0604020202020204" pitchFamily="34" charset="0"/>
              </a:rPr>
              <a:t>Al finalizar la unidad el alumno entiende la importancia de los protocolos de enrutamiento, identifica las tecnologías WAN y puertos TCP/UDP, así como comprende y configura las políticas de seguridad básica en un </a:t>
            </a:r>
            <a:r>
              <a:rPr lang="es-PE" sz="1200" dirty="0" err="1">
                <a:latin typeface="Arial" panose="020B0604020202020204" pitchFamily="34" charset="0"/>
                <a:cs typeface="Arial" panose="020B0604020202020204" pitchFamily="34" charset="0"/>
              </a:rPr>
              <a:t>router</a:t>
            </a:r>
            <a:r>
              <a:rPr lang="es-PE" sz="1200" dirty="0">
                <a:latin typeface="Arial" panose="020B0604020202020204" pitchFamily="34" charset="0"/>
                <a:cs typeface="Arial" panose="020B0604020202020204" pitchFamily="34" charset="0"/>
              </a:rPr>
              <a:t>.</a:t>
            </a:r>
          </a:p>
          <a:p>
            <a:pPr marL="333375" lvl="3" indent="0">
              <a:spcBef>
                <a:spcPts val="0"/>
              </a:spcBef>
              <a:spcAft>
                <a:spcPts val="0"/>
              </a:spcAft>
              <a:buNone/>
            </a:pPr>
            <a:endParaRPr lang="es-419" sz="3600" dirty="0"/>
          </a:p>
          <a:p>
            <a:pPr marL="333375" lvl="3" indent="0">
              <a:spcBef>
                <a:spcPts val="0"/>
              </a:spcBef>
              <a:spcAft>
                <a:spcPts val="0"/>
              </a:spcAft>
              <a:buNone/>
            </a:pPr>
            <a:endParaRPr lang="es-419" sz="1900" dirty="0"/>
          </a:p>
          <a:p>
            <a:pPr marL="333375" lvl="3" indent="0">
              <a:spcBef>
                <a:spcPts val="0"/>
              </a:spcBef>
              <a:spcAft>
                <a:spcPts val="0"/>
              </a:spcAft>
              <a:buNone/>
            </a:pPr>
            <a:endParaRPr lang="es-419" sz="1500" dirty="0"/>
          </a:p>
          <a:p>
            <a:pPr marL="114300" indent="0">
              <a:buNone/>
            </a:pPr>
            <a:endParaRPr lang="es-PE" sz="1600" b="1" u="sng" dirty="0">
              <a:latin typeface="Arial" panose="020B0604020202020204" pitchFamily="34" charset="0"/>
              <a:cs typeface="Arial" panose="020B0604020202020204" pitchFamily="34" charset="0"/>
            </a:endParaRPr>
          </a:p>
        </p:txBody>
      </p:sp>
      <p:sp>
        <p:nvSpPr>
          <p:cNvPr id="4098" name="Rectangle 33"/>
          <p:cNvSpPr>
            <a:spLocks noGrp="1" noChangeArrowheads="1"/>
          </p:cNvSpPr>
          <p:nvPr>
            <p:ph type="title"/>
          </p:nvPr>
        </p:nvSpPr>
        <p:spPr/>
        <p:txBody>
          <a:bodyPr>
            <a:normAutofit fontScale="90000"/>
          </a:bodyPr>
          <a:lstStyle/>
          <a:p>
            <a:pPr eaLnBrk="1" hangingPunct="1"/>
            <a:r>
              <a:rPr lang="es-ES" sz="3200" dirty="0">
                <a:effectLst>
                  <a:outerShdw blurRad="38100" dist="38100" dir="2700000" algn="tl">
                    <a:srgbClr val="000000">
                      <a:alpha val="43137"/>
                    </a:srgbClr>
                  </a:outerShdw>
                </a:effectLst>
              </a:rPr>
              <a:t>UNIDAD </a:t>
            </a:r>
            <a:r>
              <a:rPr lang="es-ES" dirty="0">
                <a:effectLst>
                  <a:outerShdw blurRad="38100" dist="38100" dir="2700000" algn="tl">
                    <a:srgbClr val="000000">
                      <a:alpha val="43137"/>
                    </a:srgbClr>
                  </a:outerShdw>
                </a:effectLst>
              </a:rPr>
              <a:t>04: </a:t>
            </a:r>
            <a:r>
              <a:rPr lang="es-PE" dirty="0">
                <a:effectLst>
                  <a:outerShdw blurRad="38100" dist="38100" dir="2700000" algn="tl">
                    <a:srgbClr val="000000">
                      <a:alpha val="43137"/>
                    </a:srgbClr>
                  </a:outerShdw>
                </a:effectLst>
              </a:rPr>
              <a:t>Enrutamiento, Tecnologías WAN y Seguridad</a:t>
            </a:r>
            <a:endParaRPr lang="es-ES" dirty="0">
              <a:effectLst>
                <a:outerShdw blurRad="38100" dist="38100" dir="2700000" algn="tl">
                  <a:srgbClr val="000000">
                    <a:alpha val="43137"/>
                  </a:srgbClr>
                </a:outerShdw>
              </a:effectLst>
            </a:endParaRPr>
          </a:p>
        </p:txBody>
      </p:sp>
      <p:sp>
        <p:nvSpPr>
          <p:cNvPr id="2" name="CuadroTexto 1">
            <a:extLst>
              <a:ext uri="{FF2B5EF4-FFF2-40B4-BE49-F238E27FC236}">
                <a16:creationId xmlns:a16="http://schemas.microsoft.com/office/drawing/2014/main" id="{3566DB5A-8FFE-4E17-8AC1-FCE0856715DC}"/>
              </a:ext>
            </a:extLst>
          </p:cNvPr>
          <p:cNvSpPr txBox="1"/>
          <p:nvPr/>
        </p:nvSpPr>
        <p:spPr>
          <a:xfrm>
            <a:off x="225175" y="1371560"/>
            <a:ext cx="7430746" cy="1277273"/>
          </a:xfrm>
          <a:prstGeom prst="rect">
            <a:avLst/>
          </a:prstGeom>
          <a:noFill/>
        </p:spPr>
        <p:txBody>
          <a:bodyPr wrap="square" rtlCol="0">
            <a:spAutoFit/>
          </a:bodyPr>
          <a:lstStyle/>
          <a:p>
            <a:pPr marL="114300" indent="0">
              <a:buNone/>
            </a:pPr>
            <a:r>
              <a:rPr lang="es-PE" sz="1100" b="1" u="sng" dirty="0">
                <a:latin typeface="Arial" panose="020B0604020202020204" pitchFamily="34" charset="0"/>
                <a:cs typeface="Arial" panose="020B0604020202020204" pitchFamily="34" charset="0"/>
              </a:rPr>
              <a:t>Temas</a:t>
            </a:r>
          </a:p>
          <a:p>
            <a:pPr marL="333375" lvl="3" indent="0">
              <a:spcBef>
                <a:spcPts val="0"/>
              </a:spcBef>
              <a:spcAft>
                <a:spcPts val="0"/>
              </a:spcAft>
              <a:buNone/>
            </a:pPr>
            <a:r>
              <a:rPr lang="es-ES" sz="1100" b="1" dirty="0"/>
              <a:t>10.1 </a:t>
            </a:r>
            <a:r>
              <a:rPr lang="es-ES" sz="1100" b="1" dirty="0" err="1"/>
              <a:t>Routing</a:t>
            </a:r>
            <a:r>
              <a:rPr lang="es-ES" sz="1100" b="1" dirty="0"/>
              <a:t> dinámico</a:t>
            </a:r>
          </a:p>
          <a:p>
            <a:pPr marL="333375" lvl="3" indent="0">
              <a:spcBef>
                <a:spcPts val="0"/>
              </a:spcBef>
              <a:spcAft>
                <a:spcPts val="0"/>
              </a:spcAft>
              <a:buNone/>
            </a:pPr>
            <a:r>
              <a:rPr lang="es-ES" sz="1100" dirty="0"/>
              <a:t>10.1.1 Distancia Administrativa</a:t>
            </a:r>
          </a:p>
          <a:p>
            <a:pPr marL="333375" lvl="3">
              <a:spcBef>
                <a:spcPts val="0"/>
              </a:spcBef>
              <a:spcAft>
                <a:spcPts val="0"/>
              </a:spcAft>
            </a:pPr>
            <a:r>
              <a:rPr lang="es-ES" sz="1100" dirty="0"/>
              <a:t>10.1. 2 Enrutamiento dinámico</a:t>
            </a:r>
          </a:p>
          <a:p>
            <a:pPr marL="333375" lvl="3">
              <a:spcBef>
                <a:spcPts val="0"/>
              </a:spcBef>
              <a:spcAft>
                <a:spcPts val="0"/>
              </a:spcAft>
            </a:pPr>
            <a:r>
              <a:rPr lang="es-ES" sz="1100" dirty="0"/>
              <a:t>10.1. 3 Comparación entre enrutamiento estático y dinámico</a:t>
            </a:r>
          </a:p>
          <a:p>
            <a:pPr marL="333375" lvl="3">
              <a:spcBef>
                <a:spcPts val="0"/>
              </a:spcBef>
              <a:spcAft>
                <a:spcPts val="0"/>
              </a:spcAft>
            </a:pPr>
            <a:r>
              <a:rPr lang="es-ES" sz="1100" dirty="0"/>
              <a:t>10.1. 4 Protocolo RIPv2 </a:t>
            </a:r>
          </a:p>
          <a:p>
            <a:pPr marL="333375" lvl="3">
              <a:spcBef>
                <a:spcPts val="0"/>
              </a:spcBef>
              <a:spcAft>
                <a:spcPts val="0"/>
              </a:spcAft>
            </a:pPr>
            <a:endParaRPr lang="es-ES" sz="1100" dirty="0"/>
          </a:p>
        </p:txBody>
      </p:sp>
    </p:spTree>
    <p:extLst>
      <p:ext uri="{BB962C8B-B14F-4D97-AF65-F5344CB8AC3E}">
        <p14:creationId xmlns:p14="http://schemas.microsoft.com/office/powerpoint/2010/main" val="183642107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34">
            <a:extLst>
              <a:ext uri="{FF2B5EF4-FFF2-40B4-BE49-F238E27FC236}">
                <a16:creationId xmlns:a16="http://schemas.microsoft.com/office/drawing/2014/main" id="{C5A446DA-42DD-4999-982F-8874DC1B0C49}"/>
              </a:ext>
            </a:extLst>
          </p:cNvPr>
          <p:cNvSpPr txBox="1">
            <a:spLocks noChangeArrowheads="1"/>
          </p:cNvSpPr>
          <p:nvPr/>
        </p:nvSpPr>
        <p:spPr bwMode="auto">
          <a:xfrm>
            <a:off x="230451" y="678931"/>
            <a:ext cx="8431618" cy="4345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gn="l" defTabSz="684213" rtl="0" eaLnBrk="1" fontAlgn="base" hangingPunct="1">
              <a:lnSpc>
                <a:spcPct val="100000"/>
              </a:lnSpc>
              <a:spcBef>
                <a:spcPts val="600"/>
              </a:spcBef>
              <a:spcAft>
                <a:spcPts val="600"/>
              </a:spcAft>
              <a:buClr>
                <a:schemeClr val="tx2"/>
              </a:buClr>
              <a:buSzPct val="90000"/>
              <a:buFont typeface="Wingdings" panose="05000000000000000000" pitchFamily="2" charset="2"/>
              <a:buChar char="§"/>
              <a:defRPr lang="en-US" sz="1500" kern="1200">
                <a:solidFill>
                  <a:srgbClr val="000000"/>
                </a:solidFill>
                <a:latin typeface="+mn-lt"/>
                <a:ea typeface="ＭＳ Ｐゴシック" charset="0"/>
                <a:cs typeface="CiscoSans"/>
              </a:defRPr>
            </a:lvl1pPr>
            <a:lvl2pPr marL="358775" indent="-215900" algn="l" defTabSz="684213" rtl="0" eaLnBrk="1" fontAlgn="base" hangingPunct="1">
              <a:lnSpc>
                <a:spcPct val="100000"/>
              </a:lnSpc>
              <a:spcBef>
                <a:spcPts val="300"/>
              </a:spcBef>
              <a:spcAft>
                <a:spcPts val="300"/>
              </a:spcAft>
              <a:buClr>
                <a:schemeClr val="tx2"/>
              </a:buClr>
              <a:buFont typeface="Arial" charset="0"/>
              <a:buChar char="•"/>
              <a:defRPr lang="en-US" sz="1400" kern="1200">
                <a:solidFill>
                  <a:srgbClr val="000000"/>
                </a:solidFill>
                <a:latin typeface="+mn-lt"/>
                <a:ea typeface="ＭＳ Ｐゴシック" charset="0"/>
                <a:cs typeface="CiscoSans"/>
              </a:defRPr>
            </a:lvl2pPr>
            <a:lvl3pPr marL="431800" indent="-169863" algn="l" defTabSz="684213" rtl="0" eaLnBrk="1" fontAlgn="base" hangingPunct="1">
              <a:lnSpc>
                <a:spcPct val="100000"/>
              </a:lnSpc>
              <a:spcBef>
                <a:spcPts val="300"/>
              </a:spcBef>
              <a:spcAft>
                <a:spcPts val="300"/>
              </a:spcAft>
              <a:buFont typeface="Arial" charset="0"/>
              <a:buChar char="•"/>
              <a:defRPr lang="en-US" sz="1200" kern="1200">
                <a:solidFill>
                  <a:srgbClr val="000000"/>
                </a:solidFill>
                <a:latin typeface="+mn-lt"/>
                <a:ea typeface="ＭＳ Ｐゴシック" charset="0"/>
                <a:cs typeface="CiscoSans"/>
              </a:defRPr>
            </a:lvl3pPr>
            <a:lvl4pPr marL="503238" indent="-169863" algn="l" defTabSz="684213" rtl="0" eaLnBrk="1" fontAlgn="base" hangingPunct="1">
              <a:lnSpc>
                <a:spcPct val="100000"/>
              </a:lnSpc>
              <a:spcBef>
                <a:spcPts val="300"/>
              </a:spcBef>
              <a:spcAft>
                <a:spcPts val="300"/>
              </a:spcAft>
              <a:buFont typeface="Arial" charset="0"/>
              <a:buChar char="•"/>
              <a:defRPr lang="en-US" sz="1100" kern="1200">
                <a:solidFill>
                  <a:srgbClr val="000000"/>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0" indent="0" algn="just">
              <a:buNone/>
            </a:pPr>
            <a:r>
              <a:rPr lang="es-PE" sz="1600" dirty="0">
                <a:latin typeface="CiscoSans ExtraLight"/>
              </a:rPr>
              <a:t>Al finalizar la semana, el alumno será capaz de explicar:</a:t>
            </a:r>
          </a:p>
          <a:p>
            <a:pPr lvl="1" algn="just"/>
            <a:r>
              <a:rPr lang="es-MX" sz="1600" dirty="0">
                <a:latin typeface="CiscoSans ExtraLight"/>
              </a:rPr>
              <a:t>Conocer los conceptos de enrutamiento dinámico.</a:t>
            </a:r>
          </a:p>
          <a:p>
            <a:pPr lvl="1" algn="just"/>
            <a:r>
              <a:rPr lang="es-MX" sz="1600" dirty="0">
                <a:latin typeface="CiscoSans ExtraLight"/>
              </a:rPr>
              <a:t>Configurar el protocolo de enrutamiento RIPv2</a:t>
            </a:r>
          </a:p>
          <a:p>
            <a:pPr lvl="1" algn="just"/>
            <a:r>
              <a:rPr lang="es-419" sz="1600" dirty="0">
                <a:latin typeface="CiscoSans ExtraLight"/>
              </a:rPr>
              <a:t>Configurar y propagar ruta predeterminada con RIP</a:t>
            </a:r>
          </a:p>
          <a:p>
            <a:pPr marL="142875" lvl="1" indent="0" algn="just">
              <a:buNone/>
            </a:pPr>
            <a:endParaRPr lang="es-MX" sz="1600" dirty="0">
              <a:latin typeface="CiscoSans ExtraLight"/>
            </a:endParaRPr>
          </a:p>
        </p:txBody>
      </p:sp>
      <p:sp>
        <p:nvSpPr>
          <p:cNvPr id="8" name="Rectangle 33">
            <a:extLst>
              <a:ext uri="{FF2B5EF4-FFF2-40B4-BE49-F238E27FC236}">
                <a16:creationId xmlns:a16="http://schemas.microsoft.com/office/drawing/2014/main" id="{A08714A1-67A4-43E7-9F7E-592EEFAF044B}"/>
              </a:ext>
            </a:extLst>
          </p:cNvPr>
          <p:cNvSpPr txBox="1">
            <a:spLocks noChangeArrowheads="1"/>
          </p:cNvSpPr>
          <p:nvPr/>
        </p:nvSpPr>
        <p:spPr bwMode="auto">
          <a:xfrm>
            <a:off x="1" y="25006"/>
            <a:ext cx="9144000"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s-ES" sz="3200" b="1" dirty="0">
                <a:solidFill>
                  <a:srgbClr val="FF0000"/>
                </a:solidFill>
              </a:rPr>
              <a:t>Objetivos de la SEMANA 10</a:t>
            </a:r>
          </a:p>
        </p:txBody>
      </p:sp>
    </p:spTree>
    <p:custDataLst>
      <p:tags r:id="rId1"/>
    </p:custDataLst>
    <p:extLst>
      <p:ext uri="{BB962C8B-B14F-4D97-AF65-F5344CB8AC3E}">
        <p14:creationId xmlns:p14="http://schemas.microsoft.com/office/powerpoint/2010/main" val="396428665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sp>
        <p:nvSpPr>
          <p:cNvPr id="72" name="Google Shape;72;p1"/>
          <p:cNvSpPr txBox="1">
            <a:spLocks noGrp="1"/>
          </p:cNvSpPr>
          <p:nvPr>
            <p:ph type="ctrTitle"/>
          </p:nvPr>
        </p:nvSpPr>
        <p:spPr>
          <a:prstGeom prst="rect">
            <a:avLst/>
          </a:prstGeom>
          <a:noFill/>
          <a:ln>
            <a:noFill/>
          </a:ln>
        </p:spPr>
        <p:txBody>
          <a:bodyPr spcFirstLastPara="1" vert="horz" wrap="square" lIns="68569" tIns="34275" rIns="68569" bIns="34275" numCol="1" anchor="ctr" anchorCtr="0" compatLnSpc="1">
            <a:prstTxWarp prst="textNoShape">
              <a:avLst/>
            </a:prstTxWarp>
            <a:noAutofit/>
          </a:bodyPr>
          <a:lstStyle/>
          <a:p>
            <a:pPr algn="ctr">
              <a:spcBef>
                <a:spcPts val="0"/>
              </a:spcBef>
              <a:spcAft>
                <a:spcPts val="0"/>
              </a:spcAft>
            </a:pPr>
            <a:r>
              <a:rPr lang="es-ES" dirty="0">
                <a:solidFill>
                  <a:schemeClr val="bg1"/>
                </a:solidFill>
                <a:effectLst>
                  <a:outerShdw blurRad="38100" dist="38100" dir="2700000" algn="tl">
                    <a:srgbClr val="000000">
                      <a:alpha val="43137"/>
                    </a:srgbClr>
                  </a:outerShdw>
                </a:effectLst>
              </a:rPr>
              <a:t>Enrutamiento Dinámico</a:t>
            </a:r>
            <a:br>
              <a:rPr lang="es-ES" dirty="0">
                <a:solidFill>
                  <a:schemeClr val="bg1"/>
                </a:solidFill>
                <a:effectLst>
                  <a:outerShdw blurRad="38100" dist="38100" dir="2700000" algn="tl">
                    <a:srgbClr val="000000">
                      <a:alpha val="43137"/>
                    </a:srgbClr>
                  </a:outerShdw>
                </a:effectLst>
              </a:rPr>
            </a:br>
            <a:r>
              <a:rPr lang="es-ES" dirty="0">
                <a:solidFill>
                  <a:schemeClr val="bg1"/>
                </a:solidFill>
                <a:effectLst>
                  <a:outerShdw blurRad="38100" dist="38100" dir="2700000" algn="tl">
                    <a:srgbClr val="000000">
                      <a:alpha val="43137"/>
                    </a:srgbClr>
                  </a:outerShdw>
                </a:effectLst>
              </a:rPr>
              <a:t>SEMANA 10</a:t>
            </a:r>
            <a:br>
              <a:rPr lang="es-PE" sz="1500" dirty="0">
                <a:solidFill>
                  <a:schemeClr val="lt1"/>
                </a:solidFill>
                <a:latin typeface="Arial"/>
                <a:ea typeface="Arial"/>
                <a:cs typeface="Arial"/>
                <a:sym typeface="Arial"/>
              </a:rPr>
            </a:br>
            <a:r>
              <a:rPr lang="es-PE" sz="1500" i="1" dirty="0">
                <a:solidFill>
                  <a:schemeClr val="lt1"/>
                </a:solidFill>
                <a:latin typeface="Arial"/>
                <a:ea typeface="Arial"/>
                <a:cs typeface="Arial"/>
                <a:sym typeface="Arial"/>
              </a:rPr>
              <a:t>Ingeniería de Sistemas de Información</a:t>
            </a:r>
            <a:br>
              <a:rPr lang="es-PE" sz="1500" i="1" dirty="0">
                <a:solidFill>
                  <a:schemeClr val="lt1"/>
                </a:solidFill>
                <a:latin typeface="Arial"/>
                <a:ea typeface="Arial"/>
                <a:cs typeface="Arial"/>
                <a:sym typeface="Arial"/>
              </a:rPr>
            </a:br>
            <a:r>
              <a:rPr lang="es-PE" sz="1500" i="1" dirty="0">
                <a:solidFill>
                  <a:schemeClr val="lt1"/>
                </a:solidFill>
                <a:latin typeface="Arial"/>
                <a:ea typeface="Arial"/>
                <a:cs typeface="Arial"/>
                <a:sym typeface="Arial"/>
              </a:rPr>
              <a:t>EISI, 2026-2</a:t>
            </a:r>
            <a:endParaRPr dirty="0"/>
          </a:p>
        </p:txBody>
      </p:sp>
    </p:spTree>
    <p:extLst>
      <p:ext uri="{BB962C8B-B14F-4D97-AF65-F5344CB8AC3E}">
        <p14:creationId xmlns:p14="http://schemas.microsoft.com/office/powerpoint/2010/main" val="410434482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7F4CAE-A0A5-63AB-887F-ED1ABC83C1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AF8A8EC-AABC-2545-A2BD-7648621DF4E8}"/>
              </a:ext>
            </a:extLst>
          </p:cNvPr>
          <p:cNvSpPr>
            <a:spLocks noGrp="1"/>
          </p:cNvSpPr>
          <p:nvPr>
            <p:ph type="ctrTitle"/>
          </p:nvPr>
        </p:nvSpPr>
        <p:spPr>
          <a:xfrm>
            <a:off x="994410" y="899160"/>
            <a:ext cx="7155180" cy="1790700"/>
          </a:xfrm>
        </p:spPr>
        <p:txBody>
          <a:bodyPr/>
          <a:lstStyle/>
          <a:p>
            <a:pPr rtl="0"/>
            <a:r>
              <a:rPr lang="es-419" dirty="0"/>
              <a:t>10.1.1 </a:t>
            </a:r>
            <a:r>
              <a:rPr lang="es-ES" sz="4000" dirty="0"/>
              <a:t>Distancia Administrativa</a:t>
            </a:r>
            <a:endParaRPr lang="es-419" dirty="0"/>
          </a:p>
        </p:txBody>
      </p:sp>
    </p:spTree>
    <p:custDataLst>
      <p:tags r:id="rId1"/>
    </p:custDataLst>
    <p:extLst>
      <p:ext uri="{BB962C8B-B14F-4D97-AF65-F5344CB8AC3E}">
        <p14:creationId xmlns:p14="http://schemas.microsoft.com/office/powerpoint/2010/main" val="38027911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BA7A6C6E-A4CA-C944-9937-A9BCE9618AB4}"/>
              </a:ext>
            </a:extLst>
          </p:cNvPr>
          <p:cNvSpPr>
            <a:spLocks noGrp="1"/>
          </p:cNvSpPr>
          <p:nvPr>
            <p:ph idx="1"/>
          </p:nvPr>
        </p:nvSpPr>
        <p:spPr>
          <a:xfrm>
            <a:off x="144065" y="651460"/>
            <a:ext cx="8853286" cy="4339394"/>
          </a:xfrm>
        </p:spPr>
        <p:txBody>
          <a:bodyPr>
            <a:noAutofit/>
          </a:bodyPr>
          <a:lstStyle/>
          <a:p>
            <a:pPr marL="0" indent="0" rtl="0">
              <a:buNone/>
            </a:pPr>
            <a:r>
              <a:rPr lang="es-419" sz="1600" dirty="0">
                <a:solidFill>
                  <a:srgbClr val="000000"/>
                </a:solidFill>
              </a:rPr>
              <a:t>Una entrada de ruta para una dirección de red específica (longitud de prefijo y prefijo) sólo puede aparecer una vez en la tabla de enrutamiento. Sin embargo, </a:t>
            </a:r>
            <a:r>
              <a:rPr lang="es-419" sz="1600" b="1" dirty="0">
                <a:solidFill>
                  <a:srgbClr val="00B0F0"/>
                </a:solidFill>
              </a:rPr>
              <a:t>es posible que la tabla de enrutamiento aprenda acerca de la misma dirección de red desde más de un origen de enrutamiento. </a:t>
            </a:r>
            <a:r>
              <a:rPr lang="es-419" sz="1600" dirty="0">
                <a:solidFill>
                  <a:srgbClr val="000000"/>
                </a:solidFill>
              </a:rPr>
              <a:t>Excepto por circunstancias muy específicas, sólo se debe implementar un protocolo de enrutamiento dinámico en un </a:t>
            </a:r>
            <a:r>
              <a:rPr lang="es-419" sz="1600" dirty="0" err="1">
                <a:solidFill>
                  <a:srgbClr val="000000"/>
                </a:solidFill>
              </a:rPr>
              <a:t>router</a:t>
            </a:r>
            <a:r>
              <a:rPr lang="es-419" sz="1600" dirty="0">
                <a:solidFill>
                  <a:srgbClr val="000000"/>
                </a:solidFill>
              </a:rPr>
              <a:t>. Sin embargo, cada protocolo de </a:t>
            </a:r>
            <a:r>
              <a:rPr lang="es-419" sz="1600" dirty="0" err="1">
                <a:solidFill>
                  <a:srgbClr val="000000"/>
                </a:solidFill>
              </a:rPr>
              <a:t>routing</a:t>
            </a:r>
            <a:r>
              <a:rPr lang="es-419" sz="1600" dirty="0">
                <a:solidFill>
                  <a:srgbClr val="000000"/>
                </a:solidFill>
              </a:rPr>
              <a:t> puede decidir tomar una ruta diferente para llegar al destino según las métricas de ese protocolo de </a:t>
            </a:r>
            <a:r>
              <a:rPr lang="es-419" sz="1600" dirty="0" err="1">
                <a:solidFill>
                  <a:srgbClr val="000000"/>
                </a:solidFill>
              </a:rPr>
              <a:t>routing</a:t>
            </a:r>
            <a:r>
              <a:rPr lang="es-419" sz="1600" dirty="0">
                <a:solidFill>
                  <a:srgbClr val="000000"/>
                </a:solidFill>
              </a:rPr>
              <a:t>.</a:t>
            </a:r>
          </a:p>
          <a:p>
            <a:pPr marL="0" indent="0" rtl="0">
              <a:buNone/>
            </a:pPr>
            <a:r>
              <a:rPr lang="es-419" sz="1600" b="1" dirty="0">
                <a:solidFill>
                  <a:srgbClr val="00B050"/>
                </a:solidFill>
              </a:rPr>
              <a:t>Esto plantea algunas preguntas, como las siguientes:</a:t>
            </a:r>
          </a:p>
          <a:p>
            <a:pPr marL="415985" lvl="1" indent="-342900" rtl="0">
              <a:buFont typeface="Arial" panose="020B0604020202020204" pitchFamily="34" charset="0"/>
              <a:buChar char="•"/>
            </a:pPr>
            <a:r>
              <a:rPr lang="es-419" sz="1600" b="1" dirty="0">
                <a:solidFill>
                  <a:srgbClr val="00B050"/>
                </a:solidFill>
              </a:rPr>
              <a:t>¿Cómo sabe el </a:t>
            </a:r>
            <a:r>
              <a:rPr lang="es-419" sz="1600" b="1" dirty="0" err="1">
                <a:solidFill>
                  <a:srgbClr val="00B050"/>
                </a:solidFill>
              </a:rPr>
              <a:t>router</a:t>
            </a:r>
            <a:r>
              <a:rPr lang="es-419" sz="1600" b="1" dirty="0">
                <a:solidFill>
                  <a:srgbClr val="00B050"/>
                </a:solidFill>
              </a:rPr>
              <a:t> qué fuente usar?</a:t>
            </a:r>
          </a:p>
          <a:p>
            <a:pPr marL="415985" lvl="1" indent="-342900" rtl="0">
              <a:buFont typeface="Arial" panose="020B0604020202020204" pitchFamily="34" charset="0"/>
              <a:buChar char="•"/>
            </a:pPr>
            <a:r>
              <a:rPr lang="es-419" sz="1600" b="1" dirty="0">
                <a:solidFill>
                  <a:srgbClr val="00B050"/>
                </a:solidFill>
              </a:rPr>
              <a:t>¿Qué ruta instalará el </a:t>
            </a:r>
            <a:r>
              <a:rPr lang="es-419" sz="1600" b="1" dirty="0" err="1">
                <a:solidFill>
                  <a:srgbClr val="00B050"/>
                </a:solidFill>
              </a:rPr>
              <a:t>router</a:t>
            </a:r>
            <a:r>
              <a:rPr lang="es-419" sz="1600" b="1" dirty="0">
                <a:solidFill>
                  <a:srgbClr val="00B050"/>
                </a:solidFill>
              </a:rPr>
              <a:t> en la tabla de enrutamiento? </a:t>
            </a:r>
          </a:p>
          <a:p>
            <a:pPr marL="0" indent="0" rtl="0">
              <a:buNone/>
            </a:pPr>
            <a:r>
              <a:rPr lang="es-419" sz="1600" dirty="0">
                <a:solidFill>
                  <a:srgbClr val="000000"/>
                </a:solidFill>
              </a:rPr>
              <a:t>El IOS de Cisco utiliza lo que se conoce </a:t>
            </a:r>
            <a:r>
              <a:rPr lang="es-419" sz="1600" b="1" dirty="0">
                <a:solidFill>
                  <a:srgbClr val="FF0000"/>
                </a:solidFill>
              </a:rPr>
              <a:t>como “distancia administrativa” (AD) </a:t>
            </a:r>
            <a:r>
              <a:rPr lang="es-419" sz="1600" dirty="0">
                <a:solidFill>
                  <a:srgbClr val="000000"/>
                </a:solidFill>
              </a:rPr>
              <a:t>para determinar la ruta que se debe instalar en la tabla de </a:t>
            </a:r>
            <a:r>
              <a:rPr lang="es-419" sz="1600" dirty="0" err="1">
                <a:solidFill>
                  <a:srgbClr val="000000"/>
                </a:solidFill>
              </a:rPr>
              <a:t>routing</a:t>
            </a:r>
            <a:r>
              <a:rPr lang="es-419" sz="1600" dirty="0">
                <a:solidFill>
                  <a:srgbClr val="000000"/>
                </a:solidFill>
              </a:rPr>
              <a:t> de IP. </a:t>
            </a:r>
            <a:r>
              <a:rPr lang="es-419" sz="2000" b="1" dirty="0">
                <a:solidFill>
                  <a:srgbClr val="0070C0"/>
                </a:solidFill>
              </a:rPr>
              <a:t>La AD representa la "confiabilidad" de la ruta. </a:t>
            </a:r>
            <a:r>
              <a:rPr lang="es-419" sz="2000" b="1" u="sng" dirty="0">
                <a:solidFill>
                  <a:srgbClr val="0070C0"/>
                </a:solidFill>
              </a:rPr>
              <a:t>Cuanto menor es la AD, mayor es la confiabilidad de la ruta.</a:t>
            </a:r>
          </a:p>
        </p:txBody>
      </p:sp>
      <p:sp>
        <p:nvSpPr>
          <p:cNvPr id="2" name="CuadroTexto 1">
            <a:extLst>
              <a:ext uri="{FF2B5EF4-FFF2-40B4-BE49-F238E27FC236}">
                <a16:creationId xmlns:a16="http://schemas.microsoft.com/office/drawing/2014/main" id="{6DF2098F-F9FE-D851-7262-6DF274AEE35B}"/>
              </a:ext>
            </a:extLst>
          </p:cNvPr>
          <p:cNvSpPr txBox="1"/>
          <p:nvPr/>
        </p:nvSpPr>
        <p:spPr>
          <a:xfrm>
            <a:off x="8820142" y="4866501"/>
            <a:ext cx="354418" cy="276999"/>
          </a:xfrm>
          <a:prstGeom prst="rect">
            <a:avLst/>
          </a:prstGeom>
          <a:noFill/>
        </p:spPr>
        <p:txBody>
          <a:bodyPr wrap="square" rtlCol="0">
            <a:spAutoFit/>
          </a:bodyPr>
          <a:lstStyle/>
          <a:p>
            <a:r>
              <a:rPr lang="es-ES" sz="1200" b="1" dirty="0">
                <a:solidFill>
                  <a:srgbClr val="00B0F0"/>
                </a:solidFill>
              </a:rPr>
              <a:t>32</a:t>
            </a:r>
          </a:p>
        </p:txBody>
      </p:sp>
      <p:sp>
        <p:nvSpPr>
          <p:cNvPr id="6" name="Rectangle 2">
            <a:extLst>
              <a:ext uri="{FF2B5EF4-FFF2-40B4-BE49-F238E27FC236}">
                <a16:creationId xmlns:a16="http://schemas.microsoft.com/office/drawing/2014/main" id="{CD614FF8-D1F2-3A4F-DD7D-2467A9DFCD09}"/>
              </a:ext>
            </a:extLst>
          </p:cNvPr>
          <p:cNvSpPr txBox="1">
            <a:spLocks noChangeArrowheads="1"/>
          </p:cNvSpPr>
          <p:nvPr/>
        </p:nvSpPr>
        <p:spPr bwMode="auto">
          <a:xfrm>
            <a:off x="30560" y="0"/>
            <a:ext cx="9144000"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normAutofit fontScale="97500" lnSpcReduction="10000"/>
          </a:bodyPr>
          <a:lstStyle>
            <a:lvl1pPr algn="l" defTabSz="914400" rtl="0" eaLnBrk="1" latinLnBrk="0" hangingPunct="1">
              <a:lnSpc>
                <a:spcPct val="100000"/>
              </a:lnSpc>
              <a:spcBef>
                <a:spcPct val="0"/>
              </a:spcBef>
              <a:buNone/>
              <a:defRPr sz="3200" b="1" kern="1200">
                <a:solidFill>
                  <a:srgbClr val="FF0000"/>
                </a:solidFill>
                <a:latin typeface="+mj-lt"/>
                <a:ea typeface="+mj-ea"/>
                <a:cs typeface="+mj-cs"/>
              </a:defRPr>
            </a:lvl1pPr>
          </a:lstStyle>
          <a:p>
            <a:pPr fontAlgn="auto">
              <a:spcAft>
                <a:spcPts val="0"/>
              </a:spcAft>
            </a:pPr>
            <a:r>
              <a:rPr lang="es-ES" sz="1350" dirty="0"/>
              <a:t>Determinación de rutas</a:t>
            </a:r>
            <a:br>
              <a:rPr lang="es-ES" dirty="0"/>
            </a:br>
            <a:r>
              <a:rPr lang="es-ES" dirty="0"/>
              <a:t>Distancia administrativa</a:t>
            </a:r>
          </a:p>
        </p:txBody>
      </p:sp>
    </p:spTree>
    <p:extLst>
      <p:ext uri="{BB962C8B-B14F-4D97-AF65-F5344CB8AC3E}">
        <p14:creationId xmlns:p14="http://schemas.microsoft.com/office/powerpoint/2010/main" val="3593187192"/>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s-ES" sz="1500" dirty="0"/>
              <a:t>Si se configuran varias rutas a un destino en un router, la ruta que se instala en la tabla de routing es la que tiene la menor distancia administrativa (AD):</a:t>
            </a:r>
          </a:p>
          <a:p>
            <a:pPr marL="422672" lvl="1" indent="-257175">
              <a:buFont typeface="Courier New" panose="02070309020205020404" pitchFamily="49" charset="0"/>
              <a:buChar char="o"/>
            </a:pPr>
            <a:r>
              <a:rPr lang="es-ES" sz="1200" dirty="0"/>
              <a:t>Una ruta estática con una AD de 1 es más confiable que una ruta detectada mediante EIGRP con una AD de 90.</a:t>
            </a:r>
          </a:p>
          <a:p>
            <a:pPr marL="422672" lvl="1" indent="-257175">
              <a:buFont typeface="Courier New" panose="02070309020205020404" pitchFamily="49" charset="0"/>
              <a:buChar char="o"/>
            </a:pPr>
            <a:r>
              <a:rPr lang="es-ES" sz="1200" dirty="0"/>
              <a:t>Una ruta conectada directamente con una AD de 0 es más confiable que una ruta estática con una AD de 1. </a:t>
            </a:r>
          </a:p>
          <a:p>
            <a:endParaRPr lang="es-ES" dirty="0"/>
          </a:p>
        </p:txBody>
      </p:sp>
      <p:sp>
        <p:nvSpPr>
          <p:cNvPr id="21505" name="Rectangle 2"/>
          <p:cNvSpPr>
            <a:spLocks noGrp="1" noChangeArrowheads="1"/>
          </p:cNvSpPr>
          <p:nvPr>
            <p:ph type="title"/>
          </p:nvPr>
        </p:nvSpPr>
        <p:spPr/>
        <p:txBody>
          <a:bodyPr>
            <a:normAutofit fontScale="90000"/>
          </a:bodyPr>
          <a:lstStyle/>
          <a:p>
            <a:r>
              <a:rPr lang="es-ES" sz="1350" dirty="0"/>
              <a:t>Determinación de rutas</a:t>
            </a:r>
            <a:br>
              <a:rPr dirty="0"/>
            </a:br>
            <a:r>
              <a:rPr lang="es-ES" dirty="0"/>
              <a:t>Distancia administrativa</a:t>
            </a:r>
          </a:p>
        </p:txBody>
      </p:sp>
      <p:pic>
        <p:nvPicPr>
          <p:cNvPr id="3" name="Picture 2"/>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1421596" y="1958339"/>
            <a:ext cx="5826606" cy="3143767"/>
          </a:xfrm>
          <a:prstGeom prst="rect">
            <a:avLst/>
          </a:prstGeom>
        </p:spPr>
      </p:pic>
    </p:spTree>
    <p:extLst>
      <p:ext uri="{BB962C8B-B14F-4D97-AF65-F5344CB8AC3E}">
        <p14:creationId xmlns:p14="http://schemas.microsoft.com/office/powerpoint/2010/main" val="1532895883"/>
      </p:ext>
    </p:extLst>
  </p:cSld>
  <p:clrMapOvr>
    <a:masterClrMapping/>
  </p:clrMapOvr>
  <p:transition spd="med">
    <p:wipe dir="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D59807-6B12-6770-BF5E-5D232FA20E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FE0EA70-6B75-902B-CEC2-FB126322AE42}"/>
              </a:ext>
            </a:extLst>
          </p:cNvPr>
          <p:cNvSpPr>
            <a:spLocks noGrp="1"/>
          </p:cNvSpPr>
          <p:nvPr>
            <p:ph type="ctrTitle"/>
          </p:nvPr>
        </p:nvSpPr>
        <p:spPr>
          <a:xfrm>
            <a:off x="994410" y="899160"/>
            <a:ext cx="7155180" cy="1790700"/>
          </a:xfrm>
        </p:spPr>
        <p:txBody>
          <a:bodyPr/>
          <a:lstStyle/>
          <a:p>
            <a:pPr rtl="0"/>
            <a:r>
              <a:rPr lang="es-419" dirty="0"/>
              <a:t>10.1.1 E</a:t>
            </a:r>
            <a:r>
              <a:rPr lang="es-ES" sz="4000" dirty="0" err="1"/>
              <a:t>nrutamiento</a:t>
            </a:r>
            <a:r>
              <a:rPr lang="es-ES" sz="4000" dirty="0"/>
              <a:t> dinámico</a:t>
            </a:r>
            <a:endParaRPr lang="es-419" dirty="0"/>
          </a:p>
        </p:txBody>
      </p:sp>
    </p:spTree>
    <p:custDataLst>
      <p:tags r:id="rId1"/>
    </p:custDataLst>
    <p:extLst>
      <p:ext uri="{BB962C8B-B14F-4D97-AF65-F5344CB8AC3E}">
        <p14:creationId xmlns:p14="http://schemas.microsoft.com/office/powerpoint/2010/main" val="12973150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A9DF5D18-81FC-324C-8230-7F71BC241764}"/>
              </a:ext>
            </a:extLst>
          </p:cNvPr>
          <p:cNvSpPr>
            <a:spLocks noGrp="1"/>
          </p:cNvSpPr>
          <p:nvPr>
            <p:ph idx="1"/>
          </p:nvPr>
        </p:nvSpPr>
        <p:spPr>
          <a:xfrm>
            <a:off x="144065" y="595745"/>
            <a:ext cx="8853286" cy="845706"/>
          </a:xfrm>
        </p:spPr>
        <p:txBody>
          <a:bodyPr/>
          <a:lstStyle/>
          <a:p>
            <a:pPr marL="0" indent="0" rtl="0">
              <a:buNone/>
            </a:pPr>
            <a:r>
              <a:rPr lang="es-419" sz="1600" dirty="0">
                <a:solidFill>
                  <a:srgbClr val="000000"/>
                </a:solidFill>
              </a:rPr>
              <a:t>Los </a:t>
            </a:r>
            <a:r>
              <a:rPr lang="es-419" sz="1600" dirty="0" err="1">
                <a:solidFill>
                  <a:srgbClr val="000000"/>
                </a:solidFill>
              </a:rPr>
              <a:t>routers</a:t>
            </a:r>
            <a:r>
              <a:rPr lang="es-419" sz="1600" dirty="0">
                <a:solidFill>
                  <a:srgbClr val="000000"/>
                </a:solidFill>
              </a:rPr>
              <a:t> usan protocolos de enrutamiento dinámico para compartir información sobre el estado y la posibilidad de conexión de redes remotas. Los protocolos de </a:t>
            </a:r>
            <a:r>
              <a:rPr lang="es-419" sz="1600" dirty="0" err="1">
                <a:solidFill>
                  <a:srgbClr val="000000"/>
                </a:solidFill>
              </a:rPr>
              <a:t>routing</a:t>
            </a:r>
            <a:r>
              <a:rPr lang="es-419" sz="1600" dirty="0">
                <a:solidFill>
                  <a:srgbClr val="000000"/>
                </a:solidFill>
              </a:rPr>
              <a:t> dinámico realizan diversas actividades, como la detección de redes y el mantenimiento de las tablas de </a:t>
            </a:r>
            <a:r>
              <a:rPr lang="es-419" sz="1600" dirty="0" err="1">
                <a:solidFill>
                  <a:srgbClr val="000000"/>
                </a:solidFill>
              </a:rPr>
              <a:t>routing</a:t>
            </a:r>
            <a:r>
              <a:rPr lang="es-419" sz="1600" dirty="0">
                <a:solidFill>
                  <a:srgbClr val="000000"/>
                </a:solidFill>
              </a:rPr>
              <a:t>.</a:t>
            </a:r>
          </a:p>
        </p:txBody>
      </p:sp>
      <p:sp>
        <p:nvSpPr>
          <p:cNvPr id="2" name="CuadroTexto 1">
            <a:extLst>
              <a:ext uri="{FF2B5EF4-FFF2-40B4-BE49-F238E27FC236}">
                <a16:creationId xmlns:a16="http://schemas.microsoft.com/office/drawing/2014/main" id="{A8F700F1-DD35-BD18-871A-8AE4E18BB319}"/>
              </a:ext>
            </a:extLst>
          </p:cNvPr>
          <p:cNvSpPr txBox="1"/>
          <p:nvPr/>
        </p:nvSpPr>
        <p:spPr>
          <a:xfrm>
            <a:off x="8820142" y="4866501"/>
            <a:ext cx="354418" cy="276999"/>
          </a:xfrm>
          <a:prstGeom prst="rect">
            <a:avLst/>
          </a:prstGeom>
          <a:noFill/>
        </p:spPr>
        <p:txBody>
          <a:bodyPr wrap="square" rtlCol="0">
            <a:spAutoFit/>
          </a:bodyPr>
          <a:lstStyle/>
          <a:p>
            <a:r>
              <a:rPr lang="es-ES" sz="1200" b="1" dirty="0">
                <a:solidFill>
                  <a:srgbClr val="00B0F0"/>
                </a:solidFill>
              </a:rPr>
              <a:t>27</a:t>
            </a:r>
            <a:endParaRPr lang="es-PE" sz="1200" b="1" dirty="0">
              <a:solidFill>
                <a:srgbClr val="00B0F0"/>
              </a:solidFill>
            </a:endParaRPr>
          </a:p>
        </p:txBody>
      </p:sp>
      <p:pic>
        <p:nvPicPr>
          <p:cNvPr id="7" name="Imagen 6">
            <a:extLst>
              <a:ext uri="{FF2B5EF4-FFF2-40B4-BE49-F238E27FC236}">
                <a16:creationId xmlns:a16="http://schemas.microsoft.com/office/drawing/2014/main" id="{316C1043-5FDD-6AD5-0381-FF687664594F}"/>
              </a:ext>
            </a:extLst>
          </p:cNvPr>
          <p:cNvPicPr>
            <a:picLocks noChangeAspect="1"/>
          </p:cNvPicPr>
          <p:nvPr/>
        </p:nvPicPr>
        <p:blipFill>
          <a:blip r:embed="rId3"/>
          <a:stretch>
            <a:fillRect/>
          </a:stretch>
        </p:blipFill>
        <p:spPr>
          <a:xfrm>
            <a:off x="1360745" y="1353296"/>
            <a:ext cx="6422510" cy="3790204"/>
          </a:xfrm>
          <a:prstGeom prst="rect">
            <a:avLst/>
          </a:prstGeom>
        </p:spPr>
      </p:pic>
      <p:sp>
        <p:nvSpPr>
          <p:cNvPr id="6" name="Rectangle 2">
            <a:extLst>
              <a:ext uri="{FF2B5EF4-FFF2-40B4-BE49-F238E27FC236}">
                <a16:creationId xmlns:a16="http://schemas.microsoft.com/office/drawing/2014/main" id="{197C6198-122F-BD2E-8345-A8901063E806}"/>
              </a:ext>
            </a:extLst>
          </p:cNvPr>
          <p:cNvSpPr>
            <a:spLocks noGrp="1" noChangeArrowheads="1"/>
          </p:cNvSpPr>
          <p:nvPr>
            <p:ph type="title"/>
          </p:nvPr>
        </p:nvSpPr>
        <p:spPr>
          <a:xfrm>
            <a:off x="0" y="-15240"/>
            <a:ext cx="9144000" cy="757551"/>
          </a:xfrm>
        </p:spPr>
        <p:txBody>
          <a:bodyPr>
            <a:normAutofit fontScale="90000"/>
          </a:bodyPr>
          <a:lstStyle/>
          <a:p>
            <a:r>
              <a:rPr lang="es-ES" sz="1350" dirty="0"/>
              <a:t>Protocolos de </a:t>
            </a:r>
            <a:r>
              <a:rPr lang="es-ES" sz="1350" dirty="0" err="1"/>
              <a:t>routing</a:t>
            </a:r>
            <a:r>
              <a:rPr lang="es-ES" sz="1350" dirty="0"/>
              <a:t> dinámico</a:t>
            </a:r>
            <a:br>
              <a:rPr dirty="0"/>
            </a:br>
            <a:r>
              <a:rPr lang="es-ES" dirty="0" err="1"/>
              <a:t>Routing</a:t>
            </a:r>
            <a:r>
              <a:rPr lang="es-ES" dirty="0"/>
              <a:t> dinámico</a:t>
            </a:r>
          </a:p>
        </p:txBody>
      </p:sp>
    </p:spTree>
    <p:extLst>
      <p:ext uri="{BB962C8B-B14F-4D97-AF65-F5344CB8AC3E}">
        <p14:creationId xmlns:p14="http://schemas.microsoft.com/office/powerpoint/2010/main" val="1541921520"/>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79DC7C86-866A-8040-B0BA-E18FF067CBD2}"/>
              </a:ext>
            </a:extLst>
          </p:cNvPr>
          <p:cNvSpPr>
            <a:spLocks noGrp="1"/>
          </p:cNvSpPr>
          <p:nvPr>
            <p:ph idx="1"/>
          </p:nvPr>
        </p:nvSpPr>
        <p:spPr/>
        <p:txBody>
          <a:bodyPr/>
          <a:lstStyle/>
          <a:p>
            <a:pPr marL="0" indent="0" rtl="0">
              <a:buNone/>
            </a:pPr>
            <a:r>
              <a:rPr lang="es-419" sz="1600" b="1" dirty="0">
                <a:solidFill>
                  <a:srgbClr val="00B0F0"/>
                </a:solidFill>
              </a:rPr>
              <a:t>RIP</a:t>
            </a:r>
            <a:r>
              <a:rPr lang="es-419" sz="1400" dirty="0">
                <a:solidFill>
                  <a:srgbClr val="000000"/>
                </a:solidFill>
              </a:rPr>
              <a:t> se está utilizando ahora en nuestra topología de muestra (lamina anterior), para aprender dinámicamente todas las redes conectadas a R1 y R2. Las entradas de la tabla de enrutamiento utilizan el código </a:t>
            </a:r>
            <a:r>
              <a:rPr lang="es-419" sz="1600" b="1" dirty="0">
                <a:solidFill>
                  <a:srgbClr val="00B0F0"/>
                </a:solidFill>
                <a:effectLst>
                  <a:outerShdw blurRad="38100" dist="38100" dir="2700000" algn="tl">
                    <a:srgbClr val="000000">
                      <a:alpha val="43137"/>
                    </a:srgbClr>
                  </a:outerShdw>
                </a:effectLst>
              </a:rPr>
              <a:t>R</a:t>
            </a:r>
            <a:r>
              <a:rPr lang="es-419" sz="1400" dirty="0">
                <a:solidFill>
                  <a:srgbClr val="000000"/>
                </a:solidFill>
              </a:rPr>
              <a:t> para indicar que la ruta fue aprendida por el protocolo de enrutamiento RIP. Ambas entradas también incluyen la dirección IP del </a:t>
            </a:r>
            <a:r>
              <a:rPr lang="es-419" sz="1400" dirty="0" err="1">
                <a:solidFill>
                  <a:srgbClr val="000000"/>
                </a:solidFill>
              </a:rPr>
              <a:t>router</a:t>
            </a:r>
            <a:r>
              <a:rPr lang="es-419" sz="1400" dirty="0">
                <a:solidFill>
                  <a:srgbClr val="000000"/>
                </a:solidFill>
              </a:rPr>
              <a:t> de salto siguiente, a través de </a:t>
            </a:r>
            <a:r>
              <a:rPr lang="es-419" sz="1400" i="1" dirty="0">
                <a:solidFill>
                  <a:srgbClr val="000000"/>
                </a:solidFill>
              </a:rPr>
              <a:t>la dirección IP</a:t>
            </a:r>
            <a:r>
              <a:rPr lang="es-419" sz="1400" dirty="0">
                <a:solidFill>
                  <a:srgbClr val="000000"/>
                </a:solidFill>
              </a:rPr>
              <a:t>.</a:t>
            </a:r>
          </a:p>
        </p:txBody>
      </p:sp>
      <p:sp>
        <p:nvSpPr>
          <p:cNvPr id="7" name="Rectangle 6">
            <a:extLst>
              <a:ext uri="{FF2B5EF4-FFF2-40B4-BE49-F238E27FC236}">
                <a16:creationId xmlns:a16="http://schemas.microsoft.com/office/drawing/2014/main" id="{63D2D708-3CDE-B842-A84C-7F39B7973FD4}"/>
              </a:ext>
            </a:extLst>
          </p:cNvPr>
          <p:cNvSpPr/>
          <p:nvPr/>
        </p:nvSpPr>
        <p:spPr>
          <a:xfrm>
            <a:off x="144065" y="2571750"/>
            <a:ext cx="8784035" cy="1415772"/>
          </a:xfrm>
          <a:prstGeom prst="rect">
            <a:avLst/>
          </a:prstGeom>
          <a:solidFill>
            <a:srgbClr val="000000"/>
          </a:solidFill>
        </p:spPr>
        <p:txBody>
          <a:bodyPr wrap="square">
            <a:spAutoFit/>
          </a:bodyPr>
          <a:lstStyle/>
          <a:p>
            <a:pPr rtl="0"/>
            <a:r>
              <a:rPr lang="es-419" sz="1400" dirty="0">
                <a:solidFill>
                  <a:schemeClr val="bg1"/>
                </a:solidFill>
                <a:latin typeface="Courier New" panose="02070309020205020404" pitchFamily="49" charset="0"/>
              </a:rPr>
              <a:t>R1# </a:t>
            </a:r>
            <a:r>
              <a:rPr lang="es-419" sz="1400" b="1" dirty="0">
                <a:solidFill>
                  <a:schemeClr val="accent2"/>
                </a:solidFill>
                <a:latin typeface="Courier New" panose="02070309020205020404" pitchFamily="49" charset="0"/>
              </a:rPr>
              <a:t>show </a:t>
            </a:r>
            <a:r>
              <a:rPr lang="es-419" sz="1400" b="1" dirty="0" err="1">
                <a:solidFill>
                  <a:schemeClr val="accent2"/>
                </a:solidFill>
                <a:latin typeface="Courier New" panose="02070309020205020404" pitchFamily="49" charset="0"/>
              </a:rPr>
              <a:t>ip</a:t>
            </a:r>
            <a:r>
              <a:rPr lang="es-419" sz="1400" b="1" dirty="0">
                <a:solidFill>
                  <a:schemeClr val="accent2"/>
                </a:solidFill>
                <a:latin typeface="Courier New" panose="02070309020205020404" pitchFamily="49" charset="0"/>
              </a:rPr>
              <a:t> </a:t>
            </a:r>
            <a:r>
              <a:rPr lang="es-419" sz="1400" b="1" dirty="0" err="1">
                <a:solidFill>
                  <a:schemeClr val="accent2"/>
                </a:solidFill>
                <a:latin typeface="Courier New" panose="02070309020205020404" pitchFamily="49" charset="0"/>
              </a:rPr>
              <a:t>route</a:t>
            </a:r>
            <a:r>
              <a:rPr lang="es-419" sz="1400" b="1" dirty="0">
                <a:solidFill>
                  <a:schemeClr val="accent2"/>
                </a:solidFill>
                <a:latin typeface="Courier New" panose="02070309020205020404" pitchFamily="49" charset="0"/>
              </a:rPr>
              <a:t> </a:t>
            </a:r>
          </a:p>
          <a:p>
            <a:pPr rtl="0"/>
            <a:r>
              <a:rPr lang="es-419" sz="1400" dirty="0">
                <a:solidFill>
                  <a:schemeClr val="bg1"/>
                </a:solidFill>
                <a:latin typeface="Courier New" panose="02070309020205020404" pitchFamily="49" charset="0"/>
              </a:rPr>
              <a:t>Codes: L - local, C - </a:t>
            </a:r>
            <a:r>
              <a:rPr lang="es-419" sz="1400" dirty="0" err="1">
                <a:solidFill>
                  <a:schemeClr val="bg1"/>
                </a:solidFill>
                <a:latin typeface="Courier New" panose="02070309020205020404" pitchFamily="49" charset="0"/>
              </a:rPr>
              <a:t>connected</a:t>
            </a:r>
            <a:r>
              <a:rPr lang="es-419" sz="1400" dirty="0">
                <a:solidFill>
                  <a:schemeClr val="bg1"/>
                </a:solidFill>
                <a:latin typeface="Courier New" panose="02070309020205020404" pitchFamily="49" charset="0"/>
              </a:rPr>
              <a:t>, S - </a:t>
            </a:r>
            <a:r>
              <a:rPr lang="es-419" sz="1400" dirty="0" err="1">
                <a:solidFill>
                  <a:schemeClr val="bg1"/>
                </a:solidFill>
                <a:latin typeface="Courier New" panose="02070309020205020404" pitchFamily="49" charset="0"/>
              </a:rPr>
              <a:t>static</a:t>
            </a:r>
            <a:r>
              <a:rPr lang="es-419" sz="1400" dirty="0">
                <a:solidFill>
                  <a:schemeClr val="bg1"/>
                </a:solidFill>
                <a:latin typeface="Courier New" panose="02070309020205020404" pitchFamily="49" charset="0"/>
              </a:rPr>
              <a:t>, </a:t>
            </a:r>
            <a:r>
              <a:rPr lang="es-419" sz="1600" b="1" dirty="0">
                <a:solidFill>
                  <a:srgbClr val="FFFF00"/>
                </a:solidFill>
                <a:effectLst>
                  <a:outerShdw blurRad="38100" dist="38100" dir="2700000" algn="tl">
                    <a:srgbClr val="000000">
                      <a:alpha val="43137"/>
                    </a:srgbClr>
                  </a:outerShdw>
                </a:effectLst>
                <a:latin typeface="Courier New" panose="02070309020205020404" pitchFamily="49" charset="0"/>
              </a:rPr>
              <a:t>R - RIP</a:t>
            </a:r>
            <a:r>
              <a:rPr lang="es-419" sz="1400" dirty="0">
                <a:solidFill>
                  <a:schemeClr val="bg1"/>
                </a:solidFill>
                <a:latin typeface="Courier New" panose="02070309020205020404" pitchFamily="49" charset="0"/>
              </a:rPr>
              <a:t>, M - </a:t>
            </a:r>
            <a:r>
              <a:rPr lang="es-419" sz="1400" dirty="0" err="1">
                <a:solidFill>
                  <a:schemeClr val="bg1"/>
                </a:solidFill>
                <a:latin typeface="Courier New" panose="02070309020205020404" pitchFamily="49" charset="0"/>
              </a:rPr>
              <a:t>mobile</a:t>
            </a:r>
            <a:r>
              <a:rPr lang="es-419" sz="1400" dirty="0">
                <a:solidFill>
                  <a:schemeClr val="bg1"/>
                </a:solidFill>
                <a:latin typeface="Courier New" panose="02070309020205020404" pitchFamily="49" charset="0"/>
              </a:rPr>
              <a:t>, B - BGP D - EIGRP, EX - EIGRP </a:t>
            </a:r>
            <a:r>
              <a:rPr lang="es-419" sz="1400" dirty="0" err="1">
                <a:solidFill>
                  <a:schemeClr val="bg1"/>
                </a:solidFill>
                <a:latin typeface="Courier New" panose="02070309020205020404" pitchFamily="49" charset="0"/>
              </a:rPr>
              <a:t>external</a:t>
            </a:r>
            <a:r>
              <a:rPr lang="es-419" sz="1400" dirty="0">
                <a:solidFill>
                  <a:schemeClr val="bg1"/>
                </a:solidFill>
                <a:latin typeface="Courier New" panose="02070309020205020404" pitchFamily="49" charset="0"/>
              </a:rPr>
              <a:t>, O - OSPF, IA - OSPF inter </a:t>
            </a:r>
            <a:r>
              <a:rPr lang="es-419" sz="1400" dirty="0" err="1">
                <a:solidFill>
                  <a:schemeClr val="bg1"/>
                </a:solidFill>
                <a:latin typeface="Courier New" panose="02070309020205020404" pitchFamily="49" charset="0"/>
              </a:rPr>
              <a:t>area</a:t>
            </a:r>
            <a:r>
              <a:rPr lang="es-419" sz="1400" dirty="0">
                <a:solidFill>
                  <a:schemeClr val="bg1"/>
                </a:solidFill>
                <a:latin typeface="Courier New" panose="02070309020205020404" pitchFamily="49" charset="0"/>
              </a:rPr>
              <a:t> </a:t>
            </a:r>
          </a:p>
          <a:p>
            <a:pPr rtl="0"/>
            <a:r>
              <a:rPr lang="es-419" sz="1400" dirty="0">
                <a:solidFill>
                  <a:schemeClr val="bg1"/>
                </a:solidFill>
                <a:latin typeface="Courier New" panose="02070309020205020404" pitchFamily="49" charset="0"/>
              </a:rPr>
              <a:t>(output </a:t>
            </a:r>
            <a:r>
              <a:rPr lang="es-419" sz="1400" dirty="0" err="1">
                <a:solidFill>
                  <a:schemeClr val="bg1"/>
                </a:solidFill>
                <a:latin typeface="Courier New" panose="02070309020205020404" pitchFamily="49" charset="0"/>
              </a:rPr>
              <a:t>omitted</a:t>
            </a:r>
            <a:r>
              <a:rPr lang="es-419" sz="1400" dirty="0">
                <a:solidFill>
                  <a:schemeClr val="bg1"/>
                </a:solidFill>
                <a:latin typeface="Courier New" panose="02070309020205020404" pitchFamily="49" charset="0"/>
              </a:rPr>
              <a:t> </a:t>
            </a:r>
            <a:r>
              <a:rPr lang="es-419" sz="1400" dirty="0" err="1">
                <a:solidFill>
                  <a:schemeClr val="bg1"/>
                </a:solidFill>
                <a:latin typeface="Courier New" panose="02070309020205020404" pitchFamily="49" charset="0"/>
              </a:rPr>
              <a:t>for</a:t>
            </a:r>
            <a:r>
              <a:rPr lang="es-419" sz="1400" dirty="0">
                <a:solidFill>
                  <a:schemeClr val="bg1"/>
                </a:solidFill>
                <a:latin typeface="Courier New" panose="02070309020205020404" pitchFamily="49" charset="0"/>
              </a:rPr>
              <a:t> </a:t>
            </a:r>
            <a:r>
              <a:rPr lang="es-419" sz="1400" dirty="0" err="1">
                <a:solidFill>
                  <a:schemeClr val="bg1"/>
                </a:solidFill>
                <a:latin typeface="Courier New" panose="02070309020205020404" pitchFamily="49" charset="0"/>
              </a:rPr>
              <a:t>brevity</a:t>
            </a:r>
            <a:r>
              <a:rPr lang="es-419" sz="1400" dirty="0">
                <a:solidFill>
                  <a:schemeClr val="bg1"/>
                </a:solidFill>
                <a:latin typeface="Courier New" panose="02070309020205020404" pitchFamily="49" charset="0"/>
              </a:rPr>
              <a:t>) </a:t>
            </a:r>
          </a:p>
          <a:p>
            <a:pPr rtl="0"/>
            <a:r>
              <a:rPr lang="es-419" sz="1400" b="1" dirty="0">
                <a:solidFill>
                  <a:srgbClr val="FFFF00"/>
                </a:solidFill>
                <a:latin typeface="Courier New" panose="02070309020205020404" pitchFamily="49" charset="0"/>
              </a:rPr>
              <a:t>R</a:t>
            </a:r>
            <a:r>
              <a:rPr lang="es-419" sz="1400" dirty="0">
                <a:solidFill>
                  <a:schemeClr val="bg1"/>
                </a:solidFill>
                <a:latin typeface="Courier New" panose="02070309020205020404" pitchFamily="49" charset="0"/>
              </a:rPr>
              <a:t> 10.0.4.0/24 [120/1] </a:t>
            </a:r>
            <a:r>
              <a:rPr lang="es-419" sz="1400" dirty="0" err="1">
                <a:solidFill>
                  <a:schemeClr val="bg1"/>
                </a:solidFill>
                <a:latin typeface="Courier New" panose="02070309020205020404" pitchFamily="49" charset="0"/>
              </a:rPr>
              <a:t>via</a:t>
            </a:r>
            <a:r>
              <a:rPr lang="es-419" sz="1400" dirty="0">
                <a:solidFill>
                  <a:schemeClr val="bg1"/>
                </a:solidFill>
                <a:latin typeface="Courier New" panose="02070309020205020404" pitchFamily="49" charset="0"/>
              </a:rPr>
              <a:t> 10.0.3.2, 00:24:22, Serial0/1/1 </a:t>
            </a:r>
          </a:p>
          <a:p>
            <a:pPr rtl="0"/>
            <a:r>
              <a:rPr lang="es-419" sz="1400" b="1" dirty="0">
                <a:solidFill>
                  <a:srgbClr val="FFFF00"/>
                </a:solidFill>
                <a:latin typeface="Courier New" panose="02070309020205020404" pitchFamily="49" charset="0"/>
              </a:rPr>
              <a:t>R</a:t>
            </a:r>
            <a:r>
              <a:rPr lang="es-419" sz="1400" dirty="0">
                <a:solidFill>
                  <a:schemeClr val="bg1"/>
                </a:solidFill>
                <a:latin typeface="Courier New" panose="02070309020205020404" pitchFamily="49" charset="0"/>
              </a:rPr>
              <a:t> 10.0.5.0/24 [120/1] via 10.0.3.2, 00:24:15, Serial0/1/1 </a:t>
            </a:r>
          </a:p>
        </p:txBody>
      </p:sp>
      <p:sp>
        <p:nvSpPr>
          <p:cNvPr id="2" name="CuadroTexto 1">
            <a:extLst>
              <a:ext uri="{FF2B5EF4-FFF2-40B4-BE49-F238E27FC236}">
                <a16:creationId xmlns:a16="http://schemas.microsoft.com/office/drawing/2014/main" id="{5A4C9178-6E07-490C-A48D-2655DC0AD954}"/>
              </a:ext>
            </a:extLst>
          </p:cNvPr>
          <p:cNvSpPr txBox="1"/>
          <p:nvPr/>
        </p:nvSpPr>
        <p:spPr>
          <a:xfrm>
            <a:off x="8820142" y="4866501"/>
            <a:ext cx="354418" cy="276999"/>
          </a:xfrm>
          <a:prstGeom prst="rect">
            <a:avLst/>
          </a:prstGeom>
          <a:noFill/>
        </p:spPr>
        <p:txBody>
          <a:bodyPr wrap="square" rtlCol="0">
            <a:spAutoFit/>
          </a:bodyPr>
          <a:lstStyle/>
          <a:p>
            <a:r>
              <a:rPr lang="es-ES" sz="1200" b="1" dirty="0">
                <a:solidFill>
                  <a:srgbClr val="00B0F0"/>
                </a:solidFill>
              </a:rPr>
              <a:t>28</a:t>
            </a:r>
            <a:endParaRPr lang="es-PE" sz="1200" b="1" dirty="0">
              <a:solidFill>
                <a:srgbClr val="00B0F0"/>
              </a:solidFill>
            </a:endParaRPr>
          </a:p>
        </p:txBody>
      </p:sp>
      <p:sp>
        <p:nvSpPr>
          <p:cNvPr id="6" name="Rectangle 2">
            <a:extLst>
              <a:ext uri="{FF2B5EF4-FFF2-40B4-BE49-F238E27FC236}">
                <a16:creationId xmlns:a16="http://schemas.microsoft.com/office/drawing/2014/main" id="{6C1FC931-BC94-2668-1785-CAFB7A21D33D}"/>
              </a:ext>
            </a:extLst>
          </p:cNvPr>
          <p:cNvSpPr>
            <a:spLocks noGrp="1" noChangeArrowheads="1"/>
          </p:cNvSpPr>
          <p:nvPr>
            <p:ph type="title"/>
          </p:nvPr>
        </p:nvSpPr>
        <p:spPr>
          <a:xfrm>
            <a:off x="0" y="-15240"/>
            <a:ext cx="9144000" cy="757551"/>
          </a:xfrm>
        </p:spPr>
        <p:txBody>
          <a:bodyPr>
            <a:normAutofit fontScale="90000"/>
          </a:bodyPr>
          <a:lstStyle/>
          <a:p>
            <a:r>
              <a:rPr lang="es-ES" sz="1350" dirty="0"/>
              <a:t>Protocolos de </a:t>
            </a:r>
            <a:r>
              <a:rPr lang="es-ES" sz="1350" dirty="0" err="1"/>
              <a:t>routing</a:t>
            </a:r>
            <a:r>
              <a:rPr lang="es-ES" sz="1350" dirty="0"/>
              <a:t> dinámico</a:t>
            </a:r>
            <a:br>
              <a:rPr dirty="0"/>
            </a:br>
            <a:r>
              <a:rPr lang="es-ES" dirty="0" err="1"/>
              <a:t>Routing</a:t>
            </a:r>
            <a:r>
              <a:rPr lang="es-ES" dirty="0"/>
              <a:t> dinámico</a:t>
            </a:r>
          </a:p>
        </p:txBody>
      </p:sp>
    </p:spTree>
    <p:extLst>
      <p:ext uri="{BB962C8B-B14F-4D97-AF65-F5344CB8AC3E}">
        <p14:creationId xmlns:p14="http://schemas.microsoft.com/office/powerpoint/2010/main" val="3166429555"/>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0" y="631305"/>
            <a:ext cx="9083040" cy="397396"/>
          </a:xfrm>
        </p:spPr>
        <p:txBody>
          <a:bodyPr>
            <a:normAutofit/>
          </a:bodyPr>
          <a:lstStyle/>
          <a:p>
            <a:r>
              <a:rPr lang="es-ES" sz="1500" dirty="0"/>
              <a:t>Los routers convergen una vez que finalizan el intercambio y actualizan sus tablas de routing.</a:t>
            </a:r>
          </a:p>
        </p:txBody>
      </p:sp>
      <p:sp>
        <p:nvSpPr>
          <p:cNvPr id="21505" name="Rectangle 2"/>
          <p:cNvSpPr>
            <a:spLocks noGrp="1" noChangeArrowheads="1"/>
          </p:cNvSpPr>
          <p:nvPr>
            <p:ph type="title"/>
          </p:nvPr>
        </p:nvSpPr>
        <p:spPr>
          <a:xfrm>
            <a:off x="0" y="-15240"/>
            <a:ext cx="9144000" cy="757551"/>
          </a:xfrm>
        </p:spPr>
        <p:txBody>
          <a:bodyPr>
            <a:normAutofit fontScale="90000"/>
          </a:bodyPr>
          <a:lstStyle/>
          <a:p>
            <a:r>
              <a:rPr lang="es-ES" sz="1350" dirty="0"/>
              <a:t>Protocolos de </a:t>
            </a:r>
            <a:r>
              <a:rPr lang="es-ES" sz="1350" dirty="0" err="1"/>
              <a:t>routing</a:t>
            </a:r>
            <a:r>
              <a:rPr lang="es-ES" sz="1350" dirty="0"/>
              <a:t> dinámico</a:t>
            </a:r>
            <a:br>
              <a:rPr dirty="0"/>
            </a:br>
            <a:r>
              <a:rPr lang="es-ES" dirty="0" err="1"/>
              <a:t>Routing</a:t>
            </a:r>
            <a:r>
              <a:rPr lang="es-ES" dirty="0"/>
              <a:t> dinámico</a:t>
            </a:r>
          </a:p>
        </p:txBody>
      </p:sp>
      <p:pic>
        <p:nvPicPr>
          <p:cNvPr id="5" name="Picture 4"/>
          <p:cNvPicPr>
            <a:picLocks noChangeAspect="1"/>
          </p:cNvPicPr>
          <p:nvPr/>
        </p:nvPicPr>
        <p:blipFill rotWithShape="1">
          <a:blip r:embed="rId3" cstate="email">
            <a:extLst>
              <a:ext uri="{28A0092B-C50C-407E-A947-70E740481C1C}">
                <a14:useLocalDpi xmlns:a14="http://schemas.microsoft.com/office/drawing/2010/main" val="0"/>
              </a:ext>
            </a:extLst>
          </a:blip>
          <a:srcRect t="8237" b="4513"/>
          <a:stretch/>
        </p:blipFill>
        <p:spPr>
          <a:xfrm>
            <a:off x="1404803" y="1028701"/>
            <a:ext cx="5879917" cy="4114711"/>
          </a:xfrm>
          <a:prstGeom prst="rect">
            <a:avLst/>
          </a:prstGeom>
        </p:spPr>
      </p:pic>
    </p:spTree>
    <p:extLst>
      <p:ext uri="{BB962C8B-B14F-4D97-AF65-F5344CB8AC3E}">
        <p14:creationId xmlns:p14="http://schemas.microsoft.com/office/powerpoint/2010/main" val="3061357961"/>
      </p:ext>
    </p:extLst>
  </p:cSld>
  <p:clrMapOvr>
    <a:masterClrMapping/>
  </p:clrMapOvr>
  <p:transition spd="med">
    <p:wipe dir="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marL="0" indent="0">
              <a:buNone/>
            </a:pPr>
            <a:r>
              <a:rPr lang="es-ES" sz="1500" dirty="0"/>
              <a:t>Los routers Cisco admiten diversos protocolos de routing dinámico IPv4, incluidos los siguientes:</a:t>
            </a:r>
          </a:p>
          <a:p>
            <a:pPr lvl="1"/>
            <a:r>
              <a:rPr lang="es-ES" sz="1200" b="1" dirty="0"/>
              <a:t>EIGRP</a:t>
            </a:r>
            <a:r>
              <a:rPr lang="es-ES" sz="1200" dirty="0"/>
              <a:t>: Protocolo mejorado de routing de gateway interior</a:t>
            </a:r>
          </a:p>
          <a:p>
            <a:pPr lvl="1"/>
            <a:r>
              <a:rPr lang="es-ES" sz="1200" b="1" dirty="0"/>
              <a:t>OSPF</a:t>
            </a:r>
            <a:r>
              <a:rPr lang="es-ES" sz="1200" dirty="0"/>
              <a:t>: Abrir primero la ruta más corta</a:t>
            </a:r>
          </a:p>
          <a:p>
            <a:pPr lvl="1"/>
            <a:r>
              <a:rPr lang="es-ES" sz="1200" b="1" dirty="0"/>
              <a:t>IS-IS</a:t>
            </a:r>
            <a:r>
              <a:rPr lang="es-ES" sz="1200" dirty="0"/>
              <a:t>: Sistema intermedio a sistema intermedio</a:t>
            </a:r>
          </a:p>
          <a:p>
            <a:pPr lvl="1"/>
            <a:r>
              <a:rPr lang="es-ES" sz="1200" b="1" dirty="0"/>
              <a:t>RIP</a:t>
            </a:r>
            <a:r>
              <a:rPr lang="es-ES" sz="1200" dirty="0"/>
              <a:t>: Protocolo de información de routing</a:t>
            </a:r>
          </a:p>
          <a:p>
            <a:pPr marL="0" indent="0">
              <a:buNone/>
            </a:pPr>
            <a:r>
              <a:rPr lang="es-ES" sz="1500" dirty="0"/>
              <a:t>Utilice el comando </a:t>
            </a:r>
            <a:r>
              <a:rPr lang="es-ES" sz="1500" b="1" dirty="0"/>
              <a:t>router ? </a:t>
            </a:r>
            <a:r>
              <a:rPr lang="es-ES" sz="1500" dirty="0"/>
              <a:t>en el modo de configuración global para determinar qué protocolos de routing admite IOS.</a:t>
            </a:r>
          </a:p>
        </p:txBody>
      </p:sp>
      <p:sp>
        <p:nvSpPr>
          <p:cNvPr id="21505" name="Rectangle 2"/>
          <p:cNvSpPr>
            <a:spLocks noGrp="1" noChangeArrowheads="1"/>
          </p:cNvSpPr>
          <p:nvPr>
            <p:ph type="title"/>
          </p:nvPr>
        </p:nvSpPr>
        <p:spPr/>
        <p:txBody>
          <a:bodyPr>
            <a:normAutofit fontScale="90000"/>
          </a:bodyPr>
          <a:lstStyle/>
          <a:p>
            <a:r>
              <a:rPr lang="es-ES" sz="1350" dirty="0"/>
              <a:t>Protocolos de </a:t>
            </a:r>
            <a:r>
              <a:rPr lang="es-ES" sz="1350" dirty="0" err="1"/>
              <a:t>routing</a:t>
            </a:r>
            <a:r>
              <a:rPr lang="es-ES" sz="1350" dirty="0"/>
              <a:t> dinámico</a:t>
            </a:r>
            <a:br>
              <a:rPr dirty="0"/>
            </a:br>
            <a:r>
              <a:rPr lang="es-ES" dirty="0"/>
              <a:t>Protocolos de </a:t>
            </a:r>
            <a:r>
              <a:rPr lang="es-ES" dirty="0" err="1"/>
              <a:t>routing</a:t>
            </a:r>
            <a:r>
              <a:rPr lang="es-ES" dirty="0"/>
              <a:t> IPv4 </a:t>
            </a:r>
          </a:p>
        </p:txBody>
      </p:sp>
      <p:pic>
        <p:nvPicPr>
          <p:cNvPr id="3" name="Picture 2" descr="Routing and Switching Essentials - Mozilla Firefox"/>
          <p:cNvPicPr>
            <a:picLocks noChangeAspect="1"/>
          </p:cNvPicPr>
          <p:nvPr/>
        </p:nvPicPr>
        <p:blipFill rotWithShape="1">
          <a:blip r:embed="rId3" cstate="email">
            <a:extLst>
              <a:ext uri="{28A0092B-C50C-407E-A947-70E740481C1C}">
                <a14:useLocalDpi xmlns:a14="http://schemas.microsoft.com/office/drawing/2010/main" val="0"/>
              </a:ext>
            </a:extLst>
          </a:blip>
          <a:srcRect l="15201" t="52796" r="40799" b="15468"/>
          <a:stretch/>
        </p:blipFill>
        <p:spPr>
          <a:xfrm>
            <a:off x="1353177" y="2676143"/>
            <a:ext cx="6040837" cy="2337817"/>
          </a:xfrm>
          <a:prstGeom prst="rect">
            <a:avLst/>
          </a:prstGeom>
        </p:spPr>
      </p:pic>
    </p:spTree>
    <p:extLst>
      <p:ext uri="{BB962C8B-B14F-4D97-AF65-F5344CB8AC3E}">
        <p14:creationId xmlns:p14="http://schemas.microsoft.com/office/powerpoint/2010/main" val="1388839630"/>
      </p:ext>
    </p:extLst>
  </p:cSld>
  <p:clrMapOvr>
    <a:masterClrMapping/>
  </p:clrMapOvr>
  <p:transition spd="med">
    <p:wipe dir="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3150A9-E07B-00A0-42AB-B585DD249A78}"/>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91A896D8-CA16-ECE6-FCE8-BEB933F3D8F2}"/>
              </a:ext>
            </a:extLst>
          </p:cNvPr>
          <p:cNvSpPr>
            <a:spLocks noGrp="1"/>
          </p:cNvSpPr>
          <p:nvPr>
            <p:ph idx="1"/>
          </p:nvPr>
        </p:nvSpPr>
        <p:spPr/>
        <p:txBody>
          <a:bodyPr/>
          <a:lstStyle/>
          <a:p>
            <a:pPr marL="0" indent="0" rtl="0">
              <a:buNone/>
            </a:pPr>
            <a:r>
              <a:rPr lang="es-419" sz="1600" dirty="0">
                <a:solidFill>
                  <a:srgbClr val="000000"/>
                </a:solidFill>
              </a:rPr>
              <a:t>Los protocolos de enrutamiento dinámico se utilizan en el ámbito de las redes desde finales de la década de los ochenta. Uno de los primeros protocolos de enrutamiento fue RIP. RIPv1 se lanzó en 1988, pero ya en 1969 se utilizaban algunos de los algoritmos básicos en dicho protocolo en la </a:t>
            </a:r>
            <a:r>
              <a:rPr lang="es-419" sz="1600" dirty="0" err="1">
                <a:solidFill>
                  <a:srgbClr val="000000"/>
                </a:solidFill>
              </a:rPr>
              <a:t>Advanced</a:t>
            </a:r>
            <a:r>
              <a:rPr lang="es-419" sz="1600" dirty="0">
                <a:solidFill>
                  <a:srgbClr val="000000"/>
                </a:solidFill>
              </a:rPr>
              <a:t> </a:t>
            </a:r>
            <a:r>
              <a:rPr lang="es-419" sz="1600" dirty="0" err="1">
                <a:solidFill>
                  <a:srgbClr val="000000"/>
                </a:solidFill>
              </a:rPr>
              <a:t>Research</a:t>
            </a:r>
            <a:r>
              <a:rPr lang="es-419" sz="1600" dirty="0">
                <a:solidFill>
                  <a:srgbClr val="000000"/>
                </a:solidFill>
              </a:rPr>
              <a:t> </a:t>
            </a:r>
            <a:r>
              <a:rPr lang="es-419" sz="1600" dirty="0" err="1">
                <a:solidFill>
                  <a:srgbClr val="000000"/>
                </a:solidFill>
              </a:rPr>
              <a:t>Projects</a:t>
            </a:r>
            <a:r>
              <a:rPr lang="es-419" sz="1600" dirty="0">
                <a:solidFill>
                  <a:srgbClr val="000000"/>
                </a:solidFill>
              </a:rPr>
              <a:t> Agency Network (ARPANET). A medida que las redes evolucionaron y se volvieron más complejas, surgieron nuevos protocolos de enrutamiento. </a:t>
            </a:r>
          </a:p>
          <a:p>
            <a:pPr marL="0" indent="0"/>
            <a:endParaRPr lang="en-US" sz="1600" dirty="0">
              <a:solidFill>
                <a:srgbClr val="000000"/>
              </a:solidFill>
            </a:endParaRPr>
          </a:p>
        </p:txBody>
      </p:sp>
      <p:sp>
        <p:nvSpPr>
          <p:cNvPr id="3" name="Title 2">
            <a:extLst>
              <a:ext uri="{FF2B5EF4-FFF2-40B4-BE49-F238E27FC236}">
                <a16:creationId xmlns:a16="http://schemas.microsoft.com/office/drawing/2014/main" id="{E257BA7F-7161-2836-E710-11F0007A0601}"/>
              </a:ext>
            </a:extLst>
          </p:cNvPr>
          <p:cNvSpPr>
            <a:spLocks noGrp="1"/>
          </p:cNvSpPr>
          <p:nvPr>
            <p:ph type="title"/>
          </p:nvPr>
        </p:nvSpPr>
        <p:spPr/>
        <p:txBody>
          <a:bodyPr/>
          <a:lstStyle/>
          <a:p>
            <a:pPr rtl="0"/>
            <a:r>
              <a:rPr lang="es-419" sz="1600"/>
              <a:t>Enrutamiento estático y dinámico</a:t>
            </a:r>
            <a:br>
              <a:rPr lang="en-US" dirty="0"/>
            </a:br>
            <a:r>
              <a:rPr lang="es-419" sz="2400"/>
              <a:t>Evolución del enrutamiento dinámico</a:t>
            </a:r>
          </a:p>
        </p:txBody>
      </p:sp>
      <p:pic>
        <p:nvPicPr>
          <p:cNvPr id="8" name="Picture 7">
            <a:extLst>
              <a:ext uri="{FF2B5EF4-FFF2-40B4-BE49-F238E27FC236}">
                <a16:creationId xmlns:a16="http://schemas.microsoft.com/office/drawing/2014/main" id="{79162B13-5078-E8BA-5FFE-265D17C1BC07}"/>
              </a:ext>
            </a:extLst>
          </p:cNvPr>
          <p:cNvPicPr>
            <a:picLocks noChangeAspect="1"/>
          </p:cNvPicPr>
          <p:nvPr/>
        </p:nvPicPr>
        <p:blipFill>
          <a:blip r:embed="rId3"/>
          <a:stretch>
            <a:fillRect/>
          </a:stretch>
        </p:blipFill>
        <p:spPr>
          <a:xfrm>
            <a:off x="1324343" y="2158355"/>
            <a:ext cx="6128017" cy="2795908"/>
          </a:xfrm>
          <a:prstGeom prst="rect">
            <a:avLst/>
          </a:prstGeom>
        </p:spPr>
      </p:pic>
    </p:spTree>
    <p:extLst>
      <p:ext uri="{BB962C8B-B14F-4D97-AF65-F5344CB8AC3E}">
        <p14:creationId xmlns:p14="http://schemas.microsoft.com/office/powerpoint/2010/main" val="3168257007"/>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email">
            <a:extLst>
              <a:ext uri="{28A0092B-C50C-407E-A947-70E740481C1C}">
                <a14:useLocalDpi xmlns:a14="http://schemas.microsoft.com/office/drawing/2010/main" val="0"/>
              </a:ext>
            </a:extLst>
          </a:blip>
          <a:stretch>
            <a:fillRect/>
          </a:stretch>
        </p:blipFill>
        <p:spPr>
          <a:xfrm>
            <a:off x="1326334" y="798944"/>
            <a:ext cx="6026966" cy="4350042"/>
          </a:xfrm>
        </p:spPr>
      </p:pic>
      <p:sp>
        <p:nvSpPr>
          <p:cNvPr id="21505" name="Rectangle 2"/>
          <p:cNvSpPr>
            <a:spLocks noGrp="1" noChangeArrowheads="1"/>
          </p:cNvSpPr>
          <p:nvPr>
            <p:ph type="title"/>
          </p:nvPr>
        </p:nvSpPr>
        <p:spPr/>
        <p:txBody>
          <a:bodyPr>
            <a:normAutofit fontScale="90000"/>
          </a:bodyPr>
          <a:lstStyle/>
          <a:p>
            <a:r>
              <a:rPr lang="es-ES" sz="1350" dirty="0"/>
              <a:t>Protocolos de </a:t>
            </a:r>
            <a:r>
              <a:rPr lang="es-ES" sz="1350" dirty="0" err="1"/>
              <a:t>routing</a:t>
            </a:r>
            <a:r>
              <a:rPr lang="es-ES" sz="1350" dirty="0"/>
              <a:t> dinámico</a:t>
            </a:r>
            <a:br>
              <a:rPr dirty="0"/>
            </a:br>
            <a:r>
              <a:rPr lang="es-ES" dirty="0"/>
              <a:t>Ejemplos de </a:t>
            </a:r>
            <a:r>
              <a:rPr lang="es-ES" dirty="0" err="1"/>
              <a:t>routing</a:t>
            </a:r>
            <a:r>
              <a:rPr lang="es-ES" dirty="0"/>
              <a:t> dinámico IPv4 </a:t>
            </a:r>
          </a:p>
        </p:txBody>
      </p:sp>
    </p:spTree>
    <p:extLst>
      <p:ext uri="{BB962C8B-B14F-4D97-AF65-F5344CB8AC3E}">
        <p14:creationId xmlns:p14="http://schemas.microsoft.com/office/powerpoint/2010/main" val="1863283492"/>
      </p:ext>
    </p:extLst>
  </p:cSld>
  <p:clrMapOvr>
    <a:masterClrMapping/>
  </p:clrMapOvr>
  <p:transition spd="med">
    <p:wipe dir="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994410" y="1676400"/>
            <a:ext cx="7155180" cy="1790700"/>
          </a:xfrm>
        </p:spPr>
        <p:txBody>
          <a:bodyPr/>
          <a:lstStyle/>
          <a:p>
            <a:pPr rtl="0"/>
            <a:r>
              <a:rPr lang="es-419" dirty="0"/>
              <a:t>10.1.3 </a:t>
            </a:r>
            <a:r>
              <a:rPr lang="es-ES" sz="4000" dirty="0"/>
              <a:t>Comparación entre enrutamiento estático y dinámico</a:t>
            </a:r>
            <a:endParaRPr lang="es-419" dirty="0"/>
          </a:p>
        </p:txBody>
      </p:sp>
    </p:spTree>
    <p:custDataLst>
      <p:tags r:id="rId1"/>
    </p:custDataLst>
    <p:extLst>
      <p:ext uri="{BB962C8B-B14F-4D97-AF65-F5344CB8AC3E}">
        <p14:creationId xmlns:p14="http://schemas.microsoft.com/office/powerpoint/2010/main" val="40659091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FB3B7F17-3A54-F044-BF5E-127591825CE6}"/>
              </a:ext>
            </a:extLst>
          </p:cNvPr>
          <p:cNvSpPr>
            <a:spLocks noGrp="1"/>
          </p:cNvSpPr>
          <p:nvPr>
            <p:ph idx="1"/>
          </p:nvPr>
        </p:nvSpPr>
        <p:spPr/>
        <p:txBody>
          <a:bodyPr>
            <a:normAutofit fontScale="92500" lnSpcReduction="20000"/>
          </a:bodyPr>
          <a:lstStyle/>
          <a:p>
            <a:pPr marL="0" indent="0" algn="l" rtl="0">
              <a:buNone/>
            </a:pPr>
            <a:r>
              <a:rPr lang="es-419" sz="1600" dirty="0">
                <a:solidFill>
                  <a:srgbClr val="000000"/>
                </a:solidFill>
              </a:rPr>
              <a:t>El </a:t>
            </a:r>
            <a:r>
              <a:rPr lang="es-419" sz="1600" dirty="0" err="1">
                <a:solidFill>
                  <a:srgbClr val="000000"/>
                </a:solidFill>
              </a:rPr>
              <a:t>routing</a:t>
            </a:r>
            <a:r>
              <a:rPr lang="es-419" sz="1600" dirty="0">
                <a:solidFill>
                  <a:srgbClr val="000000"/>
                </a:solidFill>
              </a:rPr>
              <a:t> estático y el </a:t>
            </a:r>
            <a:r>
              <a:rPr lang="es-419" sz="1600" dirty="0" err="1">
                <a:solidFill>
                  <a:srgbClr val="000000"/>
                </a:solidFill>
              </a:rPr>
              <a:t>routing</a:t>
            </a:r>
            <a:r>
              <a:rPr lang="es-419" sz="1600" dirty="0">
                <a:solidFill>
                  <a:srgbClr val="000000"/>
                </a:solidFill>
              </a:rPr>
              <a:t> dinámico no son mutuamente excluyentes. En cambio, la mayoría de las redes utilizan una combinación de protocolos de </a:t>
            </a:r>
            <a:r>
              <a:rPr lang="es-419" sz="1600" dirty="0" err="1">
                <a:solidFill>
                  <a:srgbClr val="000000"/>
                </a:solidFill>
              </a:rPr>
              <a:t>routing</a:t>
            </a:r>
            <a:r>
              <a:rPr lang="es-419" sz="1600" dirty="0">
                <a:solidFill>
                  <a:srgbClr val="000000"/>
                </a:solidFill>
              </a:rPr>
              <a:t> dinámico y rutas estáticas.</a:t>
            </a:r>
          </a:p>
          <a:p>
            <a:pPr marL="0" indent="0" algn="l">
              <a:buNone/>
            </a:pPr>
            <a:endParaRPr lang="en-US" sz="1600" b="1" dirty="0">
              <a:solidFill>
                <a:srgbClr val="000000"/>
              </a:solidFill>
            </a:endParaRPr>
          </a:p>
          <a:p>
            <a:pPr marL="0" indent="0" algn="l" rtl="0">
              <a:buNone/>
            </a:pPr>
            <a:r>
              <a:rPr lang="es-419" sz="1900" b="1" dirty="0">
                <a:solidFill>
                  <a:srgbClr val="000000"/>
                </a:solidFill>
                <a:effectLst>
                  <a:outerShdw blurRad="38100" dist="38100" dir="2700000" algn="tl">
                    <a:srgbClr val="000000">
                      <a:alpha val="43137"/>
                    </a:srgbClr>
                  </a:outerShdw>
                </a:effectLst>
              </a:rPr>
              <a:t>Las rutas estáticas se utilizan comúnmente en los siguientes escenarios:</a:t>
            </a:r>
          </a:p>
          <a:p>
            <a:pPr marL="358835" lvl="1" indent="-285750" rtl="0">
              <a:buFont typeface="Arial" panose="020B0604020202020204" pitchFamily="34" charset="0"/>
              <a:buChar char="•"/>
            </a:pPr>
            <a:r>
              <a:rPr lang="es-419" sz="1900" dirty="0">
                <a:solidFill>
                  <a:srgbClr val="000000"/>
                </a:solidFill>
              </a:rPr>
              <a:t>Como ruta predeterminada de reenvío de paquetes a un proveedor de servicios</a:t>
            </a:r>
          </a:p>
          <a:p>
            <a:pPr marL="358835" lvl="1" indent="-285750" rtl="0">
              <a:buFont typeface="Arial" panose="020B0604020202020204" pitchFamily="34" charset="0"/>
              <a:buChar char="•"/>
            </a:pPr>
            <a:r>
              <a:rPr lang="es-419" sz="1900" dirty="0">
                <a:solidFill>
                  <a:srgbClr val="000000"/>
                </a:solidFill>
              </a:rPr>
              <a:t>Para rutas fuera del dominio de enrutamiento y no aprendidas por el protocolo de enrutamiento dinámico</a:t>
            </a:r>
          </a:p>
          <a:p>
            <a:pPr marL="358835" lvl="1" indent="-285750" rtl="0">
              <a:buFont typeface="Arial" panose="020B0604020202020204" pitchFamily="34" charset="0"/>
              <a:buChar char="•"/>
            </a:pPr>
            <a:r>
              <a:rPr lang="es-419" sz="1900" dirty="0">
                <a:solidFill>
                  <a:srgbClr val="000000"/>
                </a:solidFill>
              </a:rPr>
              <a:t>Cuando el administrador de red desea definir explícitamente la ruta de acceso para una red específica</a:t>
            </a:r>
          </a:p>
          <a:p>
            <a:pPr marL="358835" lvl="1" indent="-285750" rtl="0">
              <a:buFont typeface="Arial" panose="020B0604020202020204" pitchFamily="34" charset="0"/>
              <a:buChar char="•"/>
            </a:pPr>
            <a:r>
              <a:rPr lang="es-419" sz="1900" dirty="0">
                <a:solidFill>
                  <a:srgbClr val="000000"/>
                </a:solidFill>
              </a:rPr>
              <a:t>Para el enrutamiento entre redes internas</a:t>
            </a:r>
          </a:p>
          <a:p>
            <a:pPr marL="0" indent="0" algn="l"/>
            <a:endParaRPr lang="en-US" sz="1600" dirty="0">
              <a:solidFill>
                <a:srgbClr val="000000"/>
              </a:solidFill>
            </a:endParaRPr>
          </a:p>
          <a:p>
            <a:pPr marL="0" indent="0" algn="l" rtl="0">
              <a:buNone/>
            </a:pPr>
            <a:r>
              <a:rPr lang="es-419" sz="1600" dirty="0">
                <a:solidFill>
                  <a:srgbClr val="000000"/>
                </a:solidFill>
              </a:rPr>
              <a:t>Las rutas estáticas son útiles para redes más pequeñas con solo una ruta hacia una red externa. También proporcionan seguridad en una red más grande para ciertos tipos de tráfico o enlaces a otras redes que necesitan más control.</a:t>
            </a:r>
          </a:p>
          <a:p>
            <a:pPr marL="285750" indent="-285750" algn="l">
              <a:buFont typeface="Arial" panose="020B0604020202020204" pitchFamily="34" charset="0"/>
              <a:buChar char="•"/>
            </a:pPr>
            <a:endParaRPr lang="en-US" sz="1600" dirty="0">
              <a:solidFill>
                <a:srgbClr val="000000"/>
              </a:solidFill>
            </a:endParaRPr>
          </a:p>
        </p:txBody>
      </p:sp>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p:txBody>
          <a:bodyPr/>
          <a:lstStyle/>
          <a:p>
            <a:pPr rtl="0"/>
            <a:r>
              <a:rPr lang="es-419" sz="1600"/>
              <a:t>Enrutamiento estático y dinámico</a:t>
            </a:r>
            <a:br>
              <a:rPr lang="en-US" dirty="0"/>
            </a:br>
            <a:r>
              <a:rPr lang="es-419" sz="2400"/>
              <a:t>¿Estático o dinámico? </a:t>
            </a:r>
          </a:p>
        </p:txBody>
      </p:sp>
    </p:spTree>
    <p:extLst>
      <p:ext uri="{BB962C8B-B14F-4D97-AF65-F5344CB8AC3E}">
        <p14:creationId xmlns:p14="http://schemas.microsoft.com/office/powerpoint/2010/main" val="1730822223"/>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FB3B7F17-3A54-F044-BF5E-127591825CE6}"/>
              </a:ext>
            </a:extLst>
          </p:cNvPr>
          <p:cNvSpPr>
            <a:spLocks noGrp="1"/>
          </p:cNvSpPr>
          <p:nvPr>
            <p:ph idx="1"/>
          </p:nvPr>
        </p:nvSpPr>
        <p:spPr/>
        <p:txBody>
          <a:bodyPr>
            <a:normAutofit/>
          </a:bodyPr>
          <a:lstStyle/>
          <a:p>
            <a:pPr marL="0" indent="0" algn="l" rtl="0">
              <a:buNone/>
            </a:pPr>
            <a:r>
              <a:rPr lang="es-419" sz="1600" dirty="0">
                <a:solidFill>
                  <a:srgbClr val="000000"/>
                </a:solidFill>
              </a:rPr>
              <a:t>Los protocolos de enrutamiento dinámico se implementan en cualquier tipo de red que consta de más de unos pocos </a:t>
            </a:r>
            <a:r>
              <a:rPr lang="es-419" sz="1600" dirty="0" err="1">
                <a:solidFill>
                  <a:srgbClr val="000000"/>
                </a:solidFill>
              </a:rPr>
              <a:t>routers</a:t>
            </a:r>
            <a:r>
              <a:rPr lang="es-419" sz="1600" dirty="0">
                <a:solidFill>
                  <a:srgbClr val="000000"/>
                </a:solidFill>
              </a:rPr>
              <a:t>. Son escalables y determinan automáticamente las mejores rutas si se produce un cambio en la topología.</a:t>
            </a:r>
          </a:p>
          <a:p>
            <a:pPr marL="0" indent="0" algn="l"/>
            <a:endParaRPr lang="en-US" sz="1600" dirty="0">
              <a:solidFill>
                <a:srgbClr val="000000"/>
              </a:solidFill>
            </a:endParaRPr>
          </a:p>
          <a:p>
            <a:pPr marL="0" indent="0" algn="l" rtl="0">
              <a:buNone/>
            </a:pPr>
            <a:r>
              <a:rPr lang="es-419" sz="1800" b="1" dirty="0">
                <a:solidFill>
                  <a:srgbClr val="000000"/>
                </a:solidFill>
              </a:rPr>
              <a:t>Los protocolos de enrutamiento dinámico se utilizan comúnmente en los siguientes escenarios:</a:t>
            </a:r>
          </a:p>
          <a:p>
            <a:pPr marL="415985" lvl="1" indent="-342900" rtl="0">
              <a:buFont typeface="Arial" panose="020B0604020202020204" pitchFamily="34" charset="0"/>
              <a:buChar char="•"/>
            </a:pPr>
            <a:r>
              <a:rPr lang="es-419" sz="1800" dirty="0">
                <a:solidFill>
                  <a:srgbClr val="000000"/>
                </a:solidFill>
              </a:rPr>
              <a:t>En redes que consisten en más de unos pocos </a:t>
            </a:r>
            <a:r>
              <a:rPr lang="es-419" sz="1800" dirty="0" err="1">
                <a:solidFill>
                  <a:srgbClr val="000000"/>
                </a:solidFill>
              </a:rPr>
              <a:t>routers</a:t>
            </a:r>
            <a:endParaRPr lang="es-419" sz="1800" dirty="0">
              <a:solidFill>
                <a:srgbClr val="000000"/>
              </a:solidFill>
            </a:endParaRPr>
          </a:p>
          <a:p>
            <a:pPr marL="415985" lvl="1" indent="-342900" rtl="0">
              <a:buFont typeface="Arial" panose="020B0604020202020204" pitchFamily="34" charset="0"/>
              <a:buChar char="•"/>
            </a:pPr>
            <a:r>
              <a:rPr lang="es-419" sz="1800" dirty="0">
                <a:solidFill>
                  <a:srgbClr val="000000"/>
                </a:solidFill>
              </a:rPr>
              <a:t>Cuando un cambio en la topología de red requiere que la red determine automáticamente otra ruta por escalabilidad. </a:t>
            </a:r>
          </a:p>
          <a:p>
            <a:pPr marL="415985" lvl="1" indent="-342900" rtl="0">
              <a:buFont typeface="Arial" panose="020B0604020202020204" pitchFamily="34" charset="0"/>
              <a:buChar char="•"/>
            </a:pPr>
            <a:r>
              <a:rPr lang="es-419" sz="1800" dirty="0">
                <a:solidFill>
                  <a:srgbClr val="000000"/>
                </a:solidFill>
              </a:rPr>
              <a:t>A medida que la red crece, el protocolo de enrutamiento dinámico aprende automáticamente sobre cualquier red nueva.</a:t>
            </a:r>
          </a:p>
          <a:p>
            <a:pPr marL="73085" lvl="1" indent="0">
              <a:buNone/>
            </a:pPr>
            <a:endParaRPr lang="en-US" sz="1600" dirty="0">
              <a:solidFill>
                <a:srgbClr val="000000"/>
              </a:solidFill>
            </a:endParaRPr>
          </a:p>
          <a:p>
            <a:pPr marL="415985" lvl="1" indent="-342900">
              <a:buFont typeface="Arial" panose="020B0604020202020204" pitchFamily="34" charset="0"/>
              <a:buChar char="•"/>
            </a:pPr>
            <a:endParaRPr lang="en-US" sz="1600" dirty="0">
              <a:solidFill>
                <a:srgbClr val="000000"/>
              </a:solidFill>
            </a:endParaRPr>
          </a:p>
          <a:p>
            <a:pPr marL="285750" indent="-285750" algn="l">
              <a:buFont typeface="Arial" panose="020B0604020202020204" pitchFamily="34" charset="0"/>
              <a:buChar char="•"/>
            </a:pPr>
            <a:endParaRPr lang="en-US" sz="1600" dirty="0">
              <a:solidFill>
                <a:srgbClr val="000000"/>
              </a:solidFill>
            </a:endParaRPr>
          </a:p>
        </p:txBody>
      </p:sp>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p:txBody>
          <a:bodyPr/>
          <a:lstStyle/>
          <a:p>
            <a:pPr rtl="0"/>
            <a:r>
              <a:rPr lang="es-419" sz="1600"/>
              <a:t>Enrutamiento estático y dinámico</a:t>
            </a:r>
            <a:br>
              <a:rPr lang="en-US" dirty="0"/>
            </a:br>
            <a:r>
              <a:rPr lang="es-419" sz="2400"/>
              <a:t>¿Estático o dinámico? (Cont.)</a:t>
            </a:r>
          </a:p>
        </p:txBody>
      </p:sp>
    </p:spTree>
    <p:extLst>
      <p:ext uri="{BB962C8B-B14F-4D97-AF65-F5344CB8AC3E}">
        <p14:creationId xmlns:p14="http://schemas.microsoft.com/office/powerpoint/2010/main" val="844114155"/>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766719C4-8CFD-984D-B643-9966103A75E0}"/>
              </a:ext>
            </a:extLst>
          </p:cNvPr>
          <p:cNvSpPr>
            <a:spLocks noGrp="1"/>
          </p:cNvSpPr>
          <p:nvPr>
            <p:ph idx="1"/>
          </p:nvPr>
        </p:nvSpPr>
        <p:spPr/>
        <p:txBody>
          <a:bodyPr/>
          <a:lstStyle/>
          <a:p>
            <a:pPr marL="0" indent="0" algn="l" rtl="0">
              <a:buNone/>
            </a:pPr>
            <a:r>
              <a:rPr lang="es-419" sz="1600" dirty="0">
                <a:solidFill>
                  <a:srgbClr val="000000"/>
                </a:solidFill>
              </a:rPr>
              <a:t>La tabla muestra una comparación de algunas de las diferencias entre el enrutamiento dinámico y estático.</a:t>
            </a:r>
          </a:p>
        </p:txBody>
      </p:sp>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p:txBody>
          <a:bodyPr/>
          <a:lstStyle/>
          <a:p>
            <a:pPr rtl="0"/>
            <a:r>
              <a:rPr lang="es-419" sz="1600"/>
              <a:t>Enrutamiento estático y dinámico</a:t>
            </a:r>
            <a:br>
              <a:rPr lang="en-US" dirty="0"/>
            </a:br>
            <a:r>
              <a:rPr lang="es-419" sz="2400"/>
              <a:t>¿Estático o dinámico? (Cont.)</a:t>
            </a:r>
          </a:p>
        </p:txBody>
      </p:sp>
      <p:graphicFrame>
        <p:nvGraphicFramePr>
          <p:cNvPr id="6" name="Table 5">
            <a:extLst>
              <a:ext uri="{FF2B5EF4-FFF2-40B4-BE49-F238E27FC236}">
                <a16:creationId xmlns:a16="http://schemas.microsoft.com/office/drawing/2014/main" id="{46171DEF-51C2-6F4D-9FFB-C6E35EA8E4EA}"/>
              </a:ext>
            </a:extLst>
          </p:cNvPr>
          <p:cNvGraphicFramePr>
            <a:graphicFrameLocks noGrp="1"/>
          </p:cNvGraphicFramePr>
          <p:nvPr>
            <p:extLst>
              <p:ext uri="{D42A27DB-BD31-4B8C-83A1-F6EECF244321}">
                <p14:modId xmlns:p14="http://schemas.microsoft.com/office/powerpoint/2010/main" val="1792921157"/>
              </p:ext>
            </p:extLst>
          </p:nvPr>
        </p:nvGraphicFramePr>
        <p:xfrm>
          <a:off x="722257" y="1430271"/>
          <a:ext cx="7696902" cy="3351530"/>
        </p:xfrm>
        <a:graphic>
          <a:graphicData uri="http://schemas.openxmlformats.org/drawingml/2006/table">
            <a:tbl>
              <a:tblPr firstRow="1" bandRow="1">
                <a:tableStyleId>{5C22544A-7EE6-4342-B048-85BDC9FD1C3A}</a:tableStyleId>
              </a:tblPr>
              <a:tblGrid>
                <a:gridCol w="2115878">
                  <a:extLst>
                    <a:ext uri="{9D8B030D-6E8A-4147-A177-3AD203B41FA5}">
                      <a16:colId xmlns:a16="http://schemas.microsoft.com/office/drawing/2014/main" val="2853051979"/>
                    </a:ext>
                  </a:extLst>
                </a:gridCol>
                <a:gridCol w="2796363">
                  <a:extLst>
                    <a:ext uri="{9D8B030D-6E8A-4147-A177-3AD203B41FA5}">
                      <a16:colId xmlns:a16="http://schemas.microsoft.com/office/drawing/2014/main" val="4208238044"/>
                    </a:ext>
                  </a:extLst>
                </a:gridCol>
                <a:gridCol w="2784661">
                  <a:extLst>
                    <a:ext uri="{9D8B030D-6E8A-4147-A177-3AD203B41FA5}">
                      <a16:colId xmlns:a16="http://schemas.microsoft.com/office/drawing/2014/main" val="3643888410"/>
                    </a:ext>
                  </a:extLst>
                </a:gridCol>
              </a:tblGrid>
              <a:tr h="370840">
                <a:tc>
                  <a:txBody>
                    <a:bodyPr/>
                    <a:lstStyle/>
                    <a:p>
                      <a:pPr algn="l" rtl="0" fontAlgn="ctr"/>
                      <a:r>
                        <a:rPr lang="es-419" sz="1400" dirty="0">
                          <a:effectLst/>
                        </a:rPr>
                        <a:t>Característica</a:t>
                      </a:r>
                    </a:p>
                  </a:txBody>
                  <a:tcPr marL="47625" marR="47625" marT="47625" marB="47625" anchor="ctr"/>
                </a:tc>
                <a:tc>
                  <a:txBody>
                    <a:bodyPr/>
                    <a:lstStyle/>
                    <a:p>
                      <a:pPr algn="l" rtl="0" fontAlgn="ctr"/>
                      <a:r>
                        <a:rPr lang="es-419" sz="1400">
                          <a:effectLst/>
                        </a:rPr>
                        <a:t>Enrutamiento dinámico</a:t>
                      </a:r>
                    </a:p>
                  </a:txBody>
                  <a:tcPr marL="47625" marR="47625" marT="47625" marB="47625" anchor="ctr"/>
                </a:tc>
                <a:tc>
                  <a:txBody>
                    <a:bodyPr/>
                    <a:lstStyle/>
                    <a:p>
                      <a:pPr algn="l" rtl="0" fontAlgn="ctr"/>
                      <a:r>
                        <a:rPr lang="es-419" sz="1400">
                          <a:effectLst/>
                        </a:rPr>
                        <a:t>Enrutamiento estático</a:t>
                      </a:r>
                    </a:p>
                  </a:txBody>
                  <a:tcPr marL="47625" marR="47625" marT="47625" marB="47625" anchor="ctr"/>
                </a:tc>
                <a:extLst>
                  <a:ext uri="{0D108BD9-81ED-4DB2-BD59-A6C34878D82A}">
                    <a16:rowId xmlns:a16="http://schemas.microsoft.com/office/drawing/2014/main" val="2687243114"/>
                  </a:ext>
                </a:extLst>
              </a:tr>
              <a:tr h="370840">
                <a:tc>
                  <a:txBody>
                    <a:bodyPr/>
                    <a:lstStyle/>
                    <a:p>
                      <a:pPr rtl="0" fontAlgn="ctr"/>
                      <a:r>
                        <a:rPr lang="es-419" sz="1400" b="0">
                          <a:solidFill>
                            <a:schemeClr val="bg1"/>
                          </a:solidFill>
                          <a:effectLst/>
                        </a:rPr>
                        <a:t>Complejidad de la configuración</a:t>
                      </a:r>
                    </a:p>
                  </a:txBody>
                  <a:tcPr marL="47625" marR="47625" marT="47625" marB="47625" anchor="ctr">
                    <a:solidFill>
                      <a:schemeClr val="accent1"/>
                    </a:solidFill>
                  </a:tcPr>
                </a:tc>
                <a:tc>
                  <a:txBody>
                    <a:bodyPr/>
                    <a:lstStyle/>
                    <a:p>
                      <a:pPr rtl="0" fontAlgn="ctr"/>
                      <a:r>
                        <a:rPr lang="es-419" sz="1400" b="0">
                          <a:effectLst/>
                        </a:rPr>
                        <a:t>Independiente del tamaño de la red</a:t>
                      </a:r>
                    </a:p>
                  </a:txBody>
                  <a:tcPr marL="47625" marR="47625" marT="47625" marB="47625" anchor="ctr"/>
                </a:tc>
                <a:tc>
                  <a:txBody>
                    <a:bodyPr/>
                    <a:lstStyle/>
                    <a:p>
                      <a:pPr rtl="0" fontAlgn="ctr"/>
                      <a:r>
                        <a:rPr lang="es-419" sz="1400" b="0">
                          <a:effectLst/>
                        </a:rPr>
                        <a:t>Aumenta cuando la red crece</a:t>
                      </a:r>
                    </a:p>
                  </a:txBody>
                  <a:tcPr marL="47625" marR="47625" marT="47625" marB="47625" anchor="ctr"/>
                </a:tc>
                <a:extLst>
                  <a:ext uri="{0D108BD9-81ED-4DB2-BD59-A6C34878D82A}">
                    <a16:rowId xmlns:a16="http://schemas.microsoft.com/office/drawing/2014/main" val="2775754087"/>
                  </a:ext>
                </a:extLst>
              </a:tr>
              <a:tr h="370840">
                <a:tc>
                  <a:txBody>
                    <a:bodyPr/>
                    <a:lstStyle/>
                    <a:p>
                      <a:pPr rtl="0" fontAlgn="ctr"/>
                      <a:r>
                        <a:rPr lang="es-419" sz="1400" b="0">
                          <a:solidFill>
                            <a:schemeClr val="bg1"/>
                          </a:solidFill>
                          <a:effectLst/>
                        </a:rPr>
                        <a:t>Cambios de topología</a:t>
                      </a:r>
                    </a:p>
                  </a:txBody>
                  <a:tcPr marL="47625" marR="47625" marT="47625" marB="47625" anchor="ctr">
                    <a:solidFill>
                      <a:schemeClr val="accent1"/>
                    </a:solidFill>
                  </a:tcPr>
                </a:tc>
                <a:tc>
                  <a:txBody>
                    <a:bodyPr/>
                    <a:lstStyle/>
                    <a:p>
                      <a:pPr rtl="0" fontAlgn="ctr"/>
                      <a:r>
                        <a:rPr lang="es-419" sz="1400" b="0">
                          <a:effectLst/>
                        </a:rPr>
                        <a:t>Se adapta automáticamente a los cambios de topología</a:t>
                      </a:r>
                    </a:p>
                  </a:txBody>
                  <a:tcPr marL="47625" marR="47625" marT="47625" marB="47625" anchor="ctr"/>
                </a:tc>
                <a:tc>
                  <a:txBody>
                    <a:bodyPr/>
                    <a:lstStyle/>
                    <a:p>
                      <a:pPr rtl="0" fontAlgn="ctr"/>
                      <a:r>
                        <a:rPr lang="es-419" sz="1400" b="0">
                          <a:effectLst/>
                        </a:rPr>
                        <a:t>Se requiere intervención del administrador</a:t>
                      </a:r>
                    </a:p>
                  </a:txBody>
                  <a:tcPr marL="47625" marR="47625" marT="47625" marB="47625" anchor="ctr"/>
                </a:tc>
                <a:extLst>
                  <a:ext uri="{0D108BD9-81ED-4DB2-BD59-A6C34878D82A}">
                    <a16:rowId xmlns:a16="http://schemas.microsoft.com/office/drawing/2014/main" val="982232348"/>
                  </a:ext>
                </a:extLst>
              </a:tr>
              <a:tr h="370840">
                <a:tc>
                  <a:txBody>
                    <a:bodyPr/>
                    <a:lstStyle/>
                    <a:p>
                      <a:pPr rtl="0" fontAlgn="ctr"/>
                      <a:r>
                        <a:rPr lang="es-419" sz="1400" b="0">
                          <a:solidFill>
                            <a:schemeClr val="bg1"/>
                          </a:solidFill>
                          <a:effectLst/>
                        </a:rPr>
                        <a:t>Escalabilidad</a:t>
                      </a:r>
                    </a:p>
                  </a:txBody>
                  <a:tcPr marL="47625" marR="47625" marT="47625" marB="47625" anchor="ctr">
                    <a:solidFill>
                      <a:schemeClr val="accent1"/>
                    </a:solidFill>
                  </a:tcPr>
                </a:tc>
                <a:tc>
                  <a:txBody>
                    <a:bodyPr/>
                    <a:lstStyle/>
                    <a:p>
                      <a:pPr rtl="0" fontAlgn="ctr"/>
                      <a:r>
                        <a:rPr lang="es-419" sz="1400" b="0">
                          <a:effectLst/>
                        </a:rPr>
                        <a:t>Adecuado para topologías simples a complejas</a:t>
                      </a:r>
                    </a:p>
                  </a:txBody>
                  <a:tcPr marL="47625" marR="47625" marT="47625" marB="47625" anchor="ctr"/>
                </a:tc>
                <a:tc>
                  <a:txBody>
                    <a:bodyPr/>
                    <a:lstStyle/>
                    <a:p>
                      <a:pPr rtl="0" fontAlgn="ctr"/>
                      <a:r>
                        <a:rPr lang="es-419" sz="1400" b="0">
                          <a:effectLst/>
                        </a:rPr>
                        <a:t>Adecuado para topologías simples</a:t>
                      </a:r>
                    </a:p>
                  </a:txBody>
                  <a:tcPr marL="47625" marR="47625" marT="47625" marB="47625" anchor="ctr"/>
                </a:tc>
                <a:extLst>
                  <a:ext uri="{0D108BD9-81ED-4DB2-BD59-A6C34878D82A}">
                    <a16:rowId xmlns:a16="http://schemas.microsoft.com/office/drawing/2014/main" val="1746941744"/>
                  </a:ext>
                </a:extLst>
              </a:tr>
              <a:tr h="370840">
                <a:tc>
                  <a:txBody>
                    <a:bodyPr/>
                    <a:lstStyle/>
                    <a:p>
                      <a:pPr rtl="0" fontAlgn="ctr"/>
                      <a:r>
                        <a:rPr lang="es-419" sz="1400" b="0">
                          <a:solidFill>
                            <a:schemeClr val="bg1"/>
                          </a:solidFill>
                          <a:effectLst/>
                        </a:rPr>
                        <a:t>Seguridad</a:t>
                      </a:r>
                    </a:p>
                  </a:txBody>
                  <a:tcPr marL="47625" marR="47625" marT="47625" marB="47625" anchor="ctr">
                    <a:solidFill>
                      <a:schemeClr val="accent1"/>
                    </a:solidFill>
                  </a:tcPr>
                </a:tc>
                <a:tc>
                  <a:txBody>
                    <a:bodyPr/>
                    <a:lstStyle/>
                    <a:p>
                      <a:pPr rtl="0" fontAlgn="ctr"/>
                      <a:r>
                        <a:rPr lang="es-419" sz="1400" b="0">
                          <a:effectLst/>
                        </a:rPr>
                        <a:t>La seguridad debe estar configurada</a:t>
                      </a:r>
                    </a:p>
                  </a:txBody>
                  <a:tcPr marL="47625" marR="47625" marT="47625" marB="47625" anchor="ctr"/>
                </a:tc>
                <a:tc>
                  <a:txBody>
                    <a:bodyPr/>
                    <a:lstStyle/>
                    <a:p>
                      <a:pPr rtl="0" fontAlgn="ctr"/>
                      <a:r>
                        <a:rPr lang="es-419" sz="1400" b="0">
                          <a:effectLst/>
                        </a:rPr>
                        <a:t>La seguridad es inherente</a:t>
                      </a:r>
                    </a:p>
                  </a:txBody>
                  <a:tcPr marL="47625" marR="47625" marT="47625" marB="47625" anchor="ctr"/>
                </a:tc>
                <a:extLst>
                  <a:ext uri="{0D108BD9-81ED-4DB2-BD59-A6C34878D82A}">
                    <a16:rowId xmlns:a16="http://schemas.microsoft.com/office/drawing/2014/main" val="1687909195"/>
                  </a:ext>
                </a:extLst>
              </a:tr>
              <a:tr h="370840">
                <a:tc>
                  <a:txBody>
                    <a:bodyPr/>
                    <a:lstStyle/>
                    <a:p>
                      <a:pPr rtl="0" fontAlgn="ctr"/>
                      <a:r>
                        <a:rPr lang="es-419" sz="1400" b="0">
                          <a:solidFill>
                            <a:schemeClr val="bg1"/>
                          </a:solidFill>
                          <a:effectLst/>
                        </a:rPr>
                        <a:t>Uso de recursos</a:t>
                      </a:r>
                    </a:p>
                  </a:txBody>
                  <a:tcPr marL="47625" marR="47625" marT="47625" marB="47625" anchor="ctr">
                    <a:solidFill>
                      <a:schemeClr val="accent1"/>
                    </a:solidFill>
                  </a:tcPr>
                </a:tc>
                <a:tc>
                  <a:txBody>
                    <a:bodyPr/>
                    <a:lstStyle/>
                    <a:p>
                      <a:pPr rtl="0" fontAlgn="ctr"/>
                      <a:r>
                        <a:rPr lang="es-419" sz="1400" b="0">
                          <a:effectLst/>
                        </a:rPr>
                        <a:t>Usa CPU, memoria, ancho de banda de enlaces</a:t>
                      </a:r>
                    </a:p>
                  </a:txBody>
                  <a:tcPr marL="47625" marR="47625" marT="47625" marB="47625" anchor="ctr"/>
                </a:tc>
                <a:tc>
                  <a:txBody>
                    <a:bodyPr/>
                    <a:lstStyle/>
                    <a:p>
                      <a:pPr rtl="0" fontAlgn="ctr"/>
                      <a:r>
                        <a:rPr lang="es-419" sz="1400" b="0">
                          <a:effectLst/>
                        </a:rPr>
                        <a:t>No se necesitan recursos adicionales</a:t>
                      </a:r>
                    </a:p>
                  </a:txBody>
                  <a:tcPr marL="47625" marR="47625" marT="47625" marB="47625" anchor="ctr"/>
                </a:tc>
                <a:extLst>
                  <a:ext uri="{0D108BD9-81ED-4DB2-BD59-A6C34878D82A}">
                    <a16:rowId xmlns:a16="http://schemas.microsoft.com/office/drawing/2014/main" val="452984166"/>
                  </a:ext>
                </a:extLst>
              </a:tr>
              <a:tr h="370840">
                <a:tc>
                  <a:txBody>
                    <a:bodyPr/>
                    <a:lstStyle/>
                    <a:p>
                      <a:pPr rtl="0" fontAlgn="ctr"/>
                      <a:r>
                        <a:rPr lang="es-419" sz="1400" b="0">
                          <a:solidFill>
                            <a:schemeClr val="bg1"/>
                          </a:solidFill>
                          <a:effectLst/>
                        </a:rPr>
                        <a:t>Predictibilidad de Ruta</a:t>
                      </a:r>
                    </a:p>
                  </a:txBody>
                  <a:tcPr marL="47625" marR="47625" marT="47625" marB="47625" anchor="ctr">
                    <a:solidFill>
                      <a:schemeClr val="accent1"/>
                    </a:solidFill>
                  </a:tcPr>
                </a:tc>
                <a:tc>
                  <a:txBody>
                    <a:bodyPr/>
                    <a:lstStyle/>
                    <a:p>
                      <a:pPr rtl="0" fontAlgn="ctr"/>
                      <a:r>
                        <a:rPr lang="es-419" sz="1400" b="0">
                          <a:effectLst/>
                        </a:rPr>
                        <a:t>La ruta depende de la topología y el protocolo de enrutamiento utilizados</a:t>
                      </a:r>
                    </a:p>
                  </a:txBody>
                  <a:tcPr marL="47625" marR="47625" marT="47625" marB="47625" anchor="ctr"/>
                </a:tc>
                <a:tc>
                  <a:txBody>
                    <a:bodyPr/>
                    <a:lstStyle/>
                    <a:p>
                      <a:pPr rtl="0" fontAlgn="ctr"/>
                      <a:r>
                        <a:rPr lang="es-419" sz="1400" b="0" dirty="0">
                          <a:effectLst/>
                        </a:rPr>
                        <a:t>Definido explícitamente por el administrador</a:t>
                      </a:r>
                    </a:p>
                  </a:txBody>
                  <a:tcPr marL="47625" marR="47625" marT="47625" marB="47625" anchor="ctr"/>
                </a:tc>
                <a:extLst>
                  <a:ext uri="{0D108BD9-81ED-4DB2-BD59-A6C34878D82A}">
                    <a16:rowId xmlns:a16="http://schemas.microsoft.com/office/drawing/2014/main" val="1008491071"/>
                  </a:ext>
                </a:extLst>
              </a:tr>
            </a:tbl>
          </a:graphicData>
        </a:graphic>
      </p:graphicFrame>
    </p:spTree>
    <p:extLst>
      <p:ext uri="{BB962C8B-B14F-4D97-AF65-F5344CB8AC3E}">
        <p14:creationId xmlns:p14="http://schemas.microsoft.com/office/powerpoint/2010/main" val="1660275099"/>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EFB1DA6D-F355-2040-82FE-A0FCBE57CA9A}"/>
              </a:ext>
            </a:extLst>
          </p:cNvPr>
          <p:cNvSpPr>
            <a:spLocks noGrp="1"/>
          </p:cNvSpPr>
          <p:nvPr>
            <p:ph idx="1"/>
          </p:nvPr>
        </p:nvSpPr>
        <p:spPr/>
        <p:txBody>
          <a:bodyPr/>
          <a:lstStyle/>
          <a:p>
            <a:pPr marL="0" indent="0" algn="l" rtl="0"/>
            <a:r>
              <a:rPr lang="es-419" sz="1600">
                <a:solidFill>
                  <a:srgbClr val="000000"/>
                </a:solidFill>
              </a:rPr>
              <a:t>Un protocolo de enrutamiento es un conjunto de procesos, algoritmos y mensajes que se usan para intercambiar información de enrutamiento y completar la tabla de enrutamiento con la elección de las mejores rutas. El objetivo de los protocolos de enrutamiento dinámico incluye lo siguiente:</a:t>
            </a:r>
          </a:p>
          <a:p>
            <a:pPr marL="415985" lvl="1" indent="-342900" rtl="0">
              <a:buFont typeface="Arial" panose="020B0604020202020204" pitchFamily="34" charset="0"/>
              <a:buChar char="•"/>
            </a:pPr>
            <a:r>
              <a:rPr lang="es-419" sz="1600">
                <a:solidFill>
                  <a:srgbClr val="000000"/>
                </a:solidFill>
              </a:rPr>
              <a:t>Detectar redes remotas</a:t>
            </a:r>
          </a:p>
          <a:p>
            <a:pPr marL="415985" lvl="1" indent="-342900" rtl="0">
              <a:buFont typeface="Arial" panose="020B0604020202020204" pitchFamily="34" charset="0"/>
              <a:buChar char="•"/>
            </a:pPr>
            <a:r>
              <a:rPr lang="es-419" sz="1600">
                <a:solidFill>
                  <a:srgbClr val="000000"/>
                </a:solidFill>
              </a:rPr>
              <a:t>Mantener la información de enrutamiento actualizada</a:t>
            </a:r>
          </a:p>
          <a:p>
            <a:pPr marL="415985" lvl="1" indent="-342900" rtl="0">
              <a:buFont typeface="Arial" panose="020B0604020202020204" pitchFamily="34" charset="0"/>
              <a:buChar char="•"/>
            </a:pPr>
            <a:r>
              <a:rPr lang="es-419" sz="1600">
                <a:solidFill>
                  <a:srgbClr val="000000"/>
                </a:solidFill>
              </a:rPr>
              <a:t>Elección de la mejor ruta hacia las redes de destino</a:t>
            </a:r>
          </a:p>
          <a:p>
            <a:pPr marL="415985" lvl="1" indent="-342900" rtl="0">
              <a:buFont typeface="Arial" panose="020B0604020202020204" pitchFamily="34" charset="0"/>
              <a:buChar char="•"/>
            </a:pPr>
            <a:r>
              <a:rPr lang="es-419" sz="1600">
                <a:solidFill>
                  <a:srgbClr val="000000"/>
                </a:solidFill>
              </a:rPr>
              <a:t>Poder encontrar un mejor camino nuevo si la ruta actual deja de estar disponible</a:t>
            </a:r>
          </a:p>
          <a:p>
            <a:pPr marL="342900" indent="-342900" algn="l">
              <a:buFont typeface="Arial" panose="020B0604020202020204" pitchFamily="34" charset="0"/>
              <a:buChar char="•"/>
            </a:pPr>
            <a:endParaRPr lang="en-US" sz="1600" dirty="0">
              <a:solidFill>
                <a:srgbClr val="000000"/>
              </a:solidFill>
            </a:endParaRPr>
          </a:p>
        </p:txBody>
      </p:sp>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p:txBody>
          <a:bodyPr/>
          <a:lstStyle/>
          <a:p>
            <a:pPr rtl="0"/>
            <a:r>
              <a:rPr lang="es-419" sz="1600"/>
              <a:t>Enrutamiento estático y dinámico</a:t>
            </a:r>
            <a:br>
              <a:rPr lang="en-US" dirty="0"/>
            </a:br>
            <a:r>
              <a:rPr lang="es-419" sz="2400"/>
              <a:t>Conceptos de protocolo de enrutamiento dinámico</a:t>
            </a:r>
          </a:p>
        </p:txBody>
      </p:sp>
    </p:spTree>
    <p:extLst>
      <p:ext uri="{BB962C8B-B14F-4D97-AF65-F5344CB8AC3E}">
        <p14:creationId xmlns:p14="http://schemas.microsoft.com/office/powerpoint/2010/main" val="3646149947"/>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EFB1DA6D-F355-2040-82FE-A0FCBE57CA9A}"/>
              </a:ext>
            </a:extLst>
          </p:cNvPr>
          <p:cNvSpPr>
            <a:spLocks noGrp="1"/>
          </p:cNvSpPr>
          <p:nvPr>
            <p:ph idx="1"/>
          </p:nvPr>
        </p:nvSpPr>
        <p:spPr/>
        <p:txBody>
          <a:bodyPr/>
          <a:lstStyle/>
          <a:p>
            <a:pPr marL="0" indent="0" algn="l" rtl="0">
              <a:buNone/>
            </a:pPr>
            <a:r>
              <a:rPr lang="es-419" sz="1600" dirty="0">
                <a:solidFill>
                  <a:srgbClr val="000000"/>
                </a:solidFill>
              </a:rPr>
              <a:t>Los componentes principales de los protocolos de </a:t>
            </a:r>
            <a:r>
              <a:rPr lang="es-419" sz="1600" dirty="0" err="1">
                <a:solidFill>
                  <a:srgbClr val="000000"/>
                </a:solidFill>
              </a:rPr>
              <a:t>routing</a:t>
            </a:r>
            <a:r>
              <a:rPr lang="es-419" sz="1600" dirty="0">
                <a:solidFill>
                  <a:srgbClr val="000000"/>
                </a:solidFill>
              </a:rPr>
              <a:t> dinámico incluyen los siguientes:</a:t>
            </a:r>
          </a:p>
          <a:p>
            <a:pPr marL="358835" lvl="1" indent="-285750" rtl="0">
              <a:buFont typeface="Arial" panose="020B0604020202020204" pitchFamily="34" charset="0"/>
              <a:buChar char="•"/>
            </a:pPr>
            <a:r>
              <a:rPr lang="es-419" sz="1600" b="1" dirty="0">
                <a:solidFill>
                  <a:srgbClr val="000000"/>
                </a:solidFill>
              </a:rPr>
              <a:t>Estructuras de datos -</a:t>
            </a:r>
            <a:r>
              <a:rPr lang="es-419" sz="1600" dirty="0">
                <a:solidFill>
                  <a:srgbClr val="000000"/>
                </a:solidFill>
              </a:rPr>
              <a:t> por lo general, los protocolos de enrutamiento utilizan tablas o bases de datos para sus operaciones. Esta información se guarda en la RAM.</a:t>
            </a:r>
          </a:p>
          <a:p>
            <a:pPr marL="358835" lvl="1" indent="-285750" rtl="0">
              <a:buFont typeface="Arial" panose="020B0604020202020204" pitchFamily="34" charset="0"/>
              <a:buChar char="•"/>
            </a:pPr>
            <a:r>
              <a:rPr lang="es-419" sz="1600" b="1" dirty="0">
                <a:solidFill>
                  <a:srgbClr val="000000"/>
                </a:solidFill>
              </a:rPr>
              <a:t>Mensajes del protocolo de enrutamiento -</a:t>
            </a:r>
            <a:r>
              <a:rPr lang="es-419" sz="1600" dirty="0">
                <a:solidFill>
                  <a:srgbClr val="000000"/>
                </a:solidFill>
              </a:rPr>
              <a:t> los protocolos de enrutamiento usan varios tipos de mensajes para descubrir </a:t>
            </a:r>
            <a:r>
              <a:rPr lang="es-419" sz="1600" dirty="0" err="1">
                <a:solidFill>
                  <a:srgbClr val="000000"/>
                </a:solidFill>
              </a:rPr>
              <a:t>routers</a:t>
            </a:r>
            <a:r>
              <a:rPr lang="es-419" sz="1600" dirty="0">
                <a:solidFill>
                  <a:srgbClr val="000000"/>
                </a:solidFill>
              </a:rPr>
              <a:t> vecinos, intercambiar información de enrutamiento y realizar otras tareas para conservar información precisa acerca de ella.</a:t>
            </a:r>
          </a:p>
          <a:p>
            <a:pPr marL="358835" lvl="1" indent="-285750" rtl="0">
              <a:buFont typeface="Arial" panose="020B0604020202020204" pitchFamily="34" charset="0"/>
              <a:buChar char="•"/>
            </a:pPr>
            <a:r>
              <a:rPr lang="es-419" sz="1600" b="1" dirty="0">
                <a:solidFill>
                  <a:srgbClr val="000000"/>
                </a:solidFill>
              </a:rPr>
              <a:t>Algoritmo -</a:t>
            </a:r>
            <a:r>
              <a:rPr lang="es-419" sz="1600" dirty="0">
                <a:solidFill>
                  <a:srgbClr val="000000"/>
                </a:solidFill>
              </a:rPr>
              <a:t> un algoritmo es una lista finita de pasos que se usan para llevar a cabo una tarea. Los protocolos de </a:t>
            </a:r>
            <a:r>
              <a:rPr lang="es-419" sz="1600" dirty="0" err="1">
                <a:solidFill>
                  <a:srgbClr val="000000"/>
                </a:solidFill>
              </a:rPr>
              <a:t>routing</a:t>
            </a:r>
            <a:r>
              <a:rPr lang="es-419" sz="1600" dirty="0">
                <a:solidFill>
                  <a:srgbClr val="000000"/>
                </a:solidFill>
              </a:rPr>
              <a:t> usan algoritmos para facilitar información de </a:t>
            </a:r>
            <a:r>
              <a:rPr lang="es-419" sz="1600" dirty="0" err="1">
                <a:solidFill>
                  <a:srgbClr val="000000"/>
                </a:solidFill>
              </a:rPr>
              <a:t>routing</a:t>
            </a:r>
            <a:r>
              <a:rPr lang="es-419" sz="1600" dirty="0">
                <a:solidFill>
                  <a:srgbClr val="000000"/>
                </a:solidFill>
              </a:rPr>
              <a:t> y para determinar el mejor camino.</a:t>
            </a:r>
            <a:endParaRPr lang="en-US" sz="1600" dirty="0">
              <a:solidFill>
                <a:srgbClr val="000000"/>
              </a:solidFill>
            </a:endParaRPr>
          </a:p>
          <a:p>
            <a:pPr marL="0" indent="0" algn="l" rtl="0">
              <a:buNone/>
            </a:pPr>
            <a:r>
              <a:rPr lang="es-419" sz="1600" dirty="0">
                <a:solidFill>
                  <a:srgbClr val="000000"/>
                </a:solidFill>
              </a:rPr>
              <a:t>Los protocolos de enrutamiento determinan la mejor ruta hacia cada red. Esta ruta es mostrada en la tabla de enrutamiento. La ruta se instalará en la tabla de enrutamiento, si no hay otro ruta con una distancia administrativa menor. </a:t>
            </a:r>
          </a:p>
        </p:txBody>
      </p:sp>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p:txBody>
          <a:bodyPr>
            <a:normAutofit/>
          </a:bodyPr>
          <a:lstStyle/>
          <a:p>
            <a:pPr rtl="0"/>
            <a:r>
              <a:rPr lang="es-419" sz="1600" dirty="0"/>
              <a:t>Enrutamiento estático y dinámico</a:t>
            </a:r>
            <a:br>
              <a:rPr lang="en-US" dirty="0"/>
            </a:br>
            <a:r>
              <a:rPr lang="es-419" sz="2400" dirty="0"/>
              <a:t>Conceptos de protocolos de enrutamiento dinámico (continuación) </a:t>
            </a:r>
          </a:p>
        </p:txBody>
      </p:sp>
    </p:spTree>
    <p:extLst>
      <p:ext uri="{BB962C8B-B14F-4D97-AF65-F5344CB8AC3E}">
        <p14:creationId xmlns:p14="http://schemas.microsoft.com/office/powerpoint/2010/main" val="4125022450"/>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ctrTitle"/>
          </p:nvPr>
        </p:nvSpPr>
        <p:spPr/>
        <p:txBody>
          <a:bodyPr/>
          <a:lstStyle/>
          <a:p>
            <a:pPr eaLnBrk="1" hangingPunct="1"/>
            <a:r>
              <a:rPr lang="es-419" dirty="0"/>
              <a:t>10.1.4</a:t>
            </a:r>
            <a:r>
              <a:rPr lang="es-ES" dirty="0"/>
              <a:t> RIPv2 </a:t>
            </a:r>
            <a:endParaRPr lang="es-ES" dirty="0">
              <a:solidFill>
                <a:srgbClr val="00B0F0"/>
              </a:solidFill>
            </a:endParaRPr>
          </a:p>
        </p:txBody>
      </p:sp>
    </p:spTree>
    <p:extLst>
      <p:ext uri="{BB962C8B-B14F-4D97-AF65-F5344CB8AC3E}">
        <p14:creationId xmlns:p14="http://schemas.microsoft.com/office/powerpoint/2010/main" val="1565692449"/>
      </p:ext>
    </p:extLst>
  </p:cSld>
  <p:clrMapOvr>
    <a:masterClrMapping/>
  </p:clrMapOvr>
  <p:transition>
    <p:wipe dir="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pPr>
              <a:tabLst>
                <a:tab pos="3602831" algn="l"/>
              </a:tabLst>
              <a:defRPr/>
            </a:pPr>
            <a:r>
              <a:rPr lang="es-ES" sz="1350" dirty="0"/>
              <a:t>Configurar el protocolo RIP</a:t>
            </a:r>
            <a:br>
              <a:rPr dirty="0"/>
            </a:br>
            <a:r>
              <a:rPr lang="es-ES" sz="2100" dirty="0"/>
              <a:t>Modo de configuración RIP de un </a:t>
            </a:r>
            <a:r>
              <a:rPr lang="es-ES" sz="2100" dirty="0" err="1"/>
              <a:t>router</a:t>
            </a:r>
            <a:endParaRPr lang="es-ES" sz="2100" dirty="0"/>
          </a:p>
        </p:txBody>
      </p:sp>
      <p:pic>
        <p:nvPicPr>
          <p:cNvPr id="21507" name="Picture 3"/>
          <p:cNvPicPr>
            <a:picLocks noChangeAspect="1" noChangeArrowheads="1"/>
          </p:cNvPicPr>
          <p:nvPr/>
        </p:nvPicPr>
        <p:blipFill rotWithShape="1">
          <a:blip r:embed="rId3" cstate="email">
            <a:extLst>
              <a:ext uri="{28A0092B-C50C-407E-A947-70E740481C1C}">
                <a14:useLocalDpi xmlns:a14="http://schemas.microsoft.com/office/drawing/2010/main" val="0"/>
              </a:ext>
            </a:extLst>
          </a:blip>
          <a:srcRect b="4128"/>
          <a:stretch/>
        </p:blipFill>
        <p:spPr bwMode="auto">
          <a:xfrm>
            <a:off x="2749068" y="2026072"/>
            <a:ext cx="5290031" cy="308527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Rectángulo: esquinas redondeadas 2">
            <a:extLst>
              <a:ext uri="{FF2B5EF4-FFF2-40B4-BE49-F238E27FC236}">
                <a16:creationId xmlns:a16="http://schemas.microsoft.com/office/drawing/2014/main" id="{B9211334-7A42-A02D-D7F3-0DBD2C454B85}"/>
              </a:ext>
            </a:extLst>
          </p:cNvPr>
          <p:cNvSpPr/>
          <p:nvPr/>
        </p:nvSpPr>
        <p:spPr>
          <a:xfrm>
            <a:off x="4453530" y="4078704"/>
            <a:ext cx="1530350" cy="495300"/>
          </a:xfrm>
          <a:prstGeom prst="round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8" name="Flecha: hacia la izquierda 7">
            <a:extLst>
              <a:ext uri="{FF2B5EF4-FFF2-40B4-BE49-F238E27FC236}">
                <a16:creationId xmlns:a16="http://schemas.microsoft.com/office/drawing/2014/main" id="{CFAC504D-5D02-584E-7060-53C7984D2DD5}"/>
              </a:ext>
            </a:extLst>
          </p:cNvPr>
          <p:cNvSpPr/>
          <p:nvPr/>
        </p:nvSpPr>
        <p:spPr>
          <a:xfrm>
            <a:off x="6128659" y="4113629"/>
            <a:ext cx="1765660" cy="425450"/>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grpSp>
        <p:nvGrpSpPr>
          <p:cNvPr id="5" name="Grupo 4">
            <a:extLst>
              <a:ext uri="{FF2B5EF4-FFF2-40B4-BE49-F238E27FC236}">
                <a16:creationId xmlns:a16="http://schemas.microsoft.com/office/drawing/2014/main" id="{838B9C8D-01D4-C0AB-A021-077E0F936C81}"/>
              </a:ext>
            </a:extLst>
          </p:cNvPr>
          <p:cNvGrpSpPr/>
          <p:nvPr/>
        </p:nvGrpSpPr>
        <p:grpSpPr>
          <a:xfrm>
            <a:off x="187155" y="645696"/>
            <a:ext cx="6338800" cy="1380376"/>
            <a:chOff x="187155" y="645696"/>
            <a:chExt cx="6338800" cy="1380376"/>
          </a:xfrm>
        </p:grpSpPr>
        <p:pic>
          <p:nvPicPr>
            <p:cNvPr id="21506" name="Picture 2"/>
            <p:cNvPicPr>
              <a:picLocks noChangeAspect="1" noChangeArrowheads="1"/>
            </p:cNvPicPr>
            <p:nvPr/>
          </p:nvPicPr>
          <p:blipFill rotWithShape="1">
            <a:blip r:embed="rId4">
              <a:extLst>
                <a:ext uri="{28A0092B-C50C-407E-A947-70E740481C1C}">
                  <a14:useLocalDpi xmlns:a14="http://schemas.microsoft.com/office/drawing/2010/main" val="0"/>
                </a:ext>
              </a:extLst>
            </a:blip>
            <a:srcRect t="9783" b="5212"/>
            <a:stretch/>
          </p:blipFill>
          <p:spPr bwMode="auto">
            <a:xfrm>
              <a:off x="187155" y="645696"/>
              <a:ext cx="6338800" cy="138037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Rectángulo: esquinas redondeadas 3">
              <a:extLst>
                <a:ext uri="{FF2B5EF4-FFF2-40B4-BE49-F238E27FC236}">
                  <a16:creationId xmlns:a16="http://schemas.microsoft.com/office/drawing/2014/main" id="{4A1C801A-1C82-8794-6086-9167ADE10E3D}"/>
                </a:ext>
              </a:extLst>
            </p:cNvPr>
            <p:cNvSpPr/>
            <p:nvPr/>
          </p:nvSpPr>
          <p:spPr>
            <a:xfrm>
              <a:off x="1580790" y="1210733"/>
              <a:ext cx="1162410" cy="228600"/>
            </a:xfrm>
            <a:prstGeom prst="round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grpSp>
    </p:spTree>
    <p:extLst>
      <p:ext uri="{BB962C8B-B14F-4D97-AF65-F5344CB8AC3E}">
        <p14:creationId xmlns:p14="http://schemas.microsoft.com/office/powerpoint/2010/main" val="146335816"/>
      </p:ext>
    </p:extLst>
  </p:cSld>
  <p:clrMapOvr>
    <a:masterClrMapping/>
  </p:clrMapOvr>
  <p:transition spd="med">
    <p:wipe dir="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pPr>
              <a:tabLst>
                <a:tab pos="3602831" algn="l"/>
              </a:tabLst>
              <a:defRPr/>
            </a:pPr>
            <a:r>
              <a:rPr lang="es-ES" sz="1350" dirty="0"/>
              <a:t>Configurar el protocolo RIP</a:t>
            </a:r>
            <a:br>
              <a:rPr dirty="0"/>
            </a:br>
            <a:r>
              <a:rPr lang="es-ES" sz="2100" dirty="0"/>
              <a:t>Modo de configuración RIP de un </a:t>
            </a:r>
            <a:r>
              <a:rPr lang="es-ES" sz="2100" dirty="0" err="1"/>
              <a:t>router</a:t>
            </a:r>
            <a:endParaRPr lang="es-ES" sz="2100" dirty="0"/>
          </a:p>
        </p:txBody>
      </p:sp>
      <p:sp>
        <p:nvSpPr>
          <p:cNvPr id="3" name="CuadroTexto 2">
            <a:extLst>
              <a:ext uri="{FF2B5EF4-FFF2-40B4-BE49-F238E27FC236}">
                <a16:creationId xmlns:a16="http://schemas.microsoft.com/office/drawing/2014/main" id="{292CB75E-7A5C-45C8-EE5A-ADCB982607BE}"/>
              </a:ext>
            </a:extLst>
          </p:cNvPr>
          <p:cNvSpPr txBox="1"/>
          <p:nvPr/>
        </p:nvSpPr>
        <p:spPr>
          <a:xfrm>
            <a:off x="8820142" y="4866501"/>
            <a:ext cx="354418" cy="276999"/>
          </a:xfrm>
          <a:prstGeom prst="rect">
            <a:avLst/>
          </a:prstGeom>
          <a:noFill/>
        </p:spPr>
        <p:txBody>
          <a:bodyPr wrap="square" rtlCol="0">
            <a:spAutoFit/>
          </a:bodyPr>
          <a:lstStyle/>
          <a:p>
            <a:r>
              <a:rPr lang="es-ES" sz="1200" b="1" dirty="0">
                <a:solidFill>
                  <a:srgbClr val="00B0F0"/>
                </a:solidFill>
              </a:rPr>
              <a:t>63</a:t>
            </a:r>
            <a:endParaRPr lang="es-PE" sz="1200" b="1" dirty="0">
              <a:solidFill>
                <a:srgbClr val="00B0F0"/>
              </a:solidFill>
            </a:endParaRPr>
          </a:p>
        </p:txBody>
      </p:sp>
      <p:pic>
        <p:nvPicPr>
          <p:cNvPr id="10" name="Imagen 9">
            <a:extLst>
              <a:ext uri="{FF2B5EF4-FFF2-40B4-BE49-F238E27FC236}">
                <a16:creationId xmlns:a16="http://schemas.microsoft.com/office/drawing/2014/main" id="{3181C011-D848-5199-765B-408FD7F86313}"/>
              </a:ext>
            </a:extLst>
          </p:cNvPr>
          <p:cNvPicPr>
            <a:picLocks noChangeAspect="1"/>
          </p:cNvPicPr>
          <p:nvPr/>
        </p:nvPicPr>
        <p:blipFill>
          <a:blip r:embed="rId3"/>
          <a:stretch>
            <a:fillRect/>
          </a:stretch>
        </p:blipFill>
        <p:spPr>
          <a:xfrm>
            <a:off x="673100" y="1112488"/>
            <a:ext cx="7391400" cy="1678130"/>
          </a:xfrm>
          <a:prstGeom prst="rect">
            <a:avLst/>
          </a:prstGeom>
        </p:spPr>
      </p:pic>
      <p:sp>
        <p:nvSpPr>
          <p:cNvPr id="11" name="CuadroTexto 10">
            <a:extLst>
              <a:ext uri="{FF2B5EF4-FFF2-40B4-BE49-F238E27FC236}">
                <a16:creationId xmlns:a16="http://schemas.microsoft.com/office/drawing/2014/main" id="{DDAAD2FC-95E2-9A28-3BAD-8BDC07B0DE22}"/>
              </a:ext>
            </a:extLst>
          </p:cNvPr>
          <p:cNvSpPr txBox="1"/>
          <p:nvPr/>
        </p:nvSpPr>
        <p:spPr>
          <a:xfrm>
            <a:off x="3248025" y="2390487"/>
            <a:ext cx="2241550" cy="923330"/>
          </a:xfrm>
          <a:prstGeom prst="rect">
            <a:avLst/>
          </a:prstGeom>
          <a:solidFill>
            <a:srgbClr val="FFFF00"/>
          </a:solidFill>
          <a:ln w="28575">
            <a:solidFill>
              <a:srgbClr val="00B0F0"/>
            </a:solidFill>
          </a:ln>
        </p:spPr>
        <p:txBody>
          <a:bodyPr wrap="square" rtlCol="0">
            <a:spAutoFit/>
          </a:bodyPr>
          <a:lstStyle/>
          <a:p>
            <a:pPr algn="ctr"/>
            <a:r>
              <a:rPr lang="es-ES" dirty="0">
                <a:solidFill>
                  <a:srgbClr val="FF0000"/>
                </a:solidFill>
              </a:rPr>
              <a:t>Configurar en R2 usando el protocolo RIP</a:t>
            </a:r>
            <a:endParaRPr lang="es-PE" dirty="0">
              <a:solidFill>
                <a:srgbClr val="FF0000"/>
              </a:solidFill>
            </a:endParaRPr>
          </a:p>
        </p:txBody>
      </p:sp>
      <p:sp>
        <p:nvSpPr>
          <p:cNvPr id="2" name="CuadroTexto 1">
            <a:extLst>
              <a:ext uri="{FF2B5EF4-FFF2-40B4-BE49-F238E27FC236}">
                <a16:creationId xmlns:a16="http://schemas.microsoft.com/office/drawing/2014/main" id="{74007D81-1163-CFB7-1278-A13B6F6C73B0}"/>
              </a:ext>
            </a:extLst>
          </p:cNvPr>
          <p:cNvSpPr txBox="1"/>
          <p:nvPr/>
        </p:nvSpPr>
        <p:spPr>
          <a:xfrm>
            <a:off x="169718" y="3430847"/>
            <a:ext cx="4531822" cy="1477328"/>
          </a:xfrm>
          <a:prstGeom prst="rect">
            <a:avLst/>
          </a:prstGeom>
          <a:noFill/>
        </p:spPr>
        <p:txBody>
          <a:bodyPr wrap="square" rtlCol="0">
            <a:spAutoFit/>
          </a:bodyPr>
          <a:lstStyle/>
          <a:p>
            <a:r>
              <a:rPr lang="es-PE" dirty="0"/>
              <a:t>R1# </a:t>
            </a:r>
            <a:r>
              <a:rPr lang="es-PE" b="1" i="1" dirty="0" err="1"/>
              <a:t>config</a:t>
            </a:r>
            <a:r>
              <a:rPr lang="es-PE" b="1" i="1" dirty="0"/>
              <a:t> terminal</a:t>
            </a:r>
          </a:p>
          <a:p>
            <a:r>
              <a:rPr lang="es-PE" dirty="0"/>
              <a:t>R1(</a:t>
            </a:r>
            <a:r>
              <a:rPr lang="es-PE" dirty="0" err="1"/>
              <a:t>config</a:t>
            </a:r>
            <a:r>
              <a:rPr lang="es-PE" dirty="0"/>
              <a:t>)# </a:t>
            </a:r>
            <a:r>
              <a:rPr lang="es-PE" b="1" i="1" dirty="0" err="1"/>
              <a:t>router</a:t>
            </a:r>
            <a:r>
              <a:rPr lang="es-PE" b="1" i="1" dirty="0"/>
              <a:t> </a:t>
            </a:r>
            <a:r>
              <a:rPr lang="es-PE" b="1" i="1" dirty="0" err="1"/>
              <a:t>rip</a:t>
            </a:r>
            <a:endParaRPr lang="es-PE" b="1" i="1" dirty="0"/>
          </a:p>
          <a:p>
            <a:r>
              <a:rPr lang="es-PE" dirty="0"/>
              <a:t>R1(</a:t>
            </a:r>
            <a:r>
              <a:rPr lang="es-PE" dirty="0" err="1"/>
              <a:t>config-router</a:t>
            </a:r>
            <a:r>
              <a:rPr lang="es-PE" dirty="0"/>
              <a:t>)# </a:t>
            </a:r>
            <a:r>
              <a:rPr lang="es-PE" b="1" i="1" dirty="0" err="1"/>
              <a:t>network</a:t>
            </a:r>
            <a:r>
              <a:rPr lang="es-PE" b="1" i="1" dirty="0"/>
              <a:t> 172.16.1.0</a:t>
            </a:r>
          </a:p>
          <a:p>
            <a:r>
              <a:rPr lang="es-PE" dirty="0"/>
              <a:t>R1(</a:t>
            </a:r>
            <a:r>
              <a:rPr lang="es-PE" dirty="0" err="1"/>
              <a:t>config-router</a:t>
            </a:r>
            <a:r>
              <a:rPr lang="es-PE" dirty="0"/>
              <a:t>)# </a:t>
            </a:r>
            <a:r>
              <a:rPr lang="es-PE" b="1" i="1" dirty="0" err="1"/>
              <a:t>network</a:t>
            </a:r>
            <a:r>
              <a:rPr lang="es-PE" b="1" i="1" dirty="0"/>
              <a:t> 172.16.2.0</a:t>
            </a:r>
          </a:p>
          <a:p>
            <a:endParaRPr lang="es-PE" dirty="0"/>
          </a:p>
        </p:txBody>
      </p:sp>
      <p:sp>
        <p:nvSpPr>
          <p:cNvPr id="4" name="CuadroTexto 3">
            <a:extLst>
              <a:ext uri="{FF2B5EF4-FFF2-40B4-BE49-F238E27FC236}">
                <a16:creationId xmlns:a16="http://schemas.microsoft.com/office/drawing/2014/main" id="{ECBDCB2A-86E6-8480-3764-E44D87F733AE}"/>
              </a:ext>
            </a:extLst>
          </p:cNvPr>
          <p:cNvSpPr txBox="1"/>
          <p:nvPr/>
        </p:nvSpPr>
        <p:spPr>
          <a:xfrm>
            <a:off x="5747558" y="3523180"/>
            <a:ext cx="2664922" cy="646331"/>
          </a:xfrm>
          <a:prstGeom prst="rect">
            <a:avLst/>
          </a:prstGeom>
          <a:solidFill>
            <a:srgbClr val="FFFF00"/>
          </a:solidFill>
        </p:spPr>
        <p:txBody>
          <a:bodyPr wrap="square" rtlCol="0">
            <a:spAutoFit/>
          </a:bodyPr>
          <a:lstStyle/>
          <a:p>
            <a:r>
              <a:rPr lang="es-PE" b="1" dirty="0">
                <a:effectLst>
                  <a:outerShdw blurRad="38100" dist="38100" dir="2700000" algn="tl">
                    <a:srgbClr val="000000">
                      <a:alpha val="43137"/>
                    </a:srgbClr>
                  </a:outerShdw>
                </a:effectLst>
              </a:rPr>
              <a:t>R2#..............................</a:t>
            </a:r>
          </a:p>
          <a:p>
            <a:endParaRPr lang="es-PE" b="1"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042406059"/>
      </p:ext>
    </p:extLst>
  </p:cSld>
  <p:clrMapOvr>
    <a:masterClrMapping/>
  </p:clrMapOvr>
  <p:transition spd="med">
    <p:wipe dir="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pPr>
              <a:tabLst>
                <a:tab pos="3602831" algn="l"/>
              </a:tabLst>
              <a:defRPr/>
            </a:pPr>
            <a:r>
              <a:rPr lang="es-ES" sz="1350" dirty="0"/>
              <a:t>Configurar el protocolo RIP</a:t>
            </a:r>
            <a:br>
              <a:rPr dirty="0"/>
            </a:br>
            <a:r>
              <a:rPr lang="es-ES" sz="2100" dirty="0"/>
              <a:t>Verificar el routing RIP</a:t>
            </a:r>
          </a:p>
        </p:txBody>
      </p:sp>
      <p:pic>
        <p:nvPicPr>
          <p:cNvPr id="22530" name="Picture 2"/>
          <p:cNvPicPr>
            <a:picLocks noChangeAspect="1" noChangeArrowheads="1"/>
          </p:cNvPicPr>
          <p:nvPr/>
        </p:nvPicPr>
        <p:blipFill>
          <a:blip r:embed="rId3" cstate="email">
            <a:extLst>
              <a:ext uri="{28A0092B-C50C-407E-A947-70E740481C1C}">
                <a14:useLocalDpi xmlns:a14="http://schemas.microsoft.com/office/drawing/2010/main" val="0"/>
              </a:ext>
            </a:extLst>
          </a:blip>
          <a:stretch>
            <a:fillRect/>
          </a:stretch>
        </p:blipFill>
        <p:spPr bwMode="auto">
          <a:xfrm>
            <a:off x="92595" y="798944"/>
            <a:ext cx="4309580" cy="430316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2531" name="Picture 3"/>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4402175" y="1556495"/>
            <a:ext cx="4716063" cy="22611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950508862"/>
      </p:ext>
    </p:extLst>
  </p:cSld>
  <p:clrMapOvr>
    <a:masterClrMapping/>
  </p:clrMapOvr>
  <p:transition spd="med">
    <p:wipe dir="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pPr>
              <a:tabLst>
                <a:tab pos="3602831" algn="l"/>
              </a:tabLst>
              <a:defRPr/>
            </a:pPr>
            <a:r>
              <a:rPr lang="es-ES" sz="1350" dirty="0"/>
              <a:t>Configurar el protocolo RIP</a:t>
            </a:r>
            <a:br>
              <a:rPr dirty="0"/>
            </a:br>
            <a:r>
              <a:rPr lang="es-ES" sz="2100" dirty="0"/>
              <a:t>Habilitar y verificar RIPv2</a:t>
            </a:r>
          </a:p>
        </p:txBody>
      </p:sp>
      <p:pic>
        <p:nvPicPr>
          <p:cNvPr id="23556" name="Picture 4"/>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0" y="1155048"/>
            <a:ext cx="3877465" cy="344954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5" name="Grupo 4">
            <a:extLst>
              <a:ext uri="{FF2B5EF4-FFF2-40B4-BE49-F238E27FC236}">
                <a16:creationId xmlns:a16="http://schemas.microsoft.com/office/drawing/2014/main" id="{ADEAB23C-5700-BBC0-712F-7A0399C13041}"/>
              </a:ext>
            </a:extLst>
          </p:cNvPr>
          <p:cNvGrpSpPr/>
          <p:nvPr/>
        </p:nvGrpSpPr>
        <p:grpSpPr>
          <a:xfrm>
            <a:off x="3916273" y="321952"/>
            <a:ext cx="5227725" cy="4632311"/>
            <a:chOff x="3916273" y="321952"/>
            <a:chExt cx="5227725" cy="4632311"/>
          </a:xfrm>
        </p:grpSpPr>
        <p:pic>
          <p:nvPicPr>
            <p:cNvPr id="23554" name="Picture 2"/>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3916273" y="321952"/>
              <a:ext cx="5227725" cy="463231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Rectángulo: esquinas redondeadas 2">
              <a:extLst>
                <a:ext uri="{FF2B5EF4-FFF2-40B4-BE49-F238E27FC236}">
                  <a16:creationId xmlns:a16="http://schemas.microsoft.com/office/drawing/2014/main" id="{6DC1D8D3-5DDF-9183-A30D-C7EE0384A38F}"/>
                </a:ext>
              </a:extLst>
            </p:cNvPr>
            <p:cNvSpPr/>
            <p:nvPr/>
          </p:nvSpPr>
          <p:spPr>
            <a:xfrm>
              <a:off x="5515247" y="2446703"/>
              <a:ext cx="791334" cy="250094"/>
            </a:xfrm>
            <a:prstGeom prst="round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4" name="Rectángulo: esquinas redondeadas 3">
              <a:extLst>
                <a:ext uri="{FF2B5EF4-FFF2-40B4-BE49-F238E27FC236}">
                  <a16:creationId xmlns:a16="http://schemas.microsoft.com/office/drawing/2014/main" id="{E7FCD50B-1B19-3884-325E-B0D4280CFA1F}"/>
                </a:ext>
              </a:extLst>
            </p:cNvPr>
            <p:cNvSpPr/>
            <p:nvPr/>
          </p:nvSpPr>
          <p:spPr>
            <a:xfrm>
              <a:off x="5045586" y="2196609"/>
              <a:ext cx="791334" cy="250094"/>
            </a:xfrm>
            <a:prstGeom prst="round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grpSp>
    </p:spTree>
    <p:extLst>
      <p:ext uri="{BB962C8B-B14F-4D97-AF65-F5344CB8AC3E}">
        <p14:creationId xmlns:p14="http://schemas.microsoft.com/office/powerpoint/2010/main" val="3220176112"/>
      </p:ext>
    </p:extLst>
  </p:cSld>
  <p:clrMapOvr>
    <a:masterClrMapping/>
  </p:clrMapOvr>
  <p:transition spd="med">
    <p:wipe dir="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30AB2952-A6CF-4685-91B3-702B584FBD16}"/>
              </a:ext>
            </a:extLst>
          </p:cNvPr>
          <p:cNvSpPr>
            <a:spLocks noGrp="1"/>
          </p:cNvSpPr>
          <p:nvPr>
            <p:ph idx="1"/>
          </p:nvPr>
        </p:nvSpPr>
        <p:spPr/>
        <p:txBody>
          <a:bodyPr>
            <a:normAutofit fontScale="77500" lnSpcReduction="20000"/>
          </a:bodyPr>
          <a:lstStyle/>
          <a:p>
            <a:r>
              <a:rPr lang="es-ES" sz="2800" dirty="0">
                <a:solidFill>
                  <a:schemeClr val="tx1"/>
                </a:solidFill>
              </a:rPr>
              <a:t>En forma similar a RIPv1, RIPv2 resume automáticamente en los límites de las redes principales de manera predeterminada.</a:t>
            </a:r>
          </a:p>
          <a:p>
            <a:r>
              <a:rPr lang="es-ES" sz="2800" dirty="0">
                <a:solidFill>
                  <a:schemeClr val="tx1"/>
                </a:solidFill>
              </a:rPr>
              <a:t>Para modificar el comportamiento predeterminado de </a:t>
            </a:r>
            <a:r>
              <a:rPr lang="es-ES" sz="2800" dirty="0" err="1">
                <a:solidFill>
                  <a:schemeClr val="tx1"/>
                </a:solidFill>
              </a:rPr>
              <a:t>sumarización</a:t>
            </a:r>
            <a:r>
              <a:rPr lang="es-ES" sz="2800" dirty="0">
                <a:solidFill>
                  <a:schemeClr val="tx1"/>
                </a:solidFill>
              </a:rPr>
              <a:t> automática de RIPv2, utilice el comando</a:t>
            </a:r>
            <a:r>
              <a:rPr lang="es-ES" sz="2800" b="1" dirty="0">
                <a:solidFill>
                  <a:schemeClr val="tx1"/>
                </a:solidFill>
              </a:rPr>
              <a:t> </a:t>
            </a:r>
            <a:r>
              <a:rPr lang="es-ES" sz="2800" b="1" dirty="0">
                <a:solidFill>
                  <a:srgbClr val="00B0F0"/>
                </a:solidFill>
                <a:effectLst>
                  <a:outerShdw blurRad="38100" dist="38100" dir="2700000" algn="tl">
                    <a:srgbClr val="000000">
                      <a:alpha val="43137"/>
                    </a:srgbClr>
                  </a:outerShdw>
                </a:effectLst>
                <a:latin typeface="Courier New" pitchFamily="49" charset="0"/>
              </a:rPr>
              <a:t>no </a:t>
            </a:r>
            <a:r>
              <a:rPr lang="es-ES" sz="2800" b="1" dirty="0" err="1">
                <a:solidFill>
                  <a:srgbClr val="00B0F0"/>
                </a:solidFill>
                <a:effectLst>
                  <a:outerShdw blurRad="38100" dist="38100" dir="2700000" algn="tl">
                    <a:srgbClr val="000000">
                      <a:alpha val="43137"/>
                    </a:srgbClr>
                  </a:outerShdw>
                </a:effectLst>
                <a:latin typeface="Courier New" pitchFamily="49" charset="0"/>
              </a:rPr>
              <a:t>auto-summary</a:t>
            </a:r>
            <a:r>
              <a:rPr lang="es-ES" sz="2800" b="1" dirty="0">
                <a:solidFill>
                  <a:srgbClr val="00B0F0"/>
                </a:solidFill>
                <a:effectLst>
                  <a:outerShdw blurRad="38100" dist="38100" dir="2700000" algn="tl">
                    <a:srgbClr val="000000">
                      <a:alpha val="43137"/>
                    </a:srgbClr>
                  </a:outerShdw>
                </a:effectLst>
              </a:rPr>
              <a:t> </a:t>
            </a:r>
            <a:r>
              <a:rPr lang="es-ES" sz="2800" dirty="0">
                <a:solidFill>
                  <a:schemeClr val="tx1"/>
                </a:solidFill>
              </a:rPr>
              <a:t>del modo de configuración del </a:t>
            </a:r>
            <a:r>
              <a:rPr lang="es-ES" sz="2800" dirty="0" err="1">
                <a:solidFill>
                  <a:schemeClr val="tx1"/>
                </a:solidFill>
              </a:rPr>
              <a:t>router</a:t>
            </a:r>
            <a:r>
              <a:rPr lang="es-ES" sz="2800" dirty="0">
                <a:solidFill>
                  <a:schemeClr val="tx1"/>
                </a:solidFill>
              </a:rPr>
              <a:t>.</a:t>
            </a:r>
          </a:p>
          <a:p>
            <a:r>
              <a:rPr lang="es-ES" sz="2800" dirty="0">
                <a:solidFill>
                  <a:schemeClr val="tx1"/>
                </a:solidFill>
              </a:rPr>
              <a:t>Este comando no tiene ningún efecto cuando se utiliza RIPv1.</a:t>
            </a:r>
          </a:p>
          <a:p>
            <a:r>
              <a:rPr lang="es-ES" sz="2800" dirty="0">
                <a:solidFill>
                  <a:schemeClr val="tx1"/>
                </a:solidFill>
              </a:rPr>
              <a:t>Cuando se deshabilita la </a:t>
            </a:r>
            <a:r>
              <a:rPr lang="es-ES" sz="2800" dirty="0" err="1">
                <a:solidFill>
                  <a:schemeClr val="tx1"/>
                </a:solidFill>
              </a:rPr>
              <a:t>sumarización</a:t>
            </a:r>
            <a:r>
              <a:rPr lang="es-ES" sz="2800" dirty="0">
                <a:solidFill>
                  <a:schemeClr val="tx1"/>
                </a:solidFill>
              </a:rPr>
              <a:t> automática, RIPv2 ya no resume las redes a su dirección con clase en </a:t>
            </a:r>
            <a:r>
              <a:rPr lang="es-ES" sz="2800" dirty="0" err="1">
                <a:solidFill>
                  <a:schemeClr val="tx1"/>
                </a:solidFill>
              </a:rPr>
              <a:t>routers</a:t>
            </a:r>
            <a:r>
              <a:rPr lang="es-ES" sz="2800" dirty="0">
                <a:solidFill>
                  <a:schemeClr val="tx1"/>
                </a:solidFill>
              </a:rPr>
              <a:t> fronterizos. RIPv2 ahora incluye todas las subredes y sus máscaras correspondientes en sus actualizaciones de </a:t>
            </a:r>
            <a:r>
              <a:rPr lang="es-ES" sz="2800" dirty="0" err="1">
                <a:solidFill>
                  <a:schemeClr val="tx1"/>
                </a:solidFill>
              </a:rPr>
              <a:t>routing</a:t>
            </a:r>
            <a:r>
              <a:rPr lang="es-ES" sz="2800" dirty="0">
                <a:solidFill>
                  <a:schemeClr val="tx1"/>
                </a:solidFill>
              </a:rPr>
              <a:t>. </a:t>
            </a:r>
          </a:p>
          <a:p>
            <a:r>
              <a:rPr lang="es-ES" sz="2800" dirty="0">
                <a:solidFill>
                  <a:schemeClr val="tx1"/>
                </a:solidFill>
              </a:rPr>
              <a:t>El comando</a:t>
            </a:r>
            <a:r>
              <a:rPr lang="es-ES" sz="2800" b="1" dirty="0">
                <a:solidFill>
                  <a:schemeClr val="tx1"/>
                </a:solidFill>
              </a:rPr>
              <a:t> </a:t>
            </a:r>
            <a:r>
              <a:rPr lang="es-ES" sz="2800" b="1" dirty="0">
                <a:solidFill>
                  <a:srgbClr val="00B0F0"/>
                </a:solidFill>
                <a:effectLst>
                  <a:outerShdw blurRad="38100" dist="38100" dir="2700000" algn="tl">
                    <a:srgbClr val="000000">
                      <a:alpha val="43137"/>
                    </a:srgbClr>
                  </a:outerShdw>
                </a:effectLst>
                <a:latin typeface="Courier New" pitchFamily="49" charset="0"/>
              </a:rPr>
              <a:t>show </a:t>
            </a:r>
            <a:r>
              <a:rPr lang="es-ES" sz="2800" b="1" dirty="0" err="1">
                <a:solidFill>
                  <a:srgbClr val="00B0F0"/>
                </a:solidFill>
                <a:effectLst>
                  <a:outerShdw blurRad="38100" dist="38100" dir="2700000" algn="tl">
                    <a:srgbClr val="000000">
                      <a:alpha val="43137"/>
                    </a:srgbClr>
                  </a:outerShdw>
                </a:effectLst>
                <a:latin typeface="Courier New" pitchFamily="49" charset="0"/>
              </a:rPr>
              <a:t>ip</a:t>
            </a:r>
            <a:r>
              <a:rPr lang="es-ES" sz="2800" b="1" dirty="0">
                <a:solidFill>
                  <a:srgbClr val="00B0F0"/>
                </a:solidFill>
                <a:effectLst>
                  <a:outerShdw blurRad="38100" dist="38100" dir="2700000" algn="tl">
                    <a:srgbClr val="000000">
                      <a:alpha val="43137"/>
                    </a:srgbClr>
                  </a:outerShdw>
                </a:effectLst>
                <a:latin typeface="Courier New" pitchFamily="49" charset="0"/>
              </a:rPr>
              <a:t> </a:t>
            </a:r>
            <a:r>
              <a:rPr lang="es-ES" sz="2800" b="1" dirty="0" err="1">
                <a:solidFill>
                  <a:srgbClr val="00B0F0"/>
                </a:solidFill>
                <a:effectLst>
                  <a:outerShdw blurRad="38100" dist="38100" dir="2700000" algn="tl">
                    <a:srgbClr val="000000">
                      <a:alpha val="43137"/>
                    </a:srgbClr>
                  </a:outerShdw>
                </a:effectLst>
                <a:latin typeface="Courier New" pitchFamily="49" charset="0"/>
              </a:rPr>
              <a:t>protocols</a:t>
            </a:r>
            <a:r>
              <a:rPr lang="es-ES" sz="2800" b="1" dirty="0">
                <a:solidFill>
                  <a:srgbClr val="00B0F0"/>
                </a:solidFill>
                <a:effectLst>
                  <a:outerShdw blurRad="38100" dist="38100" dir="2700000" algn="tl">
                    <a:srgbClr val="000000">
                      <a:alpha val="43137"/>
                    </a:srgbClr>
                  </a:outerShdw>
                </a:effectLst>
              </a:rPr>
              <a:t> </a:t>
            </a:r>
            <a:r>
              <a:rPr lang="es-ES" sz="2800" dirty="0">
                <a:solidFill>
                  <a:schemeClr val="tx1"/>
                </a:solidFill>
              </a:rPr>
              <a:t>ahora indica que la </a:t>
            </a:r>
            <a:r>
              <a:rPr lang="es-ES" sz="2800" dirty="0" err="1">
                <a:solidFill>
                  <a:schemeClr val="tx1"/>
                </a:solidFill>
              </a:rPr>
              <a:t>sumarización</a:t>
            </a:r>
            <a:r>
              <a:rPr lang="es-ES" sz="2800" dirty="0">
                <a:solidFill>
                  <a:schemeClr val="tx1"/>
                </a:solidFill>
              </a:rPr>
              <a:t> automática de redes no está en efecto.</a:t>
            </a:r>
          </a:p>
          <a:p>
            <a:pPr marL="257175" indent="-257175">
              <a:buClr>
                <a:schemeClr val="accent5">
                  <a:lumMod val="75000"/>
                </a:schemeClr>
              </a:buClr>
              <a:buFont typeface="Wingdings" pitchFamily="2" charset="2"/>
              <a:buChar char="§"/>
            </a:pPr>
            <a:endParaRPr lang="es-ES" sz="2800" dirty="0"/>
          </a:p>
          <a:p>
            <a:endParaRPr lang="es-PE" dirty="0"/>
          </a:p>
        </p:txBody>
      </p:sp>
      <p:sp>
        <p:nvSpPr>
          <p:cNvPr id="8194" name="Rectangle 2"/>
          <p:cNvSpPr>
            <a:spLocks noGrp="1" noChangeArrowheads="1"/>
          </p:cNvSpPr>
          <p:nvPr>
            <p:ph type="title"/>
          </p:nvPr>
        </p:nvSpPr>
        <p:spPr/>
        <p:txBody>
          <a:bodyPr/>
          <a:lstStyle/>
          <a:p>
            <a:pPr>
              <a:tabLst>
                <a:tab pos="3602831" algn="l"/>
              </a:tabLst>
              <a:defRPr/>
            </a:pPr>
            <a:r>
              <a:rPr lang="es-ES" sz="1350" dirty="0"/>
              <a:t>Configurar el protocolo RIP</a:t>
            </a:r>
            <a:br>
              <a:rPr dirty="0"/>
            </a:br>
            <a:r>
              <a:rPr lang="es-ES" sz="2100" dirty="0"/>
              <a:t>Deshabilitar la sumarización automática</a:t>
            </a:r>
          </a:p>
        </p:txBody>
      </p:sp>
    </p:spTree>
    <p:extLst>
      <p:ext uri="{BB962C8B-B14F-4D97-AF65-F5344CB8AC3E}">
        <p14:creationId xmlns:p14="http://schemas.microsoft.com/office/powerpoint/2010/main" val="417908114"/>
      </p:ext>
    </p:extLst>
  </p:cSld>
  <p:clrMapOvr>
    <a:masterClrMapping/>
  </p:clrMapOvr>
  <p:transition spd="med">
    <p:wipe dir="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pPr>
              <a:tabLst>
                <a:tab pos="3602831" algn="l"/>
              </a:tabLst>
              <a:defRPr/>
            </a:pPr>
            <a:r>
              <a:rPr lang="es-ES" sz="1350" dirty="0"/>
              <a:t>Configurar el protocolo RIP </a:t>
            </a:r>
            <a:r>
              <a:rPr lang="es-ES" sz="1350" dirty="0" err="1"/>
              <a:t>Version</a:t>
            </a:r>
            <a:r>
              <a:rPr lang="es-ES" sz="1350" dirty="0"/>
              <a:t> 2</a:t>
            </a:r>
            <a:br>
              <a:rPr dirty="0"/>
            </a:br>
            <a:r>
              <a:rPr lang="es-ES" sz="2100" dirty="0"/>
              <a:t>Deshabilitar la sumarización automática</a:t>
            </a:r>
          </a:p>
        </p:txBody>
      </p:sp>
      <p:sp>
        <p:nvSpPr>
          <p:cNvPr id="4" name="CuadroTexto 3">
            <a:extLst>
              <a:ext uri="{FF2B5EF4-FFF2-40B4-BE49-F238E27FC236}">
                <a16:creationId xmlns:a16="http://schemas.microsoft.com/office/drawing/2014/main" id="{9BA56E22-C59D-3EDC-4D63-1F83B105D176}"/>
              </a:ext>
            </a:extLst>
          </p:cNvPr>
          <p:cNvSpPr txBox="1"/>
          <p:nvPr/>
        </p:nvSpPr>
        <p:spPr>
          <a:xfrm>
            <a:off x="57150" y="740460"/>
            <a:ext cx="4622800" cy="646331"/>
          </a:xfrm>
          <a:prstGeom prst="rect">
            <a:avLst/>
          </a:prstGeom>
          <a:solidFill>
            <a:srgbClr val="FFFF00"/>
          </a:solidFill>
        </p:spPr>
        <p:txBody>
          <a:bodyPr wrap="square">
            <a:spAutoFit/>
          </a:bodyPr>
          <a:lstStyle/>
          <a:p>
            <a:r>
              <a:rPr lang="es-ES" b="1" i="0" dirty="0">
                <a:solidFill>
                  <a:srgbClr val="FF0000"/>
                </a:solidFill>
                <a:effectLst/>
                <a:latin typeface="Geneva"/>
              </a:rPr>
              <a:t>Nota:</a:t>
            </a:r>
            <a:r>
              <a:rPr lang="es-ES" b="0" i="0" dirty="0">
                <a:solidFill>
                  <a:srgbClr val="FF0000"/>
                </a:solidFill>
                <a:effectLst/>
                <a:latin typeface="Geneva"/>
              </a:rPr>
              <a:t> se debe habilitar RIPv2 antes de deshabilitar la </a:t>
            </a:r>
            <a:r>
              <a:rPr lang="es-ES" b="0" i="0" dirty="0" err="1">
                <a:solidFill>
                  <a:srgbClr val="FF0000"/>
                </a:solidFill>
                <a:effectLst/>
                <a:latin typeface="Geneva"/>
              </a:rPr>
              <a:t>sumarización</a:t>
            </a:r>
            <a:r>
              <a:rPr lang="es-ES" b="0" i="0" dirty="0">
                <a:solidFill>
                  <a:srgbClr val="FF0000"/>
                </a:solidFill>
                <a:effectLst/>
                <a:latin typeface="Geneva"/>
              </a:rPr>
              <a:t> automática.</a:t>
            </a:r>
            <a:endParaRPr lang="es-PE" dirty="0">
              <a:solidFill>
                <a:srgbClr val="FF0000"/>
              </a:solidFill>
            </a:endParaRPr>
          </a:p>
        </p:txBody>
      </p:sp>
      <p:sp>
        <p:nvSpPr>
          <p:cNvPr id="5" name="CuadroTexto 4">
            <a:extLst>
              <a:ext uri="{FF2B5EF4-FFF2-40B4-BE49-F238E27FC236}">
                <a16:creationId xmlns:a16="http://schemas.microsoft.com/office/drawing/2014/main" id="{1B11FE47-4783-001E-494C-9CEA6E7FD628}"/>
              </a:ext>
            </a:extLst>
          </p:cNvPr>
          <p:cNvSpPr txBox="1"/>
          <p:nvPr/>
        </p:nvSpPr>
        <p:spPr>
          <a:xfrm>
            <a:off x="234950" y="1606550"/>
            <a:ext cx="2990850" cy="369332"/>
          </a:xfrm>
          <a:prstGeom prst="rect">
            <a:avLst/>
          </a:prstGeom>
          <a:noFill/>
        </p:spPr>
        <p:txBody>
          <a:bodyPr wrap="square" rtlCol="0">
            <a:spAutoFit/>
          </a:bodyPr>
          <a:lstStyle/>
          <a:p>
            <a:r>
              <a:rPr lang="es-ES" dirty="0" err="1"/>
              <a:t>Router</a:t>
            </a:r>
            <a:r>
              <a:rPr lang="es-ES" dirty="0"/>
              <a:t> </a:t>
            </a:r>
            <a:r>
              <a:rPr lang="es-PE" dirty="0"/>
              <a:t># </a:t>
            </a:r>
            <a:r>
              <a:rPr lang="es-PE" dirty="0" err="1"/>
              <a:t>router</a:t>
            </a:r>
            <a:r>
              <a:rPr lang="es-PE" dirty="0"/>
              <a:t> </a:t>
            </a:r>
            <a:r>
              <a:rPr lang="es-PE" dirty="0" err="1"/>
              <a:t>rip</a:t>
            </a:r>
            <a:endParaRPr lang="es-PE" dirty="0"/>
          </a:p>
        </p:txBody>
      </p:sp>
      <p:sp>
        <p:nvSpPr>
          <p:cNvPr id="7" name="CuadroTexto 6">
            <a:extLst>
              <a:ext uri="{FF2B5EF4-FFF2-40B4-BE49-F238E27FC236}">
                <a16:creationId xmlns:a16="http://schemas.microsoft.com/office/drawing/2014/main" id="{8BD42A2F-AD7E-62E9-E2F2-5D20A7E7106F}"/>
              </a:ext>
            </a:extLst>
          </p:cNvPr>
          <p:cNvSpPr txBox="1"/>
          <p:nvPr/>
        </p:nvSpPr>
        <p:spPr>
          <a:xfrm>
            <a:off x="234950" y="2017752"/>
            <a:ext cx="4606924" cy="369332"/>
          </a:xfrm>
          <a:prstGeom prst="rect">
            <a:avLst/>
          </a:prstGeom>
          <a:noFill/>
        </p:spPr>
        <p:txBody>
          <a:bodyPr wrap="square">
            <a:spAutoFit/>
          </a:bodyPr>
          <a:lstStyle/>
          <a:p>
            <a:r>
              <a:rPr lang="es-ES" dirty="0" err="1"/>
              <a:t>Router</a:t>
            </a:r>
            <a:r>
              <a:rPr lang="es-ES" dirty="0"/>
              <a:t> </a:t>
            </a:r>
            <a:r>
              <a:rPr lang="es-PE" dirty="0"/>
              <a:t># </a:t>
            </a:r>
            <a:r>
              <a:rPr lang="es-PE" dirty="0" err="1"/>
              <a:t>version</a:t>
            </a:r>
            <a:r>
              <a:rPr lang="es-PE" dirty="0"/>
              <a:t> 2</a:t>
            </a:r>
          </a:p>
        </p:txBody>
      </p:sp>
      <p:sp>
        <p:nvSpPr>
          <p:cNvPr id="8" name="CuadroTexto 7">
            <a:extLst>
              <a:ext uri="{FF2B5EF4-FFF2-40B4-BE49-F238E27FC236}">
                <a16:creationId xmlns:a16="http://schemas.microsoft.com/office/drawing/2014/main" id="{A001C9EE-6C01-2565-CC39-C9B3FAADB738}"/>
              </a:ext>
            </a:extLst>
          </p:cNvPr>
          <p:cNvSpPr txBox="1"/>
          <p:nvPr/>
        </p:nvSpPr>
        <p:spPr>
          <a:xfrm>
            <a:off x="234950" y="2481764"/>
            <a:ext cx="4606924" cy="2031325"/>
          </a:xfrm>
          <a:prstGeom prst="rect">
            <a:avLst/>
          </a:prstGeom>
          <a:noFill/>
        </p:spPr>
        <p:txBody>
          <a:bodyPr wrap="square">
            <a:spAutoFit/>
          </a:bodyPr>
          <a:lstStyle/>
          <a:p>
            <a:r>
              <a:rPr lang="es-ES" dirty="0" err="1"/>
              <a:t>Router</a:t>
            </a:r>
            <a:r>
              <a:rPr lang="es-ES" dirty="0"/>
              <a:t> </a:t>
            </a:r>
            <a:r>
              <a:rPr lang="es-PE" dirty="0"/>
              <a:t># </a:t>
            </a:r>
            <a:r>
              <a:rPr lang="es-PE" dirty="0" err="1"/>
              <a:t>network</a:t>
            </a:r>
            <a:r>
              <a:rPr lang="es-PE" dirty="0"/>
              <a:t> </a:t>
            </a:r>
            <a:r>
              <a:rPr lang="es-PE" dirty="0" err="1"/>
              <a:t>x.x.x.x</a:t>
            </a:r>
            <a:endParaRPr lang="es-PE" dirty="0"/>
          </a:p>
          <a:p>
            <a:r>
              <a:rPr lang="es-ES" dirty="0" err="1"/>
              <a:t>Router</a:t>
            </a:r>
            <a:r>
              <a:rPr lang="es-ES" dirty="0"/>
              <a:t> </a:t>
            </a:r>
            <a:r>
              <a:rPr lang="es-PE" dirty="0"/>
              <a:t># </a:t>
            </a:r>
            <a:r>
              <a:rPr lang="es-PE" dirty="0" err="1"/>
              <a:t>network</a:t>
            </a:r>
            <a:r>
              <a:rPr lang="es-PE" dirty="0"/>
              <a:t> </a:t>
            </a:r>
            <a:r>
              <a:rPr lang="es-PE" dirty="0" err="1"/>
              <a:t>y.y.y.y</a:t>
            </a:r>
            <a:endParaRPr lang="es-PE" dirty="0"/>
          </a:p>
          <a:p>
            <a:r>
              <a:rPr lang="es-PE" dirty="0"/>
              <a:t>….</a:t>
            </a:r>
          </a:p>
          <a:p>
            <a:r>
              <a:rPr lang="es-ES" dirty="0" err="1"/>
              <a:t>Router</a:t>
            </a:r>
            <a:r>
              <a:rPr lang="es-ES" dirty="0"/>
              <a:t> </a:t>
            </a:r>
            <a:r>
              <a:rPr lang="es-PE" dirty="0"/>
              <a:t># </a:t>
            </a:r>
            <a:r>
              <a:rPr lang="es-PE" dirty="0" err="1"/>
              <a:t>network</a:t>
            </a:r>
            <a:r>
              <a:rPr lang="es-PE" dirty="0"/>
              <a:t> </a:t>
            </a:r>
            <a:r>
              <a:rPr lang="es-PE" dirty="0" err="1"/>
              <a:t>z.z.z.z</a:t>
            </a:r>
            <a:endParaRPr lang="es-PE" dirty="0"/>
          </a:p>
          <a:p>
            <a:endParaRPr lang="es-ES" dirty="0"/>
          </a:p>
          <a:p>
            <a:r>
              <a:rPr lang="es-ES" dirty="0" err="1"/>
              <a:t>Router</a:t>
            </a:r>
            <a:r>
              <a:rPr lang="es-ES" dirty="0"/>
              <a:t> </a:t>
            </a:r>
            <a:r>
              <a:rPr lang="es-PE" dirty="0"/>
              <a:t># </a:t>
            </a:r>
            <a:r>
              <a:rPr lang="es-ES" sz="1800" b="1" dirty="0">
                <a:solidFill>
                  <a:srgbClr val="00B0F0"/>
                </a:solidFill>
                <a:latin typeface="Courier New" pitchFamily="49" charset="0"/>
              </a:rPr>
              <a:t>no </a:t>
            </a:r>
            <a:r>
              <a:rPr lang="es-ES" sz="1800" b="1" dirty="0" err="1">
                <a:solidFill>
                  <a:srgbClr val="00B0F0"/>
                </a:solidFill>
                <a:latin typeface="Courier New" pitchFamily="49" charset="0"/>
              </a:rPr>
              <a:t>auto-summary</a:t>
            </a:r>
            <a:endParaRPr lang="es-PE" dirty="0"/>
          </a:p>
          <a:p>
            <a:endParaRPr lang="es-PE" dirty="0"/>
          </a:p>
        </p:txBody>
      </p:sp>
      <p:sp>
        <p:nvSpPr>
          <p:cNvPr id="9" name="CuadroTexto 8">
            <a:extLst>
              <a:ext uri="{FF2B5EF4-FFF2-40B4-BE49-F238E27FC236}">
                <a16:creationId xmlns:a16="http://schemas.microsoft.com/office/drawing/2014/main" id="{9A008640-1B0D-0962-BCFE-EECB5A825F02}"/>
              </a:ext>
            </a:extLst>
          </p:cNvPr>
          <p:cNvSpPr txBox="1"/>
          <p:nvPr/>
        </p:nvSpPr>
        <p:spPr>
          <a:xfrm>
            <a:off x="3417887" y="1672576"/>
            <a:ext cx="234950" cy="369332"/>
          </a:xfrm>
          <a:prstGeom prst="rect">
            <a:avLst/>
          </a:prstGeom>
          <a:solidFill>
            <a:srgbClr val="FFFF00"/>
          </a:solidFill>
        </p:spPr>
        <p:txBody>
          <a:bodyPr wrap="square" rtlCol="0">
            <a:spAutoFit/>
          </a:bodyPr>
          <a:lstStyle/>
          <a:p>
            <a:pPr algn="ctr"/>
            <a:r>
              <a:rPr lang="es-ES" dirty="0">
                <a:solidFill>
                  <a:srgbClr val="FF0000"/>
                </a:solidFill>
              </a:rPr>
              <a:t>1</a:t>
            </a:r>
            <a:endParaRPr lang="es-PE" dirty="0">
              <a:solidFill>
                <a:srgbClr val="FF0000"/>
              </a:solidFill>
            </a:endParaRPr>
          </a:p>
        </p:txBody>
      </p:sp>
      <p:sp>
        <p:nvSpPr>
          <p:cNvPr id="10" name="CuadroTexto 9">
            <a:extLst>
              <a:ext uri="{FF2B5EF4-FFF2-40B4-BE49-F238E27FC236}">
                <a16:creationId xmlns:a16="http://schemas.microsoft.com/office/drawing/2014/main" id="{7B49BC46-8AD1-8464-1CCD-74A5CAAD022B}"/>
              </a:ext>
            </a:extLst>
          </p:cNvPr>
          <p:cNvSpPr txBox="1"/>
          <p:nvPr/>
        </p:nvSpPr>
        <p:spPr>
          <a:xfrm>
            <a:off x="3949700" y="2914800"/>
            <a:ext cx="234950" cy="369332"/>
          </a:xfrm>
          <a:prstGeom prst="rect">
            <a:avLst/>
          </a:prstGeom>
          <a:solidFill>
            <a:srgbClr val="FFFF00"/>
          </a:solidFill>
        </p:spPr>
        <p:txBody>
          <a:bodyPr wrap="square" rtlCol="0">
            <a:spAutoFit/>
          </a:bodyPr>
          <a:lstStyle/>
          <a:p>
            <a:r>
              <a:rPr lang="es-ES" dirty="0">
                <a:solidFill>
                  <a:srgbClr val="FF0000"/>
                </a:solidFill>
              </a:rPr>
              <a:t>3</a:t>
            </a:r>
            <a:endParaRPr lang="es-PE" dirty="0">
              <a:solidFill>
                <a:srgbClr val="FF0000"/>
              </a:solidFill>
            </a:endParaRPr>
          </a:p>
        </p:txBody>
      </p:sp>
      <p:sp>
        <p:nvSpPr>
          <p:cNvPr id="11" name="CuadroTexto 10">
            <a:extLst>
              <a:ext uri="{FF2B5EF4-FFF2-40B4-BE49-F238E27FC236}">
                <a16:creationId xmlns:a16="http://schemas.microsoft.com/office/drawing/2014/main" id="{0F2B8248-B7B6-A733-B5FE-003582FABE6A}"/>
              </a:ext>
            </a:extLst>
          </p:cNvPr>
          <p:cNvSpPr txBox="1"/>
          <p:nvPr/>
        </p:nvSpPr>
        <p:spPr>
          <a:xfrm>
            <a:off x="3417887" y="2059622"/>
            <a:ext cx="234950" cy="369332"/>
          </a:xfrm>
          <a:prstGeom prst="rect">
            <a:avLst/>
          </a:prstGeom>
          <a:solidFill>
            <a:srgbClr val="FFFF00"/>
          </a:solidFill>
        </p:spPr>
        <p:txBody>
          <a:bodyPr wrap="square" rtlCol="0">
            <a:spAutoFit/>
          </a:bodyPr>
          <a:lstStyle/>
          <a:p>
            <a:r>
              <a:rPr lang="es-ES" dirty="0">
                <a:solidFill>
                  <a:srgbClr val="FF0000"/>
                </a:solidFill>
              </a:rPr>
              <a:t>2</a:t>
            </a:r>
            <a:endParaRPr lang="es-PE" dirty="0">
              <a:solidFill>
                <a:srgbClr val="FF0000"/>
              </a:solidFill>
            </a:endParaRPr>
          </a:p>
        </p:txBody>
      </p:sp>
      <p:sp>
        <p:nvSpPr>
          <p:cNvPr id="12" name="Flecha: hacia la izquierda 11">
            <a:extLst>
              <a:ext uri="{FF2B5EF4-FFF2-40B4-BE49-F238E27FC236}">
                <a16:creationId xmlns:a16="http://schemas.microsoft.com/office/drawing/2014/main" id="{23891B82-CF71-C4D3-F9FF-0511D90A2E16}"/>
              </a:ext>
            </a:extLst>
          </p:cNvPr>
          <p:cNvSpPr/>
          <p:nvPr/>
        </p:nvSpPr>
        <p:spPr>
          <a:xfrm>
            <a:off x="2298700" y="1718164"/>
            <a:ext cx="927100" cy="278156"/>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3" name="Flecha: hacia la izquierda 12">
            <a:extLst>
              <a:ext uri="{FF2B5EF4-FFF2-40B4-BE49-F238E27FC236}">
                <a16:creationId xmlns:a16="http://schemas.microsoft.com/office/drawing/2014/main" id="{DB3D7420-9337-2F4B-31D7-AE1D17A6E735}"/>
              </a:ext>
            </a:extLst>
          </p:cNvPr>
          <p:cNvSpPr/>
          <p:nvPr/>
        </p:nvSpPr>
        <p:spPr>
          <a:xfrm>
            <a:off x="2490787" y="2112432"/>
            <a:ext cx="927100" cy="278156"/>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4" name="Flecha: hacia la izquierda 13">
            <a:extLst>
              <a:ext uri="{FF2B5EF4-FFF2-40B4-BE49-F238E27FC236}">
                <a16:creationId xmlns:a16="http://schemas.microsoft.com/office/drawing/2014/main" id="{B4E00B44-9042-A91A-DD9E-085C2CAD9EDE}"/>
              </a:ext>
            </a:extLst>
          </p:cNvPr>
          <p:cNvSpPr/>
          <p:nvPr/>
        </p:nvSpPr>
        <p:spPr>
          <a:xfrm>
            <a:off x="2986087" y="2949743"/>
            <a:ext cx="927100" cy="278156"/>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5" name="CuadroTexto 14">
            <a:extLst>
              <a:ext uri="{FF2B5EF4-FFF2-40B4-BE49-F238E27FC236}">
                <a16:creationId xmlns:a16="http://schemas.microsoft.com/office/drawing/2014/main" id="{89A3C095-8C62-9DE3-2D23-0713D6357D5D}"/>
              </a:ext>
            </a:extLst>
          </p:cNvPr>
          <p:cNvSpPr txBox="1"/>
          <p:nvPr/>
        </p:nvSpPr>
        <p:spPr>
          <a:xfrm>
            <a:off x="4445000" y="3829042"/>
            <a:ext cx="234950" cy="369332"/>
          </a:xfrm>
          <a:prstGeom prst="rect">
            <a:avLst/>
          </a:prstGeom>
          <a:solidFill>
            <a:srgbClr val="FFFF00"/>
          </a:solidFill>
        </p:spPr>
        <p:txBody>
          <a:bodyPr wrap="square" rtlCol="0">
            <a:spAutoFit/>
          </a:bodyPr>
          <a:lstStyle/>
          <a:p>
            <a:r>
              <a:rPr lang="es-ES" dirty="0">
                <a:solidFill>
                  <a:srgbClr val="FF0000"/>
                </a:solidFill>
              </a:rPr>
              <a:t>4</a:t>
            </a:r>
            <a:endParaRPr lang="es-PE" dirty="0">
              <a:solidFill>
                <a:srgbClr val="FF0000"/>
              </a:solidFill>
            </a:endParaRPr>
          </a:p>
        </p:txBody>
      </p:sp>
      <p:sp>
        <p:nvSpPr>
          <p:cNvPr id="16" name="Flecha: hacia la izquierda 15">
            <a:extLst>
              <a:ext uri="{FF2B5EF4-FFF2-40B4-BE49-F238E27FC236}">
                <a16:creationId xmlns:a16="http://schemas.microsoft.com/office/drawing/2014/main" id="{842CBD79-0F6B-F8DC-54FD-F2721D585F7D}"/>
              </a:ext>
            </a:extLst>
          </p:cNvPr>
          <p:cNvSpPr/>
          <p:nvPr/>
        </p:nvSpPr>
        <p:spPr>
          <a:xfrm>
            <a:off x="3486150" y="3874630"/>
            <a:ext cx="927100" cy="278156"/>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7" name="Cerrar llave 16">
            <a:extLst>
              <a:ext uri="{FF2B5EF4-FFF2-40B4-BE49-F238E27FC236}">
                <a16:creationId xmlns:a16="http://schemas.microsoft.com/office/drawing/2014/main" id="{76ADF16A-FC15-120E-C169-7A4B39AFB71F}"/>
              </a:ext>
            </a:extLst>
          </p:cNvPr>
          <p:cNvSpPr/>
          <p:nvPr/>
        </p:nvSpPr>
        <p:spPr>
          <a:xfrm>
            <a:off x="2851150" y="2571750"/>
            <a:ext cx="71437" cy="1034142"/>
          </a:xfrm>
          <a:prstGeom prst="rightBrace">
            <a:avLst/>
          </a:prstGeom>
          <a:ln w="28575">
            <a:solidFill>
              <a:srgbClr val="00B0F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PE"/>
          </a:p>
        </p:txBody>
      </p:sp>
      <p:sp>
        <p:nvSpPr>
          <p:cNvPr id="3" name="CuadroTexto 2">
            <a:extLst>
              <a:ext uri="{FF2B5EF4-FFF2-40B4-BE49-F238E27FC236}">
                <a16:creationId xmlns:a16="http://schemas.microsoft.com/office/drawing/2014/main" id="{1CA5226E-CF13-7A1A-DF7E-7DA79F85A22D}"/>
              </a:ext>
            </a:extLst>
          </p:cNvPr>
          <p:cNvSpPr txBox="1"/>
          <p:nvPr/>
        </p:nvSpPr>
        <p:spPr>
          <a:xfrm>
            <a:off x="4344643" y="2756417"/>
            <a:ext cx="2901663" cy="646331"/>
          </a:xfrm>
          <a:prstGeom prst="rect">
            <a:avLst/>
          </a:prstGeom>
          <a:solidFill>
            <a:schemeClr val="accent2"/>
          </a:solidFill>
        </p:spPr>
        <p:txBody>
          <a:bodyPr wrap="square" rtlCol="0">
            <a:spAutoFit/>
          </a:bodyPr>
          <a:lstStyle/>
          <a:p>
            <a:pPr algn="ctr"/>
            <a:r>
              <a:rPr lang="es-PE" b="1" dirty="0">
                <a:solidFill>
                  <a:srgbClr val="FFFF00"/>
                </a:solidFill>
                <a:effectLst>
                  <a:outerShdw blurRad="38100" dist="38100" dir="2700000" algn="tl">
                    <a:srgbClr val="000000">
                      <a:alpha val="43137"/>
                    </a:srgbClr>
                  </a:outerShdw>
                </a:effectLst>
              </a:rPr>
              <a:t>Redes directamente conectadas al </a:t>
            </a:r>
            <a:r>
              <a:rPr lang="es-PE" b="1" dirty="0" err="1">
                <a:solidFill>
                  <a:srgbClr val="FFFF00"/>
                </a:solidFill>
                <a:effectLst>
                  <a:outerShdw blurRad="38100" dist="38100" dir="2700000" algn="tl">
                    <a:srgbClr val="000000">
                      <a:alpha val="43137"/>
                    </a:srgbClr>
                  </a:outerShdw>
                </a:effectLst>
              </a:rPr>
              <a:t>router</a:t>
            </a:r>
            <a:endParaRPr lang="es-PE" b="1" dirty="0">
              <a:solidFill>
                <a:srgbClr val="FFFF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4249553564"/>
      </p:ext>
    </p:extLst>
  </p:cSld>
  <p:clrMapOvr>
    <a:masterClrMapping/>
  </p:clrMapOvr>
  <p:transition spd="med">
    <p:wipe dir="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pPr>
              <a:tabLst>
                <a:tab pos="3602831" algn="l"/>
              </a:tabLst>
              <a:defRPr/>
            </a:pPr>
            <a:r>
              <a:rPr lang="es-ES" sz="1350" dirty="0"/>
              <a:t>Configurar el protocolo RIP</a:t>
            </a:r>
            <a:br>
              <a:rPr dirty="0"/>
            </a:br>
            <a:r>
              <a:rPr lang="es-ES" sz="2100" dirty="0"/>
              <a:t>Configurar interfaces pasivas</a:t>
            </a:r>
          </a:p>
        </p:txBody>
      </p:sp>
      <p:pic>
        <p:nvPicPr>
          <p:cNvPr id="24581"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68482" y="2166919"/>
            <a:ext cx="3862668" cy="29726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4582" name="Picture 6"/>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3404675" y="250449"/>
            <a:ext cx="5239071" cy="20556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extBox 1"/>
          <p:cNvSpPr txBox="1"/>
          <p:nvPr/>
        </p:nvSpPr>
        <p:spPr>
          <a:xfrm>
            <a:off x="221454" y="2865694"/>
            <a:ext cx="3505996" cy="1477328"/>
          </a:xfrm>
          <a:prstGeom prst="rect">
            <a:avLst/>
          </a:prstGeom>
          <a:noFill/>
        </p:spPr>
        <p:txBody>
          <a:bodyPr wrap="square" rtlCol="0">
            <a:spAutoFit/>
          </a:bodyPr>
          <a:lstStyle/>
          <a:p>
            <a:pPr algn="l"/>
            <a:r>
              <a:rPr lang="es-ES" sz="1500" dirty="0"/>
              <a:t>El envío de actualizaciones innecesarias a una LAN impacta en la red de tres maneras:</a:t>
            </a:r>
          </a:p>
          <a:p>
            <a:pPr marL="257175" indent="-257175">
              <a:buClr>
                <a:schemeClr val="accent5">
                  <a:lumMod val="75000"/>
                </a:schemeClr>
              </a:buClr>
              <a:buFont typeface="Wingdings" pitchFamily="2" charset="2"/>
              <a:buChar char="§"/>
            </a:pPr>
            <a:r>
              <a:rPr lang="es-ES" sz="1500" b="1" dirty="0">
                <a:solidFill>
                  <a:srgbClr val="00B0F0"/>
                </a:solidFill>
              </a:rPr>
              <a:t>Desperdicio de ancho de banda </a:t>
            </a:r>
          </a:p>
          <a:p>
            <a:pPr marL="257175" indent="-257175">
              <a:buClr>
                <a:schemeClr val="accent5">
                  <a:lumMod val="75000"/>
                </a:schemeClr>
              </a:buClr>
              <a:buFont typeface="Wingdings" pitchFamily="2" charset="2"/>
              <a:buChar char="§"/>
            </a:pPr>
            <a:r>
              <a:rPr lang="es-ES" sz="1500" b="1" dirty="0">
                <a:solidFill>
                  <a:srgbClr val="00B0F0"/>
                </a:solidFill>
              </a:rPr>
              <a:t>Recursos desperdiciados</a:t>
            </a:r>
          </a:p>
          <a:p>
            <a:pPr marL="257175" indent="-257175">
              <a:buClr>
                <a:schemeClr val="accent5">
                  <a:lumMod val="75000"/>
                </a:schemeClr>
              </a:buClr>
              <a:buFont typeface="Wingdings" pitchFamily="2" charset="2"/>
              <a:buChar char="§"/>
            </a:pPr>
            <a:r>
              <a:rPr lang="es-ES" sz="1500" b="1" dirty="0">
                <a:solidFill>
                  <a:srgbClr val="00B0F0"/>
                </a:solidFill>
              </a:rPr>
              <a:t>Riesgo de seguridad </a:t>
            </a:r>
          </a:p>
        </p:txBody>
      </p:sp>
      <p:sp>
        <p:nvSpPr>
          <p:cNvPr id="3" name="CuadroTexto 2">
            <a:extLst>
              <a:ext uri="{FF2B5EF4-FFF2-40B4-BE49-F238E27FC236}">
                <a16:creationId xmlns:a16="http://schemas.microsoft.com/office/drawing/2014/main" id="{ED2DF095-0E08-7187-2E79-A168F2137715}"/>
              </a:ext>
            </a:extLst>
          </p:cNvPr>
          <p:cNvSpPr txBox="1"/>
          <p:nvPr/>
        </p:nvSpPr>
        <p:spPr>
          <a:xfrm>
            <a:off x="8685533" y="4783838"/>
            <a:ext cx="546100" cy="307777"/>
          </a:xfrm>
          <a:prstGeom prst="rect">
            <a:avLst/>
          </a:prstGeom>
          <a:noFill/>
        </p:spPr>
        <p:txBody>
          <a:bodyPr wrap="square" rtlCol="0">
            <a:spAutoFit/>
          </a:bodyPr>
          <a:lstStyle/>
          <a:p>
            <a:r>
              <a:rPr lang="es-ES" sz="1400" b="1" dirty="0">
                <a:solidFill>
                  <a:srgbClr val="00B0F0"/>
                </a:solidFill>
              </a:rPr>
              <a:t>70</a:t>
            </a:r>
            <a:endParaRPr lang="es-PE" sz="1400" b="1" dirty="0">
              <a:solidFill>
                <a:srgbClr val="00B0F0"/>
              </a:solidFill>
            </a:endParaRPr>
          </a:p>
        </p:txBody>
      </p:sp>
      <p:sp>
        <p:nvSpPr>
          <p:cNvPr id="4" name="Rectángulo 3">
            <a:extLst>
              <a:ext uri="{FF2B5EF4-FFF2-40B4-BE49-F238E27FC236}">
                <a16:creationId xmlns:a16="http://schemas.microsoft.com/office/drawing/2014/main" id="{FA03B341-F4FD-D513-78FE-85783A0D0DCC}"/>
              </a:ext>
            </a:extLst>
          </p:cNvPr>
          <p:cNvSpPr/>
          <p:nvPr/>
        </p:nvSpPr>
        <p:spPr>
          <a:xfrm>
            <a:off x="5308600" y="2463800"/>
            <a:ext cx="1403350" cy="15240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Tree>
    <p:extLst>
      <p:ext uri="{BB962C8B-B14F-4D97-AF65-F5344CB8AC3E}">
        <p14:creationId xmlns:p14="http://schemas.microsoft.com/office/powerpoint/2010/main" val="437342168"/>
      </p:ext>
    </p:extLst>
  </p:cSld>
  <p:clrMapOvr>
    <a:masterClrMapping/>
  </p:clrMapOvr>
  <p:transition spd="med">
    <p:wipe dir="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pPr>
              <a:tabLst>
                <a:tab pos="3602831" algn="l"/>
              </a:tabLst>
              <a:defRPr/>
            </a:pPr>
            <a:r>
              <a:rPr lang="es-ES" sz="1350" dirty="0"/>
              <a:t>Configurar el protocolo RIP</a:t>
            </a:r>
            <a:br>
              <a:rPr dirty="0"/>
            </a:br>
            <a:r>
              <a:rPr lang="es-ES" sz="2100" dirty="0"/>
              <a:t>Propagar una ruta predeterminada en RIP</a:t>
            </a:r>
          </a:p>
        </p:txBody>
      </p:sp>
      <p:pic>
        <p:nvPicPr>
          <p:cNvPr id="25602" name="Picture 2"/>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0" y="788904"/>
            <a:ext cx="4747007" cy="173489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CuadroTexto 1">
            <a:extLst>
              <a:ext uri="{FF2B5EF4-FFF2-40B4-BE49-F238E27FC236}">
                <a16:creationId xmlns:a16="http://schemas.microsoft.com/office/drawing/2014/main" id="{E30A7969-16BD-B72F-5CB8-B62181F80B29}"/>
              </a:ext>
            </a:extLst>
          </p:cNvPr>
          <p:cNvSpPr txBox="1"/>
          <p:nvPr/>
        </p:nvSpPr>
        <p:spPr>
          <a:xfrm>
            <a:off x="58990" y="3424629"/>
            <a:ext cx="4017710" cy="1169551"/>
          </a:xfrm>
          <a:prstGeom prst="rect">
            <a:avLst/>
          </a:prstGeom>
          <a:solidFill>
            <a:srgbClr val="FFFF00"/>
          </a:solidFill>
        </p:spPr>
        <p:txBody>
          <a:bodyPr wrap="square" rtlCol="0">
            <a:spAutoFit/>
          </a:bodyPr>
          <a:lstStyle/>
          <a:p>
            <a:r>
              <a:rPr lang="es-PE" sz="1400" dirty="0">
                <a:solidFill>
                  <a:srgbClr val="FF0000"/>
                </a:solidFill>
              </a:rPr>
              <a:t>R1#ip </a:t>
            </a:r>
            <a:r>
              <a:rPr lang="es-PE" sz="1400" dirty="0" err="1">
                <a:solidFill>
                  <a:srgbClr val="FF0000"/>
                </a:solidFill>
              </a:rPr>
              <a:t>route</a:t>
            </a:r>
            <a:r>
              <a:rPr lang="es-PE" sz="1400" dirty="0">
                <a:solidFill>
                  <a:srgbClr val="FF0000"/>
                </a:solidFill>
              </a:rPr>
              <a:t> 0.0.0.0 0.0.0.0 209.165.200.226</a:t>
            </a:r>
          </a:p>
          <a:p>
            <a:endParaRPr lang="es-PE" sz="1400" dirty="0">
              <a:solidFill>
                <a:srgbClr val="FF0000"/>
              </a:solidFill>
            </a:endParaRPr>
          </a:p>
          <a:p>
            <a:r>
              <a:rPr lang="es-PE" sz="1400" dirty="0">
                <a:solidFill>
                  <a:srgbClr val="FF0000"/>
                </a:solidFill>
              </a:rPr>
              <a:t>R1#router RIP</a:t>
            </a:r>
          </a:p>
          <a:p>
            <a:endParaRPr lang="es-PE" sz="1400" b="1" dirty="0">
              <a:solidFill>
                <a:srgbClr val="0070C0"/>
              </a:solidFill>
            </a:endParaRPr>
          </a:p>
          <a:p>
            <a:r>
              <a:rPr lang="es-PE" sz="1400" b="1" dirty="0">
                <a:solidFill>
                  <a:srgbClr val="0070C0"/>
                </a:solidFill>
              </a:rPr>
              <a:t>R1#default-information </a:t>
            </a:r>
            <a:r>
              <a:rPr lang="es-PE" sz="1400" b="1" dirty="0" err="1">
                <a:solidFill>
                  <a:srgbClr val="0070C0"/>
                </a:solidFill>
              </a:rPr>
              <a:t>originate</a:t>
            </a:r>
            <a:endParaRPr lang="es-PE" sz="1400" b="1" dirty="0">
              <a:solidFill>
                <a:srgbClr val="0070C0"/>
              </a:solidFill>
            </a:endParaRPr>
          </a:p>
        </p:txBody>
      </p:sp>
      <p:sp>
        <p:nvSpPr>
          <p:cNvPr id="3" name="CuadroTexto 2">
            <a:extLst>
              <a:ext uri="{FF2B5EF4-FFF2-40B4-BE49-F238E27FC236}">
                <a16:creationId xmlns:a16="http://schemas.microsoft.com/office/drawing/2014/main" id="{B688636F-7BE2-3771-B6B4-0A9D264BFDF7}"/>
              </a:ext>
            </a:extLst>
          </p:cNvPr>
          <p:cNvSpPr txBox="1"/>
          <p:nvPr/>
        </p:nvSpPr>
        <p:spPr>
          <a:xfrm>
            <a:off x="5003800" y="3437693"/>
            <a:ext cx="234950" cy="369332"/>
          </a:xfrm>
          <a:prstGeom prst="rect">
            <a:avLst/>
          </a:prstGeom>
          <a:solidFill>
            <a:srgbClr val="00B050"/>
          </a:solidFill>
        </p:spPr>
        <p:txBody>
          <a:bodyPr wrap="square" rtlCol="0">
            <a:spAutoFit/>
          </a:bodyPr>
          <a:lstStyle/>
          <a:p>
            <a:pPr algn="ctr"/>
            <a:r>
              <a:rPr lang="es-ES" dirty="0">
                <a:solidFill>
                  <a:srgbClr val="FF0000"/>
                </a:solidFill>
              </a:rPr>
              <a:t>1</a:t>
            </a:r>
            <a:endParaRPr lang="es-PE" dirty="0">
              <a:solidFill>
                <a:srgbClr val="FF0000"/>
              </a:solidFill>
            </a:endParaRPr>
          </a:p>
        </p:txBody>
      </p:sp>
      <p:sp>
        <p:nvSpPr>
          <p:cNvPr id="4" name="CuadroTexto 3">
            <a:extLst>
              <a:ext uri="{FF2B5EF4-FFF2-40B4-BE49-F238E27FC236}">
                <a16:creationId xmlns:a16="http://schemas.microsoft.com/office/drawing/2014/main" id="{91742B4E-EEC1-7DB0-C64F-8BA45BE99533}"/>
              </a:ext>
            </a:extLst>
          </p:cNvPr>
          <p:cNvSpPr txBox="1"/>
          <p:nvPr/>
        </p:nvSpPr>
        <p:spPr>
          <a:xfrm>
            <a:off x="4629532" y="4224848"/>
            <a:ext cx="234950" cy="369332"/>
          </a:xfrm>
          <a:prstGeom prst="rect">
            <a:avLst/>
          </a:prstGeom>
          <a:solidFill>
            <a:srgbClr val="00B050"/>
          </a:solidFill>
        </p:spPr>
        <p:txBody>
          <a:bodyPr wrap="square" rtlCol="0">
            <a:spAutoFit/>
          </a:bodyPr>
          <a:lstStyle/>
          <a:p>
            <a:r>
              <a:rPr lang="es-ES" dirty="0">
                <a:solidFill>
                  <a:srgbClr val="FF0000"/>
                </a:solidFill>
              </a:rPr>
              <a:t>3</a:t>
            </a:r>
            <a:endParaRPr lang="es-PE" dirty="0">
              <a:solidFill>
                <a:srgbClr val="FF0000"/>
              </a:solidFill>
            </a:endParaRPr>
          </a:p>
        </p:txBody>
      </p:sp>
      <p:sp>
        <p:nvSpPr>
          <p:cNvPr id="5" name="CuadroTexto 4">
            <a:extLst>
              <a:ext uri="{FF2B5EF4-FFF2-40B4-BE49-F238E27FC236}">
                <a16:creationId xmlns:a16="http://schemas.microsoft.com/office/drawing/2014/main" id="{76742891-5230-C907-12A2-25B9DBE92F0C}"/>
              </a:ext>
            </a:extLst>
          </p:cNvPr>
          <p:cNvSpPr txBox="1"/>
          <p:nvPr/>
        </p:nvSpPr>
        <p:spPr>
          <a:xfrm>
            <a:off x="4991966" y="3824738"/>
            <a:ext cx="234950" cy="369332"/>
          </a:xfrm>
          <a:prstGeom prst="rect">
            <a:avLst/>
          </a:prstGeom>
          <a:solidFill>
            <a:srgbClr val="00B050"/>
          </a:solidFill>
        </p:spPr>
        <p:txBody>
          <a:bodyPr wrap="square" rtlCol="0">
            <a:spAutoFit/>
          </a:bodyPr>
          <a:lstStyle/>
          <a:p>
            <a:r>
              <a:rPr lang="es-ES" dirty="0">
                <a:solidFill>
                  <a:srgbClr val="FF0000"/>
                </a:solidFill>
              </a:rPr>
              <a:t>2</a:t>
            </a:r>
            <a:endParaRPr lang="es-PE" dirty="0">
              <a:solidFill>
                <a:srgbClr val="FF0000"/>
              </a:solidFill>
            </a:endParaRPr>
          </a:p>
        </p:txBody>
      </p:sp>
      <p:sp>
        <p:nvSpPr>
          <p:cNvPr id="6" name="Flecha: hacia la izquierda 5">
            <a:extLst>
              <a:ext uri="{FF2B5EF4-FFF2-40B4-BE49-F238E27FC236}">
                <a16:creationId xmlns:a16="http://schemas.microsoft.com/office/drawing/2014/main" id="{B42A011B-AFA1-9737-1D78-0C5F00629A5C}"/>
              </a:ext>
            </a:extLst>
          </p:cNvPr>
          <p:cNvSpPr/>
          <p:nvPr/>
        </p:nvSpPr>
        <p:spPr>
          <a:xfrm>
            <a:off x="3884613" y="3483281"/>
            <a:ext cx="927100" cy="278156"/>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7" name="Flecha: hacia la izquierda 6">
            <a:extLst>
              <a:ext uri="{FF2B5EF4-FFF2-40B4-BE49-F238E27FC236}">
                <a16:creationId xmlns:a16="http://schemas.microsoft.com/office/drawing/2014/main" id="{D5E10448-79D9-35DE-0829-F2D199567356}"/>
              </a:ext>
            </a:extLst>
          </p:cNvPr>
          <p:cNvSpPr/>
          <p:nvPr/>
        </p:nvSpPr>
        <p:spPr>
          <a:xfrm>
            <a:off x="3819907" y="3842358"/>
            <a:ext cx="927100" cy="278156"/>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8" name="Flecha: hacia la izquierda 7">
            <a:extLst>
              <a:ext uri="{FF2B5EF4-FFF2-40B4-BE49-F238E27FC236}">
                <a16:creationId xmlns:a16="http://schemas.microsoft.com/office/drawing/2014/main" id="{ED49773A-EF54-2A6B-D5DB-E73FF7E10E72}"/>
              </a:ext>
            </a:extLst>
          </p:cNvPr>
          <p:cNvSpPr/>
          <p:nvPr/>
        </p:nvSpPr>
        <p:spPr>
          <a:xfrm>
            <a:off x="3644900" y="4260087"/>
            <a:ext cx="927100" cy="278156"/>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grpSp>
        <p:nvGrpSpPr>
          <p:cNvPr id="11" name="Grupo 10">
            <a:extLst>
              <a:ext uri="{FF2B5EF4-FFF2-40B4-BE49-F238E27FC236}">
                <a16:creationId xmlns:a16="http://schemas.microsoft.com/office/drawing/2014/main" id="{CCC50C41-A94A-8898-05C6-4F161B2DAB98}"/>
              </a:ext>
            </a:extLst>
          </p:cNvPr>
          <p:cNvGrpSpPr/>
          <p:nvPr/>
        </p:nvGrpSpPr>
        <p:grpSpPr>
          <a:xfrm>
            <a:off x="4747007" y="0"/>
            <a:ext cx="4320793" cy="3396300"/>
            <a:chOff x="4747007" y="0"/>
            <a:chExt cx="4320793" cy="3396300"/>
          </a:xfrm>
        </p:grpSpPr>
        <p:pic>
          <p:nvPicPr>
            <p:cNvPr id="25603"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47007" y="0"/>
              <a:ext cx="4320793" cy="33963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9" name="Rectángulo 8">
              <a:extLst>
                <a:ext uri="{FF2B5EF4-FFF2-40B4-BE49-F238E27FC236}">
                  <a16:creationId xmlns:a16="http://schemas.microsoft.com/office/drawing/2014/main" id="{89394681-E7B3-9327-9D54-87BF44C8B718}"/>
                </a:ext>
              </a:extLst>
            </p:cNvPr>
            <p:cNvSpPr/>
            <p:nvPr/>
          </p:nvSpPr>
          <p:spPr>
            <a:xfrm>
              <a:off x="5674359" y="182880"/>
              <a:ext cx="3097981" cy="289068"/>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0" name="Rectángulo 9">
              <a:extLst>
                <a:ext uri="{FF2B5EF4-FFF2-40B4-BE49-F238E27FC236}">
                  <a16:creationId xmlns:a16="http://schemas.microsoft.com/office/drawing/2014/main" id="{FE82D87B-8048-77E3-FAEE-465983A8E19F}"/>
                </a:ext>
              </a:extLst>
            </p:cNvPr>
            <p:cNvSpPr/>
            <p:nvPr/>
          </p:nvSpPr>
          <p:spPr>
            <a:xfrm>
              <a:off x="6117549" y="471948"/>
              <a:ext cx="2076655" cy="141487"/>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grpSp>
    </p:spTree>
    <p:extLst>
      <p:ext uri="{BB962C8B-B14F-4D97-AF65-F5344CB8AC3E}">
        <p14:creationId xmlns:p14="http://schemas.microsoft.com/office/powerpoint/2010/main" val="1808772288"/>
      </p:ext>
    </p:extLst>
  </p:cSld>
  <p:clrMapOvr>
    <a:masterClrMapping/>
  </p:clrMapOvr>
  <p:transition spd="med">
    <p:wipe dir="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pPr>
              <a:tabLst>
                <a:tab pos="3602831" algn="l"/>
              </a:tabLst>
              <a:defRPr/>
            </a:pPr>
            <a:r>
              <a:rPr lang="es-ES" sz="1350" dirty="0"/>
              <a:t>Partes de una entrada de ruta IPv4</a:t>
            </a:r>
            <a:br>
              <a:rPr dirty="0"/>
            </a:br>
            <a:r>
              <a:rPr lang="es-ES" sz="2100" dirty="0"/>
              <a:t>Entradas de redes remotas</a:t>
            </a:r>
          </a:p>
        </p:txBody>
      </p:sp>
      <p:pic>
        <p:nvPicPr>
          <p:cNvPr id="4098" name="Picture 2"/>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1038917" y="693946"/>
            <a:ext cx="7294045" cy="408760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06696553"/>
      </p:ext>
    </p:extLst>
  </p:cSld>
  <p:clrMapOvr>
    <a:masterClrMapping/>
  </p:clrMapOvr>
  <p:transition spd="med">
    <p:wipe dir="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sp>
        <p:nvSpPr>
          <p:cNvPr id="72" name="Google Shape;72;p1"/>
          <p:cNvSpPr txBox="1">
            <a:spLocks noGrp="1"/>
          </p:cNvSpPr>
          <p:nvPr>
            <p:ph type="ctrTitle"/>
          </p:nvPr>
        </p:nvSpPr>
        <p:spPr>
          <a:xfrm>
            <a:off x="586659" y="1715226"/>
            <a:ext cx="8095226" cy="1687576"/>
          </a:xfrm>
          <a:prstGeom prst="rect">
            <a:avLst/>
          </a:prstGeom>
          <a:noFill/>
          <a:ln>
            <a:noFill/>
          </a:ln>
        </p:spPr>
        <p:txBody>
          <a:bodyPr spcFirstLastPara="1" vert="horz" wrap="square" lIns="68569" tIns="34275" rIns="68569" bIns="34275" numCol="1" anchor="ctr" anchorCtr="0" compatLnSpc="1">
            <a:prstTxWarp prst="textNoShape">
              <a:avLst/>
            </a:prstTxWarp>
            <a:noAutofit/>
          </a:bodyPr>
          <a:lstStyle/>
          <a:p>
            <a:pPr algn="ctr">
              <a:spcBef>
                <a:spcPts val="0"/>
              </a:spcBef>
              <a:spcAft>
                <a:spcPts val="0"/>
              </a:spcAft>
            </a:pPr>
            <a:r>
              <a:rPr lang="es-ES" sz="4000" dirty="0">
                <a:solidFill>
                  <a:schemeClr val="bg1"/>
                </a:solidFill>
                <a:effectLst>
                  <a:outerShdw blurRad="38100" dist="38100" dir="2700000" algn="tl">
                    <a:srgbClr val="000000">
                      <a:alpha val="43137"/>
                    </a:srgbClr>
                  </a:outerShdw>
                </a:effectLst>
                <a:latin typeface="Arial"/>
                <a:ea typeface="Arial"/>
                <a:cs typeface="Arial"/>
                <a:sym typeface="Arial"/>
              </a:rPr>
              <a:t>Cuestionario</a:t>
            </a:r>
            <a:br>
              <a:rPr lang="es-PE" sz="1500" dirty="0">
                <a:solidFill>
                  <a:schemeClr val="lt1"/>
                </a:solidFill>
                <a:latin typeface="Arial"/>
                <a:ea typeface="Arial"/>
                <a:cs typeface="Arial"/>
                <a:sym typeface="Arial"/>
              </a:rPr>
            </a:br>
            <a:r>
              <a:rPr lang="es-PE" sz="1500" i="1" dirty="0">
                <a:solidFill>
                  <a:schemeClr val="lt1"/>
                </a:solidFill>
                <a:latin typeface="Arial"/>
                <a:ea typeface="Arial"/>
                <a:cs typeface="Arial"/>
                <a:sym typeface="Arial"/>
              </a:rPr>
              <a:t>Ingeniería de Sistemas de Información</a:t>
            </a:r>
            <a:br>
              <a:rPr lang="es-PE" sz="1500" i="1" dirty="0">
                <a:solidFill>
                  <a:schemeClr val="lt1"/>
                </a:solidFill>
                <a:latin typeface="Arial"/>
                <a:ea typeface="Arial"/>
                <a:cs typeface="Arial"/>
                <a:sym typeface="Arial"/>
              </a:rPr>
            </a:br>
            <a:r>
              <a:rPr lang="es-PE" sz="1500" i="1" dirty="0">
                <a:solidFill>
                  <a:schemeClr val="lt1"/>
                </a:solidFill>
                <a:latin typeface="Arial"/>
                <a:ea typeface="Arial"/>
                <a:cs typeface="Arial"/>
                <a:sym typeface="Arial"/>
              </a:rPr>
              <a:t>EISI, 2026-2</a:t>
            </a:r>
            <a:endParaRPr dirty="0"/>
          </a:p>
        </p:txBody>
      </p:sp>
    </p:spTree>
    <p:extLst>
      <p:ext uri="{BB962C8B-B14F-4D97-AF65-F5344CB8AC3E}">
        <p14:creationId xmlns:p14="http://schemas.microsoft.com/office/powerpoint/2010/main" val="86030257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7" name="Content Placeholder 2"/>
          <p:cNvSpPr>
            <a:spLocks noGrp="1"/>
          </p:cNvSpPr>
          <p:nvPr>
            <p:ph idx="1"/>
          </p:nvPr>
        </p:nvSpPr>
        <p:spPr/>
        <p:txBody>
          <a:bodyPr>
            <a:normAutofit fontScale="92500" lnSpcReduction="10000"/>
          </a:bodyPr>
          <a:lstStyle/>
          <a:p>
            <a:r>
              <a:rPr lang="es-ES" sz="1400" dirty="0"/>
              <a:t>Explicar la forma en que un </a:t>
            </a:r>
            <a:r>
              <a:rPr lang="es-ES" sz="1400" dirty="0" err="1"/>
              <a:t>router</a:t>
            </a:r>
            <a:r>
              <a:rPr lang="es-ES" sz="1400" dirty="0"/>
              <a:t> crea una tabla de </a:t>
            </a:r>
            <a:r>
              <a:rPr lang="es-ES" sz="1400" dirty="0" err="1"/>
              <a:t>routing</a:t>
            </a:r>
            <a:r>
              <a:rPr lang="es-ES" sz="1400" dirty="0"/>
              <a:t> mediante un protocolo de </a:t>
            </a:r>
            <a:r>
              <a:rPr lang="es-ES" sz="1400" dirty="0" err="1"/>
              <a:t>routing</a:t>
            </a:r>
            <a:r>
              <a:rPr lang="es-ES" sz="1400" dirty="0"/>
              <a:t> dinámico.</a:t>
            </a:r>
          </a:p>
          <a:p>
            <a:r>
              <a:rPr lang="es-ES" sz="1500" dirty="0"/>
              <a:t>os utilizan los routers para obtener información automáticamente sobre redes remotas de otros routers.</a:t>
            </a:r>
          </a:p>
          <a:p>
            <a:r>
              <a:rPr lang="es-ES" sz="1500" dirty="0"/>
              <a:t>Entre los propósitos se incluyen los siguientes: detección de redes remotas, mantenimiento de información de routing actualizada, selección de la mejor ruta hacia las redes de destino y capacidad para encontrar una mejor ruta nueva si la ruta actual deja de estar disponible.</a:t>
            </a:r>
          </a:p>
          <a:p>
            <a:r>
              <a:rPr lang="es-ES" sz="1500" dirty="0"/>
              <a:t>Es la mejor opción para las redes grandes, pero para las redes de conexión única es mejor el routing estático.</a:t>
            </a:r>
          </a:p>
          <a:p>
            <a:r>
              <a:rPr lang="es-ES" sz="1500" dirty="0"/>
              <a:t>Sirven para informar cambios a otros </a:t>
            </a:r>
            <a:r>
              <a:rPr lang="es-ES" sz="1500" dirty="0" err="1"/>
              <a:t>routers</a:t>
            </a:r>
            <a:r>
              <a:rPr lang="es-ES" sz="1500" dirty="0"/>
              <a:t>. </a:t>
            </a:r>
          </a:p>
          <a:p>
            <a:r>
              <a:rPr lang="es-ES" sz="1500" dirty="0"/>
              <a:t>Se encargan de detectar redes remotas y de mantener información de red precisa. </a:t>
            </a:r>
          </a:p>
          <a:p>
            <a:r>
              <a:rPr lang="es-ES" sz="1500" dirty="0"/>
              <a:t>Cuando se produce un cambio en la topología, los protocolos de </a:t>
            </a:r>
            <a:r>
              <a:rPr lang="es-ES" sz="1500" dirty="0" err="1"/>
              <a:t>routing</a:t>
            </a:r>
            <a:r>
              <a:rPr lang="es-ES" sz="1500" dirty="0"/>
              <a:t> propagan esa información por todo el dominio de </a:t>
            </a:r>
            <a:r>
              <a:rPr lang="es-ES" sz="1500" dirty="0" err="1"/>
              <a:t>routing</a:t>
            </a:r>
            <a:r>
              <a:rPr lang="es-ES" sz="1500" dirty="0"/>
              <a:t>. </a:t>
            </a:r>
          </a:p>
          <a:p>
            <a:r>
              <a:rPr lang="es-ES" sz="1500" dirty="0"/>
              <a:t>Convergencia: el proceso para lograr que todas las tablas de </a:t>
            </a:r>
            <a:r>
              <a:rPr lang="es-ES" sz="1500" dirty="0" err="1"/>
              <a:t>routing</a:t>
            </a:r>
            <a:r>
              <a:rPr lang="es-ES" sz="1500" dirty="0"/>
              <a:t> alcancen un estado de coherencia, en el cual todos los </a:t>
            </a:r>
            <a:r>
              <a:rPr lang="es-ES" sz="1500" dirty="0" err="1"/>
              <a:t>routers</a:t>
            </a:r>
            <a:r>
              <a:rPr lang="es-ES" sz="1500" dirty="0"/>
              <a:t> en el mismo dominio o área de </a:t>
            </a:r>
            <a:r>
              <a:rPr lang="es-ES" sz="1500" dirty="0" err="1"/>
              <a:t>routing</a:t>
            </a:r>
            <a:r>
              <a:rPr lang="es-ES" sz="1500" dirty="0"/>
              <a:t> tengan información completa y precisa acerca de la red. Algunos protocolos de </a:t>
            </a:r>
            <a:r>
              <a:rPr lang="es-ES" sz="1500" dirty="0" err="1"/>
              <a:t>routing</a:t>
            </a:r>
            <a:r>
              <a:rPr lang="es-ES" sz="1500" dirty="0"/>
              <a:t> convergen más rápido que otros.</a:t>
            </a:r>
          </a:p>
          <a:p>
            <a:r>
              <a:rPr lang="es-ES" sz="1500" dirty="0"/>
              <a:t>Configurar el protocolo de enrutamiento RIP</a:t>
            </a:r>
          </a:p>
          <a:p>
            <a:endParaRPr lang="es-ES" sz="1500" dirty="0"/>
          </a:p>
          <a:p>
            <a:endParaRPr lang="es-ES" sz="1500" dirty="0"/>
          </a:p>
        </p:txBody>
      </p:sp>
      <p:sp>
        <p:nvSpPr>
          <p:cNvPr id="52226" name="Title 1"/>
          <p:cNvSpPr>
            <a:spLocks noGrp="1"/>
          </p:cNvSpPr>
          <p:nvPr>
            <p:ph type="title"/>
          </p:nvPr>
        </p:nvSpPr>
        <p:spPr/>
        <p:txBody>
          <a:bodyPr>
            <a:normAutofit fontScale="90000"/>
          </a:bodyPr>
          <a:lstStyle/>
          <a:p>
            <a:r>
              <a:rPr lang="es-ES" sz="1800" dirty="0">
                <a:latin typeface="Arial" panose="020B0604020202020204" pitchFamily="34" charset="0"/>
                <a:cs typeface="Arial" panose="020B0604020202020204" pitchFamily="34" charset="0"/>
              </a:rPr>
              <a:t>Enrutamiento dinámico</a:t>
            </a:r>
            <a:br>
              <a:rPr lang="es-ES" sz="1800" dirty="0">
                <a:latin typeface="Arial" panose="020B0604020202020204" pitchFamily="34" charset="0"/>
                <a:cs typeface="Arial" panose="020B0604020202020204" pitchFamily="34" charset="0"/>
              </a:rPr>
            </a:br>
            <a:r>
              <a:rPr lang="es-419" sz="2700" dirty="0">
                <a:latin typeface="Arial" charset="0"/>
              </a:rPr>
              <a:t>¿Qué aprendí en esta semana?</a:t>
            </a:r>
            <a:endParaRPr lang="es-ES" dirty="0"/>
          </a:p>
        </p:txBody>
      </p:sp>
    </p:spTree>
    <p:extLst>
      <p:ext uri="{BB962C8B-B14F-4D97-AF65-F5344CB8AC3E}">
        <p14:creationId xmlns:p14="http://schemas.microsoft.com/office/powerpoint/2010/main" val="63989333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Diseño personalizado">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2A16F1C12179C3458ECA76E6A65C7B39" ma:contentTypeVersion="6" ma:contentTypeDescription="Crear nuevo documento." ma:contentTypeScope="" ma:versionID="d1153829b5709cfa36b0eb39f11dfbce">
  <xsd:schema xmlns:xsd="http://www.w3.org/2001/XMLSchema" xmlns:xs="http://www.w3.org/2001/XMLSchema" xmlns:p="http://schemas.microsoft.com/office/2006/metadata/properties" xmlns:ns2="f6690ef5-1e9d-4eaa-9471-52f946c9b067" targetNamespace="http://schemas.microsoft.com/office/2006/metadata/properties" ma:root="true" ma:fieldsID="9873ea79c83a51190144bd835340dd0f" ns2:_="">
    <xsd:import namespace="f6690ef5-1e9d-4eaa-9471-52f946c9b067"/>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ObjectDetectorVersions" minOccurs="0"/>
                <xsd:element ref="ns2:MediaLengthInSecond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6690ef5-1e9d-4eaa-9471-52f946c9b06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dexed="true" ma:internalName="MediaServiceDateTaken" ma:readOnly="true">
      <xsd:simpleType>
        <xsd:restriction base="dms:Text"/>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LengthInSeconds" ma:index="12" nillable="true" ma:displayName="MediaLengthInSeconds" ma:hidden="true" ma:internalName="MediaLengthInSeconds" ma:readOnly="true">
      <xsd:simpleType>
        <xsd:restriction base="dms:Unknown"/>
      </xsd:simpleType>
    </xsd:element>
    <xsd:element name="MediaServiceSearchProperties" ma:index="13"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MediaLengthInSeconds xmlns="f6690ef5-1e9d-4eaa-9471-52f946c9b067"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3200879-78DC-402D-91E3-3889F5B4FCB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6690ef5-1e9d-4eaa-9471-52f946c9b06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C8120DCC-54C7-4561-984E-117772695498}">
  <ds:schemaRefs>
    <ds:schemaRef ds:uri="http://schemas.microsoft.com/office/2006/metadata/properties"/>
    <ds:schemaRef ds:uri="http://schemas.microsoft.com/office/infopath/2007/PartnerControls"/>
    <ds:schemaRef ds:uri="f6690ef5-1e9d-4eaa-9471-52f946c9b067"/>
  </ds:schemaRefs>
</ds:datastoreItem>
</file>

<file path=customXml/itemProps3.xml><?xml version="1.0" encoding="utf-8"?>
<ds:datastoreItem xmlns:ds="http://schemas.openxmlformats.org/officeDocument/2006/customXml" ds:itemID="{B2B55FD6-05F0-4888-84FD-9A78530790E5}">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986</TotalTime>
  <Words>2533</Words>
  <Application>Microsoft Office PowerPoint</Application>
  <PresentationFormat>Presentación en pantalla (16:9)</PresentationFormat>
  <Paragraphs>275</Paragraphs>
  <Slides>32</Slides>
  <Notes>32</Notes>
  <HiddenSlides>0</HiddenSlides>
  <MMClips>0</MMClips>
  <ScaleCrop>false</ScaleCrop>
  <HeadingPairs>
    <vt:vector size="6" baseType="variant">
      <vt:variant>
        <vt:lpstr>Fuentes usadas</vt:lpstr>
      </vt:variant>
      <vt:variant>
        <vt:i4>7</vt:i4>
      </vt:variant>
      <vt:variant>
        <vt:lpstr>Tema</vt:lpstr>
      </vt:variant>
      <vt:variant>
        <vt:i4>1</vt:i4>
      </vt:variant>
      <vt:variant>
        <vt:lpstr>Títulos de diapositiva</vt:lpstr>
      </vt:variant>
      <vt:variant>
        <vt:i4>32</vt:i4>
      </vt:variant>
    </vt:vector>
  </HeadingPairs>
  <TitlesOfParts>
    <vt:vector size="40" baseType="lpstr">
      <vt:lpstr>Arial</vt:lpstr>
      <vt:lpstr>Calibri</vt:lpstr>
      <vt:lpstr>Calibri Light</vt:lpstr>
      <vt:lpstr>CiscoSans ExtraLight</vt:lpstr>
      <vt:lpstr>Courier New</vt:lpstr>
      <vt:lpstr>Geneva</vt:lpstr>
      <vt:lpstr>Wingdings</vt:lpstr>
      <vt:lpstr>Diseño personalizado</vt:lpstr>
      <vt:lpstr>REDES Y COMUNICACIONES Ingeniería de Sistemas de Información 2026-2   Docentes del curso</vt:lpstr>
      <vt:lpstr>UNIDAD 04: Enrutamiento, Tecnologías WAN y Seguridad</vt:lpstr>
      <vt:lpstr>Presentación de PowerPoint</vt:lpstr>
      <vt:lpstr>Enrutamiento Dinámico SEMANA 10 Ingeniería de Sistemas de Información EISI, 2026-2</vt:lpstr>
      <vt:lpstr>10.1.1 Distancia Administrativa</vt:lpstr>
      <vt:lpstr>Presentación de PowerPoint</vt:lpstr>
      <vt:lpstr>Determinación de rutas Distancia administrativa</vt:lpstr>
      <vt:lpstr>10.1.1 Enrutamiento dinámico</vt:lpstr>
      <vt:lpstr>Protocolos de routing dinámico Routing dinámico</vt:lpstr>
      <vt:lpstr>Protocolos de routing dinámico Routing dinámico</vt:lpstr>
      <vt:lpstr>Protocolos de routing dinámico Routing dinámico</vt:lpstr>
      <vt:lpstr>Protocolos de routing dinámico Protocolos de routing IPv4 </vt:lpstr>
      <vt:lpstr>Enrutamiento estático y dinámico Evolución del enrutamiento dinámico</vt:lpstr>
      <vt:lpstr>Protocolos de routing dinámico Ejemplos de routing dinámico IPv4 </vt:lpstr>
      <vt:lpstr>10.1.3 Comparación entre enrutamiento estático y dinámico</vt:lpstr>
      <vt:lpstr>Enrutamiento estático y dinámico ¿Estático o dinámico? </vt:lpstr>
      <vt:lpstr>Enrutamiento estático y dinámico ¿Estático o dinámico? (Cont.)</vt:lpstr>
      <vt:lpstr>Enrutamiento estático y dinámico ¿Estático o dinámico? (Cont.)</vt:lpstr>
      <vt:lpstr>Enrutamiento estático y dinámico Conceptos de protocolo de enrutamiento dinámico</vt:lpstr>
      <vt:lpstr>Enrutamiento estático y dinámico Conceptos de protocolos de enrutamiento dinámico (continuación) </vt:lpstr>
      <vt:lpstr>10.1.4 RIPv2 </vt:lpstr>
      <vt:lpstr>Configurar el protocolo RIP Modo de configuración RIP de un router</vt:lpstr>
      <vt:lpstr>Configurar el protocolo RIP Modo de configuración RIP de un router</vt:lpstr>
      <vt:lpstr>Configurar el protocolo RIP Verificar el routing RIP</vt:lpstr>
      <vt:lpstr>Configurar el protocolo RIP Habilitar y verificar RIPv2</vt:lpstr>
      <vt:lpstr>Configurar el protocolo RIP Deshabilitar la sumarización automática</vt:lpstr>
      <vt:lpstr>Configurar el protocolo RIP Version 2 Deshabilitar la sumarización automática</vt:lpstr>
      <vt:lpstr>Configurar el protocolo RIP Configurar interfaces pasivas</vt:lpstr>
      <vt:lpstr>Configurar el protocolo RIP Propagar una ruta predeterminada en RIP</vt:lpstr>
      <vt:lpstr>Partes de una entrada de ruta IPv4 Entradas de redes remotas</vt:lpstr>
      <vt:lpstr>Cuestionario Ingeniería de Sistemas de Información EISI, 2026-2</vt:lpstr>
      <vt:lpstr>Enrutamiento dinámico ¿Qué aprendí en esta semana?</vt:lpstr>
    </vt:vector>
  </TitlesOfParts>
  <Company>Cisco Systems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REDES Y COMUNICACIONES Ingeniería de Sistemas de Información 2023-1   Docentes del curso</dc:title>
  <dc:creator>bvachon@cisco.com</dc:creator>
  <cp:lastModifiedBy>PCSIFCAN (CANALES ARIAS, FELIX GASPAR)</cp:lastModifiedBy>
  <cp:revision>824</cp:revision>
  <cp:lastPrinted>2022-03-20T15:37:37Z</cp:lastPrinted>
  <dcterms:created xsi:type="dcterms:W3CDTF">2016-08-22T22:27:36Z</dcterms:created>
  <dcterms:modified xsi:type="dcterms:W3CDTF">2026-10-29T12:01:28Z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sync_ProviderInitializationData">
    <vt:lpwstr>https://cisco.jiveon.com</vt:lpwstr>
  </property>
  <property fmtid="{D5CDD505-2E9C-101B-9397-08002B2CF9AE}" pid="3" name="Offisync_UpdateToken">
    <vt:lpwstr>1</vt:lpwstr>
  </property>
  <property fmtid="{D5CDD505-2E9C-101B-9397-08002B2CF9AE}" pid="4" name="Offisync_ServerID">
    <vt:lpwstr>07841bbc-cd3c-4a76-827f-75a2226890f4</vt:lpwstr>
  </property>
  <property fmtid="{D5CDD505-2E9C-101B-9397-08002B2CF9AE}" pid="5" name="Offisync_UniqueId">
    <vt:lpwstr>1702406</vt:lpwstr>
  </property>
  <property fmtid="{D5CDD505-2E9C-101B-9397-08002B2CF9AE}" pid="6" name="Jive_VersionGuid">
    <vt:lpwstr>fd96a0b3-f68d-4727-8e4f-2128d37ed30a</vt:lpwstr>
  </property>
  <property fmtid="{D5CDD505-2E9C-101B-9397-08002B2CF9AE}" pid="7" name="Jive_LatestUserAccountName">
    <vt:lpwstr>alljohns</vt:lpwstr>
  </property>
  <property fmtid="{D5CDD505-2E9C-101B-9397-08002B2CF9AE}" pid="8" name="ContentTypeId">
    <vt:lpwstr>0x0101002A16F1C12179C3458ECA76E6A65C7B39</vt:lpwstr>
  </property>
  <property fmtid="{D5CDD505-2E9C-101B-9397-08002B2CF9AE}" pid="9" name="Order">
    <vt:r8>428000</vt:r8>
  </property>
  <property fmtid="{D5CDD505-2E9C-101B-9397-08002B2CF9AE}" pid="10" name="_SourceUrl">
    <vt:lpwstr/>
  </property>
  <property fmtid="{D5CDD505-2E9C-101B-9397-08002B2CF9AE}" pid="11" name="_SharedFileIndex">
    <vt:lpwstr/>
  </property>
  <property fmtid="{D5CDD505-2E9C-101B-9397-08002B2CF9AE}" pid="12" name="ComplianceAssetId">
    <vt:lpwstr/>
  </property>
  <property fmtid="{D5CDD505-2E9C-101B-9397-08002B2CF9AE}" pid="13" name="_ExtendedDescription">
    <vt:lpwstr/>
  </property>
  <property fmtid="{D5CDD505-2E9C-101B-9397-08002B2CF9AE}" pid="14" name="TriggerFlowInfo">
    <vt:lpwstr/>
  </property>
</Properties>
</file>